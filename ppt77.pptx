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7"/>
  </p:notesMasterIdLst>
  <p:sldIdLst>
    <p:sldId id="294" r:id="rId2"/>
    <p:sldId id="264" r:id="rId3"/>
    <p:sldId id="301" r:id="rId4"/>
    <p:sldId id="302" r:id="rId5"/>
    <p:sldId id="303" r:id="rId6"/>
    <p:sldId id="304" r:id="rId7"/>
    <p:sldId id="305" r:id="rId8"/>
    <p:sldId id="306" r:id="rId9"/>
    <p:sldId id="307" r:id="rId10"/>
    <p:sldId id="308" r:id="rId11"/>
    <p:sldId id="309" r:id="rId12"/>
    <p:sldId id="311" r:id="rId13"/>
    <p:sldId id="310" r:id="rId14"/>
    <p:sldId id="312" r:id="rId15"/>
    <p:sldId id="313" r:id="rId16"/>
    <p:sldId id="314" r:id="rId17"/>
    <p:sldId id="315" r:id="rId18"/>
    <p:sldId id="316" r:id="rId19"/>
    <p:sldId id="317" r:id="rId20"/>
    <p:sldId id="318" r:id="rId21"/>
    <p:sldId id="319" r:id="rId22"/>
    <p:sldId id="320" r:id="rId23"/>
    <p:sldId id="321" r:id="rId24"/>
    <p:sldId id="322" r:id="rId25"/>
    <p:sldId id="323" r:id="rId26"/>
    <p:sldId id="342" r:id="rId27"/>
    <p:sldId id="324" r:id="rId28"/>
    <p:sldId id="325" r:id="rId29"/>
    <p:sldId id="326" r:id="rId30"/>
    <p:sldId id="327" r:id="rId31"/>
    <p:sldId id="328" r:id="rId32"/>
    <p:sldId id="329" r:id="rId33"/>
    <p:sldId id="330" r:id="rId34"/>
    <p:sldId id="331" r:id="rId35"/>
    <p:sldId id="332" r:id="rId36"/>
    <p:sldId id="333" r:id="rId37"/>
    <p:sldId id="334" r:id="rId38"/>
    <p:sldId id="335" r:id="rId39"/>
    <p:sldId id="336" r:id="rId40"/>
    <p:sldId id="337" r:id="rId41"/>
    <p:sldId id="338" r:id="rId42"/>
    <p:sldId id="339" r:id="rId43"/>
    <p:sldId id="340" r:id="rId44"/>
    <p:sldId id="341" r:id="rId45"/>
    <p:sldId id="300" r:id="rId46"/>
  </p:sldIdLst>
  <p:sldSz cx="12192000" cy="6858000"/>
  <p:notesSz cx="6858000" cy="9144000"/>
  <p:custDataLst>
    <p:tags r:id="rId48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AFAFA"/>
    <a:srgbClr val="2D8498"/>
    <a:srgbClr val="BC7742"/>
    <a:srgbClr val="404040"/>
    <a:srgbClr val="283848"/>
    <a:srgbClr val="0070C0"/>
    <a:srgbClr val="9CC5FD"/>
    <a:srgbClr val="3A6695"/>
    <a:srgbClr val="134263"/>
    <a:srgbClr val="1E2B5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BC89EF96-8CEA-46FF-86C4-4CE0E7609802}" styleName="浅色样式 3 - 强调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2" autoAdjust="0"/>
    <p:restoredTop sz="93963" autoAdjust="0"/>
  </p:normalViewPr>
  <p:slideViewPr>
    <p:cSldViewPr snapToGrid="0">
      <p:cViewPr varScale="1">
        <p:scale>
          <a:sx n="81" d="100"/>
          <a:sy n="81" d="100"/>
        </p:scale>
        <p:origin x="725" y="5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notesMaster" Target="notesMasters/notesMaster1.xml"/><Relationship Id="rId50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tags" Target="tags/tag1.xml"/><Relationship Id="rId8" Type="http://schemas.openxmlformats.org/officeDocument/2006/relationships/slide" Target="slides/slide7.xml"/><Relationship Id="rId51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CE4261-0CDD-45A3-84C2-311859DE5B03}" type="datetimeFigureOut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EF711DA-82CB-44C8-99EC-9CE596A896F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19222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DE9662-FCFE-568F-BF45-129A5438F3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8ED2708-1207-6DD6-5812-A0144D72B2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24FFE53-50C8-3F09-C832-E4129C16415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485E964-C058-5E7C-2C2F-2FC12DEDBC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2938374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7E202-AD33-9C10-263A-B409F91FD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693DB1F-5CF4-33AD-6CEF-E4F34E5E2C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8860C7A-BFF0-603D-698E-8FA2CA6291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F19FCC7-F79E-C991-FFAD-31A3536F8F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19743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E7965-84B1-E839-0D33-1A86726C03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029E392-E8CB-337C-01C2-4DC35EA2F2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D42F136-02D1-9784-0387-1993EE7A11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9005A2C-0635-1FF2-363A-55D6FB8377A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795713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3CC178-9689-2EAE-2F51-105DC10F1B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98DC028-CCAD-1F12-3980-6C4AE67F3F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92572D3-7090-191A-4353-BAAE6BD1D3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9EFA3B0-A850-7262-E6E4-C561A4504B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059659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D484AC-85BB-C48E-AD9A-1E9F22098A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140CB1D-D4DB-8A6D-F715-50756B29B3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7F7D7C9-9440-3C52-AE78-320A259772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226BEC4-404B-009C-20D5-CC52DE50958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0757627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646670-5D0F-9559-1342-8AD099442D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66A1D35-881C-533A-A292-1AC30B955A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FF9CFFD-38DE-077E-6B80-5637B0817F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26CAB1B-1D7F-642B-D00E-EDAE454472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1885516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2BBDDB-2AD5-0C6B-5479-58034F9BD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61D9807-1387-6871-0CA8-1D6407856D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DB4A11E-4E1C-C430-2D2E-5B84039B63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F3C48CE-7FD8-5F15-9C25-A7762E94101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23942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602551-E502-41F3-82F6-725E9DFA3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8469E7B-D9BB-2C64-0ABE-9AE5A3A081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0147B06-3E86-E880-9F70-89869ADE5B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931F865-6626-73FE-E278-056D31F3F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9675921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B7422D-B957-1A1B-03A4-E435E6A680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28783AD-50ED-E1F0-DE68-E5A35FF7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3BB758A-45D7-3AB8-0DEA-575845400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5D3EC05-11E1-2A79-B626-C0173829A7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439881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C5AC0C-477A-49FA-F41C-55D23BE166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F2BB75E-1E85-B897-A4AE-1F1E84E4AE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20C0EDB-0D4D-91D4-158F-1A1F5B81FD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11B5C22-EB4D-872B-049D-ACCDB502F0A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257407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0736C5-8E74-6A2C-5A86-6BEBBA5B7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0A315AB-1BFC-BDB5-D895-D6569E6195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787ADDC-C100-EE32-BC4B-9D1C902071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6BE00B2-B33E-B98D-DDC9-A085B3DBAA5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919051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FE2DC-9688-BB86-87B2-1FC0C5EF85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4F379A7-E955-CB46-4A68-DC5A3E8FC4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58B65CC-68C6-3F64-9623-88870F2689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7DDA95F-6E65-88FE-C574-F9F8FF7D0AB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46200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397AE-888A-26D3-9EEB-935643F4F7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6DFEE45-A28A-03B7-BF93-6DA10AF5D4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AB17DF8-441C-5038-94A6-E5961EB0E9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2F889E8-E5F7-DFDB-8A31-D02324C4E0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4909124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CCE2D-FF76-6ED1-ED4A-D3C74AF501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1F989B2-88D8-52BF-6C9B-59E04F97A0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01B84C4-9633-AEC5-A75E-5C99F426B8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D1522A0-A36B-18E8-807A-921796C0221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8926980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DAB0C8-E859-4C52-4246-C578C187AB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865A8FE4-1F93-7A8E-E4D2-CD9FAA84CF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79D105FB-BDE2-6EA0-FA8A-CFA3387B31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1DCEF25-0B03-EF1A-EBD0-53A096CD51D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7582141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B7E54-3AC4-165E-BFD3-3F8B07706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0A2C593-25B6-E1F4-54BA-3BA6352384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ECBAB1F-6992-019D-4E7C-7E902D20A8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912D338-6A84-8B81-DDAC-F73DD98B26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99878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207A57-F8C0-EE19-50B8-62C418F90C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732FE8D-FDF7-FB2A-4016-BD67E46198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8A021AA-901A-A373-DAED-B032E7BCCB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A21586C-5DFD-6472-AD88-C3FD19C66B6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695063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6FBE79-04C8-4E3C-79B5-B1CB31461D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A075A5C-73F5-B82C-8E52-5B39AA0B83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2F6CCB7D-C005-C9BB-6412-A803D80309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D8CBD1B-6204-B5E2-C5AB-2B1EF29DDE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839887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D1FFB0-878E-CB4C-6ADE-DF32EDA26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F9B0C17-7BDA-1752-0021-8C6DABBE0B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CFB19F8-ED9B-FADF-9DC6-153832EDBE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80EACAA-449C-C422-2C91-D51D7C4234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25709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6C7615-6A8C-8805-5F68-BF3717DFE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3EE3F99-CE1C-C502-016F-07850354AA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1D5A5BD-90A7-98DB-61CC-56E0A3ECB3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08226F9-563B-D3AB-63B0-E0917121944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251411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F24FF2-062E-5290-7EBA-E80DE836B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320B1CE-578E-E0C9-EE2C-2DF3262C32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A419A6E-D3AB-900C-A0DE-38D3BE8A9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3813A99-8FDD-9956-2E82-20415018CEE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515302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0217E-A93E-36F4-3B3A-93EB13F251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F9F6988-5F3C-CD06-E0C3-9AA051E9CA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89B5192-08F5-F03C-EE11-1A0F37C472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2AF7497-1624-C978-E77F-011ED8953B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429658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DC2EC7-4234-780B-21E3-722A69F733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18C2987-068F-200E-19F3-DD963C4D07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BC9C92E-AC83-3573-3A21-D2A7682D05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460406B-38B6-3273-5958-33E78167D1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677415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2BB2DF-C512-54CE-1A7F-4695B2282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C2C342A-6B18-183B-E9E2-DB4F07232C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0A01D01-40F0-84D2-3DEB-7FEBBE91D4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11F0EFC-9428-8109-3597-BBFDF10C3A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3035416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8D34A3-617D-E6FF-CEE9-EC62F7DE0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170EB57-92F6-4A77-DE4E-AB7C5D2E65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CEBA0B3-A53C-DD8E-DDBF-E37D40F761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7F3A4D9-BB13-A0DC-80A6-F7889EE53E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661514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9F6DA9-3C6B-5AE1-CDE7-763601DC0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CDED201-268B-B747-4AF7-8ED81196ED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8338BED-E68D-D1A0-6268-4D03422BDB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1B560AD-C5C2-3E87-4194-5B959F24000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7950827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F50523-9B54-FCB3-F2A8-ABBF4ABC54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C1EC657F-45E5-3FC6-293A-22E6F97BC3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60C3EB9-B253-DF1C-A37A-CA4CF97111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5D269F5-5A83-BAE5-7E3A-429F5D3E59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308185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AF9C7-6509-039B-04FD-E416563589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A9F7F96-5AD0-0407-B3FE-8E23E7BB34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8FC2F9A-70F6-3261-2F5A-3D896CC968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E120F2E-D139-38A6-4173-1A7298F8D6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7299335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D64876-B3A2-702A-28DF-DD0BCF755E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C05487A-F25D-FC17-B7BA-93B3EDCC3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549749A-7BFF-676E-336A-28868F3340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44C1C51-5460-53B7-B975-CAE5A791C0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610022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D58873-EA22-5146-F9DA-7E45D8ED10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97EDC5A0-7CE1-15D8-B401-E55D0839D0F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3411944-8E3A-447D-CD90-2B3F63B42E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0E6C556-2930-A675-87CE-F8742CAD708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09608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C28F5E-0E2D-AE29-5843-5D72C13854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46FB6DA-99F8-D2A1-13BA-75B845E24A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CB5CBDCC-07AB-3006-FA74-47B96D757F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D64CC6D-817B-6D4F-CDE5-9B05A1145C4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880126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897805-FFF3-AA15-AE25-6883947140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26D48C3-564B-0C90-DF58-3932251C61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DA336F6-456D-54A1-9023-2E9141162F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ABD51B7-317C-F848-1F44-70BDF5D2AB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690778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0FEEE7-8433-C3E4-B9EB-538B3333C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E730D08-CFEF-F743-C2C8-0DCCB66C3C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E64B1D9-F22C-D19B-B2EE-9D7B9578171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F632159-C05C-0F72-C29B-F66BE129A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6821245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3C634-7F13-297A-9010-B61D8D0CF1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F4A85B0F-4ED3-C59A-4E23-05B23620AB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96D55C5-DE1D-2314-4FB6-1116AD4B84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6D156EF-FDA2-7653-45B8-7878F6973D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9910863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28C01-EE03-D9BE-B2EE-39A39E588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BD7874EC-47B9-5830-292B-9ED4383895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9C7AD66-5525-E4F4-7F2B-8902E65DBC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785A23B-761C-2600-2A0E-9165E04A9D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5463855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DC8B64-2CB8-C68D-AC41-4B51EFD3F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00F0EC4-5BFA-AC3A-FD47-AC49BDD815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DFB59699-9E91-3A24-C852-798FBB2DFF9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04872F7-C4E9-7D18-EBF1-F304224AD3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6745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00B428-8A5F-2291-6FBA-F30C3F608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15C117B-360F-CFF8-9C51-F29CAC664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66DEA60-01C5-A015-722A-1AA41D6781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A867573-F2F7-B069-E243-93C9110C69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39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117983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7A449E-3E11-7766-12DA-AE9B2A4C8F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5E57722-8EBF-55DB-81C0-F625F3769C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48F8264A-B734-8856-CB12-73F73AA7A4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2B6CFE8-5EEA-0EBD-1AB8-DA650D1EB12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456870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913695-7120-6F6E-9B10-8E2985D3A4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73707CD-84CE-628E-A270-E16A63365B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FE31A62-ED21-9490-E551-D31360E03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D7D9885-FB84-A9F5-A2CC-4F050D3921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843977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30E2B-8760-5770-1510-F25D6DECB4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BF500EA-6312-9C2E-6E7D-7C2BED8923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EE19F86-5BE0-6B81-D6BA-2BFF0169C6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77BE5DE-A62D-C57F-24EA-5E9C2DA6DF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4636599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B65D5-6F98-4D0C-7B96-2EDF69D45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9E84145-8402-BCE3-3DDE-1AD5EEBD88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BBB4411-D0E6-8B08-C1E5-54E787DE3A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7D27A14-9FE6-873F-1BCA-35E80778C1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7261261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F6506-4D9D-62FC-03AB-29E12DAC5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142CF29-4A76-177D-AC0B-15F6D3D277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B621285-28C4-03E6-21C1-5EFED92418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8816F28-3B5D-48FB-7F14-99787DB075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8966229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F711DA-82CB-44C8-99EC-9CE596A896FB}" type="slidenum">
              <a:rPr lang="zh-CN" altLang="en-US" smtClean="0"/>
              <a:t>45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33980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A6776D6-055B-45E1-A07F-40AF9915DBEF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3000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B65F64-BFC4-4590-A3B4-6A8E5499F5A4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3000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D568D8-79F4-46BC-90CE-49E11C42A0D9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4913161"/>
      </p:ext>
    </p:extLst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6025B4-6830-40BE-A5C5-D0009D62CE3B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6B7ECB5-DF12-4F03-B25B-CC38BA2A35A7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2762722"/>
      </p:ext>
    </p:extLst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9CA149-A363-431E-B2E9-9DD43A6A5442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40713218"/>
      </p:ext>
    </p:extLst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05C69-CD13-4645-994F-4DA991B20B4C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70447787"/>
      </p:ext>
    </p:extLst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F40B33-C4D1-4774-A4A7-56335ECBF981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5575129"/>
      </p:ext>
    </p:extLst>
  </p:cSld>
  <p:clrMapOvr>
    <a:masterClrMapping/>
  </p:clrMapOvr>
  <p:transition spd="slow" advTm="3000">
    <p:fade/>
  </p:transition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6AD8D1-C647-4D2D-889F-D9046B63B25C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3000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AD29830-9399-4348-B48B-DE7CC3D5F97F}" type="datetime1">
              <a:rPr lang="zh-CN" altLang="en-US" smtClean="0"/>
              <a:t>2025/12/16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8537B7A-7510-410A-AA53-45D600DA02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  <p:sldLayoutId id="2147483654" r:id="rId2"/>
    <p:sldLayoutId id="2147483677" r:id="rId3"/>
    <p:sldLayoutId id="2147483655" r:id="rId4"/>
    <p:sldLayoutId id="2147483673" r:id="rId5"/>
    <p:sldLayoutId id="2147483674" r:id="rId6"/>
    <p:sldLayoutId id="2147483675" r:id="rId7"/>
    <p:sldLayoutId id="2147483676" r:id="rId8"/>
    <p:sldLayoutId id="2147483656" r:id="rId9"/>
  </p:sldLayoutIdLst>
  <p:transition spd="slow" advTm="3000">
    <p:fade/>
  </p:transition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.jpg"/><Relationship Id="rId4" Type="http://schemas.openxmlformats.org/officeDocument/2006/relationships/image" Target="../media/image3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owerpoint template design by DAJU_PPT正版来源小红书大橘PPT微信DAJU_PPT请勿抄袭搬运！盗版必究！"/>
          <p:cNvSpPr/>
          <p:nvPr/>
        </p:nvSpPr>
        <p:spPr>
          <a:xfrm>
            <a:off x="0" y="2164461"/>
            <a:ext cx="12192000" cy="25290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powerpoint template design by DAJU_PPT正版来源小红书大橘PPT微信DAJU_PPT请勿抄袭搬运！盗版必究！"/>
          <p:cNvSpPr txBox="1"/>
          <p:nvPr/>
        </p:nvSpPr>
        <p:spPr>
          <a:xfrm>
            <a:off x="528320" y="2662410"/>
            <a:ext cx="111353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000" b="1" spc="300" dirty="0">
                <a:solidFill>
                  <a:schemeClr val="bg1"/>
                </a:solidFill>
                <a:cs typeface="+mn-ea"/>
                <a:sym typeface="+mn-lt"/>
              </a:rPr>
              <a:t>社交机器人检测</a:t>
            </a:r>
          </a:p>
        </p:txBody>
      </p:sp>
      <p:sp>
        <p:nvSpPr>
          <p:cNvPr id="16" name="powerpoint template design by DAJU_PPT正版来源小红书大橘PPT微信DAJU_PPT请勿抄袭搬运！盗版必究！"/>
          <p:cNvSpPr txBox="1"/>
          <p:nvPr/>
        </p:nvSpPr>
        <p:spPr>
          <a:xfrm>
            <a:off x="2565806" y="3733058"/>
            <a:ext cx="7060388" cy="461641"/>
          </a:xfrm>
          <a:prstGeom prst="rect">
            <a:avLst/>
          </a:prstGeom>
          <a:noFill/>
        </p:spPr>
        <p:txBody>
          <a:bodyPr wrap="square" lIns="91416" tIns="45708" rIns="91416" bIns="45708" rtlCol="0">
            <a:spAutoFit/>
          </a:bodyPr>
          <a:lstStyle>
            <a:defPPr>
              <a:defRPr lang="zh-CN"/>
            </a:defPPr>
            <a:lvl1pPr>
              <a:defRPr sz="20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algn="ctr"/>
            <a:r>
              <a:rPr lang="zh-CN" altLang="en-US" sz="2400" b="1" spc="300" dirty="0">
                <a:latin typeface="+mn-lt"/>
                <a:ea typeface="+mn-ea"/>
                <a:cs typeface="+mn-ea"/>
                <a:sym typeface="+mn-lt"/>
              </a:rPr>
              <a:t>组会分享</a:t>
            </a:r>
            <a:endParaRPr lang="en-US" altLang="zh-CN" sz="2400" b="1" spc="3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3" name="powerpoint template design by DAJU_PPT正版来源小红书大橘PPT微信DAJU_PPT请勿抄袭搬运！盗版必究！-1"/>
          <p:cNvSpPr txBox="1"/>
          <p:nvPr/>
        </p:nvSpPr>
        <p:spPr>
          <a:xfrm>
            <a:off x="5233975" y="5129203"/>
            <a:ext cx="1979981" cy="400085"/>
          </a:xfrm>
          <a:prstGeom prst="rect">
            <a:avLst/>
          </a:prstGeom>
          <a:noFill/>
        </p:spPr>
        <p:txBody>
          <a:bodyPr wrap="none" lIns="91416" tIns="45708" rIns="91416" bIns="45708" rtlCol="0">
            <a:spAutoFit/>
          </a:bodyPr>
          <a:lstStyle>
            <a:defPPr>
              <a:defRPr lang="zh-CN"/>
            </a:defPPr>
            <a:lvl1pPr>
              <a:defRPr sz="2000">
                <a:solidFill>
                  <a:schemeClr val="accent2"/>
                </a:solidFill>
                <a:latin typeface="+mn-ea"/>
                <a:ea typeface="+mn-ea"/>
              </a:defRPr>
            </a:lvl1pPr>
          </a:lstStyle>
          <a:p>
            <a:r>
              <a:rPr lang="zh-CN" altLang="en-US" b="1" dirty="0">
                <a:solidFill>
                  <a:srgbClr val="404040"/>
                </a:solidFill>
                <a:latin typeface="+mn-lt"/>
                <a:cs typeface="+mn-ea"/>
                <a:sym typeface="+mn-lt"/>
              </a:rPr>
              <a:t>分享人</a:t>
            </a:r>
            <a:r>
              <a:rPr lang="zh-CN" altLang="en-US" dirty="0">
                <a:solidFill>
                  <a:srgbClr val="404040"/>
                </a:solidFill>
                <a:latin typeface="+mn-lt"/>
                <a:cs typeface="+mn-ea"/>
                <a:sym typeface="+mn-lt"/>
              </a:rPr>
              <a:t>：王众伯</a:t>
            </a:r>
          </a:p>
        </p:txBody>
      </p:sp>
      <p:sp>
        <p:nvSpPr>
          <p:cNvPr id="2" name="powerpoint template design by DAJU_PPT正版来源小红书大橘PPT微信DAJU_PPT请勿抄袭搬运！盗版必究！"/>
          <p:cNvSpPr txBox="1"/>
          <p:nvPr/>
        </p:nvSpPr>
        <p:spPr>
          <a:xfrm>
            <a:off x="3472543" y="6059653"/>
            <a:ext cx="52469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cs typeface="+mn-ea"/>
                <a:sym typeface="+mn-lt"/>
              </a:rPr>
              <a:t>分享时间：</a:t>
            </a:r>
            <a:r>
              <a:rPr lang="en-US" altLang="zh-CN" dirty="0">
                <a:cs typeface="+mn-ea"/>
                <a:sym typeface="+mn-lt"/>
              </a:rPr>
              <a:t>2025</a:t>
            </a:r>
            <a:r>
              <a:rPr lang="zh-CN" altLang="en-US" dirty="0">
                <a:cs typeface="+mn-ea"/>
                <a:sym typeface="+mn-lt"/>
              </a:rPr>
              <a:t>年</a:t>
            </a:r>
            <a:r>
              <a:rPr lang="en-US" altLang="zh-CN" dirty="0">
                <a:cs typeface="+mn-ea"/>
                <a:sym typeface="+mn-lt"/>
              </a:rPr>
              <a:t>12</a:t>
            </a:r>
            <a:r>
              <a:rPr lang="zh-CN" altLang="en-US" dirty="0">
                <a:cs typeface="+mn-ea"/>
                <a:sym typeface="+mn-lt"/>
              </a:rPr>
              <a:t>月</a:t>
            </a:r>
            <a:r>
              <a:rPr lang="en-US" altLang="zh-CN" dirty="0">
                <a:cs typeface="+mn-ea"/>
                <a:sym typeface="+mn-lt"/>
              </a:rPr>
              <a:t>16</a:t>
            </a:r>
            <a:r>
              <a:rPr lang="zh-CN" altLang="en-US" dirty="0">
                <a:cs typeface="+mn-ea"/>
                <a:sym typeface="+mn-lt"/>
              </a:rPr>
              <a:t>日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69946559-A4D4-6967-2E39-7B95A3537B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</a:t>
            </a:fld>
            <a:endParaRPr lang="zh-CN" altLang="en-US"/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DBF536D5-0FA2-6F06-1070-3A466627AE39}"/>
              </a:ext>
            </a:extLst>
          </p:cNvPr>
          <p:cNvGrpSpPr/>
          <p:nvPr/>
        </p:nvGrpSpPr>
        <p:grpSpPr>
          <a:xfrm>
            <a:off x="5010959" y="1280472"/>
            <a:ext cx="2170082" cy="613500"/>
            <a:chOff x="3345242" y="1493633"/>
            <a:chExt cx="6107954" cy="1726770"/>
          </a:xfrm>
        </p:grpSpPr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00F67296-7547-AC33-07AD-92D65305060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97" name="Freeform 5">
                <a:extLst>
                  <a:ext uri="{FF2B5EF4-FFF2-40B4-BE49-F238E27FC236}">
                    <a16:creationId xmlns:a16="http://schemas.microsoft.com/office/drawing/2014/main" id="{00C59E10-D8EE-BFF0-152B-B6E1184EC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8" name="Freeform 6">
                <a:extLst>
                  <a:ext uri="{FF2B5EF4-FFF2-40B4-BE49-F238E27FC236}">
                    <a16:creationId xmlns:a16="http://schemas.microsoft.com/office/drawing/2014/main" id="{C5339B42-8486-09BF-2414-0C8EEC3555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9" name="Freeform 7">
                <a:extLst>
                  <a:ext uri="{FF2B5EF4-FFF2-40B4-BE49-F238E27FC236}">
                    <a16:creationId xmlns:a16="http://schemas.microsoft.com/office/drawing/2014/main" id="{EBC0DEF1-CF76-F185-4D40-62F92293CE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0" name="Freeform 8">
                <a:extLst>
                  <a:ext uri="{FF2B5EF4-FFF2-40B4-BE49-F238E27FC236}">
                    <a16:creationId xmlns:a16="http://schemas.microsoft.com/office/drawing/2014/main" id="{A0A2136A-22C7-3CF1-8117-0AE7FF6A7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1" name="Freeform 9">
                <a:extLst>
                  <a:ext uri="{FF2B5EF4-FFF2-40B4-BE49-F238E27FC236}">
                    <a16:creationId xmlns:a16="http://schemas.microsoft.com/office/drawing/2014/main" id="{373B1D50-EB06-CF7E-1E98-471E07BEF8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2" name="Freeform 10">
                <a:extLst>
                  <a:ext uri="{FF2B5EF4-FFF2-40B4-BE49-F238E27FC236}">
                    <a16:creationId xmlns:a16="http://schemas.microsoft.com/office/drawing/2014/main" id="{5AEA4E7A-944D-0F90-FDE1-CF08476EFB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3" name="Freeform 11">
                <a:extLst>
                  <a:ext uri="{FF2B5EF4-FFF2-40B4-BE49-F238E27FC236}">
                    <a16:creationId xmlns:a16="http://schemas.microsoft.com/office/drawing/2014/main" id="{9BBFABA8-2331-4D43-6301-6E3599F892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4" name="Freeform 12">
                <a:extLst>
                  <a:ext uri="{FF2B5EF4-FFF2-40B4-BE49-F238E27FC236}">
                    <a16:creationId xmlns:a16="http://schemas.microsoft.com/office/drawing/2014/main" id="{833D38D0-63C1-CD24-A1BA-D81AF2F29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5" name="Freeform 13">
                <a:extLst>
                  <a:ext uri="{FF2B5EF4-FFF2-40B4-BE49-F238E27FC236}">
                    <a16:creationId xmlns:a16="http://schemas.microsoft.com/office/drawing/2014/main" id="{A451661E-5172-3643-7F95-1C9A2A286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6" name="Freeform 14">
                <a:extLst>
                  <a:ext uri="{FF2B5EF4-FFF2-40B4-BE49-F238E27FC236}">
                    <a16:creationId xmlns:a16="http://schemas.microsoft.com/office/drawing/2014/main" id="{EB26752A-D6F8-40D0-D97F-8E01C826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7" name="Freeform 15">
                <a:extLst>
                  <a:ext uri="{FF2B5EF4-FFF2-40B4-BE49-F238E27FC236}">
                    <a16:creationId xmlns:a16="http://schemas.microsoft.com/office/drawing/2014/main" id="{0EB292D1-DDB3-1783-0F44-8AD839689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8" name="Freeform 16">
                <a:extLst>
                  <a:ext uri="{FF2B5EF4-FFF2-40B4-BE49-F238E27FC236}">
                    <a16:creationId xmlns:a16="http://schemas.microsoft.com/office/drawing/2014/main" id="{1E09E2F0-1CA0-A4E7-6C2C-1306BF900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9" name="Freeform 17">
                <a:extLst>
                  <a:ext uri="{FF2B5EF4-FFF2-40B4-BE49-F238E27FC236}">
                    <a16:creationId xmlns:a16="http://schemas.microsoft.com/office/drawing/2014/main" id="{FE581D1C-BA07-DD5A-0528-18BC3E1F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18">
                <a:extLst>
                  <a:ext uri="{FF2B5EF4-FFF2-40B4-BE49-F238E27FC236}">
                    <a16:creationId xmlns:a16="http://schemas.microsoft.com/office/drawing/2014/main" id="{A8A79170-7656-F2E9-46EF-E114F6A5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19">
                <a:extLst>
                  <a:ext uri="{FF2B5EF4-FFF2-40B4-BE49-F238E27FC236}">
                    <a16:creationId xmlns:a16="http://schemas.microsoft.com/office/drawing/2014/main" id="{609CF4E1-B556-B9B5-5699-4EE636BB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20">
                <a:extLst>
                  <a:ext uri="{FF2B5EF4-FFF2-40B4-BE49-F238E27FC236}">
                    <a16:creationId xmlns:a16="http://schemas.microsoft.com/office/drawing/2014/main" id="{B8698A36-A6FF-284F-1A83-F32B1955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21">
                <a:extLst>
                  <a:ext uri="{FF2B5EF4-FFF2-40B4-BE49-F238E27FC236}">
                    <a16:creationId xmlns:a16="http://schemas.microsoft.com/office/drawing/2014/main" id="{4B583079-D2BA-DD16-AE9C-1DF3D5943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22">
                <a:extLst>
                  <a:ext uri="{FF2B5EF4-FFF2-40B4-BE49-F238E27FC236}">
                    <a16:creationId xmlns:a16="http://schemas.microsoft.com/office/drawing/2014/main" id="{A2802418-9722-D16D-436A-36BF25465B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23">
                <a:extLst>
                  <a:ext uri="{FF2B5EF4-FFF2-40B4-BE49-F238E27FC236}">
                    <a16:creationId xmlns:a16="http://schemas.microsoft.com/office/drawing/2014/main" id="{70DD4AD6-ABE6-FD12-20F8-6584F6E95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24">
                <a:extLst>
                  <a:ext uri="{FF2B5EF4-FFF2-40B4-BE49-F238E27FC236}">
                    <a16:creationId xmlns:a16="http://schemas.microsoft.com/office/drawing/2014/main" id="{9FECE562-6E54-C526-CC3E-24AE615D4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25">
                <a:extLst>
                  <a:ext uri="{FF2B5EF4-FFF2-40B4-BE49-F238E27FC236}">
                    <a16:creationId xmlns:a16="http://schemas.microsoft.com/office/drawing/2014/main" id="{24714958-9B2D-D67F-33C4-1EC536030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26">
                <a:extLst>
                  <a:ext uri="{FF2B5EF4-FFF2-40B4-BE49-F238E27FC236}">
                    <a16:creationId xmlns:a16="http://schemas.microsoft.com/office/drawing/2014/main" id="{1A26DE9B-8F99-86AD-2AFD-84B86F5AB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27">
                <a:extLst>
                  <a:ext uri="{FF2B5EF4-FFF2-40B4-BE49-F238E27FC236}">
                    <a16:creationId xmlns:a16="http://schemas.microsoft.com/office/drawing/2014/main" id="{251338A5-F6A6-E29C-4420-7BACC8B089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69" name="Freeform 28">
              <a:extLst>
                <a:ext uri="{FF2B5EF4-FFF2-40B4-BE49-F238E27FC236}">
                  <a16:creationId xmlns:a16="http://schemas.microsoft.com/office/drawing/2014/main" id="{3CDB9BD9-6AD0-67F5-A133-A76E20CD15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0" name="Freeform 29">
              <a:extLst>
                <a:ext uri="{FF2B5EF4-FFF2-40B4-BE49-F238E27FC236}">
                  <a16:creationId xmlns:a16="http://schemas.microsoft.com/office/drawing/2014/main" id="{E0DC90D9-A55F-B4C7-6926-52EA8305E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1" name="Freeform 30">
              <a:extLst>
                <a:ext uri="{FF2B5EF4-FFF2-40B4-BE49-F238E27FC236}">
                  <a16:creationId xmlns:a16="http://schemas.microsoft.com/office/drawing/2014/main" id="{E6A84CE4-2D21-33CC-A0EA-CCC89FC1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2" name="Freeform 31">
              <a:extLst>
                <a:ext uri="{FF2B5EF4-FFF2-40B4-BE49-F238E27FC236}">
                  <a16:creationId xmlns:a16="http://schemas.microsoft.com/office/drawing/2014/main" id="{A6FB7032-B827-B69B-1588-71A0FF91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3" name="Freeform 32">
              <a:extLst>
                <a:ext uri="{FF2B5EF4-FFF2-40B4-BE49-F238E27FC236}">
                  <a16:creationId xmlns:a16="http://schemas.microsoft.com/office/drawing/2014/main" id="{07BB4D98-46C9-D9D8-C809-874851F6A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4" name="Freeform 33">
              <a:extLst>
                <a:ext uri="{FF2B5EF4-FFF2-40B4-BE49-F238E27FC236}">
                  <a16:creationId xmlns:a16="http://schemas.microsoft.com/office/drawing/2014/main" id="{5A9AB88F-CF89-78FC-8A90-9F4EF938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5" name="Freeform 34">
              <a:extLst>
                <a:ext uri="{FF2B5EF4-FFF2-40B4-BE49-F238E27FC236}">
                  <a16:creationId xmlns:a16="http://schemas.microsoft.com/office/drawing/2014/main" id="{805C6A8A-15DF-5988-0C6B-AD6981A8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6" name="Freeform 35">
              <a:extLst>
                <a:ext uri="{FF2B5EF4-FFF2-40B4-BE49-F238E27FC236}">
                  <a16:creationId xmlns:a16="http://schemas.microsoft.com/office/drawing/2014/main" id="{6A39061A-2A12-B3B9-18A8-AF251520F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7" name="Freeform 36">
              <a:extLst>
                <a:ext uri="{FF2B5EF4-FFF2-40B4-BE49-F238E27FC236}">
                  <a16:creationId xmlns:a16="http://schemas.microsoft.com/office/drawing/2014/main" id="{7CDD34C3-9F6B-9CCC-DCAA-F6814C45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8" name="Freeform 37">
              <a:extLst>
                <a:ext uri="{FF2B5EF4-FFF2-40B4-BE49-F238E27FC236}">
                  <a16:creationId xmlns:a16="http://schemas.microsoft.com/office/drawing/2014/main" id="{5D016EF1-5E0A-85C3-E681-00EDCCB6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9" name="Freeform 38">
              <a:extLst>
                <a:ext uri="{FF2B5EF4-FFF2-40B4-BE49-F238E27FC236}">
                  <a16:creationId xmlns:a16="http://schemas.microsoft.com/office/drawing/2014/main" id="{EC4251DE-9D55-9DC6-ACD9-4AFE91FB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0" name="Freeform 39">
              <a:extLst>
                <a:ext uri="{FF2B5EF4-FFF2-40B4-BE49-F238E27FC236}">
                  <a16:creationId xmlns:a16="http://schemas.microsoft.com/office/drawing/2014/main" id="{D2628616-26EF-9D43-F58A-1429F1EAA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1" name="Freeform 40">
              <a:extLst>
                <a:ext uri="{FF2B5EF4-FFF2-40B4-BE49-F238E27FC236}">
                  <a16:creationId xmlns:a16="http://schemas.microsoft.com/office/drawing/2014/main" id="{1CC6C45E-37B2-E94C-F16D-3A187C6B5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41">
              <a:extLst>
                <a:ext uri="{FF2B5EF4-FFF2-40B4-BE49-F238E27FC236}">
                  <a16:creationId xmlns:a16="http://schemas.microsoft.com/office/drawing/2014/main" id="{C7BEBE14-1B23-4755-79A3-F560FAE5F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42">
              <a:extLst>
                <a:ext uri="{FF2B5EF4-FFF2-40B4-BE49-F238E27FC236}">
                  <a16:creationId xmlns:a16="http://schemas.microsoft.com/office/drawing/2014/main" id="{6C6F4946-DAC2-6822-B4C2-B44184937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43">
              <a:extLst>
                <a:ext uri="{FF2B5EF4-FFF2-40B4-BE49-F238E27FC236}">
                  <a16:creationId xmlns:a16="http://schemas.microsoft.com/office/drawing/2014/main" id="{2A3550EB-1E47-8D3E-C3B1-9733AAA0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44">
              <a:extLst>
                <a:ext uri="{FF2B5EF4-FFF2-40B4-BE49-F238E27FC236}">
                  <a16:creationId xmlns:a16="http://schemas.microsoft.com/office/drawing/2014/main" id="{4769B1BB-A74B-3380-AC22-FADCADC2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45">
              <a:extLst>
                <a:ext uri="{FF2B5EF4-FFF2-40B4-BE49-F238E27FC236}">
                  <a16:creationId xmlns:a16="http://schemas.microsoft.com/office/drawing/2014/main" id="{16219618-F129-BF39-F7D6-3E0487A9A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46">
              <a:extLst>
                <a:ext uri="{FF2B5EF4-FFF2-40B4-BE49-F238E27FC236}">
                  <a16:creationId xmlns:a16="http://schemas.microsoft.com/office/drawing/2014/main" id="{6326CA87-AC7D-15A0-7E29-97F1DD7E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47">
              <a:extLst>
                <a:ext uri="{FF2B5EF4-FFF2-40B4-BE49-F238E27FC236}">
                  <a16:creationId xmlns:a16="http://schemas.microsoft.com/office/drawing/2014/main" id="{CBE09A8E-0948-46B2-A5A1-EB9775594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48">
              <a:extLst>
                <a:ext uri="{FF2B5EF4-FFF2-40B4-BE49-F238E27FC236}">
                  <a16:creationId xmlns:a16="http://schemas.microsoft.com/office/drawing/2014/main" id="{8CFE87BC-C105-1C68-4F9C-668169D2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49">
              <a:extLst>
                <a:ext uri="{FF2B5EF4-FFF2-40B4-BE49-F238E27FC236}">
                  <a16:creationId xmlns:a16="http://schemas.microsoft.com/office/drawing/2014/main" id="{E0E9DEF9-3159-2E89-182A-BE04F5301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50">
              <a:extLst>
                <a:ext uri="{FF2B5EF4-FFF2-40B4-BE49-F238E27FC236}">
                  <a16:creationId xmlns:a16="http://schemas.microsoft.com/office/drawing/2014/main" id="{C2CABCD8-FEF8-2BC2-6900-3DE1CFB1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51">
              <a:extLst>
                <a:ext uri="{FF2B5EF4-FFF2-40B4-BE49-F238E27FC236}">
                  <a16:creationId xmlns:a16="http://schemas.microsoft.com/office/drawing/2014/main" id="{7EE68CE2-758D-2B23-354E-1DE922F1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52">
              <a:extLst>
                <a:ext uri="{FF2B5EF4-FFF2-40B4-BE49-F238E27FC236}">
                  <a16:creationId xmlns:a16="http://schemas.microsoft.com/office/drawing/2014/main" id="{E872C3B6-0056-217C-1A4F-4D993B90E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53">
              <a:extLst>
                <a:ext uri="{FF2B5EF4-FFF2-40B4-BE49-F238E27FC236}">
                  <a16:creationId xmlns:a16="http://schemas.microsoft.com/office/drawing/2014/main" id="{3341F269-E4B6-749A-F8A4-80D9C1FB2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54">
              <a:extLst>
                <a:ext uri="{FF2B5EF4-FFF2-40B4-BE49-F238E27FC236}">
                  <a16:creationId xmlns:a16="http://schemas.microsoft.com/office/drawing/2014/main" id="{8985E9FB-764F-3F23-716B-FFBF3B912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55">
              <a:extLst>
                <a:ext uri="{FF2B5EF4-FFF2-40B4-BE49-F238E27FC236}">
                  <a16:creationId xmlns:a16="http://schemas.microsoft.com/office/drawing/2014/main" id="{A209CD82-9E4C-0C94-1869-101F1D06C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B6F0F9B-B4B1-5E50-0B2F-DAA9674D4308}"/>
              </a:ext>
            </a:extLst>
          </p:cNvPr>
          <p:cNvSpPr/>
          <p:nvPr/>
        </p:nvSpPr>
        <p:spPr>
          <a:xfrm>
            <a:off x="0" y="2164461"/>
            <a:ext cx="12192000" cy="25290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powerpoint template design by DAJU_PPT正版来源小红书大橘PPT微信DAJU_PPT请勿抄袭搬运！盗版必究！"/>
          <p:cNvSpPr txBox="1"/>
          <p:nvPr/>
        </p:nvSpPr>
        <p:spPr>
          <a:xfrm>
            <a:off x="5259874" y="1384035"/>
            <a:ext cx="167225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600" dirty="0">
                <a:solidFill>
                  <a:schemeClr val="accent1"/>
                </a:solidFill>
                <a:cs typeface="+mn-ea"/>
                <a:sym typeface="+mn-lt"/>
              </a:rPr>
              <a:t>Part.01</a:t>
            </a:r>
          </a:p>
        </p:txBody>
      </p:sp>
      <p:grpSp>
        <p:nvGrpSpPr>
          <p:cNvPr id="23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2BF9553-4F2D-1EC7-2DAF-9F9B49F67B82}"/>
              </a:ext>
            </a:extLst>
          </p:cNvPr>
          <p:cNvGrpSpPr/>
          <p:nvPr/>
        </p:nvGrpSpPr>
        <p:grpSpPr>
          <a:xfrm>
            <a:off x="67776" y="2508334"/>
            <a:ext cx="11943761" cy="1586422"/>
            <a:chOff x="67776" y="2606602"/>
            <a:chExt cx="11943761" cy="1586422"/>
          </a:xfrm>
        </p:grpSpPr>
        <p:sp>
          <p:nvSpPr>
            <p:cNvPr id="9" name="powerpoint template design by DAJU_PPT正版来源小红书大橘PPT微信DAJU_PPT请勿抄袭搬运！盗版必究！-1"/>
            <p:cNvSpPr txBox="1"/>
            <p:nvPr/>
          </p:nvSpPr>
          <p:spPr>
            <a:xfrm>
              <a:off x="67776" y="2606602"/>
              <a:ext cx="11943761" cy="11079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3600" b="1" spc="600" dirty="0">
                  <a:solidFill>
                    <a:schemeClr val="bg1"/>
                  </a:solidFill>
                  <a:cs typeface="+mn-ea"/>
                  <a:sym typeface="+mn-lt"/>
                </a:rPr>
                <a:t>Social Bot Detection in the Age of ChatGPT: Challenges and Opportunities</a:t>
              </a:r>
              <a:endParaRPr lang="zh-CN" altLang="en-US" sz="3600" b="1" spc="6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" name="powerpoint template design by DAJU_PPT正版来源小红书大橘PPT微信DAJU_PPT请勿抄袭搬运！盗版必究！-2">
              <a:extLst>
                <a:ext uri="{FF2B5EF4-FFF2-40B4-BE49-F238E27FC236}">
                  <a16:creationId xmlns:a16="http://schemas.microsoft.com/office/drawing/2014/main" id="{E7203222-6A3D-04D3-FF05-4A14C7680D30}"/>
                </a:ext>
              </a:extLst>
            </p:cNvPr>
            <p:cNvSpPr txBox="1"/>
            <p:nvPr/>
          </p:nvSpPr>
          <p:spPr>
            <a:xfrm>
              <a:off x="3327401" y="3977580"/>
              <a:ext cx="5537198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zh-CN" altLang="en-US" sz="1400" spc="300" dirty="0">
                  <a:solidFill>
                    <a:schemeClr val="bg1"/>
                  </a:solidFill>
                  <a:cs typeface="+mn-ea"/>
                  <a:sym typeface="+mn-lt"/>
                </a:rPr>
                <a:t>综述性文章</a:t>
              </a:r>
            </a:p>
          </p:txBody>
        </p:sp>
        <p:cxnSp>
          <p:nvCxnSpPr>
            <p:cNvPr id="4" name="powerpoint template design by DAJU_PPT正版来源小红书大橘PPT微信DAJU_PPT请勿抄袭搬运！盗版必究！-3">
              <a:extLst>
                <a:ext uri="{FF2B5EF4-FFF2-40B4-BE49-F238E27FC236}">
                  <a16:creationId xmlns:a16="http://schemas.microsoft.com/office/drawing/2014/main" id="{82459983-A2E7-1251-45D5-91950BC8D72B}"/>
                </a:ext>
              </a:extLst>
            </p:cNvPr>
            <p:cNvCxnSpPr>
              <a:cxnSpLocks/>
            </p:cNvCxnSpPr>
            <p:nvPr/>
          </p:nvCxnSpPr>
          <p:spPr>
            <a:xfrm>
              <a:off x="4182159" y="3843484"/>
              <a:ext cx="3827682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7537DF7C-9E5E-9651-3B39-038DD33312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</a:t>
            </a:fld>
            <a:endParaRPr lang="zh-CN" altLang="en-US"/>
          </a:p>
        </p:txBody>
      </p: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884DD21A-3347-47CD-6DE6-04C55938D8EA}"/>
              </a:ext>
            </a:extLst>
          </p:cNvPr>
          <p:cNvGrpSpPr/>
          <p:nvPr/>
        </p:nvGrpSpPr>
        <p:grpSpPr>
          <a:xfrm>
            <a:off x="5010959" y="4911445"/>
            <a:ext cx="2170082" cy="613500"/>
            <a:chOff x="3345242" y="1493633"/>
            <a:chExt cx="6107954" cy="1726770"/>
          </a:xfrm>
        </p:grpSpPr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D507D5BA-779F-3655-277B-49BCF365753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92" name="Freeform 5">
                <a:extLst>
                  <a:ext uri="{FF2B5EF4-FFF2-40B4-BE49-F238E27FC236}">
                    <a16:creationId xmlns:a16="http://schemas.microsoft.com/office/drawing/2014/main" id="{3EBE2F50-0682-8259-9D32-440CD200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3" name="Freeform 6">
                <a:extLst>
                  <a:ext uri="{FF2B5EF4-FFF2-40B4-BE49-F238E27FC236}">
                    <a16:creationId xmlns:a16="http://schemas.microsoft.com/office/drawing/2014/main" id="{A2AE4580-A8F5-8129-836E-654A997868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4" name="Freeform 7">
                <a:extLst>
                  <a:ext uri="{FF2B5EF4-FFF2-40B4-BE49-F238E27FC236}">
                    <a16:creationId xmlns:a16="http://schemas.microsoft.com/office/drawing/2014/main" id="{71358E3F-4CF9-B465-AE68-58B5B88BB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5" name="Freeform 8">
                <a:extLst>
                  <a:ext uri="{FF2B5EF4-FFF2-40B4-BE49-F238E27FC236}">
                    <a16:creationId xmlns:a16="http://schemas.microsoft.com/office/drawing/2014/main" id="{4DDEFFAF-7D60-B70C-A75F-BDECA2E6F6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6" name="Freeform 9">
                <a:extLst>
                  <a:ext uri="{FF2B5EF4-FFF2-40B4-BE49-F238E27FC236}">
                    <a16:creationId xmlns:a16="http://schemas.microsoft.com/office/drawing/2014/main" id="{D346D08A-6252-BF52-42E1-F09A270D12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7" name="Freeform 10">
                <a:extLst>
                  <a:ext uri="{FF2B5EF4-FFF2-40B4-BE49-F238E27FC236}">
                    <a16:creationId xmlns:a16="http://schemas.microsoft.com/office/drawing/2014/main" id="{17F0541E-883D-83A9-84B3-378743629D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8" name="Freeform 11">
                <a:extLst>
                  <a:ext uri="{FF2B5EF4-FFF2-40B4-BE49-F238E27FC236}">
                    <a16:creationId xmlns:a16="http://schemas.microsoft.com/office/drawing/2014/main" id="{0BAE76C2-1704-A6E0-655D-F01B530BC0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9" name="Freeform 12">
                <a:extLst>
                  <a:ext uri="{FF2B5EF4-FFF2-40B4-BE49-F238E27FC236}">
                    <a16:creationId xmlns:a16="http://schemas.microsoft.com/office/drawing/2014/main" id="{3E58974A-216A-9959-3FF2-091D8284D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0" name="Freeform 13">
                <a:extLst>
                  <a:ext uri="{FF2B5EF4-FFF2-40B4-BE49-F238E27FC236}">
                    <a16:creationId xmlns:a16="http://schemas.microsoft.com/office/drawing/2014/main" id="{6490118D-6518-1208-5E44-EFAA791D6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1" name="Freeform 14">
                <a:extLst>
                  <a:ext uri="{FF2B5EF4-FFF2-40B4-BE49-F238E27FC236}">
                    <a16:creationId xmlns:a16="http://schemas.microsoft.com/office/drawing/2014/main" id="{F088B628-DFB4-0CB3-157A-81E256921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2" name="Freeform 15">
                <a:extLst>
                  <a:ext uri="{FF2B5EF4-FFF2-40B4-BE49-F238E27FC236}">
                    <a16:creationId xmlns:a16="http://schemas.microsoft.com/office/drawing/2014/main" id="{BE13A941-A18D-FE2C-32A8-727543672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3" name="Freeform 16">
                <a:extLst>
                  <a:ext uri="{FF2B5EF4-FFF2-40B4-BE49-F238E27FC236}">
                    <a16:creationId xmlns:a16="http://schemas.microsoft.com/office/drawing/2014/main" id="{DCEAF285-98D4-CD34-84F0-59CB512BD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4" name="Freeform 17">
                <a:extLst>
                  <a:ext uri="{FF2B5EF4-FFF2-40B4-BE49-F238E27FC236}">
                    <a16:creationId xmlns:a16="http://schemas.microsoft.com/office/drawing/2014/main" id="{B3AE777A-3318-ED74-553B-87D3C04A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5" name="Freeform 18">
                <a:extLst>
                  <a:ext uri="{FF2B5EF4-FFF2-40B4-BE49-F238E27FC236}">
                    <a16:creationId xmlns:a16="http://schemas.microsoft.com/office/drawing/2014/main" id="{178353A5-FC7E-FAB5-CA06-5786A88F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6" name="Freeform 19">
                <a:extLst>
                  <a:ext uri="{FF2B5EF4-FFF2-40B4-BE49-F238E27FC236}">
                    <a16:creationId xmlns:a16="http://schemas.microsoft.com/office/drawing/2014/main" id="{ED91EC30-1F7F-E708-1657-A8F41E6A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7" name="Freeform 20">
                <a:extLst>
                  <a:ext uri="{FF2B5EF4-FFF2-40B4-BE49-F238E27FC236}">
                    <a16:creationId xmlns:a16="http://schemas.microsoft.com/office/drawing/2014/main" id="{472328EF-AB88-2F34-90FD-0EE1C28E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8" name="Freeform 21">
                <a:extLst>
                  <a:ext uri="{FF2B5EF4-FFF2-40B4-BE49-F238E27FC236}">
                    <a16:creationId xmlns:a16="http://schemas.microsoft.com/office/drawing/2014/main" id="{6AA931B1-13DE-7DE9-542F-A8494DAA3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9" name="Freeform 22">
                <a:extLst>
                  <a:ext uri="{FF2B5EF4-FFF2-40B4-BE49-F238E27FC236}">
                    <a16:creationId xmlns:a16="http://schemas.microsoft.com/office/drawing/2014/main" id="{3FFCB003-D18C-A520-809E-05FB7C58CD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23">
                <a:extLst>
                  <a:ext uri="{FF2B5EF4-FFF2-40B4-BE49-F238E27FC236}">
                    <a16:creationId xmlns:a16="http://schemas.microsoft.com/office/drawing/2014/main" id="{2D46B89F-3BC1-58FF-989B-7A64472C8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24">
                <a:extLst>
                  <a:ext uri="{FF2B5EF4-FFF2-40B4-BE49-F238E27FC236}">
                    <a16:creationId xmlns:a16="http://schemas.microsoft.com/office/drawing/2014/main" id="{8C1D9B82-034F-504A-65EB-7356F2A3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25">
                <a:extLst>
                  <a:ext uri="{FF2B5EF4-FFF2-40B4-BE49-F238E27FC236}">
                    <a16:creationId xmlns:a16="http://schemas.microsoft.com/office/drawing/2014/main" id="{0A285163-5575-E6B7-6C3B-6C7D117B8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26">
                <a:extLst>
                  <a:ext uri="{FF2B5EF4-FFF2-40B4-BE49-F238E27FC236}">
                    <a16:creationId xmlns:a16="http://schemas.microsoft.com/office/drawing/2014/main" id="{DBF8D940-4E82-4054-ADC5-8B0D8712E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27">
                <a:extLst>
                  <a:ext uri="{FF2B5EF4-FFF2-40B4-BE49-F238E27FC236}">
                    <a16:creationId xmlns:a16="http://schemas.microsoft.com/office/drawing/2014/main" id="{E7FE2403-2384-E817-69C3-7C196B36A6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64" name="Freeform 28">
              <a:extLst>
                <a:ext uri="{FF2B5EF4-FFF2-40B4-BE49-F238E27FC236}">
                  <a16:creationId xmlns:a16="http://schemas.microsoft.com/office/drawing/2014/main" id="{29F09563-CF0E-86EC-FFE1-004016FB06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5" name="Freeform 29">
              <a:extLst>
                <a:ext uri="{FF2B5EF4-FFF2-40B4-BE49-F238E27FC236}">
                  <a16:creationId xmlns:a16="http://schemas.microsoft.com/office/drawing/2014/main" id="{B2CC75E7-470D-0056-8B40-501E601C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6" name="Freeform 30">
              <a:extLst>
                <a:ext uri="{FF2B5EF4-FFF2-40B4-BE49-F238E27FC236}">
                  <a16:creationId xmlns:a16="http://schemas.microsoft.com/office/drawing/2014/main" id="{651AC416-9BC7-C2DB-57B4-E2C98EFB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7" name="Freeform 31">
              <a:extLst>
                <a:ext uri="{FF2B5EF4-FFF2-40B4-BE49-F238E27FC236}">
                  <a16:creationId xmlns:a16="http://schemas.microsoft.com/office/drawing/2014/main" id="{61C0FCF0-7CC1-16DD-2D7B-CC27E2186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8" name="Freeform 32">
              <a:extLst>
                <a:ext uri="{FF2B5EF4-FFF2-40B4-BE49-F238E27FC236}">
                  <a16:creationId xmlns:a16="http://schemas.microsoft.com/office/drawing/2014/main" id="{E2EA61A8-BB29-89F7-8478-1EA5CB36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9" name="Freeform 33">
              <a:extLst>
                <a:ext uri="{FF2B5EF4-FFF2-40B4-BE49-F238E27FC236}">
                  <a16:creationId xmlns:a16="http://schemas.microsoft.com/office/drawing/2014/main" id="{F4415762-5542-19F1-9A3E-58B537837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0" name="Freeform 34">
              <a:extLst>
                <a:ext uri="{FF2B5EF4-FFF2-40B4-BE49-F238E27FC236}">
                  <a16:creationId xmlns:a16="http://schemas.microsoft.com/office/drawing/2014/main" id="{1B0674A5-8523-3949-0F03-155C5186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1" name="Freeform 35">
              <a:extLst>
                <a:ext uri="{FF2B5EF4-FFF2-40B4-BE49-F238E27FC236}">
                  <a16:creationId xmlns:a16="http://schemas.microsoft.com/office/drawing/2014/main" id="{04A7C945-8571-6990-84B2-B1BB637C9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2" name="Freeform 36">
              <a:extLst>
                <a:ext uri="{FF2B5EF4-FFF2-40B4-BE49-F238E27FC236}">
                  <a16:creationId xmlns:a16="http://schemas.microsoft.com/office/drawing/2014/main" id="{E5D622A7-21CE-2DF7-4A56-9B31CA3E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3" name="Freeform 37">
              <a:extLst>
                <a:ext uri="{FF2B5EF4-FFF2-40B4-BE49-F238E27FC236}">
                  <a16:creationId xmlns:a16="http://schemas.microsoft.com/office/drawing/2014/main" id="{37202118-3D0E-C0EA-684C-52E17566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4" name="Freeform 38">
              <a:extLst>
                <a:ext uri="{FF2B5EF4-FFF2-40B4-BE49-F238E27FC236}">
                  <a16:creationId xmlns:a16="http://schemas.microsoft.com/office/drawing/2014/main" id="{FFD7A8D2-F1F2-0465-3348-9709F13A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5" name="Freeform 39">
              <a:extLst>
                <a:ext uri="{FF2B5EF4-FFF2-40B4-BE49-F238E27FC236}">
                  <a16:creationId xmlns:a16="http://schemas.microsoft.com/office/drawing/2014/main" id="{782EC056-4FB1-E740-2626-5EDDE8BB7A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6" name="Freeform 40">
              <a:extLst>
                <a:ext uri="{FF2B5EF4-FFF2-40B4-BE49-F238E27FC236}">
                  <a16:creationId xmlns:a16="http://schemas.microsoft.com/office/drawing/2014/main" id="{CF4DF86B-FF0F-DBDD-B287-29CB9D9A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7" name="Freeform 41">
              <a:extLst>
                <a:ext uri="{FF2B5EF4-FFF2-40B4-BE49-F238E27FC236}">
                  <a16:creationId xmlns:a16="http://schemas.microsoft.com/office/drawing/2014/main" id="{155033EF-F73E-9E4A-5D3B-E224F05F7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8" name="Freeform 42">
              <a:extLst>
                <a:ext uri="{FF2B5EF4-FFF2-40B4-BE49-F238E27FC236}">
                  <a16:creationId xmlns:a16="http://schemas.microsoft.com/office/drawing/2014/main" id="{499BCD46-C85F-A4FD-7CFB-505AF0CE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9" name="Freeform 43">
              <a:extLst>
                <a:ext uri="{FF2B5EF4-FFF2-40B4-BE49-F238E27FC236}">
                  <a16:creationId xmlns:a16="http://schemas.microsoft.com/office/drawing/2014/main" id="{A1C35B75-F640-2CDA-F26D-231E97C1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0" name="Freeform 44">
              <a:extLst>
                <a:ext uri="{FF2B5EF4-FFF2-40B4-BE49-F238E27FC236}">
                  <a16:creationId xmlns:a16="http://schemas.microsoft.com/office/drawing/2014/main" id="{3B378C0A-C298-9E5D-D472-DAF834AC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1" name="Freeform 45">
              <a:extLst>
                <a:ext uri="{FF2B5EF4-FFF2-40B4-BE49-F238E27FC236}">
                  <a16:creationId xmlns:a16="http://schemas.microsoft.com/office/drawing/2014/main" id="{0DE46BB0-5B11-5DC9-C3D1-E84E0FA121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46">
              <a:extLst>
                <a:ext uri="{FF2B5EF4-FFF2-40B4-BE49-F238E27FC236}">
                  <a16:creationId xmlns:a16="http://schemas.microsoft.com/office/drawing/2014/main" id="{CD535DC4-0D1F-EBB3-93E6-5121800C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47">
              <a:extLst>
                <a:ext uri="{FF2B5EF4-FFF2-40B4-BE49-F238E27FC236}">
                  <a16:creationId xmlns:a16="http://schemas.microsoft.com/office/drawing/2014/main" id="{4A836707-FFA8-FB1A-70DD-CE25717629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48">
              <a:extLst>
                <a:ext uri="{FF2B5EF4-FFF2-40B4-BE49-F238E27FC236}">
                  <a16:creationId xmlns:a16="http://schemas.microsoft.com/office/drawing/2014/main" id="{53D00FBF-5F00-E85C-F304-F4916043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49">
              <a:extLst>
                <a:ext uri="{FF2B5EF4-FFF2-40B4-BE49-F238E27FC236}">
                  <a16:creationId xmlns:a16="http://schemas.microsoft.com/office/drawing/2014/main" id="{CC4BDB9D-E899-6A02-64CA-11A56B1C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50">
              <a:extLst>
                <a:ext uri="{FF2B5EF4-FFF2-40B4-BE49-F238E27FC236}">
                  <a16:creationId xmlns:a16="http://schemas.microsoft.com/office/drawing/2014/main" id="{C62AF94B-2FA7-08BE-F1B2-0C05B3CD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51">
              <a:extLst>
                <a:ext uri="{FF2B5EF4-FFF2-40B4-BE49-F238E27FC236}">
                  <a16:creationId xmlns:a16="http://schemas.microsoft.com/office/drawing/2014/main" id="{F3EAC0F7-4E65-CAD3-AB31-A10CA864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52">
              <a:extLst>
                <a:ext uri="{FF2B5EF4-FFF2-40B4-BE49-F238E27FC236}">
                  <a16:creationId xmlns:a16="http://schemas.microsoft.com/office/drawing/2014/main" id="{D682DF64-81D0-65D7-DED5-4918585EC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53">
              <a:extLst>
                <a:ext uri="{FF2B5EF4-FFF2-40B4-BE49-F238E27FC236}">
                  <a16:creationId xmlns:a16="http://schemas.microsoft.com/office/drawing/2014/main" id="{3B18C4DD-BB4F-35A4-8678-2A54B9EF2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54">
              <a:extLst>
                <a:ext uri="{FF2B5EF4-FFF2-40B4-BE49-F238E27FC236}">
                  <a16:creationId xmlns:a16="http://schemas.microsoft.com/office/drawing/2014/main" id="{AFF67DA7-BAAC-A0A8-3322-24BFA1AF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55">
              <a:extLst>
                <a:ext uri="{FF2B5EF4-FFF2-40B4-BE49-F238E27FC236}">
                  <a16:creationId xmlns:a16="http://schemas.microsoft.com/office/drawing/2014/main" id="{A0CCF58E-E68E-3E2F-A561-EA9706B13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BA67E3-E4BE-3E26-28E6-25CF8E5E32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F3F0B0E-FC41-4E9D-D2E7-D54740EEBE64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63CE568-25D0-ED21-1DA4-74A4196AAE93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文章简介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2CB5CF08-46D5-3286-193C-0EE62480689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9F078044-E821-35E3-AD4C-761475B24FA8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E7DCF15-1D02-71E3-84E5-6176C2A165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0FB468D5-7943-DFE2-F438-4BB3DB18E27E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1B4A67C3-36C6-2D1A-6AD2-6ACC5CEDD25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7808DFA4-24B9-B49E-5B1E-AE30D9346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342533C4-2A21-F775-C7D8-AB89DDE515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ACA39512-8271-5EBE-6ABA-8C73CAA85D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B2101C1F-9FE7-FF05-D304-4B180F207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C881EFF2-2786-4F0C-6DBB-8B590F8988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C7E2CD67-3EF1-97B5-26D1-2585E5A7C4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15FD3C84-4420-BC65-8230-CECC0075A3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0BCED97-A8F9-7FD9-96E5-7AEA53CCD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C6F209CA-14AE-469C-01A7-4D8D37C7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8C39E11-A04C-9999-6109-61F4408E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9E67B1E5-B519-5E03-058F-DC1754D2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571DB506-E8DC-FABF-09C2-ED5BA304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CD88F1D5-B2DB-F7C8-CCB0-972BF655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D4FA871A-C3E3-6B70-989C-3E0C9D18D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A336A792-C38B-19AD-73DD-75C982D4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4D960596-0CF0-8FCA-0BB1-4EC7B7072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7C38FCE6-EC44-059F-CAF6-AA52EC70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CDC2130E-65F4-182F-F487-E1252F1ABC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9B013850-CC5C-9907-957A-337E56A2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2BE6194A-3355-2D3A-093C-06CB8B56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5B2B46EB-8DAA-F4FA-9AF8-5D246171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59CB44FE-EA5F-1282-E42E-03CFC3E14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1C7ABC45-DB7E-CFD6-8150-9DC8AF952A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C8FDCBBB-4A04-86C3-C594-92C8DDF8F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E5EC0DD8-0675-BF7D-4EB7-389CC237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091586FB-D303-30F8-95ED-021D2006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81875968-B4DB-FD38-EB4F-B9ABE244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D4E91E80-81AE-37E4-B1DB-8A28E71A3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FA77045-DDAA-04AA-4FAF-84FBBCBF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3CDDABD-36D3-868A-F178-BFECED86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250DB508-A8FB-1CB6-0D19-994B4267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CEF10684-D2ED-FB30-BC82-0EA8A400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9B59B360-39E4-1B19-7E1C-3E44C501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000CD47D-3222-8A0A-406A-A01D0F74B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599D4B80-A31D-373D-1452-9759EA54CA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EEF856FE-63A1-8FEB-D5F9-40FCD30B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54BB16D4-F725-0D1B-EE04-5412630A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C0C561DC-C445-1E59-050A-68B3DCEC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418C31B3-4747-6ABB-9DB9-28772A6C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09CA461A-9AED-1DDE-A352-8E83F49B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0BEA7E9D-D72C-7148-B535-27E02EF6BF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3ABC06D2-228A-6F81-3DC6-3075C0AEE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AAF78AF7-41F0-6E61-35EF-7B75586328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26405694-CEF8-78F9-B3EB-A35E0FA7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BFE48E97-B847-C70C-6E27-C79D447B6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05369AB9-AF11-F1A3-DF93-EAEB16C1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7E8C929-649B-AA4A-6B40-8E6621BB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381C83F2-533B-9860-8359-33134A8D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960558F7-75A9-437A-AC8E-4DBD890A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6030451B-798A-FE34-2342-F5CDA84E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D213E1D0-5CF2-8285-0CA6-55B90E789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pic>
        <p:nvPicPr>
          <p:cNvPr id="13" name="图片 12">
            <a:extLst>
              <a:ext uri="{FF2B5EF4-FFF2-40B4-BE49-F238E27FC236}">
                <a16:creationId xmlns:a16="http://schemas.microsoft.com/office/drawing/2014/main" id="{B117EF7F-0954-534E-727C-50689AFF790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851"/>
          <a:stretch>
            <a:fillRect/>
          </a:stretch>
        </p:blipFill>
        <p:spPr>
          <a:xfrm>
            <a:off x="1276158" y="1971588"/>
            <a:ext cx="3148874" cy="4066279"/>
          </a:xfrm>
          <a:prstGeom prst="rect">
            <a:avLst/>
          </a:prstGeom>
          <a:effectLst>
            <a:outerShdw blurRad="127000" dist="38100" dir="2700000" sx="104000" sy="104000" algn="tl" rotWithShape="0">
              <a:prstClr val="black">
                <a:alpha val="36000"/>
              </a:prstClr>
            </a:outerShdw>
          </a:effectLst>
        </p:spPr>
      </p:pic>
      <p:sp>
        <p:nvSpPr>
          <p:cNvPr id="16" name="文本框 15">
            <a:extLst>
              <a:ext uri="{FF2B5EF4-FFF2-40B4-BE49-F238E27FC236}">
                <a16:creationId xmlns:a16="http://schemas.microsoft.com/office/drawing/2014/main" id="{BD54FFCA-A8E7-D69C-1DC3-064143A56C82}"/>
              </a:ext>
            </a:extLst>
          </p:cNvPr>
          <p:cNvSpPr txBox="1"/>
          <p:nvPr/>
        </p:nvSpPr>
        <p:spPr>
          <a:xfrm>
            <a:off x="5155677" y="2304261"/>
            <a:ext cx="6094428" cy="34009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 algn="just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论文：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Social Bot Detection in the Age of ChatGPT: Challenges and Opportunities</a:t>
            </a:r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作者：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Emilio Ferrara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（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University of Southern California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）</a:t>
            </a:r>
            <a:endParaRPr lang="en-US" altLang="zh-CN" b="1" i="0" dirty="0">
              <a:solidFill>
                <a:srgbClr val="111133"/>
              </a:solidFill>
              <a:effectLst/>
              <a:latin typeface="+mn-ea"/>
            </a:endParaRPr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发表刊物：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《First Monday》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（</a:t>
            </a:r>
            <a:r>
              <a:rPr lang="zh-CN" altLang="en-US" b="1" dirty="0"/>
              <a:t>同行评审的开放获取（</a:t>
            </a:r>
            <a:r>
              <a:rPr lang="en-US" altLang="zh-CN" b="1" dirty="0"/>
              <a:t>Open Access</a:t>
            </a:r>
            <a:r>
              <a:rPr lang="zh-CN" altLang="en-US" b="1" dirty="0"/>
              <a:t>）学术期刊）</a:t>
            </a:r>
            <a:endParaRPr lang="en-US" altLang="zh-CN" b="1" dirty="0"/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发表年份：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2023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年</a:t>
            </a:r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类型：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Viewpoint / Survey Paper</a:t>
            </a:r>
            <a:endParaRPr lang="zh-CN" altLang="en-US" b="1" i="0" dirty="0">
              <a:solidFill>
                <a:srgbClr val="111133"/>
              </a:solidFill>
              <a:effectLst/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58218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EFB630-3957-BBC8-1F61-4E364AF0A1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26558C0D-F191-C8C9-DC3D-DDD1C5B680C6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A041EB3-2AA0-FECC-C812-61C0799328A2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第一部分：背景与问题定义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6062071-3597-4815-B3E5-0D5C76A1814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F2E0DF55-2175-6D8D-EE9A-87550CF69189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26146E5B-E445-17DF-1316-266A5A2E2E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1B81D5BC-1E31-B803-72E3-05DDF0C7A4A6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A49C5C2C-776A-529B-D92C-921815C547B4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30B908F1-7490-BEFB-1FB0-61405190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06176F48-C9F4-0EB0-4169-0E79DAB7E8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79348932-BCF2-48F5-627B-2A62A6462A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71A661CB-BC8D-A72A-CD13-5B8D485DB0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E544FABE-A6E5-E2E2-64AE-3D5A032D77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BD2D46D4-5D74-A1C6-7318-F33F92F112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83027C42-3A4A-1825-3B3D-77AC6F78BD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2779F305-D0AA-5A99-446D-E9C1BAB59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BCA8B062-0DEA-4897-DDC6-BDB25AF5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A97E8480-0130-B35A-CE1C-AA852F66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3F3D6451-4453-D44C-97EC-3C7CBA545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1DDDC161-3922-4394-3FA6-20C01CF0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C8602D7D-35C4-A718-E6D9-D8F627A77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34B8DFE8-8DF6-19E3-E8DD-E67FB6F60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2E79AACE-91C4-BCB4-D299-C38235CB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8A0CBB23-5DAD-7E25-E52F-4E33D97D4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46DA861D-28A3-AB95-DB30-D65FF5F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CC904471-BB93-7206-F17D-78E2A865EC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534C5AB3-6ED3-15DD-F775-A80C8749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E5DE5348-E504-7567-ABC8-898DEBAB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7EEE88F3-C5A8-2F3D-8192-3810E65F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E05EDA93-1773-C4F8-6E7C-0605C4A8B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9F6F0EE9-7F42-1678-FEEB-BB5229E0A1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3CDC3C30-345F-C3E3-C3E3-9D3B9B6988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326305A0-2C19-9C63-7ADB-FA8114BB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77654AF8-10F5-2421-78B9-CEC0623A8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FD0BE365-9DAF-DCFC-FE68-08D45FED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BA225961-AECF-487F-7F14-D687DFEF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5635671D-1F2E-99DC-E0FD-462CCF4DB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768FDEA3-5CF4-7468-39DE-A9365D9A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756ACE65-8C3C-7BA7-C6B1-4BC10A02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1313FA66-6FA4-BC72-2DFF-6FE1BF1F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8F5C66EC-9709-9F55-B5A5-61E911080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D363FD2-8D11-30ED-FB8D-DABD5756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D4086069-C0DA-F299-61AA-DF3290C85F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8B5AAB8-57A6-27E9-FB8A-6487AD3E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F6F5CB80-C62B-7135-72B0-8391E36F3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F856BB44-ED75-2F5F-8819-5AEBCFC0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A7430C7C-58B9-6DD1-3301-303747C4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489B004E-5021-6AFD-4DAF-52B20B91F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CE9D8D9A-3CF9-8FD7-15D1-00ECC9659D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981D2775-9535-6F20-E4E8-55DB1710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FC0B5624-4A9F-5396-5DFF-8B3FC74D6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887B7FE6-C5E5-65B4-0148-78633DB1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0537F070-B4E8-BC05-7403-0FB322B3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E5D1EEC9-9D11-3D1C-6F7A-C7ECB134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619E9F1C-44A2-1A13-5BAC-F56ED059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3C16E42C-2FDE-7F1D-2B1D-7B3506CC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322E99B3-568E-A6C1-DA02-81DA83A9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813077BF-1D46-1A02-E3B0-6827F9DD7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0E639413-DF8E-2A02-7C5B-59F92B82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B1635B3E-B63B-61B1-F19C-46DD6279F147}"/>
              </a:ext>
            </a:extLst>
          </p:cNvPr>
          <p:cNvSpPr txBox="1"/>
          <p:nvPr/>
        </p:nvSpPr>
        <p:spPr>
          <a:xfrm>
            <a:off x="473580" y="1915597"/>
            <a:ext cx="5316797" cy="34135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1.1 </a:t>
            </a:r>
            <a:r>
              <a:rPr lang="zh-CN" altLang="en-US" sz="2000" b="1" dirty="0">
                <a:latin typeface="+mn-ea"/>
              </a:rPr>
              <a:t>什么是社交机器人？</a:t>
            </a:r>
            <a:endParaRPr lang="en-US" altLang="zh-CN" sz="2000" b="1" i="0" dirty="0">
              <a:effectLst/>
              <a:latin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b="1" i="0" dirty="0">
                <a:effectLst/>
                <a:latin typeface="+mn-ea"/>
              </a:rPr>
              <a:t>Social bots are autonomous software agents that communicate on social media platforms by mimicking, influencing, or manipulating human users</a:t>
            </a:r>
            <a:r>
              <a:rPr lang="en-US" altLang="zh-CN" b="1" dirty="0">
                <a:latin typeface="+mn-ea"/>
              </a:rPr>
              <a:t>. </a:t>
            </a:r>
            <a:r>
              <a:rPr lang="zh-CN" altLang="en-US" b="1" dirty="0">
                <a:latin typeface="+mn-ea"/>
              </a:rPr>
              <a:t>（</a:t>
            </a:r>
            <a:r>
              <a:rPr lang="en-US" altLang="zh-CN" b="1" dirty="0">
                <a:latin typeface="+mn-ea"/>
              </a:rPr>
              <a:t>Ferrara et al., 2016</a:t>
            </a:r>
            <a:r>
              <a:rPr lang="zh-CN" altLang="en-US" b="1" dirty="0">
                <a:latin typeface="+mn-ea"/>
              </a:rPr>
              <a:t>）</a:t>
            </a:r>
            <a:endParaRPr lang="en-US" altLang="zh-CN" b="1" dirty="0">
              <a:latin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社交机器人是自主的软件代理，它们通过模仿、影响或操纵人类用户在社交媒体平台上进行交流。</a:t>
            </a:r>
            <a:endParaRPr lang="zh-CN" altLang="en-US" b="1" dirty="0">
              <a:latin typeface="+mn-ea"/>
            </a:endParaRPr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77FB5796-3A22-1FBD-1AE0-8AA7608C340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81590" y="1167534"/>
            <a:ext cx="2597558" cy="4680000"/>
          </a:xfrm>
          <a:prstGeom prst="rect">
            <a:avLst/>
          </a:prstGeom>
          <a:effectLst>
            <a:outerShdw blurRad="127000" dist="38100" dir="2700000" sx="104000" sy="104000" algn="tl" rotWithShape="0">
              <a:prstClr val="black">
                <a:alpha val="36000"/>
              </a:prstClr>
            </a:outerShdw>
          </a:effec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7675511D-F36F-C8AA-8BFD-4C7EFB7B8D1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46215" y="1167534"/>
            <a:ext cx="2599200" cy="4680000"/>
          </a:xfrm>
          <a:prstGeom prst="rect">
            <a:avLst/>
          </a:prstGeom>
          <a:effectLst>
            <a:outerShdw blurRad="127000" dist="38100" dir="2700000" sx="104000" sy="104000" algn="tl" rotWithShape="0">
              <a:prstClr val="black">
                <a:alpha val="36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26338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C6B00-F3D0-A5CB-82EB-A5A2F73197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6E7EEEC-68B0-1446-33B1-70CCC1398D40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F8F7A02-4E50-1BC0-597F-D317CCEAF2EC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第一部分：背景与问题定义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642DF020-1E62-4CEF-C09C-A73500C1FBA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BFCDAB9-83E1-C878-654B-403BCB5B65F9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0801438C-010E-2CC5-7EC2-30C0D70B3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5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65383651-8020-C8C7-E697-2CED757668D3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72B1698B-DEC8-6472-1C68-5A4342E65D70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84AE731C-F14A-D7ED-F8A0-6CF952F6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B1062396-049D-91E8-8F47-F7FF03F0E2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D407E2F5-3BAB-82E0-B52F-E84042FB16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7B6B98B4-3752-6F15-0EE8-6989EAAE7E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7204C74E-1FCF-E0F8-7859-B4BAB1776B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A1F536D0-1078-F72F-C868-C27233E27D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EDFF65BA-78A5-A216-AE27-30ABC86B7E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03BDC06F-12CF-B38E-FB65-2A0EB915F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A85EBC8E-8F5E-7892-4058-31CA5EDD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6EB6E793-9672-B43B-EB5F-1730582B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041C3C50-790F-BF06-83E6-3B2DED7B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018256C6-250A-FD58-6907-7AE233F8E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8A241F17-AEDB-3B2A-155C-D83329590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0C486B09-EE40-5BD2-55F3-CB572785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32ACB150-59F3-C9D6-3CCD-C3B89453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FD4C08E5-0D0D-DAF9-0D27-48E725600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B1C524D-29A1-82C7-DDAA-FD780187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E12B1761-E374-9F4C-B635-3986A2D7A3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0188A53-99F1-CBD2-10B7-A6C90848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8CD1BDFA-DB98-DDBC-CB28-DF1CF7D1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5273E39A-05EE-D9DE-074D-56244F53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C7DE1F4-9C5F-A655-AEE0-CB47AFF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FB79AD54-79F8-94F1-C8EC-EC29E8E5E1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287C58B4-77B6-BD3E-646C-54020EFA6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9C8A3A6E-4C47-8C7F-6699-2832EBFE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BC5B659A-2CB1-3B7A-FEEC-FC6030F83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EA64783E-B8DA-9057-BBDD-A4BE282B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F40D080E-F204-126D-C6E2-5D2CC031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B98FFF18-BCD4-E604-1385-CF5F87B5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49613103-0072-799A-0B29-DAE42BE2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ACD6964-A9E0-AFD6-06C7-0FE9864C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3509A93B-D9C4-C7EE-4F68-59973CDC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5BB8AE7-8664-7C42-E576-4175F864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1FA30D4E-4C23-ECAB-A167-7112906B8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6AC3418B-62FF-053D-03F8-1308EABCF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D52FF9EE-902B-69C5-C639-BC4E6AB9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EF61BB96-DADF-BB36-1E86-3B595B5F1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09D46655-70F8-256B-29CC-545E8446A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E10C589F-AA3C-C9F6-DB38-41903761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3D979860-5D40-E3EE-12F3-BC2844CB1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8C41B164-3B53-ACB1-0412-25C9985F2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A79E33DF-9D47-4DF0-E1EF-8EA4F4B3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F6E6D154-3C74-C2C1-3E16-D4906EEEA6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986DA303-134B-B536-16EE-7E8CBFE1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6ECEEE10-0AB9-C5F7-1207-3A1E690C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587AC8E8-46ED-D916-42A3-6EB4D4CE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0FC51BEF-AEFE-D875-891A-AD42FE2A4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29F472C8-C80E-58B1-C958-89B09563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9A9FA005-81EB-E18E-54A4-D4986B06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527A32BB-93E3-D809-CF4D-97D7333D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4E32598B-F615-506C-C01D-2B9D791C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A0BA01CF-E3FD-5580-9D71-002676F136EF}"/>
              </a:ext>
            </a:extLst>
          </p:cNvPr>
          <p:cNvSpPr txBox="1"/>
          <p:nvPr/>
        </p:nvSpPr>
        <p:spPr>
          <a:xfrm>
            <a:off x="490907" y="1791117"/>
            <a:ext cx="11017254" cy="46600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1.2 </a:t>
            </a:r>
            <a:r>
              <a:rPr lang="zh-CN" altLang="en-US" sz="2000" b="1" dirty="0">
                <a:latin typeface="+mn-ea"/>
              </a:rPr>
              <a:t>社交机器人演化三阶段：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第一代（</a:t>
            </a:r>
            <a:r>
              <a:rPr lang="en-US" altLang="zh-CN" b="1" dirty="0">
                <a:latin typeface="+mn-ea"/>
              </a:rPr>
              <a:t>2009–2013</a:t>
            </a:r>
            <a:r>
              <a:rPr lang="zh-CN" altLang="en-US" b="1" dirty="0">
                <a:latin typeface="+mn-ea"/>
              </a:rPr>
              <a:t>）：</a:t>
            </a:r>
            <a:r>
              <a:rPr lang="zh-CN" altLang="en-US" dirty="0">
                <a:latin typeface="+mn-ea"/>
              </a:rPr>
              <a:t>基于规则的自动化脚本（如自动转发、关键词回复）。典型工具：</a:t>
            </a:r>
            <a:r>
              <a:rPr lang="en-US" altLang="zh-CN" dirty="0">
                <a:latin typeface="+mn-ea"/>
              </a:rPr>
              <a:t>Twitter API + Python </a:t>
            </a:r>
            <a:r>
              <a:rPr lang="zh-CN" altLang="en-US" dirty="0">
                <a:latin typeface="+mn-ea"/>
              </a:rPr>
              <a:t>脚本，特征：高频、重复、无上下文，案例：垃圾广告 </a:t>
            </a:r>
            <a:r>
              <a:rPr lang="en-US" altLang="zh-CN" dirty="0">
                <a:latin typeface="+mn-ea"/>
              </a:rPr>
              <a:t>bot</a:t>
            </a:r>
            <a:r>
              <a:rPr lang="zh-CN" altLang="en-US" dirty="0">
                <a:latin typeface="+mn-ea"/>
              </a:rPr>
              <a:t>（“</a:t>
            </a:r>
            <a:r>
              <a:rPr lang="en-US" altLang="zh-CN" dirty="0">
                <a:latin typeface="+mn-ea"/>
              </a:rPr>
              <a:t>Buy cheap watches!”</a:t>
            </a:r>
            <a:r>
              <a:rPr lang="zh-CN" altLang="en-US" dirty="0">
                <a:latin typeface="+mn-ea"/>
              </a:rPr>
              <a:t>）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第二代（</a:t>
            </a:r>
            <a:r>
              <a:rPr lang="en-US" altLang="zh-CN" b="1" dirty="0">
                <a:latin typeface="+mn-ea"/>
              </a:rPr>
              <a:t>2014–2019</a:t>
            </a:r>
            <a:r>
              <a:rPr lang="zh-CN" altLang="en-US" b="1" dirty="0">
                <a:latin typeface="+mn-ea"/>
              </a:rPr>
              <a:t>）：</a:t>
            </a:r>
            <a:r>
              <a:rPr lang="zh-CN" altLang="en-US" dirty="0">
                <a:latin typeface="+mn-ea"/>
              </a:rPr>
              <a:t>引入机器学习</a:t>
            </a:r>
            <a:r>
              <a:rPr lang="en-US" altLang="zh-CN" dirty="0">
                <a:latin typeface="+mn-ea"/>
              </a:rPr>
              <a:t>/NLP</a:t>
            </a:r>
            <a:r>
              <a:rPr lang="zh-CN" altLang="en-US" dirty="0">
                <a:latin typeface="+mn-ea"/>
              </a:rPr>
              <a:t>，具备有限对话能力。使用 </a:t>
            </a:r>
            <a:r>
              <a:rPr lang="en-US" altLang="zh-CN" dirty="0">
                <a:latin typeface="+mn-ea"/>
              </a:rPr>
              <a:t>Markov </a:t>
            </a:r>
            <a:r>
              <a:rPr lang="zh-CN" altLang="en-US" dirty="0">
                <a:latin typeface="+mn-ea"/>
              </a:rPr>
              <a:t>链生成文本（</a:t>
            </a:r>
            <a:r>
              <a:rPr lang="en-US" altLang="zh-CN" dirty="0">
                <a:latin typeface="+mn-ea"/>
              </a:rPr>
              <a:t>Hwang et al., 2012</a:t>
            </a:r>
            <a:r>
              <a:rPr lang="zh-CN" altLang="en-US" dirty="0">
                <a:latin typeface="+mn-ea"/>
              </a:rPr>
              <a:t>）、</a:t>
            </a:r>
            <a:r>
              <a:rPr lang="en-US" altLang="zh-CN" dirty="0">
                <a:latin typeface="+mn-ea"/>
              </a:rPr>
              <a:t>LSTM </a:t>
            </a:r>
            <a:r>
              <a:rPr lang="zh-CN" altLang="en-US" dirty="0">
                <a:latin typeface="+mn-ea"/>
              </a:rPr>
              <a:t>生成推文（</a:t>
            </a:r>
            <a:r>
              <a:rPr lang="en-US" altLang="zh-CN" dirty="0" err="1">
                <a:latin typeface="+mn-ea"/>
              </a:rPr>
              <a:t>Pozzana</a:t>
            </a:r>
            <a:r>
              <a:rPr lang="en-US" altLang="zh-CN" dirty="0">
                <a:latin typeface="+mn-ea"/>
              </a:rPr>
              <a:t> &amp; Ferrara, 2020</a:t>
            </a:r>
            <a:r>
              <a:rPr lang="zh-CN" altLang="en-US" dirty="0">
                <a:latin typeface="+mn-ea"/>
              </a:rPr>
              <a:t>）可模拟情感（如愤怒、喜悦）以增强说服力。</a:t>
            </a:r>
            <a:endParaRPr lang="en-US" altLang="zh-CN" dirty="0">
              <a:latin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第三代（</a:t>
            </a:r>
            <a:r>
              <a:rPr lang="en-US" altLang="zh-CN" b="1" dirty="0">
                <a:latin typeface="+mn-ea"/>
              </a:rPr>
              <a:t>2020–</a:t>
            </a:r>
            <a:r>
              <a:rPr lang="zh-CN" altLang="en-US" b="1" dirty="0">
                <a:latin typeface="+mn-ea"/>
              </a:rPr>
              <a:t>至今）：</a:t>
            </a:r>
            <a:r>
              <a:rPr lang="zh-CN" altLang="en-US" dirty="0">
                <a:latin typeface="+mn-ea"/>
              </a:rPr>
              <a:t>由大语言模型（</a:t>
            </a:r>
            <a:r>
              <a:rPr lang="en-US" altLang="zh-CN" dirty="0">
                <a:latin typeface="+mn-ea"/>
              </a:rPr>
              <a:t>LLMs</a:t>
            </a:r>
            <a:r>
              <a:rPr lang="zh-CN" altLang="en-US" dirty="0">
                <a:latin typeface="+mn-ea"/>
              </a:rPr>
              <a:t>）驱动，具备上下文理解、长期记忆、多轮对话、跨模态生成能力。核心引擎：</a:t>
            </a:r>
            <a:r>
              <a:rPr lang="en-US" altLang="zh-CN" dirty="0">
                <a:latin typeface="+mn-ea"/>
              </a:rPr>
              <a:t>GPT-3.5/4</a:t>
            </a:r>
            <a:r>
              <a:rPr lang="zh-CN" altLang="en-US" dirty="0">
                <a:latin typeface="+mn-ea"/>
              </a:rPr>
              <a:t>、</a:t>
            </a:r>
            <a:r>
              <a:rPr lang="en-US" altLang="zh-CN" dirty="0">
                <a:latin typeface="+mn-ea"/>
              </a:rPr>
              <a:t>Claude</a:t>
            </a:r>
            <a:r>
              <a:rPr lang="zh-CN" altLang="en-US" dirty="0">
                <a:latin typeface="+mn-ea"/>
              </a:rPr>
              <a:t>、</a:t>
            </a:r>
            <a:r>
              <a:rPr lang="en-US" altLang="zh-CN" dirty="0" err="1">
                <a:latin typeface="+mn-ea"/>
              </a:rPr>
              <a:t>LLaMA</a:t>
            </a:r>
            <a:r>
              <a:rPr lang="en-US" altLang="zh-CN" dirty="0">
                <a:latin typeface="+mn-ea"/>
              </a:rPr>
              <a:t> </a:t>
            </a:r>
            <a:r>
              <a:rPr lang="zh-CN" altLang="en-US" dirty="0">
                <a:latin typeface="+mn-ea"/>
              </a:rPr>
              <a:t>等，行为特征：低频但高影响力、话题切换自然、可参与复杂辩论。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关键转变：从“自动化行为” → “拟人化智能”。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endParaRPr lang="zh-CN" altLang="en-US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6107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9BDE2E-64FA-6699-0B0C-45EBE6AB3E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E2A09025-2A64-FDB3-C03B-1839E03172FF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ED99E206-5343-2086-F9C2-FE87864E2F00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第一部分：背景与问题定义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DE247BB9-EEA3-8FF2-D4F6-F6D0629DFC5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9AFE1F62-22EB-5AA7-31EC-01F2E5CB4421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B374A71-815A-98D9-7E45-6F3C765645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6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98A29807-3AD4-94EC-16A1-8A2446603D6E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7D254DB0-BB52-D3DF-63E8-7942DA1A51BA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DE0F197F-D5D9-64BC-5CB6-8F67A03DD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099BA345-E0BD-793C-2D77-9DB3B5FD1E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3D3C56A0-FD3B-2BFE-1068-A602FD4D36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324D5D75-8733-15CA-A0A3-1B80AECB20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0F7238E7-70E7-088B-AE5E-F69F67E013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BF3863DB-3E6A-2569-6999-82FE474886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7B2203B4-133E-4E18-D873-B2BC3D53FC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7FB26FFB-6731-5763-7E2F-58FAFAE59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FA3E7425-5295-DD35-F1A6-A9AAD722D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64233073-E8EB-90C2-0A91-0EE99666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27C56833-2841-2A7E-BB45-07F7FC947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6A91E933-DF7E-EAF3-5FE6-CF64EC91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C36D9E12-398F-A008-F803-A2DDA5CD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B5A94340-CE89-4FC1-963E-2ACDF9A12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F837B169-A016-ABF7-4EFC-F185F7E5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55EF8684-3CD5-C9DA-1C87-36D5449E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13734C55-C4C3-D445-3368-ACBB833D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F77252EF-FCBC-8FE3-393D-AB00BA2BAD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A5A0DED-1BC8-49CB-6FB8-6FD65687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27E228B9-C377-1600-3D39-6DE7BF25C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4109CFF4-7D1C-FFA6-307B-8A538996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D5E021CF-B6D9-C2A7-A5CE-C4A337297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8DDC5DA5-7A9A-F17F-0BB0-DE77215F31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B4E94F71-84E1-532A-60CA-F1E2EF077F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EA59AD79-F8ED-CAC8-B75C-7F220EC9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4F5260BE-405B-DD37-47F4-DA2EE152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3E195A7E-F17D-CF03-5A87-AE76EF95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D9E5A309-9806-7831-D526-EFC97E4F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31A199FF-5BE2-6B75-71D0-48443581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07D8AE01-189C-904A-1F49-8B56497A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749FE7C4-1FF3-9357-C23E-8908650F4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D8EF62D1-6270-87D3-4983-46F05535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ECF4CCC8-B3CF-FEBF-7134-0D4A1DB8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50FFF017-FFC1-7DFC-D7D6-B5F8D3FFB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62E0BB97-8991-8D56-E02C-82B915B826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2B8F6327-E7B7-A5AC-E24B-113E721C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217BFE6F-9A7D-042D-0DFA-2611240C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1A43E995-3208-D5FF-0304-AB23A5C97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4F340EDF-EEE9-433D-2316-DA3D4D7E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50B5C6DE-F0AE-406E-DCBB-42D1EF16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3F860EC5-3CFF-D1E8-AF77-73B89779F8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EF5D377-015C-1B53-CED5-38C29F1E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3FC114E5-6A85-C77C-B02A-999304631F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205AD57E-4982-4BE0-69BC-1B3A7698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4879DE3A-0B8D-25C1-3124-1A2C30D1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CA2D149B-0187-DCD3-9D13-2BAF2D0BC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F3A45BDC-BF30-5112-E04A-2536FB6A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AC56764F-9CD5-F389-FAF6-A7AA331F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3FEFBD3E-1C2F-21E4-E69C-73A03581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F35E6A5F-AF62-84AC-7FF3-C410C908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8E05287F-F5B1-D27B-2819-0730516C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8DA9D062-D822-8072-9BB8-9486E7780BD4}"/>
              </a:ext>
            </a:extLst>
          </p:cNvPr>
          <p:cNvSpPr txBox="1"/>
          <p:nvPr/>
        </p:nvSpPr>
        <p:spPr>
          <a:xfrm>
            <a:off x="473579" y="1533524"/>
            <a:ext cx="11328779" cy="46600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1.3 </a:t>
            </a:r>
            <a:r>
              <a:rPr lang="zh-CN" altLang="en-US" sz="2000" b="1" dirty="0">
                <a:latin typeface="+mn-ea"/>
              </a:rPr>
              <a:t>社交机器人检测已从“技术优化问题”上升为“数字社会治理基础设施”</a:t>
            </a:r>
          </a:p>
          <a:p>
            <a:pPr algn="just">
              <a:lnSpc>
                <a:spcPct val="150000"/>
              </a:lnSpc>
            </a:pPr>
            <a:r>
              <a:rPr lang="zh-CN" altLang="en-US" b="1" dirty="0">
                <a:latin typeface="+mn-ea"/>
              </a:rPr>
              <a:t>（</a:t>
            </a:r>
            <a:r>
              <a:rPr lang="en-US" altLang="zh-CN" b="1" dirty="0">
                <a:latin typeface="+mn-ea"/>
              </a:rPr>
              <a:t>1</a:t>
            </a:r>
            <a:r>
              <a:rPr lang="zh-CN" altLang="en-US" b="1" dirty="0">
                <a:latin typeface="+mn-ea"/>
              </a:rPr>
              <a:t>）对民主制度的威胁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选举干预：</a:t>
            </a:r>
            <a:r>
              <a:rPr lang="en-US" altLang="zh-CN" dirty="0" err="1">
                <a:latin typeface="+mn-ea"/>
              </a:rPr>
              <a:t>Bessi&amp;Ferrara</a:t>
            </a:r>
            <a:r>
              <a:rPr lang="en-US" altLang="zh-CN" dirty="0">
                <a:latin typeface="+mn-ea"/>
              </a:rPr>
              <a:t>(2016)</a:t>
            </a:r>
            <a:r>
              <a:rPr lang="zh-CN" altLang="en-US" dirty="0">
                <a:latin typeface="+mn-ea"/>
              </a:rPr>
              <a:t>分析</a:t>
            </a:r>
            <a:r>
              <a:rPr lang="en-US" altLang="zh-CN" dirty="0">
                <a:latin typeface="+mn-ea"/>
              </a:rPr>
              <a:t>2016</a:t>
            </a:r>
            <a:r>
              <a:rPr lang="zh-CN" altLang="en-US" dirty="0">
                <a:latin typeface="+mn-ea"/>
              </a:rPr>
              <a:t>年美国大选，发现约</a:t>
            </a:r>
            <a:r>
              <a:rPr lang="en-US" altLang="zh-CN" dirty="0">
                <a:latin typeface="+mn-ea"/>
              </a:rPr>
              <a:t>15%</a:t>
            </a:r>
            <a:r>
              <a:rPr lang="zh-CN" altLang="en-US" dirty="0">
                <a:latin typeface="+mn-ea"/>
              </a:rPr>
              <a:t>的政治相关推文来自 </a:t>
            </a:r>
            <a:r>
              <a:rPr lang="en-US" altLang="zh-CN" dirty="0">
                <a:latin typeface="+mn-ea"/>
              </a:rPr>
              <a:t>bot</a:t>
            </a:r>
            <a:r>
              <a:rPr lang="zh-CN" altLang="en-US" dirty="0">
                <a:latin typeface="+mn-ea"/>
              </a:rPr>
              <a:t>，其中支持特朗普的 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数量是希拉里的</a:t>
            </a:r>
            <a:r>
              <a:rPr lang="en-US" altLang="zh-CN" dirty="0">
                <a:latin typeface="+mn-ea"/>
              </a:rPr>
              <a:t>4</a:t>
            </a:r>
            <a:r>
              <a:rPr lang="zh-CN" altLang="en-US" dirty="0">
                <a:latin typeface="+mn-ea"/>
              </a:rPr>
              <a:t>倍。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极化加剧：</a:t>
            </a:r>
            <a:r>
              <a:rPr lang="en-US" altLang="zh-CN" dirty="0">
                <a:latin typeface="+mn-ea"/>
              </a:rPr>
              <a:t>Bot</a:t>
            </a:r>
            <a:r>
              <a:rPr lang="zh-CN" altLang="en-US" dirty="0">
                <a:latin typeface="+mn-ea"/>
              </a:rPr>
              <a:t>通过放大极端言论、制造虚假共识（</a:t>
            </a:r>
            <a:r>
              <a:rPr lang="en-US" altLang="zh-CN" dirty="0">
                <a:latin typeface="+mn-ea"/>
              </a:rPr>
              <a:t>false consensus</a:t>
            </a:r>
            <a:r>
              <a:rPr lang="zh-CN" altLang="en-US" dirty="0">
                <a:latin typeface="+mn-ea"/>
              </a:rPr>
              <a:t>），撕裂公共话语空间（</a:t>
            </a:r>
            <a:r>
              <a:rPr lang="en-US" altLang="zh-CN" dirty="0">
                <a:latin typeface="+mn-ea"/>
              </a:rPr>
              <a:t>Stella et al., 2018</a:t>
            </a:r>
            <a:r>
              <a:rPr lang="zh-CN" altLang="en-US" dirty="0">
                <a:latin typeface="+mn-ea"/>
              </a:rPr>
              <a:t>）。</a:t>
            </a:r>
          </a:p>
          <a:p>
            <a:pPr algn="just">
              <a:lnSpc>
                <a:spcPct val="150000"/>
              </a:lnSpc>
            </a:pPr>
            <a:r>
              <a:rPr lang="zh-CN" altLang="en-US" b="1" dirty="0">
                <a:latin typeface="+mn-ea"/>
              </a:rPr>
              <a:t>（</a:t>
            </a:r>
            <a:r>
              <a:rPr lang="en-US" altLang="zh-CN" b="1" dirty="0">
                <a:latin typeface="+mn-ea"/>
              </a:rPr>
              <a:t>2</a:t>
            </a:r>
            <a:r>
              <a:rPr lang="zh-CN" altLang="en-US" b="1" dirty="0">
                <a:latin typeface="+mn-ea"/>
              </a:rPr>
              <a:t>）对信息生态的破坏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虚假新闻传播速度：</a:t>
            </a:r>
            <a:r>
              <a:rPr lang="en-US" altLang="zh-CN" dirty="0">
                <a:latin typeface="+mn-ea"/>
              </a:rPr>
              <a:t>Vosoughi et al. (2018, Science) </a:t>
            </a:r>
            <a:r>
              <a:rPr lang="zh-CN" altLang="en-US" dirty="0">
                <a:latin typeface="+mn-ea"/>
              </a:rPr>
              <a:t>发现，假新闻比真新闻传播快</a:t>
            </a:r>
            <a:r>
              <a:rPr lang="en-US" altLang="zh-CN" dirty="0">
                <a:latin typeface="+mn-ea"/>
              </a:rPr>
              <a:t>70%</a:t>
            </a:r>
            <a:r>
              <a:rPr lang="zh-CN" altLang="en-US" dirty="0">
                <a:latin typeface="+mn-ea"/>
              </a:rPr>
              <a:t>、广</a:t>
            </a:r>
            <a:r>
              <a:rPr lang="en-US" altLang="zh-CN" dirty="0">
                <a:latin typeface="+mn-ea"/>
              </a:rPr>
              <a:t>10 </a:t>
            </a:r>
            <a:r>
              <a:rPr lang="zh-CN" altLang="en-US" dirty="0">
                <a:latin typeface="+mn-ea"/>
              </a:rPr>
              <a:t>倍，且 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是主要初始传播者。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阴谋论扩散：</a:t>
            </a:r>
            <a:r>
              <a:rPr lang="en-US" altLang="zh-CN" dirty="0" err="1">
                <a:latin typeface="+mn-ea"/>
              </a:rPr>
              <a:t>Samory&amp;Mitra</a:t>
            </a:r>
            <a:r>
              <a:rPr lang="en-US" altLang="zh-CN" dirty="0">
                <a:latin typeface="+mn-ea"/>
              </a:rPr>
              <a:t>(2018)</a:t>
            </a:r>
            <a:r>
              <a:rPr lang="zh-CN" altLang="en-US" dirty="0">
                <a:latin typeface="+mn-ea"/>
              </a:rPr>
              <a:t>显示，</a:t>
            </a:r>
            <a:r>
              <a:rPr lang="en-US" altLang="zh-CN" dirty="0" err="1">
                <a:latin typeface="+mn-ea"/>
              </a:rPr>
              <a:t>QAnon</a:t>
            </a:r>
            <a:r>
              <a:rPr lang="zh-CN" altLang="en-US" dirty="0">
                <a:latin typeface="+mn-ea"/>
              </a:rPr>
              <a:t>相关话题中，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账号占比高达</a:t>
            </a:r>
            <a:r>
              <a:rPr lang="en-US" altLang="zh-CN" dirty="0">
                <a:latin typeface="+mn-ea"/>
              </a:rPr>
              <a:t>30%</a:t>
            </a:r>
            <a:r>
              <a:rPr lang="zh-CN" altLang="en-US" dirty="0">
                <a:latin typeface="+mn-ea"/>
              </a:rPr>
              <a:t>，通过 </a:t>
            </a:r>
            <a:r>
              <a:rPr lang="en-US" altLang="zh-CN" dirty="0">
                <a:latin typeface="+mn-ea"/>
              </a:rPr>
              <a:t>hashtag </a:t>
            </a:r>
            <a:r>
              <a:rPr lang="zh-CN" altLang="en-US" dirty="0">
                <a:latin typeface="+mn-ea"/>
              </a:rPr>
              <a:t>协同放大。</a:t>
            </a:r>
          </a:p>
        </p:txBody>
      </p:sp>
    </p:spTree>
    <p:extLst>
      <p:ext uri="{BB962C8B-B14F-4D97-AF65-F5344CB8AC3E}">
        <p14:creationId xmlns:p14="http://schemas.microsoft.com/office/powerpoint/2010/main" val="2573169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7FADCE-23C3-2129-B83F-2037359480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94771DB-65E4-287C-65FA-F06B1687E287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FE08946-0D0B-2FE1-4397-1889DE629A23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第一部分：背景与问题定义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7528ABB0-4290-FE65-7CA4-F7B47FDC43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00791D1B-E074-DE6C-55E2-1463A4589E23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1065A88-A025-D385-B544-A9970742F6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7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8DAFD4FA-37D2-A43D-E2BF-EC991C163521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5B6B847C-413B-FD57-1D11-E167FEB65BAA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90A8488A-5FA6-F040-7509-089851E2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455DC12D-370D-1CE4-99A0-E06B184307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ED65A7F4-F808-8C5B-D178-4ABCCAAF9A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A0A4FB05-CCD4-80FB-7C1E-6C76927CA0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30C4798C-A96A-0029-9EA1-095846EF59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74D489E4-A34B-C44B-465D-B1FEE87AB2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742C9098-B920-D999-B473-E0A70593F2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FB09E197-0E9F-438E-9353-9DBED766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5F7BEF4B-BF6B-799C-5E16-E843F484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E8FE1D10-638F-BE79-B37B-D65FC9B13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634D7680-A0A2-BFC5-1240-ADBFF2B8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EC62ACE6-FE8A-67D9-C74A-FE7BF7588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EA722B7F-CB3A-1904-61AF-9AA0D19F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54524FDC-E913-9FD9-DD0E-9145E054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41A842D-5A80-970A-85F3-3357531F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3FDD98AD-9E20-D32C-D764-D384791D9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A1C7C497-463F-E0B1-3EC6-03C5DAA9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8F33041A-FC9F-D890-9EDA-7617512DCF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D49FB8D9-2B00-E991-6315-5440DE1F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30E957D3-CF40-B747-B909-2966DA4B2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3B588CD9-0FCD-9CFE-2DA0-8BB9DF69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ED9D98F-3A68-E6E8-8740-68342116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B57FEADB-EC81-5CC2-8F34-A7AFD3E90C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52E39AD1-1450-3234-FDD9-04C7852C67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AB61EF2D-29A0-AD5F-FFE0-0E521DDE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554D15ED-CE65-4D55-AE37-9DEE5834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BCCA13E3-E193-2DB4-C29B-2F0CD20DD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BB903D55-FD4B-3510-8E28-848CFCBF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3638B583-C8D5-FEE9-8EF2-269D6257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FD779F76-5652-8C07-2874-FC85D7AE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0EDC42E3-15D8-5AF3-C87B-72B31A8E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3C02911C-7560-5AB4-A5C5-A0BE9405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C7A1A28B-BBAE-C5D2-16E2-3B9A726EC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D704E136-9EAD-F059-97CD-56527F59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BC4CBD39-455F-894D-5C08-562BF303E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0B05C8D5-9D12-7573-95CA-BC3EDCDD4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1EA123CB-08B9-A77A-71AC-9F17D458B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2D1A6498-F92B-5CA7-6E1E-292A2085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F918395F-F653-EBF7-7B49-6A5B9364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200A2C72-FDBD-D6C5-C7C0-67DC49CE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1A9B3F6-1AF0-E180-D848-8521A57C56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AD872BAD-7B86-D74A-6259-28364F81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BE78591C-3692-35A5-CE06-E56E6D0E2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4FCED320-C242-241D-96FF-4AE12D59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141E3E9B-8857-BB77-3A04-2D47AE81E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E5E87F21-3E15-3EE5-6DE4-CDE0C801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57120708-857B-D363-935B-75F238BC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E10B39FB-5AE9-1744-C187-122A0B2C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46BB09FB-3964-E527-309D-8D55FB24F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DC48ED9C-6962-762B-AC88-012C35F6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0F03703C-CF3A-CE67-F7ED-1E293E92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C9D1494E-4BE4-4888-FE68-1DC02613DD5E}"/>
              </a:ext>
            </a:extLst>
          </p:cNvPr>
          <p:cNvSpPr txBox="1"/>
          <p:nvPr/>
        </p:nvSpPr>
        <p:spPr>
          <a:xfrm>
            <a:off x="473580" y="1943738"/>
            <a:ext cx="11328779" cy="34135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1.3 </a:t>
            </a:r>
            <a:r>
              <a:rPr lang="zh-CN" altLang="en-US" sz="2000" b="1" dirty="0">
                <a:latin typeface="+mn-ea"/>
              </a:rPr>
              <a:t>社交机器人检测已从“技术优化问题”上升为“数字社会治理基础设施”</a:t>
            </a:r>
          </a:p>
          <a:p>
            <a:pPr algn="just">
              <a:lnSpc>
                <a:spcPct val="150000"/>
              </a:lnSpc>
            </a:pPr>
            <a:r>
              <a:rPr lang="zh-CN" altLang="en-US" b="1" dirty="0">
                <a:latin typeface="+mn-ea"/>
              </a:rPr>
              <a:t>（</a:t>
            </a:r>
            <a:r>
              <a:rPr lang="en-US" altLang="zh-CN" b="1" dirty="0">
                <a:latin typeface="+mn-ea"/>
              </a:rPr>
              <a:t>3</a:t>
            </a:r>
            <a:r>
              <a:rPr lang="zh-CN" altLang="en-US" b="1" dirty="0">
                <a:latin typeface="+mn-ea"/>
              </a:rPr>
              <a:t>）对经济安全的冲击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金融操纵：</a:t>
            </a:r>
            <a:r>
              <a:rPr lang="en-US" altLang="zh-CN" dirty="0">
                <a:latin typeface="+mn-ea"/>
              </a:rPr>
              <a:t>Wang et al. (2023) </a:t>
            </a:r>
            <a:r>
              <a:rPr lang="zh-CN" altLang="en-US" dirty="0">
                <a:latin typeface="+mn-ea"/>
              </a:rPr>
              <a:t>揭露加密货币市场中，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在 </a:t>
            </a:r>
            <a:r>
              <a:rPr lang="en-US" altLang="zh-CN" dirty="0">
                <a:latin typeface="+mn-ea"/>
              </a:rPr>
              <a:t>Telegram </a:t>
            </a:r>
            <a:r>
              <a:rPr lang="zh-CN" altLang="en-US" dirty="0">
                <a:latin typeface="+mn-ea"/>
              </a:rPr>
              <a:t>群组组织“</a:t>
            </a:r>
            <a:r>
              <a:rPr lang="en-US" altLang="zh-CN" dirty="0">
                <a:latin typeface="+mn-ea"/>
              </a:rPr>
              <a:t>pump-and-dump”</a:t>
            </a:r>
            <a:r>
              <a:rPr lang="zh-CN" altLang="en-US" dirty="0">
                <a:latin typeface="+mn-ea"/>
              </a:rPr>
              <a:t>骗局，单次可获利数百万美元。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品牌声誉攻击：竞争对手雇佣 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制造负面舆情（如“某产品致癌”谣言）。</a:t>
            </a:r>
          </a:p>
          <a:p>
            <a:pPr algn="just">
              <a:lnSpc>
                <a:spcPct val="150000"/>
              </a:lnSpc>
            </a:pPr>
            <a:r>
              <a:rPr lang="zh-CN" altLang="en-US" b="1" dirty="0">
                <a:latin typeface="+mn-ea"/>
              </a:rPr>
              <a:t>（</a:t>
            </a:r>
            <a:r>
              <a:rPr lang="en-US" altLang="zh-CN" b="1" dirty="0">
                <a:latin typeface="+mn-ea"/>
              </a:rPr>
              <a:t>4</a:t>
            </a:r>
            <a:r>
              <a:rPr lang="zh-CN" altLang="en-US" b="1" dirty="0">
                <a:latin typeface="+mn-ea"/>
              </a:rPr>
              <a:t>）平台治理的合规需求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dirty="0">
                <a:latin typeface="+mn-ea"/>
              </a:rPr>
              <a:t>Twitter/X</a:t>
            </a:r>
            <a:r>
              <a:rPr lang="zh-CN" altLang="en-US" dirty="0">
                <a:latin typeface="+mn-ea"/>
              </a:rPr>
              <a:t>、</a:t>
            </a:r>
            <a:r>
              <a:rPr lang="en-US" altLang="zh-CN" dirty="0">
                <a:latin typeface="+mn-ea"/>
              </a:rPr>
              <a:t>Meta </a:t>
            </a:r>
            <a:r>
              <a:rPr lang="zh-CN" altLang="en-US" dirty="0">
                <a:latin typeface="+mn-ea"/>
              </a:rPr>
              <a:t>等平台明确禁止“恶意自动化账号”（</a:t>
            </a:r>
            <a:r>
              <a:rPr lang="en-US" altLang="zh-CN" dirty="0">
                <a:latin typeface="+mn-ea"/>
              </a:rPr>
              <a:t>Ferrara, 2022</a:t>
            </a:r>
            <a:r>
              <a:rPr lang="zh-CN" altLang="en-US" dirty="0">
                <a:latin typeface="+mn-ea"/>
              </a:rPr>
              <a:t>）。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>
                <a:latin typeface="+mn-ea"/>
              </a:rPr>
              <a:t>若无法有效检测，将面临监管处罚（如欧盟</a:t>
            </a:r>
            <a:r>
              <a:rPr lang="en-US" altLang="zh-CN" dirty="0">
                <a:latin typeface="+mn-ea"/>
              </a:rPr>
              <a:t>《</a:t>
            </a:r>
            <a:r>
              <a:rPr lang="zh-CN" altLang="en-US" dirty="0">
                <a:latin typeface="+mn-ea"/>
              </a:rPr>
              <a:t>数字服务法 </a:t>
            </a:r>
            <a:r>
              <a:rPr lang="en-US" altLang="zh-CN" dirty="0">
                <a:latin typeface="+mn-ea"/>
              </a:rPr>
              <a:t>DSA》</a:t>
            </a:r>
            <a:r>
              <a:rPr lang="zh-CN" altLang="en-US" dirty="0">
                <a:latin typeface="+mn-ea"/>
              </a:rPr>
              <a:t>要求平台披露 </a:t>
            </a:r>
            <a:r>
              <a:rPr lang="en-US" altLang="zh-CN" dirty="0">
                <a:latin typeface="+mn-ea"/>
              </a:rPr>
              <a:t>bot </a:t>
            </a:r>
            <a:r>
              <a:rPr lang="zh-CN" altLang="en-US" dirty="0">
                <a:latin typeface="+mn-ea"/>
              </a:rPr>
              <a:t>比例）。</a:t>
            </a:r>
          </a:p>
        </p:txBody>
      </p:sp>
    </p:spTree>
    <p:extLst>
      <p:ext uri="{BB962C8B-B14F-4D97-AF65-F5344CB8AC3E}">
        <p14:creationId xmlns:p14="http://schemas.microsoft.com/office/powerpoint/2010/main" val="2105652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E2BF0-5EB9-3729-FD7A-51B23C08A9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8C202D8-0A0B-EFA4-838B-00F478750005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04F4E1E-C621-6095-C47E-F1F8BD91AE6E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1E621986-DC75-FDB6-11A4-8CDCC26A86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5E111FA4-86FC-5521-50FC-A3EFF7ED2D31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BCB082B8-7EEB-446B-79FF-20C4E66939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8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56107B33-6B7C-898C-7D5C-B8D350E0ADAD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7ED2955A-C838-A196-300D-CF2320065F8A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27591E47-A96D-4670-4619-B435CD8E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7E193B99-75ED-CAD8-DD2B-E501573EA5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809DC18E-0643-AD3F-E6EA-F5451D7CE4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720D2DA-1E4B-1D3F-9A39-8601E63CD6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6D6AC2CC-18EA-6B64-751F-48F491FF7E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A0690551-8CF4-044B-18CA-E9E709EAA3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0D307E37-F0EC-922D-C6BC-4FD1B3CE5B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7EED2132-9501-403F-99BB-EDAE26E6F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4A560B7D-115A-7581-80EE-A43ADCE7E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80483262-635B-3BB7-1D53-BF8108578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75D0C83D-D370-0960-70C3-51ABE391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0A17991C-8D80-78C2-F52E-596D140F6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10441925-6975-9343-7C38-9955F98D9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84C81A3F-DF94-765E-AF3A-5954083F7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7E4A13CE-0E22-65CE-F0A0-66F89012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3BB72F46-B1E0-A4CF-76A5-DA3F4F7C6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6B4D6ABA-B2A5-67FD-9E8E-A2D8F1988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BBED233F-8614-3D12-A051-DBCF19A93C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7940A6A7-3079-2BDA-B16F-46EC7303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A37A1445-866C-7F49-D957-A51CA394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089F1A13-95C4-CBE3-987E-7CC735CA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3F4DD6D-8B37-3F6B-2CBB-B9D9A5DBE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E5C0F6D6-9A0F-1DDC-24D2-D78CE907CF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66F19115-71BA-78A3-8CA4-66846547C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A1D951C7-A804-14EB-6C53-5B80E795C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25EB3833-C027-0F8D-762E-106CABB07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4417E5BF-A13D-F616-8515-40006E66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F72AAE13-31BE-0126-93B7-73B590D6A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4989314A-38DA-D07A-60F4-2ACF3759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A669D3EB-A74C-7FDA-E1D5-E6FB7435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2C5CD0B2-3C02-7B76-E5F6-0FFB02B0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C6479193-72A5-FAE7-330C-404C84F2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6F1AB744-08E3-AEDC-13A4-821ECA41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9D18B936-E067-B253-4C73-F166952C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94373E92-F2F9-D652-52A4-62A4D9F6A7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FAF5A241-B303-E30E-C0DF-48FC6BFD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A7DFCEE-0461-5526-66BB-319E0117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FDEF96D-22B0-0640-36FA-11BA3151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C1B27BEB-9ED6-56C9-261D-111028F8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9F64A72B-DB11-64F8-53A0-2B151836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55469429-FBB6-AB86-49D3-2B012A938B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EAA32766-5FC7-91C0-2C46-274D9673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A826560C-AB76-0B8B-F30A-8B2CE670F2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B2E464A8-A51A-D3E0-9513-6F7DE76FC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794592FF-80CF-6362-E48F-91C67A07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82E7D42D-E03E-6340-B6CE-8FE65594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4B864800-7564-661B-7AE1-F09C851A8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D2686213-57C7-4D72-41C8-112219CC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B799660E-F033-63BA-7C95-31A5E374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AABD25E6-A18D-930B-1AEE-8822EA1C3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7EFFB5CD-24C7-75AA-33E0-A8503085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226A7DF5-995A-28A4-F35E-AB44BD7D2EF8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第一阶段：启发式规则（</a:t>
            </a:r>
            <a:r>
              <a:rPr lang="en-US" altLang="zh-CN" sz="2000" b="1" dirty="0">
                <a:latin typeface="+mn-ea"/>
              </a:rPr>
              <a:t>Heuristics-Based Methods, 2010–2015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graphicFrame>
        <p:nvGraphicFramePr>
          <p:cNvPr id="16" name="表格 15">
            <a:extLst>
              <a:ext uri="{FF2B5EF4-FFF2-40B4-BE49-F238E27FC236}">
                <a16:creationId xmlns:a16="http://schemas.microsoft.com/office/drawing/2014/main" id="{AB150A38-3A3B-533D-4E88-CE7A835928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2703674"/>
              </p:ext>
            </p:extLst>
          </p:nvPr>
        </p:nvGraphicFramePr>
        <p:xfrm>
          <a:off x="764927" y="2921890"/>
          <a:ext cx="10260000" cy="288036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420000">
                  <a:extLst>
                    <a:ext uri="{9D8B030D-6E8A-4147-A177-3AD203B41FA5}">
                      <a16:colId xmlns:a16="http://schemas.microsoft.com/office/drawing/2014/main" val="1147563766"/>
                    </a:ext>
                  </a:extLst>
                </a:gridCol>
                <a:gridCol w="3420000">
                  <a:extLst>
                    <a:ext uri="{9D8B030D-6E8A-4147-A177-3AD203B41FA5}">
                      <a16:colId xmlns:a16="http://schemas.microsoft.com/office/drawing/2014/main" val="1384487723"/>
                    </a:ext>
                  </a:extLst>
                </a:gridCol>
                <a:gridCol w="3420000">
                  <a:extLst>
                    <a:ext uri="{9D8B030D-6E8A-4147-A177-3AD203B41FA5}">
                      <a16:colId xmlns:a16="http://schemas.microsoft.com/office/drawing/2014/main" val="3569539910"/>
                    </a:ext>
                  </a:extLst>
                </a:gridCol>
              </a:tblGrid>
              <a:tr h="285545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维度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具体指标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原理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7662041"/>
                  </a:ext>
                </a:extLst>
              </a:tr>
              <a:tr h="57109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 dirty="0">
                          <a:effectLst/>
                        </a:rPr>
                        <a:t>账户元数据</a:t>
                      </a:r>
                      <a:endParaRPr lang="zh-CN" altLang="en-US" dirty="0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创建时间、粉丝数、关注数、头像是否默认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新账号、高关注</a:t>
                      </a:r>
                      <a:r>
                        <a:rPr lang="en-US" altLang="zh-CN">
                          <a:effectLst/>
                        </a:rPr>
                        <a:t>/</a:t>
                      </a:r>
                      <a:r>
                        <a:rPr lang="zh-CN" altLang="en-US">
                          <a:effectLst/>
                        </a:rPr>
                        <a:t>低粉丝比常为 </a:t>
                      </a:r>
                      <a:r>
                        <a:rPr lang="en-US" altLang="zh-CN">
                          <a:effectLst/>
                        </a:rPr>
                        <a:t>bot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2437012864"/>
                  </a:ext>
                </a:extLst>
              </a:tr>
              <a:tr h="57109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 dirty="0">
                          <a:effectLst/>
                        </a:rPr>
                        <a:t>活动模式</a:t>
                      </a:r>
                      <a:endParaRPr lang="zh-CN" altLang="en-US" dirty="0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日均发帖数、发帖时间分布（是否 </a:t>
                      </a:r>
                      <a:r>
                        <a:rPr lang="en-US" altLang="zh-CN" dirty="0">
                          <a:effectLst/>
                        </a:rPr>
                        <a:t>24/7</a:t>
                      </a:r>
                      <a:r>
                        <a:rPr lang="zh-CN" altLang="en-US" dirty="0">
                          <a:effectLst/>
                        </a:rPr>
                        <a:t>）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人类有作息规律，</a:t>
                      </a:r>
                      <a:r>
                        <a:rPr lang="en-US" altLang="zh-CN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无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383517337"/>
                  </a:ext>
                </a:extLst>
              </a:tr>
              <a:tr h="57109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 dirty="0">
                          <a:effectLst/>
                        </a:rPr>
                        <a:t>内容特征</a:t>
                      </a:r>
                      <a:endParaRPr lang="zh-CN" altLang="en-US" dirty="0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文本重复率、关键词频率、链接比例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内容模板化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17125628"/>
                  </a:ext>
                </a:extLst>
              </a:tr>
              <a:tr h="57109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 dirty="0">
                          <a:effectLst/>
                        </a:rPr>
                        <a:t>网络结构</a:t>
                      </a:r>
                      <a:endParaRPr lang="zh-CN" altLang="en-US" dirty="0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互关比例、社区聚集系数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 dirty="0">
                          <a:effectLst/>
                        </a:rPr>
                        <a:t>Bot </a:t>
                      </a:r>
                      <a:r>
                        <a:rPr lang="zh-CN" altLang="en-US" dirty="0">
                          <a:effectLst/>
                        </a:rPr>
                        <a:t>往往单向关注大量账号，形成星型拓扑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486312807"/>
                  </a:ext>
                </a:extLst>
              </a:tr>
            </a:tbl>
          </a:graphicData>
        </a:graphic>
      </p:graphicFrame>
      <p:sp>
        <p:nvSpPr>
          <p:cNvPr id="18" name="文本框 17">
            <a:extLst>
              <a:ext uri="{FF2B5EF4-FFF2-40B4-BE49-F238E27FC236}">
                <a16:creationId xmlns:a16="http://schemas.microsoft.com/office/drawing/2014/main" id="{092CC1D1-D03D-39E6-2140-C86C8F1CF943}"/>
              </a:ext>
            </a:extLst>
          </p:cNvPr>
          <p:cNvSpPr txBox="1"/>
          <p:nvPr/>
        </p:nvSpPr>
        <p:spPr>
          <a:xfrm>
            <a:off x="686749" y="2368778"/>
            <a:ext cx="60944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-US" altLang="zh-CN" sz="2000" b="1" i="0" dirty="0">
                <a:effectLst/>
                <a:latin typeface="+mn-ea"/>
              </a:rPr>
              <a:t>1. </a:t>
            </a:r>
            <a:r>
              <a:rPr lang="zh-CN" altLang="en-US" sz="2000" b="1" i="0" dirty="0">
                <a:effectLst/>
                <a:latin typeface="+mn-ea"/>
              </a:rPr>
              <a:t>核心特征维度：</a:t>
            </a:r>
          </a:p>
        </p:txBody>
      </p:sp>
    </p:spTree>
    <p:extLst>
      <p:ext uri="{BB962C8B-B14F-4D97-AF65-F5344CB8AC3E}">
        <p14:creationId xmlns:p14="http://schemas.microsoft.com/office/powerpoint/2010/main" val="32528827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ED31DC-EC99-12AD-687A-A394C5327C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F2E8293-9B74-FEB2-3951-314AED513388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FF7C29A-ECC3-6BE0-0EF4-8B72A8D147AD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9FF8172-E1FA-6CF2-568D-E22825BD2B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8B8F5205-B8A0-F238-120E-58DB4761922E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BEF2F592-57A2-600A-7B45-1119E785AB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9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E912E786-2443-B3A0-2596-9402F4DE1D84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357F3D74-4B53-E72D-9E73-91523A0EB4F4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B7B81FD5-7227-4770-A114-B7348F78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5F2F71DC-D5E2-0D7B-C3BA-384D85A7FD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7CDD4553-D7DF-3507-9AF9-7A35EE1BB5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E16F27C3-991A-1484-BA72-08986C1406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1A27B06F-EEBF-28ED-32B0-1C24C49109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AAC7BE5A-D108-96E9-5DC4-DABFD99B57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74DF9DE7-02B9-8C0D-2B31-AAFBBE8F82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F9A42EEB-02B0-EAF0-86D0-4E0B6DC84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528EA86C-B1D1-62FD-4057-B5C840F7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417E4013-D7B7-3555-4EF9-5F81F7F84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7F81DC13-0898-6C06-11C1-464D52E6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C3D97670-293D-C581-DB49-7243D991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E593F95F-5B56-D219-71CF-9AA860DBD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4927FDC0-4317-BA02-03B2-09CBDDD2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2836C224-E642-A64D-0988-C0001AD1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315C2A26-585B-3897-3A2A-DBE494CC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2D34D595-9CF4-D08F-3C7E-AB1075C90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9724C6D8-EC94-BF4F-8411-E3C1CF736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5FFCA4B6-029B-4008-90FA-C2BA14A3F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B96EB4AA-0065-BCD9-F9CC-62F67B559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45BEBB87-6EE3-4E3D-B9D8-B1285C71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FC8E1A6-873F-C53B-670A-CC74956C9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F8C4F2C8-D30B-E4DB-130C-8D84B5E831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B394453E-B3DA-AD7B-9E43-E6383CB8C1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E7C34F3A-FAC3-717B-7BA2-67E7EC71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C334935F-AF62-EA99-D56A-545F623CA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D8B7E6CB-C067-73CA-F6DE-A43612D60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3466960E-78C0-98DA-4B1F-559510C73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FBB6B74-FDF4-4FB3-DB2A-079469D1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62574035-5AA9-6C3D-CBE2-53D3863D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3F8A6941-1287-D287-20FB-E35225DC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AE6BFB66-3016-DF42-393E-1404270C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1A64FC99-E880-D1ED-BA84-500DE680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CE094379-95BE-E12B-0DF1-DCF3AE0B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1D0D10DF-14B1-94B5-FC12-B44FB40CF5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BA9FCBF-BE3B-F93C-B8E6-F1A0F1D4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B0C2F38B-7545-C2CE-E38F-1C171291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874A3D6-AA11-4CB4-CEF8-95057B6E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581D6E0F-7AAC-CB62-804A-554C37D1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3290E5E-49C7-F549-AAD7-B7D2DE34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1E8143B1-65FE-51C3-05FC-E2FCF963C6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F8363B98-10EB-BC9A-1788-F7FED3BCC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E27B3EC4-ABF0-E737-AA7C-B696074FA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E019486F-D9C0-91A0-789C-E0B94AD6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C3620230-E231-7AE4-D7B1-C539E727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7BB7BF7C-406F-B74F-FD00-EE0C3C96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A866C27E-66C7-BBBD-FF39-97F1A41EE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53288F06-892C-A616-E7D1-A99572A5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AE52076E-9EF7-D875-3416-B7A92FC7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2705FB21-9C15-9E41-08DB-BD4145B90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083D3DDC-02D6-75EC-371E-C4397E11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D276A5D1-D902-C3EB-E1F5-44D8FAB7C6BF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第一阶段：启发式规则（</a:t>
            </a:r>
            <a:r>
              <a:rPr lang="en-US" altLang="zh-CN" sz="2000" b="1" dirty="0">
                <a:latin typeface="+mn-ea"/>
              </a:rPr>
              <a:t>Heuristics-Based Methods, 2010–2015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B3FF1F9B-CE00-FF51-B971-B932B2BDED18}"/>
              </a:ext>
            </a:extLst>
          </p:cNvPr>
          <p:cNvSpPr txBox="1"/>
          <p:nvPr/>
        </p:nvSpPr>
        <p:spPr>
          <a:xfrm>
            <a:off x="675100" y="2307254"/>
            <a:ext cx="11020700" cy="28079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 </a:t>
            </a:r>
            <a:r>
              <a:rPr lang="zh-CN" altLang="en-US" sz="2000" b="1" dirty="0">
                <a:latin typeface="+mn-ea"/>
              </a:rPr>
              <a:t>局限性：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易被绕过：</a:t>
            </a:r>
            <a:r>
              <a:rPr lang="zh-CN" altLang="en-US" sz="2000" dirty="0">
                <a:latin typeface="+mn-ea"/>
              </a:rPr>
              <a:t>高级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可模拟人类作息（如只在白天发帖）、使用真实头像、控制发帖频率。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高误报率：</a:t>
            </a:r>
            <a:r>
              <a:rPr lang="zh-CN" altLang="en-US" sz="2000" dirty="0">
                <a:latin typeface="+mn-ea"/>
              </a:rPr>
              <a:t>记者、营销人员、残障用户（使用辅助工具）常被误判。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静态规则：</a:t>
            </a:r>
            <a:r>
              <a:rPr lang="zh-CN" altLang="en-US" sz="2000" dirty="0">
                <a:latin typeface="+mn-ea"/>
              </a:rPr>
              <a:t>无法适应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策略演化。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/>
              <a:t>3. </a:t>
            </a:r>
            <a:r>
              <a:rPr lang="zh-CN" altLang="en-US" sz="2000" b="1" dirty="0"/>
              <a:t>技术本质</a:t>
            </a:r>
            <a:r>
              <a:rPr lang="zh-CN" altLang="en-US" dirty="0"/>
              <a:t>：</a:t>
            </a:r>
            <a:r>
              <a:rPr lang="zh-CN" altLang="en-US" sz="2000" b="1" dirty="0"/>
              <a:t>专家系统（</a:t>
            </a:r>
            <a:r>
              <a:rPr lang="en-US" altLang="zh-CN" sz="2000" b="1" dirty="0"/>
              <a:t>Expert System</a:t>
            </a:r>
            <a:r>
              <a:rPr lang="zh-CN" altLang="en-US" sz="2000" b="1" dirty="0"/>
              <a:t>）</a:t>
            </a:r>
            <a:r>
              <a:rPr lang="zh-CN" altLang="en-US" sz="2000" dirty="0"/>
              <a:t>，依赖领域知识而非数据驱动。</a:t>
            </a:r>
            <a:endParaRPr lang="zh-CN" altLang="en-US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209509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57E100-7C07-28CF-EFFD-7716ACA7D4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C297F3E-5DC8-D77E-BFD4-FB925E60353D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CFEE108-0F7C-02F0-BB5A-1BBAD5D1D132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0F5AEAC-893C-4263-A4B4-A0F38C0AC3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C618D135-1B0D-45F6-46CB-B6D51FDD9572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E6CBD3BF-C155-D5A2-790E-4907652E2D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10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97C501F2-8FD7-5938-3733-24B82DB53497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B0BA409-5B89-8DFB-D3C2-F37FD11AC92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8B134F39-24AB-A101-0F9F-E48312D1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F4DA9A4F-439A-C366-8B1E-873A26605D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63F34D5E-4C3C-CB00-8DDC-8958991ECD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5446E672-7253-50D0-3C2C-A53C4D6395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622C807F-3AB9-7A3C-D486-DD014A164C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9A96BD60-0855-19BE-9599-64E4F719C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5AB07334-2AA1-492A-DE36-31AC8DC863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08ED0487-4D99-7523-3595-D5B2134F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41C19BBF-E704-2EF0-88AF-61059DE4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2AAFED2D-C5E4-A80A-5FC3-A2433C5D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6F3A56C4-06E9-8927-E9E0-4C1BA398A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1A2C64AB-C595-CB7B-2530-A4D248F55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B961A4FF-1FAD-54AB-6D26-3C8F41B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5DE143A2-A425-5EF2-FFF6-8B584ECC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94F2A594-948C-516E-4A3B-B32E91449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4CCFBAD3-3BB1-B859-F0FC-180D1FE6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E896ACC-624B-9C58-01AC-4C7AB046D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034307D9-1902-3A00-2B62-D3FA2B83B1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80FAE77-2D30-560D-7278-5D6504C6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3425CE20-E804-6BE3-19B1-C4EA3BFE1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3413160A-3415-65BF-DA93-556FB580C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D36DFB0-C6BE-FCF6-C965-756F4492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BBCF1B66-F554-43CF-BF0E-9B43B08FBD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A641C3C3-4774-0AF7-34E2-184F237BDD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4010DBE7-3609-59AA-8165-4F882C17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A27E87F8-69B1-D862-246B-C13F3188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238EB385-EA33-BC41-0A82-738FA2AD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C4ACC544-D68C-BF8D-148E-D53CE358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DFEB5554-F1C3-1DC1-B520-58715929E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AE8B6389-0CE0-0316-80CF-A4D0694FB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E4233D2-53CE-BCB2-2BD2-529FE9BD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9E73E8BE-49D5-E65F-544B-28C707797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179E87E4-69CD-0659-04C1-55BED39B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A027044-603D-58B4-397D-F6715A01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2A336C22-FA46-6894-E6F3-37EF88272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A5F4CB7-DCC7-230D-734A-85B10D8D1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E4AF455D-1FD0-4BD9-259C-81B97D5D5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3F3A61C6-FD75-6610-2BA4-F4B0E471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78120EBF-72F7-9C31-EE3F-7E35D221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87897AC9-A15F-5F28-5A6E-D1E4FE5E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73C01638-5195-F26C-907F-270F9C987F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34DDF8E8-2A51-679C-B45D-8D653456E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B9A7E8C8-BB75-1FA6-74B6-C00F052091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635ABE97-C639-0120-B9E8-4E7563715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DD12F883-329A-5F08-DA6E-BA88A655F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9AB441C3-7455-12E5-FE15-CD3BD815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4D59D48A-5680-E4D3-D4A6-17CE6433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F27AF081-A6A9-24F4-F3B3-661E40D8E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CA13F542-1201-7878-8A63-424ABEE2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F54D7FD8-D540-5722-A5E6-334A32B2C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A6039FDB-501A-6A0E-6CB4-BEC224ED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F55CA97D-9827-39B0-F7C4-2EFA8942C2B3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第二阶段：机器学习 </a:t>
            </a:r>
            <a:r>
              <a:rPr lang="en-US" altLang="zh-CN" sz="2000" b="1" dirty="0">
                <a:latin typeface="+mn-ea"/>
              </a:rPr>
              <a:t>+ NLP</a:t>
            </a:r>
            <a:r>
              <a:rPr lang="zh-CN" altLang="en-US" sz="2000" b="1" dirty="0">
                <a:latin typeface="+mn-ea"/>
              </a:rPr>
              <a:t>（</a:t>
            </a:r>
            <a:r>
              <a:rPr lang="en-US" altLang="zh-CN" sz="2000" b="1" dirty="0">
                <a:latin typeface="+mn-ea"/>
              </a:rPr>
              <a:t>2015–2018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21C68604-3EA1-6A1C-0949-84D8B42B1342}"/>
              </a:ext>
            </a:extLst>
          </p:cNvPr>
          <p:cNvSpPr txBox="1"/>
          <p:nvPr/>
        </p:nvSpPr>
        <p:spPr>
          <a:xfrm>
            <a:off x="719670" y="2112991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里程碑系统：</a:t>
            </a:r>
            <a:r>
              <a:rPr lang="en-US" altLang="zh-CN" sz="2000" b="1" dirty="0" err="1">
                <a:latin typeface="+mn-ea"/>
              </a:rPr>
              <a:t>Botometer</a:t>
            </a:r>
            <a:r>
              <a:rPr lang="en-US" altLang="zh-CN" sz="2000" b="1" dirty="0">
                <a:latin typeface="+mn-ea"/>
              </a:rPr>
              <a:t> (Varol et al., 2017)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使用 </a:t>
            </a:r>
            <a:r>
              <a:rPr lang="en-US" altLang="zh-CN" sz="2000" dirty="0">
                <a:latin typeface="+mn-ea"/>
              </a:rPr>
              <a:t>Random Forest </a:t>
            </a:r>
            <a:r>
              <a:rPr lang="zh-CN" altLang="en-US" sz="2000" dirty="0">
                <a:latin typeface="+mn-ea"/>
              </a:rPr>
              <a:t>分类器，输入 </a:t>
            </a:r>
            <a:r>
              <a:rPr lang="en-US" altLang="zh-CN" sz="2000" dirty="0">
                <a:latin typeface="+mn-ea"/>
              </a:rPr>
              <a:t>1,150+ </a:t>
            </a:r>
            <a:r>
              <a:rPr lang="zh-CN" altLang="en-US" sz="2000" dirty="0">
                <a:latin typeface="+mn-ea"/>
              </a:rPr>
              <a:t>特征，涵盖：用户资料（</a:t>
            </a:r>
            <a:r>
              <a:rPr lang="en-US" altLang="zh-CN" sz="2000" dirty="0">
                <a:latin typeface="+mn-ea"/>
              </a:rPr>
              <a:t>profile</a:t>
            </a:r>
            <a:r>
              <a:rPr lang="zh-CN" altLang="en-US" sz="2000" dirty="0">
                <a:latin typeface="+mn-ea"/>
              </a:rPr>
              <a:t>）、时间序列活动（</a:t>
            </a:r>
            <a:r>
              <a:rPr lang="en-US" altLang="zh-CN" sz="2000" dirty="0">
                <a:latin typeface="+mn-ea"/>
              </a:rPr>
              <a:t>temporal activity</a:t>
            </a:r>
            <a:r>
              <a:rPr lang="zh-CN" altLang="en-US" sz="2000" dirty="0">
                <a:latin typeface="+mn-ea"/>
              </a:rPr>
              <a:t>）、语言风格（</a:t>
            </a:r>
            <a:r>
              <a:rPr lang="en-US" altLang="zh-CN" sz="2000" dirty="0">
                <a:latin typeface="+mn-ea"/>
              </a:rPr>
              <a:t>linguistic style</a:t>
            </a:r>
            <a:r>
              <a:rPr lang="zh-CN" altLang="en-US" sz="2000" dirty="0">
                <a:latin typeface="+mn-ea"/>
              </a:rPr>
              <a:t>）、社交网络（</a:t>
            </a:r>
            <a:r>
              <a:rPr lang="en-US" altLang="zh-CN" sz="2000" dirty="0">
                <a:latin typeface="+mn-ea"/>
              </a:rPr>
              <a:t>friends/followers graph</a:t>
            </a:r>
            <a:r>
              <a:rPr lang="zh-CN" altLang="en-US" sz="2000" dirty="0">
                <a:latin typeface="+mn-ea"/>
              </a:rPr>
              <a:t>）。此外，</a:t>
            </a:r>
            <a:r>
              <a:rPr lang="en-US" altLang="zh-CN" sz="2000" dirty="0" err="1">
                <a:latin typeface="+mn-ea"/>
              </a:rPr>
              <a:t>Botometer</a:t>
            </a:r>
            <a:r>
              <a:rPr lang="zh-CN" altLang="en-US" sz="2000" dirty="0">
                <a:latin typeface="+mn-ea"/>
              </a:rPr>
              <a:t>开源 </a:t>
            </a:r>
            <a:r>
              <a:rPr lang="en-US" altLang="zh-CN" sz="2000" dirty="0">
                <a:latin typeface="+mn-ea"/>
              </a:rPr>
              <a:t>API</a:t>
            </a:r>
            <a:r>
              <a:rPr lang="zh-CN" altLang="en-US" sz="2000" dirty="0">
                <a:latin typeface="+mn-ea"/>
              </a:rPr>
              <a:t>，成为行业标准工具。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关键技术突破：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语言特征工程：词汇多样性（</a:t>
            </a:r>
            <a:r>
              <a:rPr lang="en-US" altLang="zh-CN" sz="2000" dirty="0">
                <a:latin typeface="+mn-ea"/>
              </a:rPr>
              <a:t>Type-Token Ratio</a:t>
            </a:r>
            <a:r>
              <a:rPr lang="zh-CN" altLang="en-US" sz="2000" dirty="0">
                <a:latin typeface="+mn-ea"/>
              </a:rPr>
              <a:t>）、情感极性（</a:t>
            </a:r>
            <a:r>
              <a:rPr lang="en-US" altLang="zh-CN" sz="2000" dirty="0">
                <a:latin typeface="+mn-ea"/>
              </a:rPr>
              <a:t>Sentiment Score via VADER</a:t>
            </a:r>
            <a:r>
              <a:rPr lang="zh-CN" altLang="en-US" sz="2000" dirty="0">
                <a:latin typeface="+mn-ea"/>
              </a:rPr>
              <a:t>）、主题分布（</a:t>
            </a:r>
            <a:r>
              <a:rPr lang="en-US" altLang="zh-CN" sz="2000" dirty="0">
                <a:latin typeface="+mn-ea"/>
              </a:rPr>
              <a:t>LDA </a:t>
            </a:r>
            <a:r>
              <a:rPr lang="zh-CN" altLang="en-US" sz="2000" dirty="0">
                <a:latin typeface="+mn-ea"/>
              </a:rPr>
              <a:t>话题模型）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网络嵌入：将用户表示为向量（如 </a:t>
            </a:r>
            <a:r>
              <a:rPr lang="en-US" altLang="zh-CN" sz="2000" dirty="0">
                <a:latin typeface="+mn-ea"/>
              </a:rPr>
              <a:t>Node2Vec</a:t>
            </a:r>
            <a:r>
              <a:rPr lang="zh-CN" altLang="en-US" sz="2000" dirty="0">
                <a:latin typeface="+mn-ea"/>
              </a:rPr>
              <a:t>），捕捉结构相似性</a:t>
            </a:r>
          </a:p>
        </p:txBody>
      </p:sp>
    </p:spTree>
    <p:extLst>
      <p:ext uri="{BB962C8B-B14F-4D97-AF65-F5344CB8AC3E}">
        <p14:creationId xmlns:p14="http://schemas.microsoft.com/office/powerpoint/2010/main" val="1678344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B0FCF-9718-8F39-FE8B-E0EEEA96D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1EB855A6-6526-D7B2-A810-5AE83D5347A6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F962BBA-7320-0A82-5DC0-09B3FDE7A584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078695F-122A-58D9-657C-5EEFF6F1926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E185429A-9AE8-FBE1-09C6-199C52722752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75B3E1DF-D0D0-3EFB-9ED4-615CB321A0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11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D199D59C-1311-23C0-01E3-9FB21E1712D3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D0145145-A87D-F202-FB84-80466A7DCDDD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68AD5D87-2A9C-2B91-8B92-B3D9F9A5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C15F4B04-DAD9-6589-F0AF-A4BD5681AE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3CB39EA0-6EE1-6679-B2DD-28D096F9F6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20E3DDED-F8DD-0BAE-E91E-19DDDDFAB0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8ED40DE1-4093-79FB-412F-DD2B1EAACC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9E5C23CC-9DF2-CEFF-A68E-5F8498962C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7A9DAAEC-585A-9A9B-580F-956D43342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8277BAE3-8699-E190-FE07-F5C9C8E3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BA318FAB-AEBD-9B9B-50C7-6010D274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F294ADA2-B9C6-D231-EA7B-E56612A27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3A5C6A7D-B6ED-406F-A334-1B18F452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ABB64460-DD62-930B-66A5-01C399A59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6A6F86C7-3921-9F93-6E38-CF92E030D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C3FE4151-4B90-A688-FDB1-4E29EF9C2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D0612CB-4B24-36FD-B854-F4640866B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A03B37EF-9EA5-B2D7-54FE-615004A2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D57F09C-B59F-1CAB-01E1-F8235C6D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06E0FC69-E3E8-BE72-6C75-1C1D9B1120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18847051-DCAE-B232-2567-289BF74BC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24C11AE4-B7A9-4FF6-EBC2-431A902CE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6ADC4CEB-6C12-1F97-B984-A76F1F39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0D9B67A-82A5-BABF-B47F-9496FCC1F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3228FDB7-F4CD-9397-C067-93E1477BF2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4C1FC5DC-CA71-476B-E7B7-4A01678B6C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53EB1155-2091-1C72-6A37-64042FC8F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FCFD70AA-91BD-88BF-6371-ED36C627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8ADA25BE-8A80-7422-901C-0CE9DCE5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38568C2F-4D59-48E5-C25E-D8819FC8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C5FD3B0E-A018-500F-A484-9AB82DD48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F792CA02-2F9A-3D20-B5C4-04AEF031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D61172B7-2C32-BD89-D26D-3B15B881A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B600EA95-C46E-CBA4-A116-3C6E73F6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38499689-E05D-C915-B468-5B041A27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A7838981-F0D1-3A11-08EA-71A98274C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34D14B78-24A5-DA4B-49CA-BA3AE8E1F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92AF9A9-1A4D-08C6-D7B3-01CB5C22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F37D8BA4-D5C5-E134-25AA-8E38F9BA1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D5D80108-B2EC-D635-3971-F23D1CAE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E2C6126-BE36-8370-F597-48E2923A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B2FCC0C1-C881-6195-EE4B-D0AA50165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21D8F352-F4B6-990A-1668-3684EC93FA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585D92B-DCF7-1791-E950-62D070E4F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205C19FB-7655-DD35-B0CF-8F329CA3BE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2F9A503E-8DF3-65BE-2F09-4946800C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534C25CB-3286-5667-D45E-20475CA8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892C78F5-7012-2825-8638-93094F2B1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41C2B67A-AA7B-7338-BE92-81BB54601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AF059DE6-E120-0BE6-3170-A3164A1E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1C975016-D78D-8DA9-B0CC-EB836BFC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1B4A26B9-69B4-A26B-F402-BDD45C96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CCB592EF-69AE-A8CF-7F40-39A1AD24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CEB3783C-1C89-0500-8E69-0A77D9968588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第二阶段：机器学习 </a:t>
            </a:r>
            <a:r>
              <a:rPr lang="en-US" altLang="zh-CN" sz="2000" b="1" dirty="0">
                <a:latin typeface="+mn-ea"/>
              </a:rPr>
              <a:t>+ NLP</a:t>
            </a:r>
            <a:r>
              <a:rPr lang="zh-CN" altLang="en-US" sz="2000" b="1" dirty="0">
                <a:latin typeface="+mn-ea"/>
              </a:rPr>
              <a:t>（</a:t>
            </a:r>
            <a:r>
              <a:rPr lang="en-US" altLang="zh-CN" sz="2000" b="1" dirty="0">
                <a:latin typeface="+mn-ea"/>
              </a:rPr>
              <a:t>2015–2018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FFA0709A-A89B-6F7E-F3B2-C630AC069384}"/>
              </a:ext>
            </a:extLst>
          </p:cNvPr>
          <p:cNvSpPr txBox="1"/>
          <p:nvPr/>
        </p:nvSpPr>
        <p:spPr>
          <a:xfrm>
            <a:off x="719670" y="2112991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 </a:t>
            </a:r>
            <a:r>
              <a:rPr lang="zh-CN" altLang="en-US" sz="2000" b="1" dirty="0">
                <a:latin typeface="+mn-ea"/>
              </a:rPr>
              <a:t>数据集建设：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dirty="0">
                <a:latin typeface="+mn-ea"/>
              </a:rPr>
              <a:t>Cresci et al. (2017) </a:t>
            </a:r>
            <a:r>
              <a:rPr lang="zh-CN" altLang="en-US" sz="2000" dirty="0">
                <a:latin typeface="+mn-ea"/>
              </a:rPr>
              <a:t>发布 </a:t>
            </a:r>
            <a:r>
              <a:rPr lang="en-US" altLang="zh-CN" sz="2000" dirty="0">
                <a:latin typeface="+mn-ea"/>
              </a:rPr>
              <a:t>"Fake Followers" </a:t>
            </a:r>
            <a:r>
              <a:rPr lang="zh-CN" altLang="en-US" sz="2000" dirty="0">
                <a:latin typeface="+mn-ea"/>
              </a:rPr>
              <a:t>和 </a:t>
            </a:r>
            <a:r>
              <a:rPr lang="en-US" altLang="zh-CN" sz="2000" dirty="0">
                <a:latin typeface="+mn-ea"/>
              </a:rPr>
              <a:t>"Social Spambots" </a:t>
            </a:r>
            <a:r>
              <a:rPr lang="zh-CN" altLang="en-US" sz="2000" dirty="0">
                <a:latin typeface="+mn-ea"/>
              </a:rPr>
              <a:t>数据集，包含数万标注账号。推动监督学习范式普及。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4. </a:t>
            </a:r>
            <a:r>
              <a:rPr lang="zh-CN" altLang="en-US" sz="2000" b="1" dirty="0">
                <a:latin typeface="+mn-ea"/>
              </a:rPr>
              <a:t>局限：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特征工程成本高：</a:t>
            </a:r>
            <a:r>
              <a:rPr lang="zh-CN" altLang="en-US" sz="2000" dirty="0">
                <a:latin typeface="+mn-ea"/>
              </a:rPr>
              <a:t>需人工设计、验证、组合特征。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泛化能力弱：</a:t>
            </a:r>
            <a:r>
              <a:rPr lang="zh-CN" altLang="en-US" sz="2000" dirty="0">
                <a:latin typeface="+mn-ea"/>
              </a:rPr>
              <a:t>在新平台（如从 </a:t>
            </a:r>
            <a:r>
              <a:rPr lang="en-US" altLang="zh-CN" sz="2000" dirty="0">
                <a:latin typeface="+mn-ea"/>
              </a:rPr>
              <a:t>Twitter </a:t>
            </a:r>
            <a:r>
              <a:rPr lang="zh-CN" altLang="en-US" sz="2000" dirty="0">
                <a:latin typeface="+mn-ea"/>
              </a:rPr>
              <a:t>迁移到 </a:t>
            </a:r>
            <a:r>
              <a:rPr lang="en-US" altLang="zh-CN" sz="2000" dirty="0">
                <a:latin typeface="+mn-ea"/>
              </a:rPr>
              <a:t>Instagram</a:t>
            </a:r>
            <a:r>
              <a:rPr lang="zh-CN" altLang="en-US" sz="2000" dirty="0">
                <a:latin typeface="+mn-ea"/>
              </a:rPr>
              <a:t>）性能骤降。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依赖标注数据：</a:t>
            </a:r>
            <a:r>
              <a:rPr lang="zh-CN" altLang="en-US" sz="2000" dirty="0">
                <a:latin typeface="+mn-ea"/>
              </a:rPr>
              <a:t>真实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标注困难，存在标签噪声。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endParaRPr lang="zh-CN" altLang="en-US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7004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96C453-84B9-E116-2746-B19160CEB0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11BC7666-9FC8-5FFF-2A10-92E74442B5EB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5B5E342-ACD7-77CF-3F4E-351DAA949C0E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FAD8AECF-FC68-E9DD-550F-4D18EBD1F2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C6ACBD6-3A09-F632-DFF4-9E5D04A484BF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7112A73F-2524-165C-61DA-E4A911679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12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12D64877-F366-9A95-021E-30873CBE4225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4D0CFAC-B2B4-A63A-6F7E-F96695D45EFF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0D31ABF6-E4EC-A36F-AC2C-FB92B8E51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669FD2D8-01BA-CD55-1302-37FA62E1E0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450051DB-721D-E256-6615-0DF9DC031B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C5F164B-EFF3-1563-55A8-14693A7B0D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4481FF83-0DA0-0B63-2594-A1C35B98E9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B3BAC632-B6DC-4438-5FE6-020B13D739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9E7E4895-C53E-2A04-F964-421D01D7AC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F90004A-4217-C723-94D2-76A77677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44841FA4-1DBE-7365-4640-0A87F56D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F0BFD8D-F202-BCA2-6AC5-B415B2EC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4F841279-FB79-3C0A-A6E0-EFD44B47F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34F8A37D-6E64-6BEE-B9F7-B1598044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163B34B0-4C00-856B-CAE7-9994C89C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D52DAE8E-8C27-5C1F-D153-6092D7D0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7FBB800A-4BD5-F140-35AD-05C8A5A9B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D4D4DA7D-6F3C-8C75-67F2-9DEC42ED0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95355DD4-71EC-7F2A-1988-BA2BBEFC8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E1067073-3C18-26C7-016E-DF175FCEBC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74943B28-F22B-1D34-3874-2C434781B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1D8D3A62-67B5-53DE-E5B8-9CF5C7EED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EC858818-0D8F-95DE-C9B0-FE870551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D68C515-E38A-1338-5AE0-7A5ED354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571F77CC-04BC-A2FD-FC8D-B6E0A24479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9B2FCCB9-96CF-483B-39FA-C4ABE57FD2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B68D2E99-A62F-EBF4-CAE8-12F95C07D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33DF1E1F-7A57-7A51-460A-7CDE7EEDE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2CE65244-3DEA-EE16-F4A6-A931058E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E5E04870-D8EE-B38D-8C09-25C7F3120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A8F08EB-A78F-AF69-3E35-AFC42523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0EB237D0-6304-0923-1FD3-02812679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C0A20092-8656-030B-CBEE-847515D8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E3ED23DE-897D-EC02-6143-DCD475AD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F35D5816-58FB-F0A2-35F4-B8A23363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5AA4E07-F52C-46AC-D5B5-FD19B651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0D62C50-B987-2907-864D-0CD5E497B3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81618DC-2160-D81A-2BC8-3DD7E4453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7C73BCDE-1C25-9F1F-DD36-FABA97D6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B1B93D7-AEAE-C365-4C61-506BD43D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EE6CDD38-984C-3818-FFE8-CBBACCD5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38453243-EC16-C0BB-4E69-FF7780D8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E72FCDCF-98C2-495D-E935-FDEB9B9BD0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08FDDB05-A2C1-004F-45C8-44C0875C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5F76DA42-F845-E0F1-39A2-224E50C5B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E59AEDFE-6974-E0CE-7873-0DECA4F0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85489D9A-9FE2-A9FC-8C13-A24A758D6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555FDE20-9336-4703-1BE1-213A78E6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F11C7CC1-C15A-355C-9D3A-FC5D5218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EF34BC10-E662-A517-9F1C-87369175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420F46F9-5B18-E4FB-C4F7-B3EBE487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85A878E8-2D15-6680-0E4A-914E3832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4CC2A49F-86F4-4742-1D82-7B4D40BA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7F75CF9E-9E8F-1F3E-E49F-E95A149AF6A2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第三阶段：深度学习与图神经网络（</a:t>
            </a:r>
            <a:r>
              <a:rPr lang="en-US" altLang="zh-CN" sz="2000" b="1" dirty="0">
                <a:latin typeface="+mn-ea"/>
              </a:rPr>
              <a:t>2018–2022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D1669CCB-8FFF-DE7F-9A95-72CBD3B7E9D0}"/>
              </a:ext>
            </a:extLst>
          </p:cNvPr>
          <p:cNvSpPr txBox="1"/>
          <p:nvPr/>
        </p:nvSpPr>
        <p:spPr>
          <a:xfrm>
            <a:off x="708330" y="2265448"/>
            <a:ext cx="11020700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技术栈升级：</a:t>
            </a:r>
            <a:endParaRPr lang="en-US" altLang="zh-CN" sz="2000" b="1" dirty="0">
              <a:latin typeface="+mn-ea"/>
            </a:endParaRPr>
          </a:p>
        </p:txBody>
      </p:sp>
      <p:graphicFrame>
        <p:nvGraphicFramePr>
          <p:cNvPr id="13" name="表格 12">
            <a:extLst>
              <a:ext uri="{FF2B5EF4-FFF2-40B4-BE49-F238E27FC236}">
                <a16:creationId xmlns:a16="http://schemas.microsoft.com/office/drawing/2014/main" id="{7257D1FC-C77B-2797-25FF-FF43E7FA52C4}"/>
              </a:ext>
            </a:extLst>
          </p:cNvPr>
          <p:cNvGraphicFramePr>
            <a:graphicFrameLocks noGrp="1"/>
          </p:cNvGraphicFramePr>
          <p:nvPr/>
        </p:nvGraphicFramePr>
        <p:xfrm>
          <a:off x="826160" y="2940643"/>
          <a:ext cx="10515600" cy="224028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7895173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1206347786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116245813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模型类型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应用场景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代表工作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18532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>
                          <a:effectLst/>
                        </a:rPr>
                        <a:t>CNN/RNN/LSTM</a:t>
                      </a:r>
                      <a:endParaRPr 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文本序列建模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Min et al. (2017)：</a:t>
                      </a:r>
                      <a:r>
                        <a:rPr lang="zh-CN" altLang="en-US">
                          <a:effectLst/>
                        </a:rPr>
                        <a:t>用 </a:t>
                      </a:r>
                      <a:r>
                        <a:rPr lang="en-US">
                          <a:effectLst/>
                        </a:rPr>
                        <a:t>CNN </a:t>
                      </a:r>
                      <a:r>
                        <a:rPr lang="zh-CN" altLang="en-US">
                          <a:effectLst/>
                        </a:rPr>
                        <a:t>检测 </a:t>
                      </a:r>
                      <a:r>
                        <a:rPr lang="en-US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生成文本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486940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>
                          <a:effectLst/>
                        </a:rPr>
                        <a:t>GNN (Graph Neural Networks)</a:t>
                      </a:r>
                      <a:endParaRPr 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社交网络结构建模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Guo et al. (2021)：</a:t>
                      </a:r>
                      <a:r>
                        <a:rPr lang="zh-CN" altLang="en-US">
                          <a:effectLst/>
                        </a:rPr>
                        <a:t>用 </a:t>
                      </a:r>
                      <a:r>
                        <a:rPr lang="en-US">
                          <a:effectLst/>
                        </a:rPr>
                        <a:t>GAT（</a:t>
                      </a:r>
                      <a:r>
                        <a:rPr lang="zh-CN" altLang="en-US">
                          <a:effectLst/>
                        </a:rPr>
                        <a:t>图注意力网络）捕捉 </a:t>
                      </a:r>
                      <a:r>
                        <a:rPr lang="en-US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协同模式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2114482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b="1">
                          <a:effectLst/>
                        </a:rPr>
                        <a:t>Pre-trained LMs</a:t>
                      </a:r>
                      <a:endParaRPr 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语义理解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>
                          <a:effectLst/>
                        </a:rPr>
                        <a:t>Heidari &amp; Jones (2020)：</a:t>
                      </a:r>
                      <a:r>
                        <a:rPr lang="zh-CN" altLang="en-US" dirty="0">
                          <a:effectLst/>
                        </a:rPr>
                        <a:t>微调 </a:t>
                      </a:r>
                      <a:r>
                        <a:rPr lang="en-US" dirty="0">
                          <a:effectLst/>
                        </a:rPr>
                        <a:t>BERT </a:t>
                      </a:r>
                      <a:r>
                        <a:rPr lang="zh-CN" altLang="en-US" dirty="0">
                          <a:effectLst/>
                        </a:rPr>
                        <a:t>区分 </a:t>
                      </a:r>
                      <a:r>
                        <a:rPr lang="en-US" dirty="0">
                          <a:effectLst/>
                        </a:rPr>
                        <a:t>human/bot </a:t>
                      </a:r>
                      <a:r>
                        <a:rPr lang="zh-CN" altLang="en-US" dirty="0">
                          <a:effectLst/>
                        </a:rPr>
                        <a:t>文本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9391711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0659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06D38-2CE2-2A38-7553-678E0F2A7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19C5FA9-B041-2B4A-EA93-935B8519FF47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5B3D755D-63D6-4793-2D57-3E7E042B766C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5FD9223-1834-5532-7F25-F8B050A87B1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D9CE6AE8-A951-C9C7-C935-CF1CEDC94C82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981DC6B3-FAC4-3A17-F9FF-8B33557E77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13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91017D9C-3949-64B7-7D88-31304B70584F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9C31024F-1322-7C97-9020-FA61E76B0BF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9283F22C-1194-A613-DDA3-05B4FF68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19882195-E255-07DC-70A2-50E34005F5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9653A6B0-E75A-856A-DF68-B820E334A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6370035B-FDFA-2E78-E9A7-729A5FE27D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BE005589-68B1-7881-11F5-E7E1EBB14B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2EC96D79-D13D-E9BF-8F1D-724B81535D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08E0CDA1-575D-5394-E82A-D30C551C1A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422FBF05-4834-9767-C4B8-16F4E2B5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96A362AA-E118-39FD-EB6A-4409E4527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77972DAB-54EB-A88A-42D0-E9D3B9DE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F94EC5CE-7064-7CB4-D4A0-A76B26444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B2F75F07-25A5-2BEA-3B24-FBE8EA746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95C19B5C-B80C-B603-5CEE-700C05418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013227A9-63CB-01B8-A5F5-4560B7462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344954D-5DA5-5117-562F-7BA1BA71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3D71EC0-F9F3-0D96-E1CB-75876323C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CF7D3FAA-D1FD-2750-4334-253CCABBE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34AE419A-22C7-2816-440F-18F68A523C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1D210BF7-00C0-F282-8CC8-C1F27BB40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A78287D7-FAE7-370A-A452-FE30E9D88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3DCE13D5-34BC-D3A7-8642-E6DB93C5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6FD108C5-4EBF-AD7A-EEE6-93EB01504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11DA2B97-4366-4FEA-3558-BE4C0D8FDB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494C66DC-E4D8-7AC7-6652-CC01D5F4B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743D2B81-10B0-8649-4C83-4710592A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5B014F8E-A86A-E232-74EB-43B3D789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CF5FF768-9942-B599-00E4-F6BE230A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A00719A-17F7-7C05-2B43-EF261CA7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2B5435F0-1AD6-7121-A4B4-1E400630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D7D39421-08CE-A265-59E8-62D3CF70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C741B7E5-FEDC-4C25-7C9C-ECC6DE57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96B3E95D-C0A7-70E6-D633-6C68FD4F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12FD778-C88D-EB83-699A-15EEAE1C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57F012B2-8F79-75F9-15D7-6E2C755AD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91E5EE1D-D4B2-B701-069E-6969F679F9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731CC5E8-7D0D-DFAB-A61C-8F077B64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E4BFDA16-4AA6-4CB5-45C1-F565D86D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7066518D-754E-0FEB-8FE5-05F551CA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A4C75047-D6FF-032B-9937-940A56250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AE68FD4-0130-F63A-1BE2-211EC610E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FAA678CB-60CB-DFDA-238A-8121B4AB6C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B31A524-7AF4-C98C-9E45-2F800EFE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AA744DBD-1563-EF95-3FFA-5921A738AF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97B544AB-0353-B387-BD94-A9987B2C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2B066F8D-F380-1634-0918-B60AC1F9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577C8250-4EC2-A0F7-BF63-86A8B8C3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7002CBBB-FC55-8B6D-BB74-E61C9403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3567F981-FEAC-176A-2476-F93F9FDA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D298CB93-644E-F819-1899-31BEB480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4A0486EA-D08E-184B-3EC6-2A697F27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F8C57FA6-B945-C38B-450A-28827E1A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718C1A7A-4785-A9F5-9884-DBC50227D73C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第三阶段：深度学习与图神经网络（</a:t>
            </a:r>
            <a:r>
              <a:rPr lang="en-US" altLang="zh-CN" sz="2000" b="1" dirty="0">
                <a:latin typeface="+mn-ea"/>
              </a:rPr>
              <a:t>2018–2022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517FD8D1-6264-ADE7-A5DA-F726184BF9A5}"/>
              </a:ext>
            </a:extLst>
          </p:cNvPr>
          <p:cNvSpPr txBox="1"/>
          <p:nvPr/>
        </p:nvSpPr>
        <p:spPr>
          <a:xfrm>
            <a:off x="681165" y="2163407"/>
            <a:ext cx="11020700" cy="4192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 </a:t>
            </a:r>
            <a:r>
              <a:rPr lang="zh-CN" altLang="en-US" sz="2000" b="1" dirty="0">
                <a:latin typeface="+mn-ea"/>
              </a:rPr>
              <a:t>核心优势：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端到端学习：</a:t>
            </a:r>
            <a:r>
              <a:rPr lang="zh-CN" altLang="en-US" sz="2000" dirty="0">
                <a:latin typeface="+mn-ea"/>
              </a:rPr>
              <a:t>无需手工特征，直接从原始数据（文本、时间戳、图）学习表示。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捕捉高阶依赖：</a:t>
            </a:r>
            <a:r>
              <a:rPr lang="en-US" altLang="zh-CN" sz="2000" dirty="0">
                <a:latin typeface="+mn-ea"/>
              </a:rPr>
              <a:t>GNN </a:t>
            </a:r>
            <a:r>
              <a:rPr lang="zh-CN" altLang="en-US" sz="2000" dirty="0">
                <a:latin typeface="+mn-ea"/>
              </a:rPr>
              <a:t>可识别“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群体”形成的异常子图（如 </a:t>
            </a:r>
            <a:r>
              <a:rPr lang="en-US" altLang="zh-CN" sz="2000" dirty="0">
                <a:latin typeface="+mn-ea"/>
              </a:rPr>
              <a:t>clique </a:t>
            </a:r>
            <a:r>
              <a:rPr lang="zh-CN" altLang="en-US" sz="2000" dirty="0">
                <a:latin typeface="+mn-ea"/>
              </a:rPr>
              <a:t>或 </a:t>
            </a:r>
            <a:r>
              <a:rPr lang="en-US" altLang="zh-CN" sz="2000" dirty="0">
                <a:latin typeface="+mn-ea"/>
              </a:rPr>
              <a:t>star</a:t>
            </a:r>
            <a:r>
              <a:rPr lang="zh-CN" altLang="en-US" sz="2000" dirty="0">
                <a:latin typeface="+mn-ea"/>
              </a:rPr>
              <a:t>）。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迁移学习：</a:t>
            </a:r>
            <a:r>
              <a:rPr lang="zh-CN" altLang="en-US" sz="2000" dirty="0">
                <a:latin typeface="+mn-ea"/>
              </a:rPr>
              <a:t>在小样本场景下，微调 </a:t>
            </a:r>
            <a:r>
              <a:rPr lang="en-US" altLang="zh-CN" sz="2000" dirty="0">
                <a:latin typeface="+mn-ea"/>
              </a:rPr>
              <a:t>BERT </a:t>
            </a:r>
            <a:r>
              <a:rPr lang="zh-CN" altLang="en-US" sz="2000" dirty="0">
                <a:latin typeface="+mn-ea"/>
              </a:rPr>
              <a:t>可达 </a:t>
            </a:r>
            <a:r>
              <a:rPr lang="en-US" altLang="zh-CN" sz="2000" dirty="0">
                <a:latin typeface="+mn-ea"/>
              </a:rPr>
              <a:t>SOTA </a:t>
            </a:r>
            <a:r>
              <a:rPr lang="zh-CN" altLang="en-US" sz="2000" dirty="0">
                <a:latin typeface="+mn-ea"/>
              </a:rPr>
              <a:t>性能。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 </a:t>
            </a:r>
            <a:r>
              <a:rPr lang="zh-CN" altLang="en-US" sz="2000" b="1" dirty="0">
                <a:latin typeface="+mn-ea"/>
              </a:rPr>
              <a:t>典型架构（以 </a:t>
            </a:r>
            <a:r>
              <a:rPr lang="en-US" altLang="zh-CN" sz="2000" b="1" dirty="0">
                <a:latin typeface="+mn-ea"/>
              </a:rPr>
              <a:t>Guo et al., 2021 </a:t>
            </a:r>
            <a:r>
              <a:rPr lang="zh-CN" altLang="en-US" sz="2000" b="1" dirty="0">
                <a:latin typeface="+mn-ea"/>
              </a:rPr>
              <a:t>为例）：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文本编码器：</a:t>
            </a:r>
            <a:r>
              <a:rPr lang="en-US" altLang="zh-CN" sz="2000" dirty="0">
                <a:latin typeface="+mn-ea"/>
              </a:rPr>
              <a:t>BERT </a:t>
            </a:r>
            <a:r>
              <a:rPr lang="zh-CN" altLang="en-US" sz="2000" dirty="0">
                <a:latin typeface="+mn-ea"/>
              </a:rPr>
              <a:t>提取每条推文语义向量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行为编码器：</a:t>
            </a:r>
            <a:r>
              <a:rPr lang="en-US" altLang="zh-CN" sz="2000" dirty="0">
                <a:latin typeface="+mn-ea"/>
              </a:rPr>
              <a:t>LSTM </a:t>
            </a:r>
            <a:r>
              <a:rPr lang="zh-CN" altLang="en-US" sz="2000" dirty="0">
                <a:latin typeface="+mn-ea"/>
              </a:rPr>
              <a:t>处理发帖时间序列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图编码器：</a:t>
            </a:r>
            <a:r>
              <a:rPr lang="en-US" altLang="zh-CN" sz="2000" dirty="0">
                <a:latin typeface="+mn-ea"/>
              </a:rPr>
              <a:t>GAT </a:t>
            </a:r>
            <a:r>
              <a:rPr lang="zh-CN" altLang="en-US" sz="2000" dirty="0">
                <a:latin typeface="+mn-ea"/>
              </a:rPr>
              <a:t>聚合邻居信息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融合层：</a:t>
            </a:r>
            <a:r>
              <a:rPr lang="zh-CN" altLang="en-US" sz="2000" dirty="0">
                <a:latin typeface="+mn-ea"/>
              </a:rPr>
              <a:t>拼接 </a:t>
            </a:r>
            <a:r>
              <a:rPr lang="en-US" altLang="zh-CN" sz="2000" dirty="0">
                <a:latin typeface="+mn-ea"/>
              </a:rPr>
              <a:t>+ MLP </a:t>
            </a:r>
            <a:r>
              <a:rPr lang="zh-CN" altLang="en-US" sz="2000" dirty="0">
                <a:latin typeface="+mn-ea"/>
              </a:rPr>
              <a:t>分类</a:t>
            </a:r>
            <a:endParaRPr lang="en-US" altLang="zh-CN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25098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B4319-1BC9-7164-70CC-9CB55AE104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36B40C1-E1C0-1503-D132-FAF121430A89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83E6EF4-9D21-A380-B800-050640958871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第二部分：检测技术演进史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3D664F8-D57B-56FD-FD7B-4A798EE93C0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171EC403-10F1-B75A-CA44-C8A040CB8E2C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899E3602-67E2-CCE9-8A34-7D9960BE13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14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C30E14D1-970F-9673-6359-D32881DCA62D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40F14A8E-9C63-7D03-DF07-DB210E22898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C858881D-7D28-7EDB-E86E-E4DB0B8C3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46A1F1F5-1D5A-12DD-6369-48A058B010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9B2CDC79-108A-0BBA-48D0-F59FB9C4F2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CCEF8263-9F01-A01A-95E8-1F1F53C784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174B8EAE-757F-017B-7559-7DB508AF7F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AB2D95E3-FD18-89E7-2FDF-4EC6528992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27FAEA1A-BDB8-66C5-5CA3-04191FCE48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1CAF8494-14E5-C586-BC32-C9C1BF49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50D4B133-B053-8592-C8B7-A96919E0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03312BAE-C6CD-7080-CA6B-6326C31A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B9DBE1D5-2326-0246-A7E0-B828B5C4C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9D6AD2DD-9C4C-6966-5444-19CC38822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86A16179-031C-B2F8-D50C-97A745AD8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D326E52F-C3E2-4B06-0304-6070E7B2F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3B64FBD-56B1-7425-7ED9-5E02EAC84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4DCB75C2-742E-EDD7-1CBF-05454656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322A3F1E-A7AF-832C-68A5-1FA9EA27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ABDF7852-7B2F-68D4-7124-B2F0B08377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A89EA327-441B-737A-F8C6-D6BC04D1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D0C31458-4BE9-673F-9BB3-33CBC671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AAEEBD43-ACB5-1E0E-6015-50C0EDD5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F10987F-21DE-EBF6-6498-18660ACB3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7EF4D03E-7B81-9CDD-381A-D0EEBDA70B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19637220-0771-DC0B-AA66-BB12682335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982D73B4-6EDC-4307-1FF7-38D89E2D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5CF94EA6-E52E-3CF7-8720-4CA0CFF3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90EB0504-311E-C1EC-3C7C-98A8AE24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B74E491A-2C9C-9F63-240D-425D3891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B50F3E24-E42A-047F-1558-1C21AB35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138B712B-6D1C-08E4-9771-D5D9AA909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E38B1D50-429F-6CE4-83F5-73624037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23B5B499-FE19-0054-1604-56CB6454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F5FE1296-519F-B5B7-E85E-2EC8B3150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1894989D-2C9C-B6F2-0719-56355CCD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91B41C8-F7BA-F15A-A240-7A5F8A43CD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BAC84731-2E27-B453-AFC4-CFF9F869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05B8A88D-C1F0-909C-0DFD-5753C9FE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428D96A3-AE86-BAA3-D514-9E7C4265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9009A1BB-0B37-9DC3-8988-1B2FA22C6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2203FDA-6D99-9C13-487D-6858C6F37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8B958788-DBD8-6F2C-1BD9-8D7D09B5CC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79A521F2-3031-B454-93A7-D8D24617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44BA4C9E-1CFB-5FC6-6C93-30DD6C70AE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CBBB2B73-2A50-FB41-F004-39F3DA24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C90C489A-BB7B-3BD6-5EC6-0BE24DA0E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5C38A5A-E4FF-5AB5-C03A-9BDD391F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E31BB45-D2EB-F447-76DE-7ADE6E2D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0BBEF1A8-F76B-D098-F30D-AFC2E53D8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C2660674-666A-C174-CA29-F2E63614E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18176BD-E88B-A397-B809-E917D6503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316479AB-ACE4-4701-7A8E-F63BE735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DF9BF3B1-11FE-1656-C666-868D6BA13221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第四阶段：</a:t>
            </a:r>
            <a:r>
              <a:rPr lang="en-US" altLang="zh-CN" sz="2000" b="1" dirty="0">
                <a:latin typeface="+mn-ea"/>
              </a:rPr>
              <a:t>LLM </a:t>
            </a:r>
            <a:r>
              <a:rPr lang="zh-CN" altLang="en-US" sz="2000" b="1" dirty="0">
                <a:latin typeface="+mn-ea"/>
              </a:rPr>
              <a:t>时代的范式危机（</a:t>
            </a:r>
            <a:r>
              <a:rPr lang="en-US" altLang="zh-CN" sz="2000" b="1" dirty="0">
                <a:latin typeface="+mn-ea"/>
              </a:rPr>
              <a:t>2023– 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7097CB97-96E4-2282-3739-195E50EAF4EE}"/>
              </a:ext>
            </a:extLst>
          </p:cNvPr>
          <p:cNvSpPr txBox="1"/>
          <p:nvPr/>
        </p:nvSpPr>
        <p:spPr>
          <a:xfrm>
            <a:off x="681165" y="2163407"/>
            <a:ext cx="11020700" cy="4192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Ferrara </a:t>
            </a:r>
            <a:r>
              <a:rPr lang="zh-CN" altLang="en-US" sz="2000" b="1" dirty="0">
                <a:latin typeface="+mn-ea"/>
              </a:rPr>
              <a:t>的核心论断：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“</a:t>
            </a:r>
            <a:r>
              <a:rPr lang="en-US" altLang="zh-CN" sz="2000" dirty="0">
                <a:latin typeface="+mn-ea"/>
              </a:rPr>
              <a:t>The advent of ChatGPT has rendered many content-based detection approaches obsolete.”</a:t>
            </a:r>
            <a:r>
              <a:rPr lang="zh-CN" altLang="en-US" sz="2000" dirty="0">
                <a:latin typeface="+mn-ea"/>
              </a:rPr>
              <a:t>（ </a:t>
            </a:r>
            <a:r>
              <a:rPr lang="en-US" altLang="zh-CN" sz="2000" dirty="0">
                <a:latin typeface="+mn-ea"/>
              </a:rPr>
              <a:t>ChatGPT</a:t>
            </a:r>
            <a:r>
              <a:rPr lang="zh-CN" altLang="en-US" sz="2000" dirty="0">
                <a:latin typeface="+mn-ea"/>
              </a:rPr>
              <a:t>的出现使得许多基于内容的检测方法过时了。）</a:t>
            </a:r>
            <a:endParaRPr lang="en-US" altLang="zh-CN" sz="2000" dirty="0">
              <a:latin typeface="+mn-ea"/>
            </a:endParaRP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实证支持</a:t>
            </a:r>
            <a:r>
              <a:rPr lang="zh-CN" altLang="en-US" sz="2000" dirty="0">
                <a:latin typeface="+mn-ea"/>
              </a:rPr>
              <a:t>：</a:t>
            </a:r>
            <a:r>
              <a:rPr lang="en-US" altLang="zh-CN" sz="2000" dirty="0">
                <a:latin typeface="+mn-ea"/>
              </a:rPr>
              <a:t>GLTR (Gehrmann et al., 2019)</a:t>
            </a:r>
            <a:r>
              <a:rPr lang="zh-CN" altLang="en-US" sz="2000" dirty="0">
                <a:latin typeface="+mn-ea"/>
              </a:rPr>
              <a:t>：即使 </a:t>
            </a:r>
            <a:r>
              <a:rPr lang="en-US" altLang="zh-CN" sz="2000" dirty="0">
                <a:latin typeface="+mn-ea"/>
              </a:rPr>
              <a:t>GPT-2 </a:t>
            </a:r>
            <a:r>
              <a:rPr lang="zh-CN" altLang="en-US" sz="2000" dirty="0">
                <a:latin typeface="+mn-ea"/>
              </a:rPr>
              <a:t>生成文本，人类专家识别准确率仅 </a:t>
            </a:r>
            <a:r>
              <a:rPr lang="en-US" altLang="zh-CN" sz="2000" dirty="0">
                <a:latin typeface="+mn-ea"/>
              </a:rPr>
              <a:t>~54%</a:t>
            </a:r>
            <a:r>
              <a:rPr lang="zh-CN" altLang="en-US" sz="2000" dirty="0">
                <a:latin typeface="+mn-ea"/>
              </a:rPr>
              <a:t>（接近随机）。</a:t>
            </a:r>
            <a:r>
              <a:rPr lang="en-US" altLang="zh-CN" sz="2000" dirty="0">
                <a:latin typeface="+mn-ea"/>
              </a:rPr>
              <a:t>GROVER (Zellers et al., 2019)</a:t>
            </a:r>
            <a:r>
              <a:rPr lang="zh-CN" altLang="en-US" sz="2000" dirty="0">
                <a:latin typeface="+mn-ea"/>
              </a:rPr>
              <a:t>：当生成器与检测器同源（都基于 </a:t>
            </a:r>
            <a:r>
              <a:rPr lang="en-US" altLang="zh-CN" sz="2000" dirty="0">
                <a:latin typeface="+mn-ea"/>
              </a:rPr>
              <a:t>Transformer</a:t>
            </a:r>
            <a:r>
              <a:rPr lang="zh-CN" altLang="en-US" sz="2000" dirty="0">
                <a:latin typeface="+mn-ea"/>
              </a:rPr>
              <a:t>），检测器性能急剧下降。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根本原因</a:t>
            </a:r>
            <a:r>
              <a:rPr lang="zh-CN" altLang="en-US" sz="2000" dirty="0">
                <a:latin typeface="+mn-ea"/>
              </a:rPr>
              <a:t>：</a:t>
            </a:r>
            <a:r>
              <a:rPr lang="en-US" altLang="zh-CN" sz="2000" dirty="0">
                <a:latin typeface="+mn-ea"/>
              </a:rPr>
              <a:t>LLM </a:t>
            </a:r>
            <a:r>
              <a:rPr lang="zh-CN" altLang="en-US" sz="2000" dirty="0">
                <a:latin typeface="+mn-ea"/>
              </a:rPr>
              <a:t>在训练时已学习人类语言的统计分布、修辞策略、文化常识，生成文本在表面和深层语义上均难以区分。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检测范式必须从“内容中心”转向“行为</a:t>
            </a:r>
            <a:r>
              <a:rPr lang="en-US" altLang="zh-CN" sz="2000" b="1" dirty="0">
                <a:latin typeface="+mn-ea"/>
              </a:rPr>
              <a:t>-</a:t>
            </a:r>
            <a:r>
              <a:rPr lang="zh-CN" altLang="en-US" sz="2000" b="1" dirty="0">
                <a:latin typeface="+mn-ea"/>
              </a:rPr>
              <a:t>网络</a:t>
            </a:r>
            <a:r>
              <a:rPr lang="en-US" altLang="zh-CN" sz="2000" b="1" dirty="0">
                <a:latin typeface="+mn-ea"/>
              </a:rPr>
              <a:t>-</a:t>
            </a:r>
            <a:r>
              <a:rPr lang="zh-CN" altLang="en-US" sz="2000" b="1" dirty="0">
                <a:latin typeface="+mn-ea"/>
              </a:rPr>
              <a:t>上下文中心”。</a:t>
            </a:r>
            <a:endParaRPr lang="en-US" altLang="zh-CN" sz="2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24325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9F785-E055-69E9-2443-6DBAC6523B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8FB8A0B-1BD1-05BF-A5A7-324575AA9242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34876C18-29E1-E453-478A-3930E7048CC1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523A13B-ED18-E971-FA55-5BA4607695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BBA0842C-3F92-039F-2CCE-C279C49A8C81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8931E0D3-D9F8-5424-9623-4E1C938A04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15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7BA9D13-10A6-0BE9-5E09-4BD79C360902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5BB1EBC-450A-F015-4FA5-7EED83D5D32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2360B66B-1A0A-E486-93BE-D0D9C9BA0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579454DE-FCB6-7F1A-C177-5875A6C30C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C4948468-6F75-0390-3564-F266A92B6D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562E075-ED9F-86BD-1640-D3262A3C37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B6C6F209-0E0D-B827-AD1C-E3445EFBD2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574FB252-07BB-6FBE-D23C-39E406AC00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258FE8B6-F852-81A4-1E8F-F17BDE1A28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8629D6E-5DA2-3DE3-8FA4-A4DA3854A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0561BD0B-E5AE-527D-19EA-71C3EDA85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73B5B790-B884-9F71-1B78-272EBF99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D0B0A859-80F2-F9C2-A51C-58A4433D0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B5BE6113-C8A6-DB31-9133-8488DBE9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851B5E2B-64A5-92B5-4311-B0830785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B3F73CD6-18AD-D26E-AFF9-5848244C6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241F25FF-DFFA-AD47-4864-E09CC27A7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4C562516-5E78-C7C0-BD44-0A01512A2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CA1B1066-3223-818C-3FB4-5466F113C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1D199C1C-8057-93D7-7B14-39F109D22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832C3646-E415-4B7F-1078-47DBEE44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3F44BE48-98FD-7704-4837-554651EE1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28D7EC85-A5C2-E19B-F580-37A72C63E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1D8D4912-83E2-5005-04F0-21973F92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15F0DFEF-4401-064D-2F63-D74B716083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EA001C6B-C505-A525-DDED-CA3A0BBC78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A6DCCBD2-BC96-1CD2-9732-E17264F5E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1A679189-4076-2678-4906-F3378978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F725E434-EC2C-6436-F442-728C9186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F53262ED-5F62-A7C6-4CFF-BB6CB4D26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47ECAF70-02B2-85BC-4BF3-7087F1C9D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174A3442-1056-6432-C3C1-CFE1084B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974D9F3E-8A2A-2312-58BC-28710E71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C10B0C3F-94C0-BADF-F209-302B043B2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BB24D810-9A70-D6CF-71D9-04A48A6F4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D4EA3356-A50E-BCAE-6BEC-E7084B345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76AE6007-D95D-00A5-5254-1E64AE48FA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A966F0CC-161C-64CF-5722-E3C7A782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78D81C6B-2A3C-09EE-E8D0-1697BF28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09AB5326-A735-F723-0BC3-BFC09FFF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CC950B43-4229-D96C-06CD-834DC1C5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EBED934-9BC2-049C-9EFF-FA88DCDF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5D46E3FD-0FB9-4490-7DEB-F8974403D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6F95435-573F-0F36-1573-CF250E958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64E0EC27-39F8-8785-86A9-BA8D0CA01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5E795005-229F-759A-54A5-509EE922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7C62BF2D-3C5C-2CB1-DF24-9534184B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DED6604F-B682-6955-D132-D026CA9D4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3EC79FFA-ECB2-BA8E-EEB6-A0DEE9E46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D594EA92-AA90-484B-C864-2F9411FE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13552989-0A69-3C5B-EC00-DB18B072A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F08E52BE-37C7-6B29-DCAA-683444B1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9CE47F0C-11B3-F2C6-6995-635439C8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A91F0129-B8EE-656D-7FD3-6D6D35D331B7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挑战一：</a:t>
            </a:r>
            <a:r>
              <a:rPr lang="en-US" altLang="zh-CN" sz="2000" b="1" dirty="0">
                <a:latin typeface="+mn-ea"/>
              </a:rPr>
              <a:t>AI </a:t>
            </a:r>
            <a:r>
              <a:rPr lang="zh-CN" altLang="en-US" sz="2000" b="1" dirty="0">
                <a:latin typeface="+mn-ea"/>
              </a:rPr>
              <a:t>生成内容的不可区分性（</a:t>
            </a:r>
            <a:r>
              <a:rPr lang="en-US" altLang="zh-CN" sz="2000" b="1" dirty="0">
                <a:latin typeface="+mn-ea"/>
              </a:rPr>
              <a:t>Indistinguishability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D6AE042B-7D0B-8567-7FDF-6C57F1F2DBD9}"/>
              </a:ext>
            </a:extLst>
          </p:cNvPr>
          <p:cNvSpPr txBox="1"/>
          <p:nvPr/>
        </p:nvSpPr>
        <p:spPr>
          <a:xfrm>
            <a:off x="675100" y="1981930"/>
            <a:ext cx="11020700" cy="28079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 </a:t>
            </a:r>
            <a:r>
              <a:rPr lang="zh-CN" altLang="en-US" sz="2000" b="1" dirty="0">
                <a:latin typeface="+mn-ea"/>
              </a:rPr>
              <a:t>技术根源：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dirty="0">
                <a:latin typeface="+mn-ea"/>
              </a:rPr>
              <a:t>Transformer </a:t>
            </a:r>
            <a:r>
              <a:rPr lang="zh-CN" altLang="en-US" sz="2000" dirty="0">
                <a:latin typeface="+mn-ea"/>
              </a:rPr>
              <a:t>架构（</a:t>
            </a:r>
            <a:r>
              <a:rPr lang="en-US" altLang="zh-CN" sz="2000" dirty="0">
                <a:latin typeface="+mn-ea"/>
              </a:rPr>
              <a:t>Vaswani et al., 2017</a:t>
            </a:r>
            <a:r>
              <a:rPr lang="zh-CN" altLang="en-US" sz="2000" dirty="0">
                <a:latin typeface="+mn-ea"/>
              </a:rPr>
              <a:t>）：通过自注意力机制捕捉长距离依赖。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dirty="0">
                <a:latin typeface="+mn-ea"/>
              </a:rPr>
              <a:t>RLHF</a:t>
            </a:r>
            <a:r>
              <a:rPr lang="zh-CN" altLang="en-US" sz="2000" dirty="0">
                <a:latin typeface="+mn-ea"/>
              </a:rPr>
              <a:t>（</a:t>
            </a:r>
            <a:r>
              <a:rPr lang="en-US" altLang="zh-CN" sz="2000" dirty="0">
                <a:latin typeface="+mn-ea"/>
              </a:rPr>
              <a:t>Reinforcement Learning from Human Feedback</a:t>
            </a:r>
            <a:r>
              <a:rPr lang="zh-CN" altLang="en-US" sz="2000" dirty="0">
                <a:latin typeface="+mn-ea"/>
              </a:rPr>
              <a:t>）：使输出更“人类偏好对齐”（</a:t>
            </a:r>
            <a:r>
              <a:rPr lang="en-US" altLang="zh-CN" sz="2000" dirty="0">
                <a:latin typeface="+mn-ea"/>
              </a:rPr>
              <a:t>OpenAI, 2021</a:t>
            </a:r>
            <a:r>
              <a:rPr lang="zh-CN" altLang="en-US" sz="2000" dirty="0">
                <a:latin typeface="+mn-ea"/>
              </a:rPr>
              <a:t>）。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大规模预训练：</a:t>
            </a:r>
            <a:r>
              <a:rPr lang="en-US" altLang="zh-CN" sz="2000" dirty="0">
                <a:latin typeface="+mn-ea"/>
              </a:rPr>
              <a:t>GPT-4 </a:t>
            </a:r>
            <a:r>
              <a:rPr lang="zh-CN" altLang="en-US" sz="2000" dirty="0">
                <a:latin typeface="+mn-ea"/>
              </a:rPr>
              <a:t>在 </a:t>
            </a:r>
            <a:r>
              <a:rPr lang="en-US" altLang="zh-CN" sz="2000" dirty="0">
                <a:latin typeface="+mn-ea"/>
              </a:rPr>
              <a:t>&gt;10TB </a:t>
            </a:r>
            <a:r>
              <a:rPr lang="zh-CN" altLang="en-US" sz="2000" dirty="0">
                <a:latin typeface="+mn-ea"/>
              </a:rPr>
              <a:t>文本上训练，覆盖几乎所有语言现象。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实验证据：</a:t>
            </a:r>
            <a:endParaRPr lang="en-US" altLang="zh-CN" sz="2000" b="1" dirty="0">
              <a:latin typeface="+mn-ea"/>
            </a:endParaRPr>
          </a:p>
        </p:txBody>
      </p:sp>
      <p:graphicFrame>
        <p:nvGraphicFramePr>
          <p:cNvPr id="13" name="表格 12">
            <a:extLst>
              <a:ext uri="{FF2B5EF4-FFF2-40B4-BE49-F238E27FC236}">
                <a16:creationId xmlns:a16="http://schemas.microsoft.com/office/drawing/2014/main" id="{35FBBB39-DA39-99ED-9EA6-F38F421502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1384509"/>
              </p:ext>
            </p:extLst>
          </p:nvPr>
        </p:nvGraphicFramePr>
        <p:xfrm>
          <a:off x="761056" y="4855894"/>
          <a:ext cx="10515600" cy="141732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549033639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3426745266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267583275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研究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方法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人类识别准确率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5050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GLTR (2019)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>
                          <a:effectLst/>
                        </a:rPr>
                        <a:t>GPT-2 </a:t>
                      </a:r>
                      <a:r>
                        <a:rPr lang="zh-CN" altLang="en-US" dirty="0">
                          <a:effectLst/>
                        </a:rPr>
                        <a:t>生成新闻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>
                          <a:effectLst/>
                        </a:rPr>
                        <a:t>54%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958387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Ippolito et al. (2020)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GPT-2 + </a:t>
                      </a:r>
                      <a:r>
                        <a:rPr lang="zh-CN" altLang="en-US">
                          <a:effectLst/>
                        </a:rPr>
                        <a:t>控制采样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>
                          <a:effectLst/>
                        </a:rPr>
                        <a:t>&lt;60%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28844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Clark et al. (2022)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GPT-3 </a:t>
                      </a:r>
                      <a:r>
                        <a:rPr lang="zh-CN" altLang="en-US">
                          <a:effectLst/>
                        </a:rPr>
                        <a:t>生成 </a:t>
                      </a:r>
                      <a:r>
                        <a:rPr lang="en-US">
                          <a:effectLst/>
                        </a:rPr>
                        <a:t>Reddit </a:t>
                      </a:r>
                      <a:r>
                        <a:rPr lang="zh-CN" altLang="en-US">
                          <a:effectLst/>
                        </a:rPr>
                        <a:t>评论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 dirty="0">
                          <a:effectLst/>
                        </a:rPr>
                        <a:t>~50%</a:t>
                      </a:r>
                      <a:r>
                        <a:rPr lang="zh-CN" altLang="en-US" dirty="0">
                          <a:effectLst/>
                        </a:rPr>
                        <a:t>（与人类无异）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970854766"/>
                  </a:ext>
                </a:extLst>
              </a:tr>
            </a:tbl>
          </a:graphicData>
        </a:graphic>
      </p:graphicFrame>
      <p:sp>
        <p:nvSpPr>
          <p:cNvPr id="18" name="文本框 17">
            <a:extLst>
              <a:ext uri="{FF2B5EF4-FFF2-40B4-BE49-F238E27FC236}">
                <a16:creationId xmlns:a16="http://schemas.microsoft.com/office/drawing/2014/main" id="{DE56FF33-EC0C-D8F9-92E7-197857FCB8D4}"/>
              </a:ext>
            </a:extLst>
          </p:cNvPr>
          <p:cNvSpPr txBox="1"/>
          <p:nvPr/>
        </p:nvSpPr>
        <p:spPr>
          <a:xfrm>
            <a:off x="691654" y="6329211"/>
            <a:ext cx="105155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b="1" i="0" dirty="0">
                <a:effectLst/>
                <a:latin typeface="-apple-system"/>
              </a:rPr>
              <a:t>结论</a:t>
            </a:r>
            <a:r>
              <a:rPr lang="zh-CN" altLang="en-US" b="0" i="0" dirty="0">
                <a:effectLst/>
                <a:latin typeface="-apple-system"/>
              </a:rPr>
              <a:t>：</a:t>
            </a:r>
            <a:r>
              <a:rPr lang="zh-CN" altLang="en-US" b="1" i="0" dirty="0">
                <a:effectLst/>
                <a:latin typeface="-apple-system"/>
              </a:rPr>
              <a:t>基于困惑度（</a:t>
            </a:r>
            <a:r>
              <a:rPr lang="en-US" altLang="zh-CN" b="1" i="0" dirty="0">
                <a:effectLst/>
                <a:latin typeface="-apple-system"/>
              </a:rPr>
              <a:t>perplexity</a:t>
            </a:r>
            <a:r>
              <a:rPr lang="zh-CN" altLang="en-US" b="1" i="0" dirty="0">
                <a:effectLst/>
                <a:latin typeface="-apple-system"/>
              </a:rPr>
              <a:t>）、突发性（</a:t>
            </a:r>
            <a:r>
              <a:rPr lang="en-US" altLang="zh-CN" b="1" i="0" dirty="0">
                <a:effectLst/>
                <a:latin typeface="-apple-system"/>
              </a:rPr>
              <a:t>burstiness</a:t>
            </a:r>
            <a:r>
              <a:rPr lang="zh-CN" altLang="en-US" b="1" i="0" dirty="0">
                <a:effectLst/>
                <a:latin typeface="-apple-system"/>
              </a:rPr>
              <a:t>）、</a:t>
            </a:r>
            <a:r>
              <a:rPr lang="en-US" altLang="zh-CN" b="1" i="0" dirty="0">
                <a:effectLst/>
                <a:latin typeface="-apple-system"/>
              </a:rPr>
              <a:t>n-gram </a:t>
            </a:r>
            <a:r>
              <a:rPr lang="zh-CN" altLang="en-US" b="1" i="0" dirty="0">
                <a:effectLst/>
                <a:latin typeface="-apple-system"/>
              </a:rPr>
              <a:t>异常等传统文本特征的方法已失效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32027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39BC7-AFAE-C729-07EB-A35C6B2CD5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466D158-6DC9-0087-B29A-73F33B161528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5268ADF2-F971-ECBC-1CDC-7E3AD9466AAF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0C8A731-AD2C-F931-390A-6637BB83167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7AB9FB34-4709-85F6-36D7-6F1569D79450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08133456-B47C-6D61-43F4-CF66AD6959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16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2AA76397-4308-47F0-E082-AD1873532B3F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04E1FE57-D2A9-137D-3A88-B3B088A34CBE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B065F291-E2B2-FC0D-E0F8-C1E3F8B97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DA2B805D-7072-F02C-E281-FE7AF7194F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FC7FD877-E25E-8CC0-C563-ABA5EE5FF1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EFF4D751-F186-6C31-6655-1260D7752F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80B2C8B6-ADDB-3E50-A482-73E1E5323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25104311-9B78-1F83-CFB9-1E1259FD99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77AF12BF-AB68-21E6-3F11-C4C498C680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8D122F8-DA6C-C885-878F-EC720AEAA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56ECD1EE-810F-1366-B3C2-07CF1A6AB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2995E393-BC95-51C0-AFC4-B385DF93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B8222CF8-2A29-F5B2-5EE5-FAA4175A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614E55D9-3C1F-083C-7C78-37E19027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6CA7DC91-606B-7441-6BEA-B83920B5D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A01BC495-DE8E-4232-FE36-5B241B809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D92729EC-98C3-632A-5206-ACD54C46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EF2A5159-A547-87CA-1DD1-43A055D7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2F938FCB-9416-525A-8DF7-CCC7EB91F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02A3FEE6-D652-79BD-AFA6-E65B0ACF49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10633154-DF9C-5BF5-6282-63255A68F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0D147ADB-8C72-25FA-B040-80E1FE93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6EC1CD2A-4454-3C12-B872-58008DCB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60D14679-5556-9EA9-B128-57136BE0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CF5FCBB7-BB41-9D8B-54EA-C2C987063F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26F4989B-0F94-0BAD-3E26-E2542D75E4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10B200EC-78FE-74A4-A378-5AFE05C7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3F87F97D-A3DC-6C8A-9B13-A2DE26BC5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FB827C0D-B859-2917-D8DE-C79D5B94E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8E1A09A8-2990-B033-7D31-A36A11F3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263A0913-1141-9809-CAA9-33DED604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A114A9DF-4C52-466B-51C2-B0AF84A6F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E5A60F75-AB9A-BA8A-2B9A-E6868FBD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E601D809-3B95-8E38-3303-684FF7D0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F83BC5B0-6C16-49C4-F6A4-AC00057B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1688C082-F24F-F120-B8FD-401088F7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5D80BAC8-60E0-DC5B-957E-C2FB44EDF9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BBE1AF6D-6E26-3816-4777-F77AF520C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475D0D9-B205-2E0C-766B-7AB0EE167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B8C943F4-2428-0B4C-5C5D-3FDD5B62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6058C0AD-6A59-2AE6-4A43-E0155F651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DC00F27D-62BA-9672-8330-68807416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B47FC86B-C0C8-47A6-B29D-828CD2DC54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053B3B0-F4C8-D4AB-CF1F-E6BB5460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9A27DF4D-F681-09B1-8B2C-4525CE5F16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89146D6E-0AB7-E178-232F-31BFC3C1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56FF4C2F-B853-98F0-7314-CB02B21C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3A793B32-39DC-0430-8AB0-061D1CCC1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2DC4D860-7305-F98A-424D-0A1D23B7C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364610C4-33F3-7297-A43B-9A627E4F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ED2D161D-7295-2E02-B5A6-3AD30FE7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980D7F2A-BB4B-2B42-7099-F359DCAB4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9F68751C-DD2E-DD7D-91DA-9FF4033C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D5AE9ACE-16E6-A428-9673-D5CC1F0F3BCD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挑战一：</a:t>
            </a:r>
            <a:r>
              <a:rPr lang="en-US" altLang="zh-CN" sz="2000" b="1" dirty="0">
                <a:latin typeface="+mn-ea"/>
              </a:rPr>
              <a:t>AI </a:t>
            </a:r>
            <a:r>
              <a:rPr lang="zh-CN" altLang="en-US" sz="2000" b="1" dirty="0">
                <a:latin typeface="+mn-ea"/>
              </a:rPr>
              <a:t>生成内容的不可区分性（</a:t>
            </a:r>
            <a:r>
              <a:rPr lang="en-US" altLang="zh-CN" sz="2000" b="1" dirty="0">
                <a:latin typeface="+mn-ea"/>
              </a:rPr>
              <a:t>Indistinguishability</a:t>
            </a:r>
            <a:r>
              <a:rPr lang="zh-CN" altLang="en-US" sz="2000" b="1" dirty="0">
                <a:latin typeface="+mn-ea"/>
              </a:rPr>
              <a:t>）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838050AC-8FB2-B950-6FBE-96A3F78655B5}"/>
              </a:ext>
            </a:extLst>
          </p:cNvPr>
          <p:cNvSpPr txBox="1"/>
          <p:nvPr/>
        </p:nvSpPr>
        <p:spPr>
          <a:xfrm>
            <a:off x="660820" y="2362095"/>
            <a:ext cx="11020700" cy="23462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 </a:t>
            </a:r>
            <a:r>
              <a:rPr lang="zh-CN" altLang="en-US" sz="2000" b="1" dirty="0">
                <a:latin typeface="+mn-ea"/>
              </a:rPr>
              <a:t>新思路尝试（但效果有限）：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水印技术（</a:t>
            </a:r>
            <a:r>
              <a:rPr lang="en-US" altLang="zh-CN" sz="2000" b="1" dirty="0">
                <a:latin typeface="+mn-ea"/>
              </a:rPr>
              <a:t>Watermarking</a:t>
            </a:r>
            <a:r>
              <a:rPr lang="zh-CN" altLang="en-US" sz="2000" b="1" dirty="0">
                <a:latin typeface="+mn-ea"/>
              </a:rPr>
              <a:t>）：在生成文本中嵌入不可见信号（</a:t>
            </a:r>
            <a:r>
              <a:rPr lang="en-US" altLang="zh-CN" sz="2000" b="1" dirty="0">
                <a:latin typeface="+mn-ea"/>
              </a:rPr>
              <a:t>Kirchenbauer et al., 2023</a:t>
            </a:r>
            <a:r>
              <a:rPr lang="zh-CN" altLang="en-US" sz="2000" b="1" dirty="0">
                <a:latin typeface="+mn-ea"/>
              </a:rPr>
              <a:t>）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问题：易被重写绕过；需平台强制集成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检测专用 </a:t>
            </a:r>
            <a:r>
              <a:rPr lang="en-US" altLang="zh-CN" sz="2000" b="1" dirty="0">
                <a:latin typeface="+mn-ea"/>
              </a:rPr>
              <a:t>LLM</a:t>
            </a:r>
            <a:r>
              <a:rPr lang="zh-CN" altLang="en-US" sz="2000" b="1" dirty="0">
                <a:latin typeface="+mn-ea"/>
              </a:rPr>
              <a:t>：训练一个“</a:t>
            </a:r>
            <a:r>
              <a:rPr lang="en-US" altLang="zh-CN" sz="2000" b="1" dirty="0">
                <a:latin typeface="+mn-ea"/>
              </a:rPr>
              <a:t>detector LLM”</a:t>
            </a:r>
            <a:r>
              <a:rPr lang="zh-CN" altLang="en-US" sz="2000" b="1" dirty="0">
                <a:latin typeface="+mn-ea"/>
              </a:rPr>
              <a:t>专门识别生成文本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问题：对抗性生成器可针对性优化以欺骗检测器（</a:t>
            </a:r>
            <a:r>
              <a:rPr lang="en-US" altLang="zh-CN" sz="2000" b="1" dirty="0">
                <a:latin typeface="+mn-ea"/>
              </a:rPr>
              <a:t>GROVER </a:t>
            </a:r>
            <a:r>
              <a:rPr lang="zh-CN" altLang="en-US" sz="2000" b="1" dirty="0">
                <a:latin typeface="+mn-ea"/>
              </a:rPr>
              <a:t>证明此路径脆弱）</a:t>
            </a:r>
            <a:endParaRPr lang="en-US" altLang="zh-CN" sz="2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13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CB2F17-8A45-AA54-69D2-CDE6273076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19ED497-A2E2-417E-EFF2-2B5495F38C3A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843B416-C6BE-EC9A-2EF5-CF3CF29BC0D7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7AE1D7A-6BFE-9D92-1943-CA2B6FD715B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BC9975FA-101D-53BC-8C03-31F7DFE16BD3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CFBC542A-6A18-E72B-D37C-DA67899C9C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17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F93AD047-DFCE-2114-E03D-A5E4180886C8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F65E1085-DC8F-D20D-02D5-324043F15E98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AAA09B0E-786E-DB3E-1ED2-9B6D6C57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3A2BFCD3-1E08-ADBF-AEDB-784A14BB8E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E3C2AACD-1493-EE08-DCFB-C3AADF9C0D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78969713-C118-CA28-EE1C-B7B52E2B53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27276113-3273-166F-7219-D58BF09893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5898707D-8493-D49B-FE18-FE3C28A80C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E048A222-53D8-F6BD-965A-049EB0A948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E30EF137-DEC8-7A78-4C3D-B003B5522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D89C8B09-17E3-E78E-0C8A-7E6AD61E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0D12B660-E6F5-2D86-0C4C-F6F274D97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ADE3C858-75C0-85F4-A55D-92DE03F5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14AC175E-05F5-2180-3930-00A9FAC7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7BFC16F9-7F54-F141-ED3D-149B97F16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9C553189-9B0E-D19C-6E4E-B696AD4D0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8E8AB50E-77D2-4CD8-120B-29FE228C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372795B1-FE26-B7EF-5048-822E84C1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3B0FC6C-3E90-26C3-6B69-66CCC9FFA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35E021D3-4ED1-80B6-F060-436C4FC8B0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371FD6DC-3E7E-80F9-BE73-97A2FA0F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10FD87A6-12CD-B555-3ABC-528BE118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60F4EE88-05EE-37F0-4219-5A86A267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3E8F5593-B6F3-22E0-855E-DC4D9B75B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83430E51-2D70-75E6-E7E1-6C380B720E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CD4B5531-4ACA-E7F6-909D-A94243A926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033898BE-C2AF-6A62-DCCF-32C21D05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6EAE5FB7-8BAD-E9F5-CC3C-24DBE1FE8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74CEDFE9-9199-2C20-BF66-2DEFA370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FDE57B10-B078-AC6A-5DE4-8422FB17B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4BB77C41-00D1-973D-EC55-789A8E6F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055D269-6C89-B1D8-AB30-9429BF79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428B176-DD4F-9875-971A-A9D126672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EDC5D954-AD35-4485-9206-0AFA69B3F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7A3D8B3-0995-246E-CFFB-7CCF1329F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CA7ED63D-0B01-9A4D-E08A-0AC80FA35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DAB4FEC8-0E4A-1ABE-D30E-DC15AE157B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B449FA7-7FF9-2E1D-3744-F621424F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E1A79872-44AB-053C-0B5D-953A8F34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2CDFF2A3-EE33-7997-6CE1-BB439B9F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ADB3DCFE-C5EA-FEEE-40F3-55D74927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0D5AFE30-DB2B-4F0E-2BEB-13B0DE99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33FA2D12-4C69-5FB4-C0AD-C22EA41C7C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1EE02AF2-2474-3DF2-848E-11F15292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7E37131F-5DF8-26A3-3FD1-46CC5D0CD7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F3159E4B-8DCD-0E5F-F3FB-4FD472E0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50951554-31B0-4C63-C02E-633D33AB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B058EDD-D790-E943-BF59-C7E81262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4E38C9DA-8D9C-B465-0B39-CB03D5DA9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FF5325CD-2724-26F6-4909-CA5125D53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4FA3268F-8463-A9F2-246C-6D103ABEE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BCBD765-8016-BC4C-1EE3-90044560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1C2F61CD-A415-EACD-1C4D-9342EDA0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E29A378A-02EE-A3CE-475A-A2D0EB305FE7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挑战二：对抗性规避与自适应行为</a:t>
            </a:r>
            <a:endParaRPr lang="en-US" altLang="zh-CN" sz="2000" b="1" dirty="0">
              <a:latin typeface="+mn-ea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97610647-BC2E-F671-7055-560CE6C69C73}"/>
              </a:ext>
            </a:extLst>
          </p:cNvPr>
          <p:cNvSpPr txBox="1"/>
          <p:nvPr/>
        </p:nvSpPr>
        <p:spPr>
          <a:xfrm>
            <a:off x="642945" y="2228837"/>
            <a:ext cx="11020700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 </a:t>
            </a:r>
            <a:r>
              <a:rPr lang="zh-CN" altLang="en-US" sz="2000" b="1" dirty="0">
                <a:latin typeface="+mn-ea"/>
              </a:rPr>
              <a:t>恶意 </a:t>
            </a:r>
            <a:r>
              <a:rPr lang="en-US" altLang="zh-CN" sz="2000" b="1" dirty="0">
                <a:latin typeface="+mn-ea"/>
              </a:rPr>
              <a:t>bot </a:t>
            </a:r>
            <a:r>
              <a:rPr lang="zh-CN" altLang="en-US" sz="2000" b="1" dirty="0">
                <a:latin typeface="+mn-ea"/>
              </a:rPr>
              <a:t>的新战术</a:t>
            </a:r>
            <a:r>
              <a:rPr lang="en-US" altLang="zh-CN" sz="2000" b="1" dirty="0">
                <a:latin typeface="+mn-ea"/>
              </a:rPr>
              <a:t>:</a:t>
            </a:r>
            <a:endParaRPr lang="zh-CN" altLang="en-US" sz="2000" b="1" dirty="0">
              <a:latin typeface="+mn-ea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97FF87AE-5038-55EE-ADB2-EEC5DF8DC8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711939"/>
              </p:ext>
            </p:extLst>
          </p:nvPr>
        </p:nvGraphicFramePr>
        <p:xfrm>
          <a:off x="826160" y="2868672"/>
          <a:ext cx="10515600" cy="288036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298316595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276435439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5198805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战术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描述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检测难点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862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行为模仿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模拟人类打字延迟、删除</a:t>
                      </a:r>
                      <a:r>
                        <a:rPr lang="en-US" altLang="zh-CN" dirty="0">
                          <a:effectLst/>
                        </a:rPr>
                        <a:t>/</a:t>
                      </a:r>
                      <a:r>
                        <a:rPr lang="zh-CN" altLang="en-US" dirty="0">
                          <a:effectLst/>
                        </a:rPr>
                        <a:t>编辑推文、使用 </a:t>
                      </a:r>
                      <a:r>
                        <a:rPr lang="en-US" altLang="zh-CN" dirty="0">
                          <a:effectLst/>
                        </a:rPr>
                        <a:t>emoji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传统“高频发帖”规则失效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41701869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内容多样化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同一 </a:t>
                      </a:r>
                      <a:r>
                        <a:rPr lang="en-US" altLang="zh-CN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在不同话题下生成风格迥异内容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基于主题一致性的检测失效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16269770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协同伪装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多个 </a:t>
                      </a:r>
                      <a:r>
                        <a:rPr lang="en-US" altLang="zh-CN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互相点赞、转发，模拟真实社群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网络特征（如互关率）被污染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880103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跨平台联动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在 </a:t>
                      </a:r>
                      <a:r>
                        <a:rPr lang="en-US" altLang="zh-CN">
                          <a:effectLst/>
                        </a:rPr>
                        <a:t>X </a:t>
                      </a:r>
                      <a:r>
                        <a:rPr lang="zh-CN" altLang="en-US">
                          <a:effectLst/>
                        </a:rPr>
                        <a:t>发起话题，在 </a:t>
                      </a:r>
                      <a:r>
                        <a:rPr lang="en-US" altLang="zh-CN">
                          <a:effectLst/>
                        </a:rPr>
                        <a:t>Telegram </a:t>
                      </a:r>
                      <a:r>
                        <a:rPr lang="zh-CN" altLang="en-US">
                          <a:effectLst/>
                        </a:rPr>
                        <a:t>组织行动，在 </a:t>
                      </a:r>
                      <a:r>
                        <a:rPr lang="en-US" altLang="zh-CN">
                          <a:effectLst/>
                        </a:rPr>
                        <a:t>YouTube </a:t>
                      </a:r>
                      <a:r>
                        <a:rPr lang="zh-CN" altLang="en-US">
                          <a:effectLst/>
                        </a:rPr>
                        <a:t>上传视频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单平台检测无法捕捉全局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257547283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8223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AB6DFB-DEAE-86E1-19A4-FAA5A8377A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CC363434-093B-671E-A6A8-B70C6667CA85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149CF89-4DAC-F33D-4791-C743066147F2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57A78370-04A6-82ED-B672-D4BD32A1139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CF8213BD-273B-FC3E-D680-45A5E06A2793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41F2A43B-FADE-898D-9B89-B718539B63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18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3BC579C-04E7-6378-F3F9-AC0508B4F9E4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24FC5C2D-84FA-9BCD-5DE2-10C56BAD922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B0B4CC6F-A7C4-A2AE-5652-9A72E91B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1ED0134E-B707-C3C2-5B86-1415901A0F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496779F4-9C5F-1800-AA61-697E578BD8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FDB2807D-1A3B-7F76-067E-24937B25F0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BBCB71CF-5403-9A21-5B9D-19B3CF9362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F9877B45-E2AF-46DA-927F-8C1EA60F8F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9E316FBB-2936-2DF6-D082-5AF59D3777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4A05BED2-0EEE-D917-F886-61D7AE914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818B65E4-1FED-99CA-2A91-F83EF1329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AAFFFDAB-F3F6-0884-383F-54370200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D4130E50-9347-F11E-C6F0-8573099A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B79DF4C8-70EB-2D5B-D4A0-1A0D5282C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9F381386-B3DC-3F17-0146-64A1AEA0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746ECF07-D2FB-8425-A7C8-6EBFBEED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E5B864C-34DD-34FA-A721-4D34F5491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F7A85546-3FA3-56C1-DF6D-B89E8A452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B6500548-C81E-4643-4FCF-C5EF3B94F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92FA1C7A-22F9-2476-7B84-B615E2B5B0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7F17529C-7530-A16D-4B2A-023732338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4DF6DB96-E8C1-6370-C7D5-8ED86E9F3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7B9CE733-A96A-4E03-FF73-C7D3D627F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1493240-69B5-664F-C3C6-9D1DCE94B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F7F46982-F436-8F35-B1CD-C422D76486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8A22167C-CDD9-0CEF-6299-3A96A2366A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2E57964A-D452-1521-DB18-D7CDFA01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6EABCD71-7EE9-D627-7662-CD646C9A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95F53BB6-B313-EEAA-B6E7-30703963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4B8A22DD-EF9F-658A-07E5-99C391ADF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27D3A421-3976-C196-70BB-F3742C68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55D9C8DA-9556-292B-67A2-1DCA89D4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EAC9E77B-A774-2268-F30B-F35DFD10A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78D2379A-82BB-3BAC-3E19-E7D9D5A3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CC26CDC5-692C-0D98-9616-10C082854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D5373559-72BE-83A4-338E-9C4FB650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29B03547-BBA5-91ED-5AE8-DB86008C86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29E03319-794A-3397-DDC4-512F10932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69BA8475-5A7C-C73A-53CF-EE553D84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BC2889D-9CFB-1E62-A49D-3EAC17EC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060C0167-0D55-6AFF-7525-4E5260E50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10A60D2-4CC5-C428-4F40-C4B8FF6B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52CF4BD0-1DEF-4D61-E58B-CD7AC99656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EB6CB8C6-DD03-5436-0DE9-53A306FF1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55FF2DD1-247C-9945-1F60-E168DFF9D1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A4069110-A198-E394-6B33-0538E1DD3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05670DC7-830C-E5C7-AB01-8063C2FA5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D5DCF369-7BD5-AD38-13AD-0B8F3DB0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FEF18D05-3D98-C131-61C8-5576ACC9F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6CC3317B-79F3-E45A-7512-36A35A9D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097C1861-12A4-CFA3-015E-41825D53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64CE4FF4-E27F-8023-5659-0DE9BB5C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D375824D-97AD-0560-204A-9B1DDAAD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CF7816F7-F7A7-0BEF-4C13-395AE28A99A6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挑战二：对抗性规避与自适应行为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CDFC3AE7-BF77-B1B9-AFB7-18A8A6A6FF27}"/>
              </a:ext>
            </a:extLst>
          </p:cNvPr>
          <p:cNvSpPr txBox="1"/>
          <p:nvPr/>
        </p:nvSpPr>
        <p:spPr>
          <a:xfrm>
            <a:off x="655362" y="2120765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对抗机器学习（</a:t>
            </a:r>
            <a:r>
              <a:rPr lang="en-US" altLang="zh-CN" sz="2000" b="1" dirty="0">
                <a:latin typeface="+mn-ea"/>
              </a:rPr>
              <a:t>Adversarial ML</a:t>
            </a:r>
            <a:r>
              <a:rPr lang="zh-CN" altLang="en-US" sz="2000" b="1" dirty="0">
                <a:latin typeface="+mn-ea"/>
              </a:rPr>
              <a:t>）威胁：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白盒攻击：</a:t>
            </a:r>
            <a:r>
              <a:rPr lang="zh-CN" altLang="en-US" sz="2000" dirty="0">
                <a:latin typeface="+mn-ea"/>
              </a:rPr>
              <a:t>攻击者知道检测模型结构，可生成对抗样本（如微调 </a:t>
            </a:r>
            <a:r>
              <a:rPr lang="en-US" altLang="zh-CN" sz="2000" dirty="0">
                <a:latin typeface="+mn-ea"/>
              </a:rPr>
              <a:t>prompt </a:t>
            </a:r>
            <a:r>
              <a:rPr lang="zh-CN" altLang="en-US" sz="2000" dirty="0">
                <a:latin typeface="+mn-ea"/>
              </a:rPr>
              <a:t>使输出避开检测特征）。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黑盒攻击：</a:t>
            </a:r>
            <a:r>
              <a:rPr lang="zh-CN" altLang="en-US" sz="2000" dirty="0">
                <a:latin typeface="+mn-ea"/>
              </a:rPr>
              <a:t>通过查询 </a:t>
            </a:r>
            <a:r>
              <a:rPr lang="en-US" altLang="zh-CN" sz="2000" dirty="0">
                <a:latin typeface="+mn-ea"/>
              </a:rPr>
              <a:t>API </a:t>
            </a:r>
            <a:r>
              <a:rPr lang="zh-CN" altLang="en-US" sz="2000" dirty="0">
                <a:latin typeface="+mn-ea"/>
              </a:rPr>
              <a:t>探测模型边界，构建替代模型进行攻击。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</a:t>
            </a:r>
            <a:r>
              <a:rPr lang="zh-CN" altLang="en-US" sz="2000" b="1" dirty="0">
                <a:latin typeface="+mn-ea"/>
              </a:rPr>
              <a:t>防御方向：</a:t>
            </a:r>
            <a:endParaRPr lang="en-US" altLang="zh-CN" sz="2000" b="1" dirty="0">
              <a:latin typeface="+mn-ea"/>
            </a:endParaRP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对抗训练（</a:t>
            </a:r>
            <a:r>
              <a:rPr lang="en-US" altLang="zh-CN" sz="2000" b="1" dirty="0">
                <a:latin typeface="+mn-ea"/>
              </a:rPr>
              <a:t>Adversarial Training</a:t>
            </a:r>
            <a:r>
              <a:rPr lang="zh-CN" altLang="en-US" sz="2000" b="1" dirty="0">
                <a:latin typeface="+mn-ea"/>
              </a:rPr>
              <a:t>）：</a:t>
            </a:r>
            <a:r>
              <a:rPr lang="zh-CN" altLang="en-US" sz="2000" dirty="0">
                <a:latin typeface="+mn-ea"/>
              </a:rPr>
              <a:t>在训练中加入对抗样本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集成学习（</a:t>
            </a:r>
            <a:r>
              <a:rPr lang="en-US" altLang="zh-CN" sz="2000" b="1" dirty="0">
                <a:latin typeface="+mn-ea"/>
              </a:rPr>
              <a:t>Ensemble</a:t>
            </a:r>
            <a:r>
              <a:rPr lang="zh-CN" altLang="en-US" sz="2000" b="1" dirty="0">
                <a:latin typeface="+mn-ea"/>
              </a:rPr>
              <a:t>）：</a:t>
            </a:r>
            <a:r>
              <a:rPr lang="zh-CN" altLang="en-US" sz="2000" dirty="0">
                <a:latin typeface="+mn-ea"/>
              </a:rPr>
              <a:t>多个异构模型投票，降低单一模型被攻破风险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动态更新：</a:t>
            </a:r>
            <a:r>
              <a:rPr lang="zh-CN" altLang="en-US" sz="2000" dirty="0">
                <a:latin typeface="+mn-ea"/>
              </a:rPr>
              <a:t>模型需持续 </a:t>
            </a:r>
            <a:r>
              <a:rPr lang="en-US" altLang="zh-CN" sz="2000" dirty="0">
                <a:latin typeface="+mn-ea"/>
              </a:rPr>
              <a:t>retrain </a:t>
            </a:r>
            <a:r>
              <a:rPr lang="zh-CN" altLang="en-US" sz="2000" dirty="0">
                <a:latin typeface="+mn-ea"/>
              </a:rPr>
              <a:t>以应对新策略</a:t>
            </a:r>
            <a:endParaRPr lang="en-US" altLang="zh-CN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5289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858BE0-B06F-9FBF-D69F-0C4A505CBB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C39767D-41E8-20B4-F180-90E0574AA895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F243779-3884-7455-15AE-6AFC818C1C78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1EC2E2F9-0A0E-6666-60C3-B22AC208048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CF2BB2F8-341C-951B-9A54-556C7FFA4925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05110EC1-D291-B4E5-26BE-09F91F0236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19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F97722EA-13D2-9557-731F-B4955026901C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6532C70B-476F-540A-5D43-F9CFF1B0190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42A49C0A-4E64-9005-388C-845391DA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C9E17BB2-2689-CF93-7C64-AA816D48B4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B6E9AE19-41BC-05B8-C6ED-82F7B74D89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A74F60B1-9C6D-62C1-AC3B-AB8EC1901E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EEF67804-1D2A-379F-1E19-4C02C25967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65477FFA-07B7-E8B6-D669-6299B9F5ED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5C8D405A-F75B-C171-05CB-FF95B87E5C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0DF98EE6-05A1-0D37-17B2-03ECB8D15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89A46DD0-430A-2ED1-C211-59C87D786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400866E5-B86F-A8A3-DCD2-C83B8244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47FE165F-FC7C-4321-1BD0-ECB665BF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7E27DC66-DC8A-24BC-DCC6-A93CE529A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56E2F6D7-348E-7E5B-A0A2-01BCA67B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E591A604-522C-EDAF-C9C3-18544472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F66A9214-BE3D-5E22-1B31-70AE96A91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610FD18-2366-6F26-4F7C-E0EBCDC58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0927309F-A808-D572-502C-587946E35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7425E9F5-B3B8-3DA6-5513-40D806BA34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8AEC293-5441-A141-0EA8-FA91E2934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47490E85-F550-6454-6B12-111F251EB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08B7D7C5-55E5-F1CE-BBB6-95BF40F7F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00DBAEC-BBA1-6FAC-C531-8CADF226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452DB594-E5EB-8620-33A9-7CE3871820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13D8FD19-331C-7B23-1276-1D93DA530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BCBD7A9B-BF5F-35D6-25B2-1F1F9F792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E7E366EC-E924-8617-6CE5-937DDCF8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ED5648CD-9D78-A75C-EEEA-2C6BAE4C5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E00F18D2-52A5-A6C6-266D-90B8F4F3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D12939DA-6ABD-6132-ACF0-C9F72A1D5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87E054A-5EFC-EE19-2602-254CD3D89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37C7DB57-DE2B-C2A7-97F2-0A787D812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87228444-CB72-9C55-1F53-DA9999A7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068804A-C878-8F9C-7D7C-6FAE1656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6FD87108-7B61-4DC6-C751-9EE4E625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C23C5AF5-E2AA-AD8A-F7C6-8379C69D5F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F1D99C4-6FDA-F796-1416-7E0D8EB9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161DBC06-308C-6246-FB5F-EAFAA772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8A755F74-89BB-05C3-C6BD-2C2F70F2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212C9A7-50FF-5719-E1FE-668BA50C4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F4B0F11B-091E-FAF0-4B6D-44AB22467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552AA720-E199-927B-DE75-AC8B0DBE4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FC0959F2-9D07-119E-1132-D6E67BE7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35387FEA-E9FE-636A-F7FF-75F581B990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1F3A5160-E515-8A31-D00E-B18C2CF9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BAFA192F-11E8-7F42-973B-CA5E7885D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C5BDACEA-F1EA-48D2-355F-4892735D9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FB5FDC25-7D1D-96EC-8CA3-D49DFCDB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0471FBF8-74FF-0213-A08E-9E662EA30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2503640D-92F7-826A-78EF-0DD24903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096D57B0-C336-E387-B40F-48CFB92D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4FD8DCDF-8B84-FBD0-B192-BECB0071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1D1DB1AC-90FD-893E-0D94-0293902D1981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挑战三：可扩展性与实时性瓶颈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14F1BA96-12B7-0F53-8749-6993641A41E1}"/>
              </a:ext>
            </a:extLst>
          </p:cNvPr>
          <p:cNvSpPr txBox="1"/>
          <p:nvPr/>
        </p:nvSpPr>
        <p:spPr>
          <a:xfrm>
            <a:off x="655362" y="2120765"/>
            <a:ext cx="11020700" cy="23462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数据规模现实：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Twitter/X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日均 </a:t>
            </a:r>
            <a:r>
              <a:rPr lang="en-US" altLang="zh-CN" sz="2000" dirty="0">
                <a:latin typeface="+mn-ea"/>
              </a:rPr>
              <a:t>5 </a:t>
            </a:r>
            <a:r>
              <a:rPr lang="zh-CN" altLang="en-US" sz="2000" dirty="0">
                <a:latin typeface="+mn-ea"/>
              </a:rPr>
              <a:t>亿</a:t>
            </a:r>
            <a:r>
              <a:rPr lang="en-US" altLang="zh-CN" sz="2000" dirty="0">
                <a:latin typeface="+mn-ea"/>
              </a:rPr>
              <a:t>+ </a:t>
            </a:r>
            <a:r>
              <a:rPr lang="zh-CN" altLang="en-US" sz="2000" dirty="0">
                <a:latin typeface="+mn-ea"/>
              </a:rPr>
              <a:t>条推文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Facebook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日均 </a:t>
            </a:r>
            <a:r>
              <a:rPr lang="en-US" altLang="zh-CN" sz="2000" dirty="0">
                <a:latin typeface="+mn-ea"/>
              </a:rPr>
              <a:t>40 </a:t>
            </a:r>
            <a:r>
              <a:rPr lang="zh-CN" altLang="en-US" sz="2000" dirty="0">
                <a:latin typeface="+mn-ea"/>
              </a:rPr>
              <a:t>亿</a:t>
            </a:r>
            <a:r>
              <a:rPr lang="en-US" altLang="zh-CN" sz="2000" dirty="0">
                <a:latin typeface="+mn-ea"/>
              </a:rPr>
              <a:t>+ </a:t>
            </a:r>
            <a:r>
              <a:rPr lang="zh-CN" altLang="en-US" sz="2000" dirty="0">
                <a:latin typeface="+mn-ea"/>
              </a:rPr>
              <a:t>条状态更新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TikTok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日均数十亿视频互动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深度学习模型的计算开销：</a:t>
            </a:r>
            <a:endParaRPr lang="en-US" altLang="zh-CN" sz="2000" b="1" dirty="0">
              <a:latin typeface="+mn-ea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6CB5121A-B672-3675-B6CC-1CF4FBDD9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0839294"/>
              </p:ext>
            </p:extLst>
          </p:nvPr>
        </p:nvGraphicFramePr>
        <p:xfrm>
          <a:off x="779203" y="4520159"/>
          <a:ext cx="10515600" cy="178308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2628900">
                  <a:extLst>
                    <a:ext uri="{9D8B030D-6E8A-4147-A177-3AD203B41FA5}">
                      <a16:colId xmlns:a16="http://schemas.microsoft.com/office/drawing/2014/main" val="2883265363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28435503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2814387988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153584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模型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参数量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推理延迟（</a:t>
                      </a:r>
                      <a:r>
                        <a:rPr lang="en-US" altLang="zh-CN" b="1" dirty="0">
                          <a:effectLst/>
                        </a:rPr>
                        <a:t>CPU</a:t>
                      </a:r>
                      <a:r>
                        <a:rPr lang="zh-CN" altLang="en-US" b="1" dirty="0">
                          <a:effectLst/>
                        </a:rPr>
                        <a:t>）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是否适合实时流处理？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40737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BERT-base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110M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>
                          <a:effectLst/>
                        </a:rPr>
                        <a:t>~200ms/</a:t>
                      </a:r>
                      <a:r>
                        <a:rPr lang="zh-CN" altLang="en-US" dirty="0">
                          <a:effectLst/>
                        </a:rPr>
                        <a:t>文本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❌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10172701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RoBERTa-large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355M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~500ms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❌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14333201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DistilBERT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66M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~80ms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⚠️ 边缘可行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16111215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Logistic Regression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>
                          <a:effectLst/>
                        </a:rPr>
                        <a:t>-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&lt;1ms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✅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1758588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4524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ED739-268A-E88F-0D40-41483B7122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84736AE-0F9A-EFDC-62F2-E2EB6933CDCA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0A36BAA-B657-B512-FF4C-B97E2C2C55A4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1EEF0F7-1D83-6C9A-41E1-C464CF5723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B7BB85E2-13AD-1364-6BAA-D35AEA5F7B84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DC173B2-A5F7-F70C-56A9-52C07A0F82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20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427A9747-00DD-B765-AAA3-FA146339CBD6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FDA87B58-7277-8835-0A2E-19AD1A03A506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87AE575A-E3AC-0A9B-3785-4E3B14EB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D5F0637C-0433-6C69-7337-78D46ADCA8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003B4566-03C4-A109-8221-70EACEEA7E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BB4BAFF-A5ED-9E2E-D890-C5BA6618BD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66392889-32F6-8510-12FF-88A0B663D0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B6F3EB22-03CE-C82E-61B1-A7F0AEC20F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4ABBAEEB-F93B-4CED-2C41-CC1DA1947E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5199EDE3-52D1-9787-FDEC-11DEE98C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F1F3E4E4-1700-A165-8481-D115F010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72092E05-DA40-7062-22E4-C1DBFE89B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83BF6BA6-03DF-B41F-1A79-0C2487EED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53D8E4B8-0931-C35A-246A-903B04ADB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A75655E8-248F-3D7F-1CD2-66F2968E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087915D1-6B5E-6131-64F2-B83AC7385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49E6C2F4-5E91-AD7C-1610-E8FD16B2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F1024EC2-8CE3-2F30-8A95-9FB46C553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126AFB2E-B877-FFF2-A845-475626BB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EE23A69D-9B08-E5DF-B155-C497B19FF2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37141AFF-FE26-2553-6369-A55204691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C0AB03AC-4B63-D7E4-A677-4DAF2CF75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71291892-30F9-FC74-FE78-B644EBB5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1EFCF49E-B607-F51A-2CF4-97DF53A52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A43CFC40-BCCE-A8E4-B6EF-00227D7F0C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BFFEE1C4-79C7-662B-EDCF-23992D3A1F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C5640A2D-0853-5473-7933-D9F04325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755042D8-FF86-EF7E-E2FC-A3D42248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B9E08015-42A1-9DF2-5CF4-A941CDDE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9A3E007-7CD3-116F-1205-EA33CA28D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10CA1521-BF9F-29E8-5DFC-97E8F9BA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08EE5E1E-9490-783E-4B6E-5F17D67D7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176C46D-784B-7CA8-E215-E16D22B7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188CADEE-D1F4-2801-DDC0-FA5D6261D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93558FF3-6613-5260-D754-4D584684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B9104093-5800-7D43-0244-1B4E128A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B9C9B25-57C0-4BB0-13A2-D2E0AB19E3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633DA8DE-F0CC-C27C-53D1-BC92BA22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F946DED4-744D-7881-BDD5-135EA5A3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B45FE8D8-3E27-6CF5-32A4-1A216A1A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E400B6BA-2E71-F4B2-6DC5-C9F3B37E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12ABEDF-AE00-2B44-30B7-D9B537DE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F01B0A96-7CDD-D4CB-2051-CE6F48E91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5EA43C69-4E5E-ABC6-648D-3993E5FC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1463ED98-19C4-4267-D1BD-984419895E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9AAC891A-83DC-4B6C-A7D0-C488E0CE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BEB01A3F-5264-6EAA-F8F7-676344A3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03E244D3-5BDA-0748-DEF3-15822B1C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84CC05D-A84F-9D3E-8102-6785C678B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6FF18802-DA27-DCE5-511D-2E9C9807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6FC5CA81-EA72-1183-BA5B-9AD78F883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ECB49498-1804-77FD-DBBA-886E9EC98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816C0D0C-0D20-495F-9B42-FDAD7FFF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5284DB1C-AAE7-18BF-7353-10DB68B2A082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挑战三：可扩展性与实时性瓶颈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A533EFF2-B133-39A6-1186-B5B606D96765}"/>
              </a:ext>
            </a:extLst>
          </p:cNvPr>
          <p:cNvSpPr txBox="1"/>
          <p:nvPr/>
        </p:nvSpPr>
        <p:spPr>
          <a:xfrm>
            <a:off x="655362" y="2120765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</a:t>
            </a:r>
            <a:r>
              <a:rPr lang="zh-CN" altLang="en-US" sz="2000" b="1" dirty="0">
                <a:latin typeface="+mn-ea"/>
              </a:rPr>
              <a:t>优化技术：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模型压缩：知识蒸馏（</a:t>
            </a:r>
            <a:r>
              <a:rPr lang="en-US" altLang="zh-CN" sz="2000" b="1" dirty="0">
                <a:latin typeface="+mn-ea"/>
              </a:rPr>
              <a:t>Hinton et al., 2015</a:t>
            </a:r>
            <a:r>
              <a:rPr lang="zh-CN" altLang="en-US" sz="2000" b="1" dirty="0">
                <a:latin typeface="+mn-ea"/>
              </a:rPr>
              <a:t>）：</a:t>
            </a:r>
            <a:r>
              <a:rPr lang="zh-CN" altLang="en-US" sz="2000" dirty="0">
                <a:latin typeface="+mn-ea"/>
              </a:rPr>
              <a:t>用大模型教小模型；量化（</a:t>
            </a:r>
            <a:r>
              <a:rPr lang="en-US" altLang="zh-CN" sz="2000" dirty="0">
                <a:latin typeface="+mn-ea"/>
              </a:rPr>
              <a:t>Quantization</a:t>
            </a:r>
            <a:r>
              <a:rPr lang="zh-CN" altLang="en-US" sz="2000" dirty="0">
                <a:latin typeface="+mn-ea"/>
              </a:rPr>
              <a:t>）：</a:t>
            </a:r>
            <a:r>
              <a:rPr lang="en-US" altLang="zh-CN" sz="2000" dirty="0">
                <a:latin typeface="+mn-ea"/>
              </a:rPr>
              <a:t>FP32 → INT8</a:t>
            </a:r>
            <a:r>
              <a:rPr lang="zh-CN" altLang="en-US" sz="2000" dirty="0">
                <a:latin typeface="+mn-ea"/>
              </a:rPr>
              <a:t>，减少内存占用。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流式处理架构：</a:t>
            </a:r>
            <a:r>
              <a:rPr lang="zh-CN" altLang="en-US" sz="2000" dirty="0">
                <a:latin typeface="+mn-ea"/>
              </a:rPr>
              <a:t>使用 </a:t>
            </a:r>
            <a:r>
              <a:rPr lang="en-US" altLang="zh-CN" sz="2000" dirty="0">
                <a:latin typeface="+mn-ea"/>
              </a:rPr>
              <a:t>Apache Kafka + Flink </a:t>
            </a:r>
            <a:r>
              <a:rPr lang="zh-CN" altLang="en-US" sz="2000" dirty="0">
                <a:latin typeface="+mn-ea"/>
              </a:rPr>
              <a:t>构建实时 </a:t>
            </a:r>
            <a:r>
              <a:rPr lang="en-US" altLang="zh-CN" sz="2000" dirty="0">
                <a:latin typeface="+mn-ea"/>
              </a:rPr>
              <a:t>pipeline</a:t>
            </a:r>
            <a:r>
              <a:rPr lang="zh-CN" altLang="en-US" sz="2000" dirty="0">
                <a:latin typeface="+mn-ea"/>
              </a:rPr>
              <a:t>；仅对“可疑账号”触发深度检测（两阶段过滤）。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边缘计算：</a:t>
            </a:r>
            <a:r>
              <a:rPr lang="zh-CN" altLang="en-US" sz="2000" dirty="0">
                <a:latin typeface="+mn-ea"/>
              </a:rPr>
              <a:t>在客户端（如手机 </a:t>
            </a:r>
            <a:r>
              <a:rPr lang="en-US" altLang="zh-CN" sz="2000" dirty="0">
                <a:latin typeface="+mn-ea"/>
              </a:rPr>
              <a:t>App</a:t>
            </a:r>
            <a:r>
              <a:rPr lang="zh-CN" altLang="en-US" sz="2000" dirty="0">
                <a:latin typeface="+mn-ea"/>
              </a:rPr>
              <a:t>）运行轻量检测模型，减少服务器负载。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endParaRPr lang="en-US" altLang="zh-CN" sz="2000" b="1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权衡</a:t>
            </a:r>
            <a:r>
              <a:rPr lang="zh-CN" altLang="en-US" sz="2000" dirty="0">
                <a:latin typeface="+mn-ea"/>
              </a:rPr>
              <a:t>：</a:t>
            </a:r>
            <a:r>
              <a:rPr lang="zh-CN" altLang="en-US" sz="2000" b="1" dirty="0">
                <a:latin typeface="+mn-ea"/>
              </a:rPr>
              <a:t>精度 </a:t>
            </a:r>
            <a:r>
              <a:rPr lang="en-US" altLang="zh-CN" sz="2000" b="1" dirty="0">
                <a:latin typeface="+mn-ea"/>
              </a:rPr>
              <a:t>vs. </a:t>
            </a:r>
            <a:r>
              <a:rPr lang="zh-CN" altLang="en-US" sz="2000" b="1" dirty="0">
                <a:latin typeface="+mn-ea"/>
              </a:rPr>
              <a:t>延迟 </a:t>
            </a:r>
            <a:r>
              <a:rPr lang="en-US" altLang="zh-CN" sz="2000" b="1" dirty="0">
                <a:latin typeface="+mn-ea"/>
              </a:rPr>
              <a:t>vs. </a:t>
            </a:r>
            <a:r>
              <a:rPr lang="zh-CN" altLang="en-US" sz="2000" b="1" dirty="0">
                <a:latin typeface="+mn-ea"/>
              </a:rPr>
              <a:t>成本</a:t>
            </a:r>
            <a:r>
              <a:rPr lang="zh-CN" altLang="en-US" sz="2000" dirty="0">
                <a:latin typeface="+mn-ea"/>
              </a:rPr>
              <a:t> </a:t>
            </a:r>
            <a:r>
              <a:rPr lang="en-US" altLang="zh-CN" sz="2000" dirty="0">
                <a:latin typeface="+mn-ea"/>
              </a:rPr>
              <a:t>—— </a:t>
            </a:r>
            <a:r>
              <a:rPr lang="zh-CN" altLang="en-US" sz="2000" dirty="0">
                <a:latin typeface="+mn-ea"/>
              </a:rPr>
              <a:t>平台需根据业务场景选择</a:t>
            </a:r>
            <a:r>
              <a:rPr lang="zh-CN" altLang="en-US" dirty="0"/>
              <a:t>。</a:t>
            </a:r>
            <a:endParaRPr lang="en-US" altLang="zh-CN" sz="2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26459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0C67D-2919-81F2-4CB5-4B6527E18D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3B5B8448-5A38-4FC6-0745-B4D9EED5411B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21F6261-E97B-CC25-2E27-473604EBBED5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ChatGPT </a:t>
            </a:r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带来的四大挑战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440DDE0-95BF-5A4B-29FF-189F52A4CCF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D070019A-A8C5-6F09-0F01-427782901339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C379EEEB-4B70-3B58-D6EF-CD30392C96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21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31FD8810-BFE1-3B51-D81F-7FE054996AEF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6BBD812B-7566-FA1A-85CA-27317A8B2DCB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211C447F-56C3-410B-8614-5888F35B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E79E6752-E748-9064-E87C-19375FEF23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14E82778-0D41-BA0F-BF42-F3D3930578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78D6FB98-A017-D0E5-D59E-EA27EAB77B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D824F669-3C8A-C55F-DC57-F8E74D17DF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B194D15C-38C4-77D9-182D-8B7B85B6AD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E215782A-4463-862D-8154-B137B272F2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8C87B28-D324-DECB-6656-97ED3B72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45A143CF-857C-AD50-01E0-74D98473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FDA3430F-54EB-D97B-57C7-A8D643C2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EBBC3701-90E8-D13B-6CB2-93B2CFCF3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955EE505-72C9-B3D5-3875-789A6132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0AA120EB-83B9-6005-A451-847926EC6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BE0BC985-3FCE-D699-9505-3989974EB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A094CCA-B726-3EE3-42E3-D070B1B0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11DEE837-61E7-0715-A29B-D48460EC4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542F05BC-95CB-FEEE-4BBE-3D58AFB2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4925EE5A-26D5-CC38-D052-B87E1E01BE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6990BE1E-098B-DDAD-9FE3-64B5E777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E01701B3-ABB4-25A5-9911-BA7999FE8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48F6BC7F-7C46-2897-482A-DB2E345A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92DBBFC6-D9E3-5F74-3109-F8B581E32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F5F8162B-F105-A1DB-095C-160CD0490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22A4EF10-9FB7-3128-F182-4D6CC79113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F5BC1D2B-A97F-FE73-00F2-C661C63F2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8776B691-43F1-C4B8-1377-FC5D6C03B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6BF0449F-2049-01AC-03EB-5B1A7A83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6228556B-CF70-6D9B-32D2-349CB3F4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7EE131D5-0F03-B9F0-298D-F4C7B3C7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73DF9337-1D8D-929D-EAA8-71B09C13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10591151-C7AF-C25B-ACFA-AFB1AC90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D107FAB7-DD6C-CC12-46A7-9B2098BFA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377E198-BF9E-B4C7-A92A-902CC6EA4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78AF275A-1447-E2E2-04B7-3D3C98CD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55BCCAEC-65C6-4FE4-2283-E7D63AE66C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B09AF394-4B02-B8AA-E4D5-7AD7029E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3CEC516-1E63-F762-AA71-C3DE0508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2E8C1B62-0E98-6A8F-303A-3E9AC6EC9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AF70C40A-A5AB-BF17-23C3-E6CC6AF6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19E18C8-5717-A4EC-E679-E56BDE19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847ABD4E-B261-7315-0093-0AD1F328D0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6476119-6E99-F45B-C385-31A21BF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BAB8C5D0-86A7-53BB-4ECF-CFB0C89AEE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B4AB0CB3-78E5-1795-39C0-2F3825F2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4A3145BB-E7CA-29EA-52B6-2402C2FC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849B4DEC-4EBA-9536-18CD-3337AAC0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4CFC4172-FE13-3B5B-BA1D-877E74C3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88449874-E9A4-568C-CEDA-B113AA21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B3D0CBFF-866A-7D0C-2649-06735631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B1F96B0-8A68-6762-77A2-4E780235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CD2FD47A-8C08-59E0-DCCD-AB13B8AF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B4AA3A45-641C-3ADA-DE74-46F22D50129F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挑战四：伦理、隐私与公平性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73BC7842-5456-AC00-007E-8EC5608D3FA0}"/>
              </a:ext>
            </a:extLst>
          </p:cNvPr>
          <p:cNvSpPr txBox="1"/>
          <p:nvPr/>
        </p:nvSpPr>
        <p:spPr>
          <a:xfrm>
            <a:off x="642945" y="1982806"/>
            <a:ext cx="11020700" cy="46546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四大伦理困境：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误报的社会成本：</a:t>
            </a:r>
            <a:r>
              <a:rPr lang="zh-CN" altLang="en-US" sz="2000" dirty="0">
                <a:latin typeface="+mn-ea"/>
              </a:rPr>
              <a:t>将真实用户（如自闭症患者使用沟通辅助工具）封号 → 侵犯数字权利。案例：</a:t>
            </a:r>
            <a:r>
              <a:rPr lang="en-US" altLang="zh-CN" sz="2000" dirty="0">
                <a:latin typeface="+mn-ea"/>
              </a:rPr>
              <a:t>2020 </a:t>
            </a:r>
            <a:r>
              <a:rPr lang="zh-CN" altLang="en-US" sz="2000" dirty="0">
                <a:latin typeface="+mn-ea"/>
              </a:rPr>
              <a:t>年 </a:t>
            </a:r>
            <a:r>
              <a:rPr lang="en-US" altLang="zh-CN" sz="2000" dirty="0">
                <a:latin typeface="+mn-ea"/>
              </a:rPr>
              <a:t>Twitter </a:t>
            </a:r>
            <a:r>
              <a:rPr lang="zh-CN" altLang="en-US" sz="2000" dirty="0">
                <a:latin typeface="+mn-ea"/>
              </a:rPr>
              <a:t>误封多名残障人士账号（</a:t>
            </a:r>
            <a:r>
              <a:rPr lang="en-US" altLang="zh-CN" sz="2000" dirty="0">
                <a:latin typeface="+mn-ea"/>
              </a:rPr>
              <a:t>BBC </a:t>
            </a:r>
            <a:r>
              <a:rPr lang="zh-CN" altLang="en-US" sz="2000" dirty="0">
                <a:latin typeface="+mn-ea"/>
              </a:rPr>
              <a:t>报道）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数据隐私风险：</a:t>
            </a:r>
            <a:r>
              <a:rPr lang="zh-CN" altLang="en-US" sz="2000" dirty="0">
                <a:latin typeface="+mn-ea"/>
              </a:rPr>
              <a:t>检测需收集用户行为日志（点击、停留时间、设备信息），可能违反 </a:t>
            </a:r>
            <a:r>
              <a:rPr lang="en-US" altLang="zh-CN" sz="2000" dirty="0">
                <a:latin typeface="+mn-ea"/>
              </a:rPr>
              <a:t>GDPR</a:t>
            </a:r>
            <a:r>
              <a:rPr lang="zh-CN" altLang="en-US" sz="2000" dirty="0">
                <a:latin typeface="+mn-ea"/>
              </a:rPr>
              <a:t>、</a:t>
            </a:r>
            <a:r>
              <a:rPr lang="en-US" altLang="zh-CN" sz="2000" dirty="0">
                <a:latin typeface="+mn-ea"/>
              </a:rPr>
              <a:t>CCPA </a:t>
            </a:r>
            <a:r>
              <a:rPr lang="zh-CN" altLang="en-US" sz="2000" dirty="0">
                <a:latin typeface="+mn-ea"/>
              </a:rPr>
              <a:t>等法规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算法偏见：</a:t>
            </a:r>
            <a:r>
              <a:rPr lang="zh-CN" altLang="en-US" sz="2000" dirty="0">
                <a:latin typeface="+mn-ea"/>
              </a:rPr>
              <a:t>训练数据多来自英语国家 → 对非西方用户（如非洲、东南亚）检测性能差，可能系统性压制少数群体声音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透明度缺失：</a:t>
            </a:r>
            <a:r>
              <a:rPr lang="zh-CN" altLang="en-US" sz="2000" dirty="0">
                <a:latin typeface="+mn-ea"/>
              </a:rPr>
              <a:t>平台不公开检测逻辑 → 用户无法申诉，“黑箱治理”削弱公众信任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解决方案探索：</a:t>
            </a:r>
            <a:r>
              <a:rPr lang="zh-CN" altLang="en-US" sz="2000" dirty="0">
                <a:latin typeface="+mn-ea"/>
              </a:rPr>
              <a:t>可解释 </a:t>
            </a:r>
            <a:r>
              <a:rPr lang="en-US" altLang="zh-CN" sz="2000" dirty="0">
                <a:latin typeface="+mn-ea"/>
              </a:rPr>
              <a:t>AI</a:t>
            </a:r>
            <a:r>
              <a:rPr lang="zh-CN" altLang="en-US" sz="2000" dirty="0">
                <a:latin typeface="+mn-ea"/>
              </a:rPr>
              <a:t>（</a:t>
            </a:r>
            <a:r>
              <a:rPr lang="en-US" altLang="zh-CN" sz="2000" dirty="0">
                <a:latin typeface="+mn-ea"/>
              </a:rPr>
              <a:t>XAI</a:t>
            </a:r>
            <a:r>
              <a:rPr lang="zh-CN" altLang="en-US" sz="2000" dirty="0">
                <a:latin typeface="+mn-ea"/>
              </a:rPr>
              <a:t>）：用 </a:t>
            </a:r>
            <a:r>
              <a:rPr lang="en-US" altLang="zh-CN" sz="2000" dirty="0">
                <a:latin typeface="+mn-ea"/>
              </a:rPr>
              <a:t>SHAP </a:t>
            </a:r>
            <a:r>
              <a:rPr lang="zh-CN" altLang="en-US" sz="2000" dirty="0">
                <a:latin typeface="+mn-ea"/>
              </a:rPr>
              <a:t>值展示“为何判定为 </a:t>
            </a:r>
            <a:r>
              <a:rPr lang="en-US" altLang="zh-CN" sz="2000" dirty="0">
                <a:latin typeface="+mn-ea"/>
              </a:rPr>
              <a:t>bot”</a:t>
            </a:r>
            <a:r>
              <a:rPr lang="zh-CN" altLang="en-US" sz="2000" dirty="0">
                <a:latin typeface="+mn-ea"/>
              </a:rPr>
              <a:t>；差分隐私（</a:t>
            </a:r>
            <a:r>
              <a:rPr lang="en-US" altLang="zh-CN" sz="2000" dirty="0">
                <a:latin typeface="+mn-ea"/>
              </a:rPr>
              <a:t>Differential Privacy</a:t>
            </a:r>
            <a:r>
              <a:rPr lang="zh-CN" altLang="en-US" sz="2000" dirty="0">
                <a:latin typeface="+mn-ea"/>
              </a:rPr>
              <a:t>）：在训练数据中加入噪声，保护个体。</a:t>
            </a:r>
            <a:endParaRPr lang="en-US" altLang="zh-CN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26572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BFCB4A-A9EE-8420-894D-916272E6BA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455BB82-0804-5BB4-7108-0BE80481FDD9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090693F-87F5-DBD3-D4C4-25387E0C2353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第四部分：五大新兴机遇与研究方向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9D839D6-F7DD-6A38-88E2-B8BFACA17A7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21BF62D9-8C1C-AA8F-7E31-6016608D4E25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4AAD76CA-A80C-260F-A564-FEA06E3AEE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22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9E11D3D6-1B6B-D8F0-534A-28F6CBF78529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32A5A48E-FBF2-60A9-0AF5-24AED358D115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F459399D-8B8E-FD0C-721D-50B4CAC9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B9348CD4-BE20-1B13-8B69-0AB5955507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D9FD83A0-C7C9-63AC-087B-D8DA9B8D92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B20CF682-306B-2187-A3F1-412A4E7424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77E605D7-B734-D526-5DA7-A73F3BCD62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86C91A3D-CC15-4B48-5F0D-96543B78F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8E126203-C4B0-A90F-817F-B33C6810AC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2B6E4337-86AE-567A-520A-A94E48D57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52305342-434D-CAC9-D67B-8F94EF1E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D93FDC52-DF3D-097A-ABEF-1D05A9E80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DD6A77F9-4ABC-87BC-72DD-65277ADD1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A2076C3F-4690-C5C2-84E4-080E65B04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E705764A-05D7-A0C5-2A73-797F5453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084818FB-E97A-66ED-967A-8BB571A7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52E8F63E-C670-C2C3-9E3A-5973A7E5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867D2B05-08F1-A90A-489D-DABE4782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E3AAF997-9A76-B094-DF20-0B199DA5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1C2AA4EB-C60F-C025-305E-2F52F1EDDF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C363CF7A-2A1B-DC27-43BA-2C2519F40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F3B15DEF-B671-9D42-C9F3-4B00BAD3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81ECE2BA-B0C4-8E95-EA71-19AE5F3D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72DD272D-127B-047B-09F0-37037222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E3AD0F70-84D9-C5E8-070C-55FBBDE183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A041269F-AF28-FC41-364E-F8E28FC415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5BBAC6FE-0243-DCAB-CC0F-CEB08D14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DC564678-460A-5683-7230-C785DE859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4EC80F74-7870-8546-4108-069DE0ADB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00CC380D-791B-1C98-982F-ABAAF855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3C52DC27-E4C9-1658-4869-D23BE2E4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7053A3E9-8BA0-4003-CAE9-47214990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0A14E6BB-8854-DD9E-30F7-C3A1EB46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ECC7090A-174D-BA80-8315-F02AE1C0D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2AB1F58-4B57-E138-14DC-03B7B3E5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10955E79-2B0D-C88C-1B41-186274B9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AD09B91-A584-8705-376C-F326F8BE14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7EDED05E-76F5-1698-41E7-4AE422C1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D72921C0-C8C7-E5C3-9F90-08558D14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E7D7C0C9-AB7B-FF35-A23A-D7530335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7FBC6F07-1F12-89E0-FC2C-90055ACB6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E51ED11F-4164-DE0D-999C-17D92F84B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735708EA-901B-010A-D4BC-D74B63600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7B31A53A-9D04-B2AB-7548-B515CA0C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7053DC3C-E521-7A42-E5C4-4DE3CE7CC5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977F94EC-919D-63B9-A825-9DD096635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7188192C-2F63-E91E-D51E-A59CD1C0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3DA9CA24-BBB1-A7DA-3084-8CECD3CE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819DDEB4-1001-D40C-15F6-B6DD0334C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C2E9C51B-578C-0936-3DC7-E4BB0D56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39D7564E-8742-044F-73DA-C1012A73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7F982CEB-2212-9A97-C63C-F0115388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599369E0-6A12-82FA-0867-F8C51D4D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6E99514F-4A46-911C-86E7-154046A899D5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机遇一：迁移学习与低资源语言支持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3486D384-9B49-1B33-67E4-03AF30D7642E}"/>
              </a:ext>
            </a:extLst>
          </p:cNvPr>
          <p:cNvSpPr txBox="1"/>
          <p:nvPr/>
        </p:nvSpPr>
        <p:spPr>
          <a:xfrm>
            <a:off x="655362" y="2120765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问题背景：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现有数据集 </a:t>
            </a:r>
            <a:r>
              <a:rPr lang="en-US" altLang="zh-CN" sz="2000" dirty="0">
                <a:latin typeface="+mn-ea"/>
              </a:rPr>
              <a:t>90% </a:t>
            </a:r>
            <a:r>
              <a:rPr lang="zh-CN" altLang="en-US" sz="2000" dirty="0">
                <a:latin typeface="+mn-ea"/>
              </a:rPr>
              <a:t>为英语（如 </a:t>
            </a:r>
            <a:r>
              <a:rPr lang="en-US" altLang="zh-CN" sz="2000" dirty="0" err="1">
                <a:latin typeface="+mn-ea"/>
              </a:rPr>
              <a:t>Botometer</a:t>
            </a:r>
            <a:r>
              <a:rPr lang="en-US" altLang="zh-CN" sz="2000" dirty="0">
                <a:latin typeface="+mn-ea"/>
              </a:rPr>
              <a:t> </a:t>
            </a:r>
            <a:r>
              <a:rPr lang="zh-CN" altLang="en-US" sz="2000" dirty="0">
                <a:latin typeface="+mn-ea"/>
              </a:rPr>
              <a:t>数据集）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非英语地区（如印度、尼日利亚）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活动猖獗，但缺乏检测工具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技术路径：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跨语言迁移：在英语上预训练模型，微调于少量目标语言数据。</a:t>
            </a:r>
            <a:r>
              <a:rPr lang="en-US" altLang="zh-CN" sz="2000" dirty="0">
                <a:latin typeface="+mn-ea"/>
              </a:rPr>
              <a:t>Haider et al. (2023)</a:t>
            </a:r>
            <a:r>
              <a:rPr lang="zh-CN" altLang="en-US" sz="2000" dirty="0">
                <a:latin typeface="+mn-ea"/>
              </a:rPr>
              <a:t>：在 </a:t>
            </a:r>
            <a:r>
              <a:rPr lang="en-US" altLang="zh-CN" sz="2000" dirty="0">
                <a:latin typeface="+mn-ea"/>
              </a:rPr>
              <a:t>Urdu</a:t>
            </a:r>
            <a:r>
              <a:rPr lang="zh-CN" altLang="en-US" sz="2000" dirty="0">
                <a:latin typeface="+mn-ea"/>
              </a:rPr>
              <a:t>（乌尔都语）上仅用 </a:t>
            </a:r>
            <a:r>
              <a:rPr lang="en-US" altLang="zh-CN" sz="2000" dirty="0">
                <a:latin typeface="+mn-ea"/>
              </a:rPr>
              <a:t>500 </a:t>
            </a:r>
            <a:r>
              <a:rPr lang="zh-CN" altLang="en-US" sz="2000" dirty="0">
                <a:latin typeface="+mn-ea"/>
              </a:rPr>
              <a:t>标注样本，</a:t>
            </a:r>
            <a:r>
              <a:rPr lang="en-US" altLang="zh-CN" sz="2000" dirty="0">
                <a:latin typeface="+mn-ea"/>
              </a:rPr>
              <a:t>F1 </a:t>
            </a:r>
            <a:r>
              <a:rPr lang="zh-CN" altLang="en-US" sz="2000" dirty="0">
                <a:latin typeface="+mn-ea"/>
              </a:rPr>
              <a:t>达 </a:t>
            </a:r>
            <a:r>
              <a:rPr lang="en-US" altLang="zh-CN" sz="2000" dirty="0">
                <a:latin typeface="+mn-ea"/>
              </a:rPr>
              <a:t>0.82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无监督域自适应（</a:t>
            </a:r>
            <a:r>
              <a:rPr lang="en-US" altLang="zh-CN" sz="2000" dirty="0">
                <a:latin typeface="+mn-ea"/>
              </a:rPr>
              <a:t>Unsupervised Domain Adaptation</a:t>
            </a:r>
            <a:r>
              <a:rPr lang="zh-CN" altLang="en-US" sz="2000" dirty="0">
                <a:latin typeface="+mn-ea"/>
              </a:rPr>
              <a:t>）：使用对抗训练对齐源域（英语）与目标域（斯瓦希里语）特征分布</a:t>
            </a:r>
            <a:endParaRPr lang="en-US" altLang="zh-CN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0932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BE4190-66C8-1AD7-3C42-AE4A32D64E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356E215A-922E-A141-93BC-B72E1CD83BB3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F543290-C135-DCEA-43B9-A8590A2A9BC2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第四部分：五大新兴机遇与研究方向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CB0E9A1-6B40-842F-FA33-A115A8E65FC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C5DFE760-FDDF-8DF7-BD87-7CDE7FCF79F0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2E306922-41B6-70C4-F865-F9DD6631C5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23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5A90128-46A1-8E17-20E2-100F7943F317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E6563F9-AE98-6EC8-57B2-4E21E2CF57D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D92A418D-FDAB-1D9D-CA4D-C149FC0C4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2B460CC0-69AD-4ACF-E032-F24DD6A8B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DFCC3DF5-7988-0AC1-5934-1E9C1E8611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A314F7F8-96B7-7390-0683-DA0CD2DAED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9E2E6532-6414-4313-CACA-43006EB7EA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14B1641D-AAE5-E6AD-9E7F-99D302AABE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27A28382-5F73-6D8D-9286-C649225CFD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D95B7E1-F4DE-372F-8376-D6C13F28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305B8E22-EE63-6133-59D3-550A74DC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F71C2E1C-B863-8E83-A891-9FE9A9B30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4EEBAD71-1AC1-DA86-9C9D-A0EFA3D61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EC0A81B0-015B-36CA-4AC6-51A0216C3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7770AC39-9E3A-1C32-E9C1-A3454C46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2C5C7D6A-84B7-DB0D-EA01-83566CE8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B9049E9-4F5B-7CCE-7ACD-A77B8870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6A1CA88-BF20-4684-1C51-C6860C35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C9B567A9-A81E-E0DB-2033-FE631A61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6176F503-9B96-FEA7-ACEA-C5835A6088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109CF67D-8361-3A20-ABFA-5257E502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01582C6D-D6C3-E786-CB22-8FD859D5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59716048-2B7C-4CD9-34FA-B7C988E3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6911B556-C6B9-C77B-84B8-F7D7C2B78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9332B205-442C-BE92-AEA8-4FA4034F32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31EA5CBC-6BD8-A813-CB2E-C3F5D211A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6E2E998C-B1B4-C4B9-BE29-C5349EED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3B22AC7A-A548-438A-A37E-28B034B8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D9F03A5C-C377-E808-B9E4-08AAC32A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34DE548B-0A81-3DC3-6109-21853F78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DF4F9E0B-D081-0A83-28E4-5473DCDA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1C6413C-35D5-789C-F969-F251CF0D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727A7C89-ACB1-6D64-63F0-45AE88D0A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469FE4AF-4A05-E4C3-DFCC-2F0CB888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9EB18DF-3CCB-056E-2721-30D2496D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AF3E7F9-4AB2-F101-7D37-66A0499D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CCBDDFC1-930E-13FF-D777-62A8FB95A5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866BFB44-6974-C171-0101-C0713B735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CCAB731D-1BA4-BDF7-E3CA-1C14CAFE3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E035396-DDDF-6B87-C30A-3C1282C0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3BE01A2-385A-6F78-8633-42361CBC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A0A05AFE-7455-6703-35A5-32C90C3D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9F4F9B8F-4524-04B6-92B8-76B5AF7FB2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2423BE6F-E541-0195-723D-DCDC2C860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87A8DA14-9CED-8F36-D75B-34F25F48BE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14AC892F-F07C-3577-C1B6-83FD7E31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DA5455D8-755A-C37F-77BA-AF522447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C684189-B207-3B69-3E65-4047C73E8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949EF3D6-994D-D16C-220A-C2A3C617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566CBC1B-A992-AB54-574E-3B38E4BB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345C99EB-9A91-4490-1AC5-86C24665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45A23E95-1F9F-E325-6905-CC7F7E065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2078E756-581B-F583-B39B-C1A167141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4483E0D5-595F-3249-15A7-DB7A19983F14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机遇二：多模态与跨平台检测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116F4660-68FA-BA43-527E-DEF24CBD0491}"/>
              </a:ext>
            </a:extLst>
          </p:cNvPr>
          <p:cNvSpPr txBox="1"/>
          <p:nvPr/>
        </p:nvSpPr>
        <p:spPr>
          <a:xfrm>
            <a:off x="655362" y="2120765"/>
            <a:ext cx="11020700" cy="96128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多模态信号整合：</a:t>
            </a:r>
            <a:endParaRPr lang="en-US" altLang="zh-CN" sz="2000" b="1" dirty="0">
              <a:latin typeface="+mn-ea"/>
            </a:endParaRPr>
          </a:p>
          <a:p>
            <a:pPr algn="just">
              <a:lnSpc>
                <a:spcPct val="150000"/>
              </a:lnSpc>
            </a:pPr>
            <a:endParaRPr lang="zh-CN" altLang="en-US" sz="2000" b="1" dirty="0">
              <a:latin typeface="+mn-ea"/>
            </a:endParaRPr>
          </a:p>
        </p:txBody>
      </p:sp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88432E9B-47EF-7D38-D40F-F6EB331892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612575"/>
              </p:ext>
            </p:extLst>
          </p:nvPr>
        </p:nvGraphicFramePr>
        <p:xfrm>
          <a:off x="901452" y="2724636"/>
          <a:ext cx="10515600" cy="178308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928358179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174768196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0375342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模态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可提取特征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检测价值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2674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文本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语义、情感、风格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基础，但 </a:t>
                      </a:r>
                      <a:r>
                        <a:rPr lang="en-US" altLang="zh-CN">
                          <a:effectLst/>
                        </a:rPr>
                        <a:t>LLM </a:t>
                      </a:r>
                      <a:r>
                        <a:rPr lang="zh-CN" altLang="en-US">
                          <a:effectLst/>
                        </a:rPr>
                        <a:t>时代价值下降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711266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图像</a:t>
                      </a:r>
                      <a:r>
                        <a:rPr lang="en-US" altLang="zh-CN" b="1">
                          <a:effectLst/>
                        </a:rPr>
                        <a:t>/</a:t>
                      </a:r>
                      <a:r>
                        <a:rPr lang="zh-CN" altLang="en-US" b="1">
                          <a:effectLst/>
                        </a:rPr>
                        <a:t>视频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zh-CN" dirty="0">
                          <a:effectLst/>
                        </a:rPr>
                        <a:t>Deepfake </a:t>
                      </a:r>
                      <a:r>
                        <a:rPr lang="zh-CN" altLang="en-US" dirty="0">
                          <a:effectLst/>
                        </a:rPr>
                        <a:t>检测、头像真实性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Bot </a:t>
                      </a:r>
                      <a:r>
                        <a:rPr lang="zh-CN" altLang="en-US">
                          <a:effectLst/>
                        </a:rPr>
                        <a:t>常用 </a:t>
                      </a:r>
                      <a:r>
                        <a:rPr lang="en-US">
                          <a:effectLst/>
                        </a:rPr>
                        <a:t>AI </a:t>
                      </a:r>
                      <a:r>
                        <a:rPr lang="zh-CN" altLang="en-US">
                          <a:effectLst/>
                        </a:rPr>
                        <a:t>生成头像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0295913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音频</a:t>
                      </a:r>
                      <a:r>
                        <a:rPr lang="zh-CN" altLang="en-US">
                          <a:effectLst/>
                        </a:rPr>
                        <a:t>（语音社交）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声纹、语调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>
                          <a:effectLst/>
                        </a:rPr>
                        <a:t>Clubhouse、</a:t>
                      </a:r>
                      <a:r>
                        <a:rPr lang="zh-CN" altLang="en-US">
                          <a:effectLst/>
                        </a:rPr>
                        <a:t>微信语音场景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8148749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b="1">
                          <a:effectLst/>
                        </a:rPr>
                        <a:t>行为日志</a:t>
                      </a:r>
                      <a:endParaRPr lang="zh-CN" altLang="en-US">
                        <a:effectLst/>
                      </a:endParaRP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点击流、鼠标轨迹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人类操作有随机性，</a:t>
                      </a:r>
                      <a:r>
                        <a:rPr lang="en-US" altLang="zh-CN" dirty="0">
                          <a:effectLst/>
                        </a:rPr>
                        <a:t>bot </a:t>
                      </a:r>
                      <a:r>
                        <a:rPr lang="zh-CN" altLang="en-US" dirty="0">
                          <a:effectLst/>
                        </a:rPr>
                        <a:t>机械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2511889119"/>
                  </a:ext>
                </a:extLst>
              </a:tr>
            </a:tbl>
          </a:graphicData>
        </a:graphic>
      </p:graphicFrame>
      <p:sp>
        <p:nvSpPr>
          <p:cNvPr id="7" name="文本框 6">
            <a:extLst>
              <a:ext uri="{FF2B5EF4-FFF2-40B4-BE49-F238E27FC236}">
                <a16:creationId xmlns:a16="http://schemas.microsoft.com/office/drawing/2014/main" id="{8C2FB723-634A-F873-B47C-935EDCE75DB3}"/>
              </a:ext>
            </a:extLst>
          </p:cNvPr>
          <p:cNvSpPr txBox="1"/>
          <p:nvPr/>
        </p:nvSpPr>
        <p:spPr>
          <a:xfrm>
            <a:off x="705662" y="4630942"/>
            <a:ext cx="11020700" cy="1422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跨平台关联：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同一实体追踪：</a:t>
            </a:r>
            <a:r>
              <a:rPr lang="zh-CN" altLang="en-US" sz="2000" dirty="0">
                <a:latin typeface="+mn-ea"/>
              </a:rPr>
              <a:t>通过用户名、邮箱、设备 </a:t>
            </a:r>
            <a:r>
              <a:rPr lang="en-US" altLang="zh-CN" sz="2000" dirty="0">
                <a:latin typeface="+mn-ea"/>
              </a:rPr>
              <a:t>ID </a:t>
            </a:r>
            <a:r>
              <a:rPr lang="zh-CN" altLang="en-US" sz="2000" dirty="0">
                <a:latin typeface="+mn-ea"/>
              </a:rPr>
              <a:t>关联 </a:t>
            </a:r>
            <a:r>
              <a:rPr lang="en-US" altLang="zh-CN" sz="2000" dirty="0">
                <a:latin typeface="+mn-ea"/>
              </a:rPr>
              <a:t>X/TikTok/Telegram </a:t>
            </a:r>
            <a:r>
              <a:rPr lang="zh-CN" altLang="en-US" sz="2000" dirty="0">
                <a:latin typeface="+mn-ea"/>
              </a:rPr>
              <a:t>账号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协同行为检测：</a:t>
            </a:r>
            <a:r>
              <a:rPr lang="zh-CN" altLang="en-US" sz="2000" dirty="0">
                <a:latin typeface="+mn-ea"/>
              </a:rPr>
              <a:t>若多个平台同时出现相同话题爆发，且账号行为高度同步 →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网络</a:t>
            </a:r>
          </a:p>
        </p:txBody>
      </p:sp>
    </p:spTree>
    <p:extLst>
      <p:ext uri="{BB962C8B-B14F-4D97-AF65-F5344CB8AC3E}">
        <p14:creationId xmlns:p14="http://schemas.microsoft.com/office/powerpoint/2010/main" val="956262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09784-6EC8-B91D-9AD1-6863ABB1A5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482C09C-9746-C60A-FA82-E4E5F5E388B4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D5F1C985-FF90-7206-1837-53988886FE44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第四部分：五大新兴机遇与研究方向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F7D0944D-24E6-48C5-474F-281B419915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0D0D020B-121F-460D-F629-9DB4077CB4B0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DF1E02CD-7C22-027F-0A93-657674049E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24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51825C4F-36A5-A12F-F11F-DEB10FFD45F9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95C9A350-6242-B787-7790-66232EAC2DB0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9D222AF2-4E12-F6E0-7C37-9E064181C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189FD2F1-1F03-E027-D9E0-CA8F126395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42D5FA1E-80AC-84A2-687B-B279CDD6D9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CFF61751-C202-89A2-FA72-9552077542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F3AD06EA-5217-93DC-7AC7-F1DCD6D037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C8BA97ED-AE36-E8AA-786A-F5767B4BDE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AB3CBBC6-9BCD-3419-E4DB-1797E2E408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8D13D0F3-4A27-9C13-3378-D0657D9CC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D61C447B-95D8-B3A3-F429-1895F3BC9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D2BC7533-F438-6CEB-B5A5-E2FBF2B9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BAA16BCE-AC78-B960-BD7B-8575D40C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6C2E5508-B489-0E8A-E041-B888D8F0B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12DFF539-DFF8-74D8-029D-36DA3D3B4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503C4369-5603-3794-DF41-BF6E5E80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7FF22246-5D23-30ED-78B9-699331F2A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F6BC1887-28A4-1D4B-835A-8263695B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4A98CC04-AB0B-7952-D6E9-1B1E7DE1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EEEDC593-1A8C-D630-A1B2-3051721330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69366D77-24BE-8BBF-7234-62A2AFBB3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BD531D84-F7EB-052D-F340-F5600508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2CE929F1-85CE-51C5-8293-F3B56AC3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3ECD3E75-254D-B8F1-5115-67688F4BF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87EA100E-A773-530A-3D20-65DAE8793D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8F140D85-DD9C-BEE0-2ED9-F4FD83FDE7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E4B7047D-495C-0E9D-F508-E9F2F7D5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40B9750F-D59B-E58E-542B-7854464F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95967352-DA41-0479-6DF8-4C11381E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E3C00E87-5415-FF96-C0A4-47AB4BEA1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F2D69B84-4E78-716C-A49C-EE2F7672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55BEA92A-32E5-53B2-99BF-A243506AC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C7F5124-22ED-35B5-413A-1B736CAB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BCA1FFF3-5FA4-B536-FDF7-295085404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38BBE33-B3A8-B60B-402D-EE3AB96C2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F7A2AF9B-4144-0410-071C-474F7A0A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D2E92536-FF69-771F-AECE-B1F99216E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617FB60-F847-716D-92D7-7AB0186F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9E9AE92-9B36-167B-954E-84ADE5AC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8E0B53D8-5FEA-F634-21C2-90CC9AC5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8432B0E6-94B3-88D6-64D7-750864AF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1268FBB5-B5F3-9133-EDF9-471A1F39C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6A03F940-01B9-B9BE-2649-2E8AE45353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447D46B1-7BC7-D96B-3F74-63B28E5C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63E021F1-FE72-5BF9-2874-D7A643295C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2C74F5C8-CE3C-4BE4-4841-402DA91E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F9771E35-E222-F350-A8C9-F7B5D6A7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7C643E51-81D6-7D4D-EE37-F6C63121D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0A67702A-8DD6-5D0F-A920-228BF1482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44C62E5F-E5A4-E3AD-9E46-86EDB92D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2501529E-A804-159C-F431-DCBFBBE8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ADF9963A-E326-BDEA-540B-DD47E1A9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DA2B74AD-3D12-51DD-1D86-6D00487F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6F7E14FD-4EA1-D018-70F4-2A4C9F647466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机遇三：联邦学习与协作检测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0C5E8FC0-EA3D-6A4D-01BD-0159ED070A9C}"/>
              </a:ext>
            </a:extLst>
          </p:cNvPr>
          <p:cNvSpPr txBox="1"/>
          <p:nvPr/>
        </p:nvSpPr>
        <p:spPr>
          <a:xfrm>
            <a:off x="597421" y="1880184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动机：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平台间数据孤岛 → 单一平台视野有限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用户隐私法规限制数据共享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联邦学习架构（</a:t>
            </a:r>
            <a:r>
              <a:rPr lang="en-US" altLang="zh-CN" sz="2000" b="1" dirty="0">
                <a:latin typeface="+mn-ea"/>
              </a:rPr>
              <a:t>Federated Learning</a:t>
            </a:r>
            <a:r>
              <a:rPr lang="zh-CN" altLang="en-US" sz="2000" b="1" dirty="0">
                <a:latin typeface="+mn-ea"/>
              </a:rPr>
              <a:t>）：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各平台（</a:t>
            </a:r>
            <a:r>
              <a:rPr lang="en-US" altLang="zh-CN" sz="2000" dirty="0">
                <a:latin typeface="+mn-ea"/>
              </a:rPr>
              <a:t>X, Meta, TikTok</a:t>
            </a:r>
            <a:r>
              <a:rPr lang="zh-CN" altLang="en-US" sz="2000" dirty="0">
                <a:latin typeface="+mn-ea"/>
              </a:rPr>
              <a:t>）本地训练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检测模型，仅上传模型参数更新（非原始数据）至中央服务器，服务器聚合更新，下发新全局模型，重复迭代。</a:t>
            </a:r>
            <a:endParaRPr lang="en-US" altLang="zh-CN" sz="2000" dirty="0">
              <a:latin typeface="+mn-ea"/>
            </a:endParaRP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</a:t>
            </a:r>
            <a:r>
              <a:rPr lang="zh-CN" altLang="en-US" sz="2000" b="1" dirty="0">
                <a:latin typeface="+mn-ea"/>
              </a:rPr>
              <a:t>挑战与对策：</a:t>
            </a:r>
            <a:endParaRPr lang="en-US" altLang="zh-CN" sz="2000" b="1" dirty="0">
              <a:latin typeface="+mn-ea"/>
            </a:endParaRPr>
          </a:p>
          <a:p>
            <a:pPr algn="just">
              <a:lnSpc>
                <a:spcPct val="150000"/>
              </a:lnSpc>
            </a:pPr>
            <a:endParaRPr lang="zh-CN" altLang="en-US" sz="2000" b="1" dirty="0">
              <a:latin typeface="+mn-ea"/>
            </a:endParaRP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8330CD28-0952-2379-F539-646CDEAB7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9750013"/>
              </p:ext>
            </p:extLst>
          </p:nvPr>
        </p:nvGraphicFramePr>
        <p:xfrm>
          <a:off x="807218" y="5078744"/>
          <a:ext cx="10515600" cy="141732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3285082076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428629671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挑战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800"/>
                        </a:lnSpc>
                        <a:buNone/>
                      </a:pPr>
                      <a:r>
                        <a:rPr lang="zh-CN" altLang="en-US" b="1" dirty="0">
                          <a:effectLst/>
                        </a:rPr>
                        <a:t>解决方案</a:t>
                      </a:r>
                    </a:p>
                  </a:txBody>
                  <a:tcPr marL="99060" marR="99060"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6197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dirty="0">
                          <a:effectLst/>
                        </a:rPr>
                        <a:t>Non-IID </a:t>
                      </a:r>
                      <a:r>
                        <a:rPr lang="zh-CN" altLang="en-US" dirty="0">
                          <a:effectLst/>
                        </a:rPr>
                        <a:t>数据（各平台 </a:t>
                      </a:r>
                      <a:r>
                        <a:rPr lang="en-US" dirty="0">
                          <a:effectLst/>
                        </a:rPr>
                        <a:t>bot </a:t>
                      </a:r>
                      <a:r>
                        <a:rPr lang="zh-CN" altLang="en-US" dirty="0">
                          <a:effectLst/>
                        </a:rPr>
                        <a:t>行为不同）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使用 </a:t>
                      </a:r>
                      <a:r>
                        <a:rPr lang="en-US">
                          <a:effectLst/>
                        </a:rPr>
                        <a:t>FedProx、SCAFFOLD </a:t>
                      </a:r>
                      <a:r>
                        <a:rPr lang="zh-CN" altLang="en-US">
                          <a:effectLst/>
                        </a:rPr>
                        <a:t>等改进算法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610829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通信开销大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模型压缩 </a:t>
                      </a:r>
                      <a:r>
                        <a:rPr lang="en-US" altLang="zh-CN">
                          <a:effectLst/>
                        </a:rPr>
                        <a:t>+ </a:t>
                      </a:r>
                      <a:r>
                        <a:rPr lang="zh-CN" altLang="en-US">
                          <a:effectLst/>
                        </a:rPr>
                        <a:t>稀疏更新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3222705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>
                          <a:effectLst/>
                        </a:rPr>
                        <a:t>恶意平台投毒攻击</a:t>
                      </a:r>
                    </a:p>
                  </a:txBody>
                  <a:tcPr marL="99060" marR="99060" anchor="ctr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dirty="0">
                          <a:effectLst/>
                        </a:rPr>
                        <a:t>鲁棒聚合（如 </a:t>
                      </a:r>
                      <a:r>
                        <a:rPr lang="en-US" dirty="0">
                          <a:effectLst/>
                        </a:rPr>
                        <a:t>Krum, Median）</a:t>
                      </a:r>
                    </a:p>
                  </a:txBody>
                  <a:tcPr marL="99060" marR="99060" anchor="ctr"/>
                </a:tc>
                <a:extLst>
                  <a:ext uri="{0D108BD9-81ED-4DB2-BD59-A6C34878D82A}">
                    <a16:rowId xmlns:a16="http://schemas.microsoft.com/office/drawing/2014/main" val="28639110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3498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7FFEE4-1758-A753-3DFE-B99F615E6E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D074961D-DAF2-B970-DE2C-A0A111FF1048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642E5EC-F3FD-E1EF-185E-DACBF5A610BB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第四部分：五大新兴机遇与研究方向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BBE5AFC-E528-649B-A837-1510D8B729D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E511640B-E259-DA11-A651-6EEFF6812219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E3B294D1-C88E-6043-C552-1781687940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25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AD038836-9D7A-F887-2987-60EF9AEAA7F6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335A3843-1D0F-8B13-EE93-67B357C3E836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34FEA67E-B140-67A0-C126-5CB49EA4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88CC5609-559D-8C86-9957-EEF7C04927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A286E155-B875-F7C5-DBAA-3F2C8C9A21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27AA04C5-0AF6-A885-12B3-EA999E0D48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610A83BE-5C29-E671-5C66-71F9C96365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974B3DFD-8A6B-3096-9571-ECED7EF753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BA743AFD-AB12-E7E5-F227-47CECB4940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729AD986-798D-0A55-311F-E11F8DFA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7C1E3211-0E12-5123-71BC-956FB13D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D182C028-DECE-5C9F-FB65-B0E7CD56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8EBC897E-C0F2-AD3B-0FEA-0A45504B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C12B678E-05DD-5359-30F1-29606CDC5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0C0DDC36-9769-445C-AF3D-E137354A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515DA630-C4C9-866A-1463-914506C3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32B54380-EB41-9055-DB72-FF8BF2B02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402176BB-C290-CA1D-D7A0-217D4949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E7E384F0-FD18-0F57-534D-078C02700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B81556E7-D843-2705-9F5F-68246F6BF2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3DD26EA9-6E5B-1C9A-DF37-3A13844D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D1EECAFC-9C67-2C90-E2CC-938171F82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0433D14A-DE08-59E6-5DA3-86FAF796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BCBDC4DC-3647-B541-F27F-0AF8AD8DB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E10D0C58-798A-F4FA-07D6-7D15FC00C8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5239943C-40B8-A809-E714-1B9747F002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69394AD8-96F2-0823-306F-E6D63A1F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F5E96963-2C6B-31DD-DAA5-B3BFEDE2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2340F97E-A215-EC7E-9696-6271A994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08F6294A-5BEC-1C72-B907-66174A44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6EC334E-1472-6943-1357-FC9EB33F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41BA6ADB-5A3F-DEC3-B0D7-B57502393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EA5D925B-A5F0-C109-D285-C9BCA8FC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4FF9CF58-0D03-C3F4-F168-2755E6AA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24FD7AAF-28ED-2804-9BBB-9036DD63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1D15FF3A-D98C-30D7-A3D5-F34CFA67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98CD64A9-BA96-4C1B-1E54-E3F8CEBC40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4A22A216-1F8B-B752-E92B-63E0702C2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E6B176C8-A0D3-EB38-15CE-27B5E462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2EC1A09E-DD69-AE42-6F07-24F28320A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0660C6A1-23A2-DC13-602F-9401DFAC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3676CDFA-CFA6-1113-F89C-72E4C8548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685B980-1F70-A916-1E9B-30DDB4E950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FEABCB3-4734-F0FA-39CE-D2030F79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5477FABE-5055-1A68-8671-041AD2958D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18966A1B-D0B5-8685-8BE1-5923434F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E7A2AC31-CF8E-3BFF-709A-F22F6B94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93263CFC-FA8D-D193-2F8A-452A18C3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9E4EB830-1BBB-906B-C28D-4D2386F3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58177DD9-FAC6-C305-5F74-48551633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64E72C4D-3DF5-301C-9A09-228DC5FC0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ABDD8DE-7950-7F7C-0D3F-7FE6C485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BA3094FE-CA3C-2064-5F75-6EEB7D3D7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33620519-D99B-E45E-9371-0D62C4E5C838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机遇四：可解释 </a:t>
            </a:r>
            <a:r>
              <a:rPr lang="en-US" altLang="zh-CN" sz="2000" b="1" dirty="0">
                <a:latin typeface="+mn-ea"/>
              </a:rPr>
              <a:t>AI</a:t>
            </a:r>
            <a:r>
              <a:rPr lang="zh-CN" altLang="en-US" sz="2000" b="1" dirty="0">
                <a:latin typeface="+mn-ea"/>
              </a:rPr>
              <a:t>（</a:t>
            </a:r>
            <a:r>
              <a:rPr lang="en-US" altLang="zh-CN" sz="2000" b="1" dirty="0">
                <a:latin typeface="+mn-ea"/>
              </a:rPr>
              <a:t>XAI</a:t>
            </a:r>
            <a:r>
              <a:rPr lang="zh-CN" altLang="en-US" sz="2000" b="1" dirty="0">
                <a:latin typeface="+mn-ea"/>
              </a:rPr>
              <a:t>）与透明治理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266F6E45-5410-E869-5402-999859B4A985}"/>
              </a:ext>
            </a:extLst>
          </p:cNvPr>
          <p:cNvSpPr txBox="1"/>
          <p:nvPr/>
        </p:nvSpPr>
        <p:spPr>
          <a:xfrm>
            <a:off x="597421" y="2052990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1.XAI </a:t>
            </a:r>
            <a:r>
              <a:rPr lang="zh-CN" altLang="en-US" sz="2000" b="1" dirty="0">
                <a:latin typeface="+mn-ea"/>
              </a:rPr>
              <a:t>工具应用：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LIME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对单个预测生成局部解释（如“该账号被判定为 </a:t>
            </a:r>
            <a:r>
              <a:rPr lang="en-US" altLang="zh-CN" sz="2000" dirty="0">
                <a:latin typeface="+mn-ea"/>
              </a:rPr>
              <a:t>bot</a:t>
            </a:r>
            <a:r>
              <a:rPr lang="zh-CN" altLang="en-US" sz="2000" dirty="0">
                <a:latin typeface="+mn-ea"/>
              </a:rPr>
              <a:t>，因 </a:t>
            </a:r>
            <a:r>
              <a:rPr lang="en-US" altLang="zh-CN" sz="2000" dirty="0">
                <a:latin typeface="+mn-ea"/>
              </a:rPr>
              <a:t>80% </a:t>
            </a:r>
            <a:r>
              <a:rPr lang="zh-CN" altLang="en-US" sz="2000" dirty="0">
                <a:latin typeface="+mn-ea"/>
              </a:rPr>
              <a:t>推文在凌晨 </a:t>
            </a:r>
            <a:r>
              <a:rPr lang="en-US" altLang="zh-CN" sz="2000" dirty="0">
                <a:latin typeface="+mn-ea"/>
              </a:rPr>
              <a:t>3 </a:t>
            </a:r>
            <a:r>
              <a:rPr lang="zh-CN" altLang="en-US" sz="2000" dirty="0">
                <a:latin typeface="+mn-ea"/>
              </a:rPr>
              <a:t>点发布”）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SHAP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量化每个特征对预测的贡献值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>
                <a:latin typeface="+mn-ea"/>
              </a:rPr>
              <a:t>Attention Visualization</a:t>
            </a:r>
            <a:r>
              <a:rPr lang="zh-CN" altLang="en-US" sz="2000" b="1" dirty="0">
                <a:latin typeface="+mn-ea"/>
              </a:rPr>
              <a:t>：</a:t>
            </a:r>
            <a:r>
              <a:rPr lang="zh-CN" altLang="en-US" sz="2000" dirty="0">
                <a:latin typeface="+mn-ea"/>
              </a:rPr>
              <a:t>展示模型关注文本的哪些部分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社会价值：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用户申诉：</a:t>
            </a:r>
            <a:r>
              <a:rPr lang="zh-CN" altLang="en-US" sz="2000" dirty="0">
                <a:latin typeface="+mn-ea"/>
              </a:rPr>
              <a:t>提供具体理由，而非“系统判定”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审计合规：</a:t>
            </a:r>
            <a:r>
              <a:rPr lang="zh-CN" altLang="en-US" sz="2000" dirty="0">
                <a:latin typeface="+mn-ea"/>
              </a:rPr>
              <a:t>监管机构可验证模型是否公平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研究洞察：</a:t>
            </a:r>
            <a:r>
              <a:rPr lang="zh-CN" altLang="en-US" sz="2000" dirty="0">
                <a:latin typeface="+mn-ea"/>
              </a:rPr>
              <a:t>发现新型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策略（如“最近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开始使用讽刺语气”）</a:t>
            </a:r>
          </a:p>
        </p:txBody>
      </p:sp>
    </p:spTree>
    <p:extLst>
      <p:ext uri="{BB962C8B-B14F-4D97-AF65-F5344CB8AC3E}">
        <p14:creationId xmlns:p14="http://schemas.microsoft.com/office/powerpoint/2010/main" val="2060198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911A5-F93E-65DE-9C9F-D1DFA5772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31514D5-EE3B-DBBB-92A7-25307EA67EB6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16A2CD63-B9FE-38F3-D520-C62991C096FF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第四部分：五大新兴机遇与研究方向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93073BB-2985-7B86-1FCB-E2AC992497D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53A4F754-6577-84E8-F372-95774625F7DE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9FF9445C-B2CB-5DFB-E560-0C90F32C24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26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45614E0A-0B2B-6048-E939-1362D3384BA1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8928F4B-0E2A-8D39-F8FF-AA53ADD67D4D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1416F1BB-CC91-947B-0821-FB92E8D6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E28EA8BF-4898-FB65-CC5A-18C1D2FA0C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1C69CAA6-02FD-7505-2F2F-08F8A01CA1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39521BC-51D6-970E-705C-2DDDDF59BC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51651530-6AA3-26AF-6529-BC9456A31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1075A640-E809-1EAF-17D8-7BB5BF92C0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5284C625-CF06-2931-54DC-3641DC7F97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5C1D7C46-6CC9-6158-14F9-846E2BED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DD142604-E443-746D-82EC-D745CDD66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BB997DC6-B806-598E-3E20-7ACD0363D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73C9E36D-E08D-9C32-ED7D-EB0AD17F7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4E65EB63-23CC-EC0A-5C04-5803832A6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2355A8B2-A4A2-156F-3692-2B7CDA4CC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8328505C-CD2E-E36B-3FDE-57F349F5B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E4E9F99C-8AED-1A3B-72A4-E8D63013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FD79E2D0-2F29-FFA3-FCEB-74D03A54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5A57D458-ABD6-4E9B-C527-02CD441A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180694F2-168C-CD4B-6323-7C418D1E28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C65BC871-901B-931B-F34E-B012C8810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B740A557-DFBE-2EC7-3519-27C210EC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3EA24C34-9043-48D6-8ED0-6659CF2C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1B8E8FE2-F738-66F5-4258-539E12F3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BD1AF79E-8579-3169-00C6-2A69D6487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BCAA0BDB-63E6-3FA5-0917-FD1F69749A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D31A5F31-DD7A-EF24-F9CF-E743A685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9996218F-23A8-DA3B-E846-8EF4738E8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6B822142-0394-98C4-E61E-0D8C5695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410FA33A-2DE5-CC95-C20B-39ABA545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AAD99ECD-DECE-6584-2722-7A76FF2A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970BA6D-F684-B19C-38E4-4A8C4743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09EAB81-EF11-24A8-8E93-A82247D6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812952E0-4222-72D4-C640-A4C60673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33C5A8B-4A58-0056-100A-0E310049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F67E74AB-93FC-1490-ADC8-34A292548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00CCFE52-66FD-977E-E303-08EF031D15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B75D3C13-B2B8-8E6F-1711-8D5004EFB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F2E941B4-A8A6-22B5-2086-49E584EC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5721B36E-1D0D-2BFD-80DA-6C52ECBE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23080900-C38F-17E3-83E8-4DDE8391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007AB50F-49B6-5B5D-C989-4F6CB7EF1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EDBFFD22-B4D3-FBAF-53E5-943B629EA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885A1AD-AD3C-E976-C0FE-5DBA5D3E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F3956EC4-0D11-3C96-51B4-2771C5FFD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D352674F-DBF8-7230-C107-79455E2C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88E3B832-F1B4-E454-E9D5-DA7510AC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C3F4D4DE-8515-8D84-80D1-CCC99350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62ACDC3E-6027-DBE5-8958-091B856D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8CC9FCF1-9607-F4CB-CDE4-963BE4CD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E93327E2-E93C-AF5A-8A37-9451FE44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D6DF849C-B6E4-29CE-2268-9F356F66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70CF6D92-982D-0F5B-E942-3325D83C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99AAFB82-D0F4-A21D-2BBA-50346B4ED0BD}"/>
              </a:ext>
            </a:extLst>
          </p:cNvPr>
          <p:cNvSpPr txBox="1"/>
          <p:nvPr/>
        </p:nvSpPr>
        <p:spPr>
          <a:xfrm>
            <a:off x="473579" y="1533524"/>
            <a:ext cx="11328779" cy="4996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latin typeface="+mn-ea"/>
              </a:rPr>
              <a:t>机遇五：生成式智能体作为合成数据引擎（最具颠覆性！）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C03AD627-0600-E511-E6A3-C68EFE603CB2}"/>
              </a:ext>
            </a:extLst>
          </p:cNvPr>
          <p:cNvSpPr txBox="1"/>
          <p:nvPr/>
        </p:nvSpPr>
        <p:spPr>
          <a:xfrm>
            <a:off x="577683" y="1995702"/>
            <a:ext cx="11020700" cy="46138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b="1" dirty="0">
                <a:latin typeface="+mn-ea"/>
              </a:rPr>
              <a:t>核心思想：</a:t>
            </a:r>
            <a:r>
              <a:rPr lang="zh-CN" altLang="en-US" dirty="0">
                <a:latin typeface="+mn-ea"/>
              </a:rPr>
              <a:t>“</a:t>
            </a:r>
            <a:r>
              <a:rPr lang="en-US" altLang="zh-CN" dirty="0">
                <a:latin typeface="+mn-ea"/>
              </a:rPr>
              <a:t>Use generative agents to simulate realistic human behavior at scale, then train detectors against them.”</a:t>
            </a:r>
            <a:r>
              <a:rPr lang="zh-CN" altLang="en-US" dirty="0">
                <a:latin typeface="+mn-ea"/>
              </a:rPr>
              <a:t>（使用生成代理来大规模模拟现实的人类行为，然后训练探测器来对付它们。）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技术实现（受 </a:t>
            </a:r>
            <a:r>
              <a:rPr lang="en-US" altLang="zh-CN" b="1" dirty="0">
                <a:latin typeface="+mn-ea"/>
              </a:rPr>
              <a:t>Stanford Generative Agents </a:t>
            </a:r>
            <a:r>
              <a:rPr lang="zh-CN" altLang="en-US" b="1" dirty="0">
                <a:latin typeface="+mn-ea"/>
              </a:rPr>
              <a:t>启发）：</a:t>
            </a:r>
            <a:r>
              <a:rPr lang="zh-CN" altLang="en-US" dirty="0">
                <a:latin typeface="+mn-ea"/>
              </a:rPr>
              <a:t>构建虚拟社交世界（如 </a:t>
            </a:r>
            <a:r>
              <a:rPr lang="en-US" altLang="zh-CN" dirty="0">
                <a:latin typeface="+mn-ea"/>
              </a:rPr>
              <a:t>200 </a:t>
            </a:r>
            <a:r>
              <a:rPr lang="zh-CN" altLang="en-US" dirty="0">
                <a:latin typeface="+mn-ea"/>
              </a:rPr>
              <a:t>个 </a:t>
            </a:r>
            <a:r>
              <a:rPr lang="en-US" altLang="zh-CN" dirty="0">
                <a:latin typeface="+mn-ea"/>
              </a:rPr>
              <a:t>AI </a:t>
            </a:r>
            <a:r>
              <a:rPr lang="zh-CN" altLang="en-US" dirty="0">
                <a:latin typeface="+mn-ea"/>
              </a:rPr>
              <a:t>用户生活在模拟小镇）。每个 </a:t>
            </a:r>
            <a:r>
              <a:rPr lang="en-US" altLang="zh-CN" dirty="0">
                <a:latin typeface="+mn-ea"/>
              </a:rPr>
              <a:t>agent </a:t>
            </a:r>
            <a:r>
              <a:rPr lang="zh-CN" altLang="en-US" dirty="0">
                <a:latin typeface="+mn-ea"/>
              </a:rPr>
              <a:t>拥有：记忆库（</a:t>
            </a:r>
            <a:r>
              <a:rPr lang="en-US" altLang="zh-CN" dirty="0">
                <a:latin typeface="+mn-ea"/>
              </a:rPr>
              <a:t>Memory Stream</a:t>
            </a:r>
            <a:r>
              <a:rPr lang="zh-CN" altLang="en-US" dirty="0">
                <a:latin typeface="+mn-ea"/>
              </a:rPr>
              <a:t>）、反思机制（</a:t>
            </a:r>
            <a:r>
              <a:rPr lang="en-US" altLang="zh-CN" dirty="0">
                <a:latin typeface="+mn-ea"/>
              </a:rPr>
              <a:t>Reflection</a:t>
            </a:r>
            <a:r>
              <a:rPr lang="zh-CN" altLang="en-US" dirty="0">
                <a:latin typeface="+mn-ea"/>
              </a:rPr>
              <a:t>）、行动计划（</a:t>
            </a:r>
            <a:r>
              <a:rPr lang="en-US" altLang="zh-CN" dirty="0">
                <a:latin typeface="+mn-ea"/>
              </a:rPr>
              <a:t>Planning</a:t>
            </a:r>
            <a:r>
              <a:rPr lang="zh-CN" altLang="en-US" dirty="0">
                <a:latin typeface="+mn-ea"/>
              </a:rPr>
              <a:t>）。让 </a:t>
            </a:r>
            <a:r>
              <a:rPr lang="en-US" altLang="zh-CN" dirty="0">
                <a:latin typeface="+mn-ea"/>
              </a:rPr>
              <a:t>agent </a:t>
            </a:r>
            <a:r>
              <a:rPr lang="zh-CN" altLang="en-US" dirty="0">
                <a:latin typeface="+mn-ea"/>
              </a:rPr>
              <a:t>自由互动，生成高保真社交数据流，同时注入 </a:t>
            </a:r>
            <a:r>
              <a:rPr lang="en-US" altLang="zh-CN" dirty="0">
                <a:latin typeface="+mn-ea"/>
              </a:rPr>
              <a:t>bot agent</a:t>
            </a:r>
            <a:r>
              <a:rPr lang="zh-CN" altLang="en-US" dirty="0">
                <a:latin typeface="+mn-ea"/>
              </a:rPr>
              <a:t>（由 </a:t>
            </a:r>
            <a:r>
              <a:rPr lang="en-US" altLang="zh-CN" dirty="0">
                <a:latin typeface="+mn-ea"/>
              </a:rPr>
              <a:t>ChatGPT </a:t>
            </a:r>
            <a:r>
              <a:rPr lang="zh-CN" altLang="en-US" dirty="0">
                <a:latin typeface="+mn-ea"/>
              </a:rPr>
              <a:t>驱动），模拟攻击，用此合成数据训练检测模型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优势：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>
                <a:latin typeface="+mn-ea"/>
              </a:rPr>
              <a:t>无限数据：</a:t>
            </a:r>
            <a:r>
              <a:rPr lang="zh-CN" altLang="en-US" dirty="0">
                <a:latin typeface="+mn-ea"/>
              </a:rPr>
              <a:t>解决真实标注数据稀缺问题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>
                <a:latin typeface="+mn-ea"/>
              </a:rPr>
              <a:t>可控实验：</a:t>
            </a:r>
            <a:r>
              <a:rPr lang="zh-CN" altLang="en-US" dirty="0">
                <a:latin typeface="+mn-ea"/>
              </a:rPr>
              <a:t>可测试模型在极端场景（如 </a:t>
            </a:r>
            <a:r>
              <a:rPr lang="en-US" altLang="zh-CN" dirty="0">
                <a:latin typeface="+mn-ea"/>
              </a:rPr>
              <a:t>90% bot </a:t>
            </a:r>
            <a:r>
              <a:rPr lang="zh-CN" altLang="en-US" dirty="0">
                <a:latin typeface="+mn-ea"/>
              </a:rPr>
              <a:t>渗透率）下的鲁棒性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>
                <a:latin typeface="+mn-ea"/>
              </a:rPr>
              <a:t>红队演练：</a:t>
            </a:r>
            <a:r>
              <a:rPr lang="zh-CN" altLang="en-US" dirty="0">
                <a:latin typeface="+mn-ea"/>
              </a:rPr>
              <a:t>提前暴露检测系统漏洞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>
                <a:latin typeface="+mn-ea"/>
              </a:rPr>
              <a:t>未来展望：</a:t>
            </a:r>
            <a:r>
              <a:rPr lang="zh-CN" altLang="en-US" dirty="0">
                <a:latin typeface="+mn-ea"/>
              </a:rPr>
              <a:t>“</a:t>
            </a:r>
            <a:r>
              <a:rPr lang="en-US" altLang="zh-CN" dirty="0">
                <a:latin typeface="+mn-ea"/>
              </a:rPr>
              <a:t>AI vs. AI” </a:t>
            </a:r>
            <a:r>
              <a:rPr lang="zh-CN" altLang="en-US" dirty="0">
                <a:latin typeface="+mn-ea"/>
              </a:rPr>
              <a:t>的军备竞赛将在合成环境中先行演练。</a:t>
            </a:r>
          </a:p>
        </p:txBody>
      </p:sp>
    </p:spTree>
    <p:extLst>
      <p:ext uri="{BB962C8B-B14F-4D97-AF65-F5344CB8AC3E}">
        <p14:creationId xmlns:p14="http://schemas.microsoft.com/office/powerpoint/2010/main" val="444137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BA84C1-52BC-83ED-A898-2743674DA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53D8B9E2-FA9F-582B-D14F-005E530D841F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57114A9B-695D-6363-22E4-2673BA8D635D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第五部分：批判性反思与开放问题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C63F1B2E-46AD-7AAA-75E6-7199EE3F0B1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D5B1D5AE-6303-B82E-02B2-7D52C9C0F306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D9ED3A1-9AF1-D3DA-0415-052E6303CE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27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EE1C364D-ED01-0DAC-7321-7E96042D1E82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91220971-F721-7074-F72A-0AAA633E683C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D975706F-2C11-0360-23A3-231B4A80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024B7B15-C036-3EF6-F907-32C1991510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71FEFF56-8065-E83F-9978-B9D44F9834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E516EB08-944D-EE24-D58C-D489C99152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69173DE9-68B1-4A80-CDE7-4442186C19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C6568E60-089A-ED78-FDC2-22B7999C7F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D5E2D3E9-EDDA-77BE-462A-1D3CE94435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1D345D8E-965D-3B29-D4D7-2DE35ABB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E842116F-ACD5-9E2F-6429-A7E0D2F5E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754DABB1-5C28-EFFF-6574-47EDF8600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E37C090D-B01D-ECA6-B77A-648BAEF26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90D93BC3-5E24-29C2-213C-D6A44E789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E33B286E-CB11-E6C1-475B-E5EFFA139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F37D5B96-C515-9235-41D4-32A6CFA04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E2C2158A-1739-F9BB-027B-336F28843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2BDC9402-BF62-35B1-B3CB-357D7635F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BA2D9062-F111-E9BA-7E5E-AFF052BD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8B5E23E2-FC92-E1D2-E939-4F2E2084B2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D7FE6555-384F-FC70-F29F-E42A902E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F86945B8-ADDC-D45D-EB22-43C29C44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E2012AA2-31CA-7ACD-1523-C84B374A2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9089D0BF-D942-3A77-6F76-0389CEA9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6B60467C-0AB5-8147-A8B4-03CCFD92B7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99B7CF21-31F9-3408-7375-744BC045A3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2DF6851B-F8A1-4939-3AC1-E0C7A8AE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FD244ED9-0024-32B6-D702-FA758879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88A568FB-BB60-6FCD-B5DA-C13B37C7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E97A3A1-AA64-BC65-877C-D7EE304F8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78EC4E9-4803-37DE-BF83-6305FD87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41B0C640-7946-5166-8984-6BBD6789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01BA168F-BFB4-42FD-EF16-9BFBEA2F4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8E34F64B-915D-422A-01AF-AFBF7A24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0E3C9C9E-B008-FE8D-7974-61325E79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546D74EF-936F-4F52-9448-8A37EF92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2DE06D32-79B4-21EE-6AE5-E6B277FF1F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20C9747A-E902-B3AF-39C7-C32DBCA1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537DCCDE-EE6E-C1CC-3C54-4CB192A46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FAB5540D-F4ED-2E72-C8C1-8B18BFD2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5388274E-89FB-BA44-9D5E-3E73EA8D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9C05ED7-62D5-C8C5-6DE7-F3B836B2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2D44D815-C1F0-072D-599C-B875BF5E67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83C27EAB-C9B2-F5AD-9093-9AC289AE8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505FA0D3-3D6F-7489-EF64-12BBB1087C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087C4578-177E-4520-2624-5661694A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C3ED722D-C9BE-C00D-0FFB-72A9B56A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8BEB94FE-79A9-9EED-FC62-4E71C9BF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15C670E6-4D78-00A8-E9DC-5A6D0F10B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EC1373B6-867E-EF65-4881-62C97CA9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BF8676B8-D356-39AE-ADEC-1946767E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5945485B-8360-3E30-2B31-85414620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2FD18CBF-A875-EBBD-3088-15E110391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7" name="文本框 16">
            <a:extLst>
              <a:ext uri="{FF2B5EF4-FFF2-40B4-BE49-F238E27FC236}">
                <a16:creationId xmlns:a16="http://schemas.microsoft.com/office/drawing/2014/main" id="{68C33F44-38A0-CCC4-970D-BFC948C48D00}"/>
              </a:ext>
            </a:extLst>
          </p:cNvPr>
          <p:cNvSpPr txBox="1"/>
          <p:nvPr/>
        </p:nvSpPr>
        <p:spPr>
          <a:xfrm>
            <a:off x="541390" y="1613475"/>
            <a:ext cx="1102070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</a:t>
            </a:r>
            <a:r>
              <a:rPr lang="zh-CN" altLang="en-US" sz="2000" b="1" dirty="0">
                <a:latin typeface="+mn-ea"/>
              </a:rPr>
              <a:t>突出贡献：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首次系统论证 </a:t>
            </a:r>
            <a:r>
              <a:rPr lang="en-US" altLang="zh-CN" sz="2000" dirty="0">
                <a:latin typeface="+mn-ea"/>
              </a:rPr>
              <a:t>LLM </a:t>
            </a:r>
            <a:r>
              <a:rPr lang="zh-CN" altLang="en-US" sz="2000" dirty="0">
                <a:latin typeface="+mn-ea"/>
              </a:rPr>
              <a:t>对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检测的颠覆性影响（此前多聚焦生成质量，少谈检测失效）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提出“生成式智能体用于合成数据”这一范式转移思路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>
                <a:latin typeface="+mn-ea"/>
              </a:rPr>
              <a:t>强调跨学科性：技术 </a:t>
            </a:r>
            <a:r>
              <a:rPr lang="en-US" altLang="zh-CN" sz="2000" dirty="0">
                <a:latin typeface="+mn-ea"/>
              </a:rPr>
              <a:t>+ </a:t>
            </a:r>
            <a:r>
              <a:rPr lang="zh-CN" altLang="en-US" sz="2000" dirty="0">
                <a:latin typeface="+mn-ea"/>
              </a:rPr>
              <a:t>伦理 </a:t>
            </a:r>
            <a:r>
              <a:rPr lang="en-US" altLang="zh-CN" sz="2000" dirty="0">
                <a:latin typeface="+mn-ea"/>
              </a:rPr>
              <a:t>+ </a:t>
            </a:r>
            <a:r>
              <a:rPr lang="zh-CN" altLang="en-US" sz="2000" dirty="0">
                <a:latin typeface="+mn-ea"/>
              </a:rPr>
              <a:t>政策 </a:t>
            </a:r>
            <a:r>
              <a:rPr lang="en-US" altLang="zh-CN" sz="2000" dirty="0">
                <a:latin typeface="+mn-ea"/>
              </a:rPr>
              <a:t>+ </a:t>
            </a:r>
            <a:r>
              <a:rPr lang="zh-CN" altLang="en-US" sz="2000" dirty="0">
                <a:latin typeface="+mn-ea"/>
              </a:rPr>
              <a:t>社会科学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2.</a:t>
            </a:r>
            <a:r>
              <a:rPr lang="zh-CN" altLang="en-US" sz="2000" b="1" dirty="0">
                <a:latin typeface="+mn-ea"/>
              </a:rPr>
              <a:t>可商榷之处：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未量化 </a:t>
            </a:r>
            <a:r>
              <a:rPr lang="en-US" altLang="zh-CN" sz="2000" b="1" dirty="0">
                <a:latin typeface="+mn-ea"/>
              </a:rPr>
              <a:t>ChatGPT </a:t>
            </a:r>
            <a:r>
              <a:rPr lang="zh-CN" altLang="en-US" sz="2000" b="1" dirty="0">
                <a:latin typeface="+mn-ea"/>
              </a:rPr>
              <a:t>的实际 </a:t>
            </a:r>
            <a:r>
              <a:rPr lang="en-US" altLang="zh-CN" sz="2000" b="1" dirty="0">
                <a:latin typeface="+mn-ea"/>
              </a:rPr>
              <a:t>bot </a:t>
            </a:r>
            <a:r>
              <a:rPr lang="zh-CN" altLang="en-US" sz="2000" b="1" dirty="0">
                <a:latin typeface="+mn-ea"/>
              </a:rPr>
              <a:t>渗透率：</a:t>
            </a:r>
            <a:r>
              <a:rPr lang="zh-CN" altLang="en-US" sz="2000" dirty="0">
                <a:latin typeface="+mn-ea"/>
              </a:rPr>
              <a:t>目前多数“</a:t>
            </a:r>
            <a:r>
              <a:rPr lang="en-US" altLang="zh-CN" sz="2000" dirty="0">
                <a:latin typeface="+mn-ea"/>
              </a:rPr>
              <a:t>AI bot”</a:t>
            </a:r>
            <a:r>
              <a:rPr lang="zh-CN" altLang="en-US" sz="2000" dirty="0">
                <a:latin typeface="+mn-ea"/>
              </a:rPr>
              <a:t>仍是概念验证，大规模部署成本高。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低估人类因素：</a:t>
            </a:r>
            <a:r>
              <a:rPr lang="zh-CN" altLang="en-US" sz="2000" dirty="0">
                <a:latin typeface="+mn-ea"/>
              </a:rPr>
              <a:t>真实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运营者未必使用最先进 </a:t>
            </a:r>
            <a:r>
              <a:rPr lang="en-US" altLang="zh-CN" sz="2000" dirty="0">
                <a:latin typeface="+mn-ea"/>
              </a:rPr>
              <a:t>LLM</a:t>
            </a:r>
            <a:r>
              <a:rPr lang="zh-CN" altLang="en-US" sz="2000" dirty="0">
                <a:latin typeface="+mn-ea"/>
              </a:rPr>
              <a:t>（可能用开源小模型降低成本）。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b="1" dirty="0">
                <a:latin typeface="+mn-ea"/>
              </a:rPr>
              <a:t>解决方案偏理想化：</a:t>
            </a:r>
            <a:r>
              <a:rPr lang="zh-CN" altLang="en-US" sz="2000" dirty="0">
                <a:latin typeface="+mn-ea"/>
              </a:rPr>
              <a:t>联邦学习、跨平台协作在商业竞争下难以落地。</a:t>
            </a:r>
          </a:p>
        </p:txBody>
      </p:sp>
    </p:spTree>
    <p:extLst>
      <p:ext uri="{BB962C8B-B14F-4D97-AF65-F5344CB8AC3E}">
        <p14:creationId xmlns:p14="http://schemas.microsoft.com/office/powerpoint/2010/main" val="479746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41915F-1E82-FDF4-AB4E-DFC22A4639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DFEAE135-6E02-3BEF-B3B0-6F292A59AEC2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88F5CFB-A877-9172-98C5-7C0B6BA2BC4B}"/>
              </a:ext>
            </a:extLst>
          </p:cNvPr>
          <p:cNvSpPr txBox="1"/>
          <p:nvPr/>
        </p:nvSpPr>
        <p:spPr>
          <a:xfrm>
            <a:off x="473580" y="1108968"/>
            <a:ext cx="4334090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第五部分：批判性反思与开放问题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C48206C2-A75F-3B43-0969-F43070B0F1C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05620A3C-C1A2-3EF7-147E-58F3B147FABB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591A5ED-BC94-9321-2A59-870FA88DE9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28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A8694C8B-8886-6D25-1487-B81C76BB25F3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611BB0F3-E7C8-BABD-95E9-527BD8400FBA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9A03B6FA-1C01-81AA-2200-30B04082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C6B6E2E3-F1F9-2742-46FE-AAE7AAFA83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96635C87-CA6C-2AE4-1DB1-FFB90A924F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69CB31D2-EF1C-9860-C098-98FF9D4AED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3436CE6E-6F5E-EE3D-C986-64B46F35C2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0D113D62-CED6-8DB6-5B56-1311D3FE2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1391C11B-0837-3A32-A748-B4C65C75E2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60B5E1BC-7959-D539-1AD2-8FCEBF573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9902DB02-69E2-218A-E1F4-2093406A3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3AC594C-84EA-C025-BFFA-AA5C6AAD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3FD91E49-36E9-CF03-3C05-57BFC528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47233DC4-E147-B8BE-A935-4BC15A63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8FCA4EBC-236D-4D38-7694-9D256F3E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6C4F0B1E-7384-850F-EE5F-07DFAC36A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31076CD0-9B60-25AA-FCC9-4BB78FC77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86D6910E-D25D-5E6A-F664-B088F805F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EF00D749-338E-30D3-00E1-1459AB423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743735CB-37A7-7BC7-FFC2-4D83568279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78F4C315-5E7C-931C-2CEE-AD2DFAC94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15C91027-0B4F-7F66-1D02-3B6345D08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F03142DC-8ECA-382C-DF69-8A80C5B6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7EC729B-3E8E-79FB-DA46-B8041A92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2131A9FB-A8B6-0C82-4EB8-CFA6034AF5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AC6C96D7-84FE-0B88-DADB-83E0104E81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56F2E46D-43F7-72BF-6B2E-FFE32D3D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515EA4B4-A058-B78B-9F77-63D9E102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B15CDDEF-29B4-DE27-E4FD-B17A97EB4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857412ED-4E28-2788-5302-F4C2FF7C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AFB35597-EF05-6367-78A5-B53989C7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09C999A3-1111-66C4-C5BC-5B262C73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6D11956F-E66B-E351-A4FB-2B6C7168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98279498-25D3-047A-7B44-CC25E1EC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8C5E80CF-6C88-2F66-BE94-8210B533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988536C8-60DD-DC9B-DE0B-365AB97E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D3194410-EBF2-CE0A-4B51-64A4B987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DDCC0A1D-4513-380C-DE66-AF67FE28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4B91FBDD-FA5C-8232-CA7E-8EB4281C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4A551A3A-B7DC-3007-6A5F-143CF10A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EFEE3FE-FA78-B154-F28F-A03AF631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4F63B5B-1A10-2E5F-6AE0-D3C802450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F1F86CB4-0083-B5E4-9D10-A954A2C00A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6CC3E87F-9D5D-5E23-89C4-7178641F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9EAD9C22-7649-7302-BCFC-EAD58BA2A6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EEEF82CE-E92C-9950-0FD8-B87CD191A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3B4D0634-9446-C9D1-43F6-CBB040D2E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6E875310-E377-6C7C-6A2E-08F408FED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62AC4716-0E0A-0D1C-9E4B-AA09E522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D0D323EB-83E7-A15A-AF3C-5B755D94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66EFAEC1-CDED-8156-6650-683CB47B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44D9F571-2704-D506-A766-9E55E0FA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78725CE0-5E9D-2DF5-5C31-557A75E62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7" name="文本框 16">
            <a:extLst>
              <a:ext uri="{FF2B5EF4-FFF2-40B4-BE49-F238E27FC236}">
                <a16:creationId xmlns:a16="http://schemas.microsoft.com/office/drawing/2014/main" id="{29E83DE3-A56C-D817-1FD3-72D5CC88B4FB}"/>
              </a:ext>
            </a:extLst>
          </p:cNvPr>
          <p:cNvSpPr txBox="1"/>
          <p:nvPr/>
        </p:nvSpPr>
        <p:spPr>
          <a:xfrm>
            <a:off x="541390" y="1492809"/>
            <a:ext cx="11020700" cy="511627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3.</a:t>
            </a:r>
            <a:r>
              <a:rPr lang="zh-CN" altLang="en-US" sz="2000" b="1" dirty="0">
                <a:latin typeface="+mn-ea"/>
              </a:rPr>
              <a:t>基础理论：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是否存在超越语言模型的通用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行为不变量（</a:t>
            </a:r>
            <a:r>
              <a:rPr lang="en-US" altLang="zh-CN" sz="2000" dirty="0">
                <a:latin typeface="+mn-ea"/>
              </a:rPr>
              <a:t>invariant</a:t>
            </a:r>
            <a:r>
              <a:rPr lang="zh-CN" altLang="en-US" sz="2000" dirty="0">
                <a:latin typeface="+mn-ea"/>
              </a:rPr>
              <a:t>）？如何形式化定义“人类行为”的数学边界？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4.</a:t>
            </a:r>
            <a:r>
              <a:rPr lang="zh-CN" altLang="en-US" sz="2000" b="1" dirty="0">
                <a:latin typeface="+mn-ea"/>
              </a:rPr>
              <a:t>技术方向：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能否设计零样本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检测器（</a:t>
            </a:r>
            <a:r>
              <a:rPr lang="en-US" altLang="zh-CN" sz="2000" dirty="0">
                <a:latin typeface="+mn-ea"/>
              </a:rPr>
              <a:t>zero-shot detector</a:t>
            </a:r>
            <a:r>
              <a:rPr lang="zh-CN" altLang="en-US" sz="2000" dirty="0">
                <a:latin typeface="+mn-ea"/>
              </a:rPr>
              <a:t>）？如何将认知科学（如人类注意力模式）融入检测模型？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5.</a:t>
            </a:r>
            <a:r>
              <a:rPr lang="zh-CN" altLang="en-US" sz="2000" b="1" dirty="0">
                <a:latin typeface="+mn-ea"/>
              </a:rPr>
              <a:t>系统构建：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如何构建开源、可审计的 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检测基准平台？能否开发轻量级浏览器插件，让用户自主识别可疑账号？</a:t>
            </a:r>
          </a:p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6.</a:t>
            </a:r>
            <a:r>
              <a:rPr lang="zh-CN" altLang="en-US" sz="2000" b="1" dirty="0">
                <a:latin typeface="+mn-ea"/>
              </a:rPr>
              <a:t>社会影响：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在威权国家，</a:t>
            </a:r>
            <a:r>
              <a:rPr lang="en-US" altLang="zh-CN" sz="2000" dirty="0">
                <a:latin typeface="+mn-ea"/>
              </a:rPr>
              <a:t>bot </a:t>
            </a:r>
            <a:r>
              <a:rPr lang="zh-CN" altLang="en-US" sz="2000" dirty="0">
                <a:latin typeface="+mn-ea"/>
              </a:rPr>
              <a:t>检测技术是否会被用于压制异议声音？如何确保检测工具不被武器化？</a:t>
            </a:r>
          </a:p>
        </p:txBody>
      </p:sp>
    </p:spTree>
    <p:extLst>
      <p:ext uri="{BB962C8B-B14F-4D97-AF65-F5344CB8AC3E}">
        <p14:creationId xmlns:p14="http://schemas.microsoft.com/office/powerpoint/2010/main" val="4046295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5B4C1B-9F7E-F440-35D4-24B046C1FC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E421B381-8170-52DB-2B2B-A4519181732F}"/>
              </a:ext>
            </a:extLst>
          </p:cNvPr>
          <p:cNvSpPr/>
          <p:nvPr/>
        </p:nvSpPr>
        <p:spPr>
          <a:xfrm>
            <a:off x="0" y="2164461"/>
            <a:ext cx="12192000" cy="25290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CFE7D96-23D9-B56B-2B0F-71E8D2B3123D}"/>
              </a:ext>
            </a:extLst>
          </p:cNvPr>
          <p:cNvSpPr txBox="1"/>
          <p:nvPr/>
        </p:nvSpPr>
        <p:spPr>
          <a:xfrm>
            <a:off x="5259874" y="1384035"/>
            <a:ext cx="167225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600" dirty="0">
                <a:solidFill>
                  <a:schemeClr val="accent1"/>
                </a:solidFill>
                <a:cs typeface="+mn-ea"/>
                <a:sym typeface="+mn-lt"/>
              </a:rPr>
              <a:t>Part.02</a:t>
            </a:r>
          </a:p>
        </p:txBody>
      </p:sp>
      <p:grpSp>
        <p:nvGrpSpPr>
          <p:cNvPr id="23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24D890E1-D180-9B70-2091-222E16045F4B}"/>
              </a:ext>
            </a:extLst>
          </p:cNvPr>
          <p:cNvGrpSpPr/>
          <p:nvPr/>
        </p:nvGrpSpPr>
        <p:grpSpPr>
          <a:xfrm>
            <a:off x="67776" y="2508334"/>
            <a:ext cx="11943761" cy="1586422"/>
            <a:chOff x="67776" y="2606602"/>
            <a:chExt cx="11943761" cy="1586422"/>
          </a:xfrm>
        </p:grpSpPr>
        <p:sp>
          <p:nvSpPr>
            <p:cNvPr id="9" name="powerpoint template design by DAJU_PPT正版来源小红书大橘PPT微信DAJU_PPT请勿抄袭搬运！盗版必究！-1">
              <a:extLst>
                <a:ext uri="{FF2B5EF4-FFF2-40B4-BE49-F238E27FC236}">
                  <a16:creationId xmlns:a16="http://schemas.microsoft.com/office/drawing/2014/main" id="{BF8BAEA1-3709-6B99-9E68-0EA95F424107}"/>
                </a:ext>
              </a:extLst>
            </p:cNvPr>
            <p:cNvSpPr txBox="1"/>
            <p:nvPr/>
          </p:nvSpPr>
          <p:spPr>
            <a:xfrm>
              <a:off x="67776" y="2606602"/>
              <a:ext cx="11943761" cy="11079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zh-CN" sz="3600" b="1" spc="600" dirty="0">
                  <a:solidFill>
                    <a:schemeClr val="bg1"/>
                  </a:solidFill>
                  <a:cs typeface="+mn-ea"/>
                  <a:sym typeface="+mn-lt"/>
                </a:rPr>
                <a:t>Deep Learning Based Social Bot</a:t>
              </a:r>
            </a:p>
            <a:p>
              <a:pPr algn="ctr"/>
              <a:r>
                <a:rPr lang="en-US" altLang="zh-CN" sz="3600" b="1" spc="600" dirty="0">
                  <a:solidFill>
                    <a:schemeClr val="bg1"/>
                  </a:solidFill>
                  <a:cs typeface="+mn-ea"/>
                  <a:sym typeface="+mn-lt"/>
                </a:rPr>
                <a:t>Detection on Twitter</a:t>
              </a:r>
              <a:endParaRPr lang="zh-CN" altLang="en-US" sz="3600" b="1" spc="6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" name="powerpoint template design by DAJU_PPT正版来源小红书大橘PPT微信DAJU_PPT请勿抄袭搬运！盗版必究！-2">
              <a:extLst>
                <a:ext uri="{FF2B5EF4-FFF2-40B4-BE49-F238E27FC236}">
                  <a16:creationId xmlns:a16="http://schemas.microsoft.com/office/drawing/2014/main" id="{7CB545C9-2F56-58EB-DB12-F92EF94B9226}"/>
                </a:ext>
              </a:extLst>
            </p:cNvPr>
            <p:cNvSpPr txBox="1"/>
            <p:nvPr/>
          </p:nvSpPr>
          <p:spPr>
            <a:xfrm>
              <a:off x="3327401" y="3977580"/>
              <a:ext cx="5537198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zh-CN" altLang="en-US" sz="1400" spc="300" dirty="0">
                  <a:solidFill>
                    <a:schemeClr val="bg1"/>
                  </a:solidFill>
                  <a:cs typeface="+mn-ea"/>
                  <a:sym typeface="+mn-lt"/>
                </a:rPr>
                <a:t>研究性文章</a:t>
              </a:r>
            </a:p>
          </p:txBody>
        </p:sp>
        <p:cxnSp>
          <p:nvCxnSpPr>
            <p:cNvPr id="4" name="powerpoint template design by DAJU_PPT正版来源小红书大橘PPT微信DAJU_PPT请勿抄袭搬运！盗版必究！-3">
              <a:extLst>
                <a:ext uri="{FF2B5EF4-FFF2-40B4-BE49-F238E27FC236}">
                  <a16:creationId xmlns:a16="http://schemas.microsoft.com/office/drawing/2014/main" id="{B57E68C0-EFAA-65E7-F32B-2804A15849DA}"/>
                </a:ext>
              </a:extLst>
            </p:cNvPr>
            <p:cNvCxnSpPr>
              <a:cxnSpLocks/>
            </p:cNvCxnSpPr>
            <p:nvPr/>
          </p:nvCxnSpPr>
          <p:spPr>
            <a:xfrm>
              <a:off x="4182159" y="3843484"/>
              <a:ext cx="3827682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FEF24BE-C785-F68C-0B18-F412FB8E1D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29</a:t>
            </a:fld>
            <a:endParaRPr lang="zh-CN" altLang="en-US"/>
          </a:p>
        </p:txBody>
      </p: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E0FCE527-9955-7849-9795-3BE8CA4E8C4F}"/>
              </a:ext>
            </a:extLst>
          </p:cNvPr>
          <p:cNvGrpSpPr/>
          <p:nvPr/>
        </p:nvGrpSpPr>
        <p:grpSpPr>
          <a:xfrm>
            <a:off x="5010959" y="4911445"/>
            <a:ext cx="2170082" cy="613500"/>
            <a:chOff x="3345242" y="1493633"/>
            <a:chExt cx="6107954" cy="1726770"/>
          </a:xfrm>
        </p:grpSpPr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BE4131BA-1AB7-1AA4-4829-0BC2F1515C5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92" name="Freeform 5">
                <a:extLst>
                  <a:ext uri="{FF2B5EF4-FFF2-40B4-BE49-F238E27FC236}">
                    <a16:creationId xmlns:a16="http://schemas.microsoft.com/office/drawing/2014/main" id="{9970062C-F3B9-4B9F-869B-51F27AD9C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3" name="Freeform 6">
                <a:extLst>
                  <a:ext uri="{FF2B5EF4-FFF2-40B4-BE49-F238E27FC236}">
                    <a16:creationId xmlns:a16="http://schemas.microsoft.com/office/drawing/2014/main" id="{EBB7DA13-E2B3-4574-A324-9B395B6E7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4" name="Freeform 7">
                <a:extLst>
                  <a:ext uri="{FF2B5EF4-FFF2-40B4-BE49-F238E27FC236}">
                    <a16:creationId xmlns:a16="http://schemas.microsoft.com/office/drawing/2014/main" id="{462BEE17-6FA5-463C-AC68-407C49FCB1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5" name="Freeform 8">
                <a:extLst>
                  <a:ext uri="{FF2B5EF4-FFF2-40B4-BE49-F238E27FC236}">
                    <a16:creationId xmlns:a16="http://schemas.microsoft.com/office/drawing/2014/main" id="{D24F4AA0-E9CE-9E6F-211B-32535EA3A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6" name="Freeform 9">
                <a:extLst>
                  <a:ext uri="{FF2B5EF4-FFF2-40B4-BE49-F238E27FC236}">
                    <a16:creationId xmlns:a16="http://schemas.microsoft.com/office/drawing/2014/main" id="{A1D951FC-9E77-A4A1-2222-4693A2F353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7" name="Freeform 10">
                <a:extLst>
                  <a:ext uri="{FF2B5EF4-FFF2-40B4-BE49-F238E27FC236}">
                    <a16:creationId xmlns:a16="http://schemas.microsoft.com/office/drawing/2014/main" id="{189731E8-72DD-B633-4F31-138DE09F05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8" name="Freeform 11">
                <a:extLst>
                  <a:ext uri="{FF2B5EF4-FFF2-40B4-BE49-F238E27FC236}">
                    <a16:creationId xmlns:a16="http://schemas.microsoft.com/office/drawing/2014/main" id="{35DB3761-7A02-4690-5ECB-C1ACE711ED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99" name="Freeform 12">
                <a:extLst>
                  <a:ext uri="{FF2B5EF4-FFF2-40B4-BE49-F238E27FC236}">
                    <a16:creationId xmlns:a16="http://schemas.microsoft.com/office/drawing/2014/main" id="{F2FEE396-E818-6FA0-66AD-1DFC992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0" name="Freeform 13">
                <a:extLst>
                  <a:ext uri="{FF2B5EF4-FFF2-40B4-BE49-F238E27FC236}">
                    <a16:creationId xmlns:a16="http://schemas.microsoft.com/office/drawing/2014/main" id="{D3D66466-4BAB-1711-6639-DA213B91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1" name="Freeform 14">
                <a:extLst>
                  <a:ext uri="{FF2B5EF4-FFF2-40B4-BE49-F238E27FC236}">
                    <a16:creationId xmlns:a16="http://schemas.microsoft.com/office/drawing/2014/main" id="{99F6BABD-3BFC-22FC-6EE1-386DCD21A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2" name="Freeform 15">
                <a:extLst>
                  <a:ext uri="{FF2B5EF4-FFF2-40B4-BE49-F238E27FC236}">
                    <a16:creationId xmlns:a16="http://schemas.microsoft.com/office/drawing/2014/main" id="{2B128E24-0FE9-4BF1-6557-4E2C92C5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3" name="Freeform 16">
                <a:extLst>
                  <a:ext uri="{FF2B5EF4-FFF2-40B4-BE49-F238E27FC236}">
                    <a16:creationId xmlns:a16="http://schemas.microsoft.com/office/drawing/2014/main" id="{5A6874B5-0091-E866-FFB9-9D99122D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4" name="Freeform 17">
                <a:extLst>
                  <a:ext uri="{FF2B5EF4-FFF2-40B4-BE49-F238E27FC236}">
                    <a16:creationId xmlns:a16="http://schemas.microsoft.com/office/drawing/2014/main" id="{CF8F89A5-AE23-CDED-772F-07BF7BB6A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5" name="Freeform 18">
                <a:extLst>
                  <a:ext uri="{FF2B5EF4-FFF2-40B4-BE49-F238E27FC236}">
                    <a16:creationId xmlns:a16="http://schemas.microsoft.com/office/drawing/2014/main" id="{DD2DF04D-7737-1916-2339-1B2F4EEF3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6" name="Freeform 19">
                <a:extLst>
                  <a:ext uri="{FF2B5EF4-FFF2-40B4-BE49-F238E27FC236}">
                    <a16:creationId xmlns:a16="http://schemas.microsoft.com/office/drawing/2014/main" id="{7406971E-4AB5-2EF4-B40E-A9C90172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7" name="Freeform 20">
                <a:extLst>
                  <a:ext uri="{FF2B5EF4-FFF2-40B4-BE49-F238E27FC236}">
                    <a16:creationId xmlns:a16="http://schemas.microsoft.com/office/drawing/2014/main" id="{B1F5B042-21DA-A23C-C580-B120E801A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8" name="Freeform 21">
                <a:extLst>
                  <a:ext uri="{FF2B5EF4-FFF2-40B4-BE49-F238E27FC236}">
                    <a16:creationId xmlns:a16="http://schemas.microsoft.com/office/drawing/2014/main" id="{ECC3BD9F-6007-C85D-CBCE-E0FE6DA6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09" name="Freeform 22">
                <a:extLst>
                  <a:ext uri="{FF2B5EF4-FFF2-40B4-BE49-F238E27FC236}">
                    <a16:creationId xmlns:a16="http://schemas.microsoft.com/office/drawing/2014/main" id="{9413572F-A23A-83EB-61CC-F15B424D4F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23">
                <a:extLst>
                  <a:ext uri="{FF2B5EF4-FFF2-40B4-BE49-F238E27FC236}">
                    <a16:creationId xmlns:a16="http://schemas.microsoft.com/office/drawing/2014/main" id="{1441B96E-6ADA-8F15-2517-04658C4F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24">
                <a:extLst>
                  <a:ext uri="{FF2B5EF4-FFF2-40B4-BE49-F238E27FC236}">
                    <a16:creationId xmlns:a16="http://schemas.microsoft.com/office/drawing/2014/main" id="{755FE4E9-3B1B-D98E-034D-75E9C88B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25">
                <a:extLst>
                  <a:ext uri="{FF2B5EF4-FFF2-40B4-BE49-F238E27FC236}">
                    <a16:creationId xmlns:a16="http://schemas.microsoft.com/office/drawing/2014/main" id="{DC6C6932-D7A3-3753-F3F3-22FC6EB6C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26">
                <a:extLst>
                  <a:ext uri="{FF2B5EF4-FFF2-40B4-BE49-F238E27FC236}">
                    <a16:creationId xmlns:a16="http://schemas.microsoft.com/office/drawing/2014/main" id="{7DEDF068-2AD3-56D8-5A3B-96A39F7B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27">
                <a:extLst>
                  <a:ext uri="{FF2B5EF4-FFF2-40B4-BE49-F238E27FC236}">
                    <a16:creationId xmlns:a16="http://schemas.microsoft.com/office/drawing/2014/main" id="{382A9473-A777-D378-9B25-3DA416FB3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64" name="Freeform 28">
              <a:extLst>
                <a:ext uri="{FF2B5EF4-FFF2-40B4-BE49-F238E27FC236}">
                  <a16:creationId xmlns:a16="http://schemas.microsoft.com/office/drawing/2014/main" id="{491C0DAA-6357-BD9D-844B-91328C6D72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5" name="Freeform 29">
              <a:extLst>
                <a:ext uri="{FF2B5EF4-FFF2-40B4-BE49-F238E27FC236}">
                  <a16:creationId xmlns:a16="http://schemas.microsoft.com/office/drawing/2014/main" id="{8F55496B-6ABC-2A3A-D7F1-36C624F90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6" name="Freeform 30">
              <a:extLst>
                <a:ext uri="{FF2B5EF4-FFF2-40B4-BE49-F238E27FC236}">
                  <a16:creationId xmlns:a16="http://schemas.microsoft.com/office/drawing/2014/main" id="{DD55B677-BE20-4F48-93EE-5D2492FD4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7" name="Freeform 31">
              <a:extLst>
                <a:ext uri="{FF2B5EF4-FFF2-40B4-BE49-F238E27FC236}">
                  <a16:creationId xmlns:a16="http://schemas.microsoft.com/office/drawing/2014/main" id="{0F265490-4B09-9FA2-8EB8-0DFE6EBE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8" name="Freeform 32">
              <a:extLst>
                <a:ext uri="{FF2B5EF4-FFF2-40B4-BE49-F238E27FC236}">
                  <a16:creationId xmlns:a16="http://schemas.microsoft.com/office/drawing/2014/main" id="{3423FB54-B985-9390-30AD-99E9ED62A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69" name="Freeform 33">
              <a:extLst>
                <a:ext uri="{FF2B5EF4-FFF2-40B4-BE49-F238E27FC236}">
                  <a16:creationId xmlns:a16="http://schemas.microsoft.com/office/drawing/2014/main" id="{5372B049-3A53-24B5-6ABA-DAE7EB75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0" name="Freeform 34">
              <a:extLst>
                <a:ext uri="{FF2B5EF4-FFF2-40B4-BE49-F238E27FC236}">
                  <a16:creationId xmlns:a16="http://schemas.microsoft.com/office/drawing/2014/main" id="{4BAA9A72-AF07-8FB5-62F8-5FEDAFA7C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1" name="Freeform 35">
              <a:extLst>
                <a:ext uri="{FF2B5EF4-FFF2-40B4-BE49-F238E27FC236}">
                  <a16:creationId xmlns:a16="http://schemas.microsoft.com/office/drawing/2014/main" id="{62571C7F-3A9E-CFDD-FEBD-A5E201818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2" name="Freeform 36">
              <a:extLst>
                <a:ext uri="{FF2B5EF4-FFF2-40B4-BE49-F238E27FC236}">
                  <a16:creationId xmlns:a16="http://schemas.microsoft.com/office/drawing/2014/main" id="{ECC6BE6C-8C1E-9B28-AA82-BB3DF8BE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3" name="Freeform 37">
              <a:extLst>
                <a:ext uri="{FF2B5EF4-FFF2-40B4-BE49-F238E27FC236}">
                  <a16:creationId xmlns:a16="http://schemas.microsoft.com/office/drawing/2014/main" id="{47DA4914-2881-BD22-1A75-AEB2CC921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4" name="Freeform 38">
              <a:extLst>
                <a:ext uri="{FF2B5EF4-FFF2-40B4-BE49-F238E27FC236}">
                  <a16:creationId xmlns:a16="http://schemas.microsoft.com/office/drawing/2014/main" id="{A79E4E1B-93CC-D5A5-89E7-5F55BB0F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5" name="Freeform 39">
              <a:extLst>
                <a:ext uri="{FF2B5EF4-FFF2-40B4-BE49-F238E27FC236}">
                  <a16:creationId xmlns:a16="http://schemas.microsoft.com/office/drawing/2014/main" id="{70F7C4EE-1467-BE96-882A-59A785C81F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6" name="Freeform 40">
              <a:extLst>
                <a:ext uri="{FF2B5EF4-FFF2-40B4-BE49-F238E27FC236}">
                  <a16:creationId xmlns:a16="http://schemas.microsoft.com/office/drawing/2014/main" id="{D4861ECA-DE61-8976-5A31-C7021232F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7" name="Freeform 41">
              <a:extLst>
                <a:ext uri="{FF2B5EF4-FFF2-40B4-BE49-F238E27FC236}">
                  <a16:creationId xmlns:a16="http://schemas.microsoft.com/office/drawing/2014/main" id="{88F17DBA-9587-2D24-39C2-EBC4F578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8" name="Freeform 42">
              <a:extLst>
                <a:ext uri="{FF2B5EF4-FFF2-40B4-BE49-F238E27FC236}">
                  <a16:creationId xmlns:a16="http://schemas.microsoft.com/office/drawing/2014/main" id="{FDE9EDA9-F40D-9BCE-FE2C-0DE881FE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79" name="Freeform 43">
              <a:extLst>
                <a:ext uri="{FF2B5EF4-FFF2-40B4-BE49-F238E27FC236}">
                  <a16:creationId xmlns:a16="http://schemas.microsoft.com/office/drawing/2014/main" id="{3A4647A8-A015-E966-E94D-8A61A4C7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0" name="Freeform 44">
              <a:extLst>
                <a:ext uri="{FF2B5EF4-FFF2-40B4-BE49-F238E27FC236}">
                  <a16:creationId xmlns:a16="http://schemas.microsoft.com/office/drawing/2014/main" id="{37FF267C-89DB-EB72-1F07-DCC5657D0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1" name="Freeform 45">
              <a:extLst>
                <a:ext uri="{FF2B5EF4-FFF2-40B4-BE49-F238E27FC236}">
                  <a16:creationId xmlns:a16="http://schemas.microsoft.com/office/drawing/2014/main" id="{0507D498-1841-F8C1-7AA8-F25392692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46">
              <a:extLst>
                <a:ext uri="{FF2B5EF4-FFF2-40B4-BE49-F238E27FC236}">
                  <a16:creationId xmlns:a16="http://schemas.microsoft.com/office/drawing/2014/main" id="{007FFA95-EAC7-4FCF-D5EE-886FD413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47">
              <a:extLst>
                <a:ext uri="{FF2B5EF4-FFF2-40B4-BE49-F238E27FC236}">
                  <a16:creationId xmlns:a16="http://schemas.microsoft.com/office/drawing/2014/main" id="{4AEFADCE-2E19-E9AF-5AA7-6D7D7CB3E1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48">
              <a:extLst>
                <a:ext uri="{FF2B5EF4-FFF2-40B4-BE49-F238E27FC236}">
                  <a16:creationId xmlns:a16="http://schemas.microsoft.com/office/drawing/2014/main" id="{1C6E8DB4-A6A8-89BA-FE43-1DD9A79D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49">
              <a:extLst>
                <a:ext uri="{FF2B5EF4-FFF2-40B4-BE49-F238E27FC236}">
                  <a16:creationId xmlns:a16="http://schemas.microsoft.com/office/drawing/2014/main" id="{FDA48A4D-9965-7E8D-6C8D-465229BAA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50">
              <a:extLst>
                <a:ext uri="{FF2B5EF4-FFF2-40B4-BE49-F238E27FC236}">
                  <a16:creationId xmlns:a16="http://schemas.microsoft.com/office/drawing/2014/main" id="{EA909A83-FB02-A80C-8F71-B1607759F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51">
              <a:extLst>
                <a:ext uri="{FF2B5EF4-FFF2-40B4-BE49-F238E27FC236}">
                  <a16:creationId xmlns:a16="http://schemas.microsoft.com/office/drawing/2014/main" id="{8C1F891E-73EB-4C7A-1BB8-9332564B1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52">
              <a:extLst>
                <a:ext uri="{FF2B5EF4-FFF2-40B4-BE49-F238E27FC236}">
                  <a16:creationId xmlns:a16="http://schemas.microsoft.com/office/drawing/2014/main" id="{9BA0129F-882A-DA51-B60E-AF643289D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53">
              <a:extLst>
                <a:ext uri="{FF2B5EF4-FFF2-40B4-BE49-F238E27FC236}">
                  <a16:creationId xmlns:a16="http://schemas.microsoft.com/office/drawing/2014/main" id="{D4B3D112-C058-D99B-4D45-19BE310F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54">
              <a:extLst>
                <a:ext uri="{FF2B5EF4-FFF2-40B4-BE49-F238E27FC236}">
                  <a16:creationId xmlns:a16="http://schemas.microsoft.com/office/drawing/2014/main" id="{9744D238-F61F-D5C4-E6C5-B8F5B15E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55">
              <a:extLst>
                <a:ext uri="{FF2B5EF4-FFF2-40B4-BE49-F238E27FC236}">
                  <a16:creationId xmlns:a16="http://schemas.microsoft.com/office/drawing/2014/main" id="{6E2DCF0F-BB6C-9E66-EB37-C24589EA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</p:spTree>
    <p:extLst>
      <p:ext uri="{BB962C8B-B14F-4D97-AF65-F5344CB8AC3E}">
        <p14:creationId xmlns:p14="http://schemas.microsoft.com/office/powerpoint/2010/main" val="4154608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052168-F663-6683-C29A-F1C9FEACE9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FB7E436-838F-58D9-272E-E86226D67CD1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91F1C21-39F7-4092-1608-3A09473D8D2E}"/>
              </a:ext>
            </a:extLst>
          </p:cNvPr>
          <p:cNvSpPr txBox="1"/>
          <p:nvPr/>
        </p:nvSpPr>
        <p:spPr>
          <a:xfrm>
            <a:off x="473580" y="1108968"/>
            <a:ext cx="380466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文章简介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91D1E2EC-C493-2E67-B5F3-F5ABCFE094D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62189BFC-C301-3A24-E3B3-39323C493CFC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E14FE4B2-629C-11A5-EE83-48A7131FEE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30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AD844275-EF1E-C2F8-54F4-FC8778B1A1B7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732B11CA-ABF7-44B7-DFE7-69FEC5D1E36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15DB0902-DA55-6B95-977C-68E803CC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B5B1E774-30DF-E935-DE52-F4A63E1E7D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A4020D91-7AB2-8704-A5E3-104AC2AC2C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A85EF83A-C6AC-F944-51B1-44A1D8DAEC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0EE5A8BC-8A6D-A0A9-5092-22D6628475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79F95296-7BC1-0508-DF64-8882D26A67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957A1229-AC59-4B63-3693-6B2962EB72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B733E50-FF7D-F564-DBAE-3A96D249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090A0A98-1A89-6BD1-3FEB-A7B417D98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13F64FF2-8369-729D-A434-ADFE664E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1ABFDB2B-593B-BC51-9B97-8F5331679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EDF79AC5-B4C7-56FD-D04D-3BA0603F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AFA5866E-AE18-3C7C-E1D5-F09164E04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A2FA0AB3-71F9-33BE-3CFC-FAD068A9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0D4D32B-9447-2E53-B1D1-4E323F259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C3468A83-E4FB-568B-E921-83C14D23C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9F14C06C-6E65-C2FB-3413-F1221A34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95D92F1C-08E9-60C6-5694-FACD9AF953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F32B2581-F7E5-9346-C710-C92306EF4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CDCFB86A-459B-4998-0690-29B61048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EE1C7AD7-F536-7AEE-BBD1-138B5043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FD6EF943-3B69-13F8-B50E-9F5A32659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BEB2F25C-ED20-BC5F-0C4E-4D6434AD85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49DB3513-5F32-324D-A8B8-5EE9AED45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2466C6A6-A8B4-6E7B-06FB-EDB96C461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4D71D079-F647-E8DB-ACE0-4523C66B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82479555-1D7F-9381-CE68-2D2E4362B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3FCAB6A-5C3C-C9FC-CD7B-3FDFDF9E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46EAF377-15D4-D59D-7E3F-BBB55CD7E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968304A-F135-4056-5166-94EFADAB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02FCEA1B-94B6-4E3F-D379-EC28CF87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4727A261-6D95-9756-3A66-A59C1794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25ED2C27-FB78-6C81-77FA-E552C5030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B5F29609-066E-03A6-E03F-BCB99793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31AB3D96-F450-A63D-AA9C-FBAE3CC28E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50BDD50-0266-95E7-29B5-38CBD9D3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6A465153-6264-D4B6-FC8D-9768A0C58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40EB9E27-39FC-920B-289A-9B20F558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D4532EEA-74DE-8E53-02A3-E19ECA6CD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7D8C87B4-CA0E-6BEB-422A-7BD6ADE7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3130EF80-3F10-0D51-6591-ED925AAD54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1CC5747B-11BC-9C68-19A2-7D9736954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75CE3184-070D-D801-4249-8AD429ACE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78199901-B0F6-965B-0A4F-5AAE030A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819BF6CF-91FF-3C83-4911-717B89BD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2CE47D2F-956A-C49C-824E-09613B63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B06E7A2E-B6EE-57D4-7CAF-65B93201B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851FF934-DB66-2D49-48A1-9C090B2E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C29019E4-62B9-61F7-329A-2652A03C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A54717B7-BAD3-A9FE-7531-EA9E203FF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429F35E3-3552-F037-9D5C-FF9D99040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77D302E8-AF2E-A750-C6F6-292E51D80F2F}"/>
              </a:ext>
            </a:extLst>
          </p:cNvPr>
          <p:cNvSpPr txBox="1"/>
          <p:nvPr/>
        </p:nvSpPr>
        <p:spPr>
          <a:xfrm>
            <a:off x="5155677" y="2304261"/>
            <a:ext cx="6094428" cy="33496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 algn="just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论文：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Deep Learning Based Social Bot Detection on Twitter</a:t>
            </a:r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作者：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Efe Arin 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和 </a:t>
            </a:r>
            <a:r>
              <a:rPr lang="en-US" altLang="zh-CN" b="1" i="0" dirty="0" err="1">
                <a:solidFill>
                  <a:srgbClr val="111133"/>
                </a:solidFill>
                <a:effectLst/>
                <a:latin typeface="+mn-ea"/>
              </a:rPr>
              <a:t>Mucahid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 Kutlu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（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the TOBB University of Economics and Technology, TOBB ETU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）</a:t>
            </a:r>
            <a:endParaRPr lang="en-US" altLang="zh-CN" b="1" i="0" dirty="0">
              <a:solidFill>
                <a:srgbClr val="111133"/>
              </a:solidFill>
              <a:effectLst/>
              <a:latin typeface="+mn-ea"/>
            </a:endParaRPr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发表刊物：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《IEEE TRANSACTIONS ON INFORMATION FORENSICS AND SECURITY》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（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CCF-A, </a:t>
            </a:r>
            <a:r>
              <a:rPr lang="zh-CN" altLang="en-US" b="1" dirty="0"/>
              <a:t>学术期刊）</a:t>
            </a:r>
            <a:endParaRPr lang="en-US" altLang="zh-CN" b="1" dirty="0"/>
          </a:p>
          <a:p>
            <a:pPr marL="285750" indent="-285750" algn="just">
              <a:lnSpc>
                <a:spcPts val="1950"/>
              </a:lnSpc>
              <a:spcBef>
                <a:spcPts val="1200"/>
              </a:spcBef>
              <a:spcAft>
                <a:spcPts val="1200"/>
              </a:spcAft>
              <a:buFont typeface="Wingdings" panose="05000000000000000000" pitchFamily="2" charset="2"/>
              <a:buChar char="p"/>
            </a:pP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发表年份：</a:t>
            </a:r>
            <a:r>
              <a:rPr lang="en-US" altLang="zh-CN" b="1" i="0" dirty="0">
                <a:solidFill>
                  <a:srgbClr val="111133"/>
                </a:solidFill>
                <a:effectLst/>
                <a:latin typeface="+mn-ea"/>
              </a:rPr>
              <a:t>2023</a:t>
            </a:r>
            <a:r>
              <a:rPr lang="zh-CN" altLang="en-US" b="1" i="0" dirty="0">
                <a:solidFill>
                  <a:srgbClr val="111133"/>
                </a:solidFill>
                <a:effectLst/>
                <a:latin typeface="+mn-ea"/>
              </a:rPr>
              <a:t>年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AF406D2B-D7F5-65F6-E623-92517A2F391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741" y="1873774"/>
            <a:ext cx="3120973" cy="4068000"/>
          </a:xfrm>
          <a:prstGeom prst="rect">
            <a:avLst/>
          </a:prstGeom>
          <a:effectLst>
            <a:outerShdw blurRad="127000" dist="38100" dir="2700000" sx="104000" sy="104000" algn="tl" rotWithShape="0">
              <a:prstClr val="black">
                <a:alpha val="36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4003453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E1AEA-82CA-7573-2AEF-A7F56004C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5E39D65-8CEC-3FEE-DCF0-0BE3B40AB62C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77AB938-E87B-8A2A-F81F-E90B48C3D6C5}"/>
              </a:ext>
            </a:extLst>
          </p:cNvPr>
          <p:cNvSpPr txBox="1"/>
          <p:nvPr/>
        </p:nvSpPr>
        <p:spPr>
          <a:xfrm>
            <a:off x="473580" y="1108968"/>
            <a:ext cx="5785818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第一部分：研究背景与核心问题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(The Problem) 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75063232-22E4-418C-01BB-EBCF7153F75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11B58D4F-BC8C-23A0-B180-9E831F1A3251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B106B274-985B-8FCF-F81D-A1475F0D7A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31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5B1DC769-1816-D99A-EBC2-78446AB8D287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334E5846-3A24-69AD-79B6-27B525C9413C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3CE1DE74-869D-B845-5C76-32EA7FB06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240186E9-258D-3E98-9F93-20B74F3DEB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2A734DEC-4657-0E2E-6140-C0D90C2BBC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6AEDB707-C855-5505-C240-B0E3EC2CCB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DBC04C6A-A2BD-7EE6-BAB0-1B1BEB2F0D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C1071723-936F-E3EA-6067-22984B1420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07104436-5429-A657-49C7-EC9B74A011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A347BC4D-9B8A-F4D9-B966-34F8BF513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8E39E44C-A610-0453-E143-B24448BC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9514DB3-C975-F1D3-E0C8-61708348E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E568079E-5F3F-58AB-A125-9E0063675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CFBF24A5-8FC7-C0AD-56A1-6B2F08FE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DFB29560-1827-09BB-49EF-A40EED726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542277AF-FB55-C78E-2BD1-83DDC33C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1B2E60CC-8EF7-2449-6DFC-17EB0924C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8547CE6-7127-C9D9-F720-8B080C23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EF7FBAE9-FB6B-8E58-C3B4-D800D9F8E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257A9D4E-5E3C-13A0-036E-8F1CD11EE2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8F1376F-A866-DCA9-E4A3-87B0E375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E697EA43-01E5-9F76-CF12-518BE549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41EF42F9-6B90-ACC9-478E-14F4760F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F950C893-1B94-9581-49EB-7960410D5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4F9B8C49-EAFD-6CB6-E244-429029CA9F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C7488236-EA1A-A7AB-B584-A95387B1D0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0676FC08-09F0-0B85-9C4A-42FA5E74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3B1C29D3-C531-A895-5E2A-08A94B53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387BD592-6795-3540-9B00-FDA44F50F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933337A4-98A1-FA36-884A-9BFE1109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3B1A078F-65ED-D25E-CE23-D5CEBB17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32F45431-71EC-3117-02E9-B7CC45CC5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5B3D7DE8-64A7-454F-31A3-F77A0CEC5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FDF8AE23-84FA-F48E-2516-6BC7D1D05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D16DD010-D190-5D7D-C947-435BB6F84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6125A5A6-FCCB-75B2-8572-5F88DFA97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D413A3E0-76BF-2DC0-7CDB-2BC81933E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BDB5CD8-E5EA-94CF-6B55-48DE760A3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14605896-2FED-2DB8-2562-8F8A9E44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2D5D4EDF-1A8C-F0D9-D41B-39A18A89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DA7C94A2-7EDB-82CB-58D6-70B8E6D7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52E93835-F4B2-20DF-2D8D-822048C4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0FB8CD15-3780-B54C-1ED4-D2BBA46E4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F7381156-4114-786C-AA05-2A2992BA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023ED3BF-FDA1-76C9-6A58-2B8D5DA89A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DEA23963-C9DF-2C41-119D-5C2B5D9E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8297EAEA-408B-D64B-27D1-7D98FCACD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9A8FB277-2997-832B-DC64-D406121FD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AF76ECD-E1CE-31A6-A8B1-DED87FED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1794F12A-FA27-19A2-6905-2657BF38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E8B9DB8A-0869-2FB5-8D4B-A4637B74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5F9DF070-7BB5-D725-23F2-51FD2D44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C35E26CA-A215-7AD6-BFA2-7B11F67A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032205CB-8CE9-0785-95B2-77A67D606D12}"/>
              </a:ext>
            </a:extLst>
          </p:cNvPr>
          <p:cNvSpPr txBox="1"/>
          <p:nvPr/>
        </p:nvSpPr>
        <p:spPr>
          <a:xfrm>
            <a:off x="494910" y="2097832"/>
            <a:ext cx="11385340" cy="2998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1.1 </a:t>
            </a:r>
            <a:r>
              <a:rPr lang="zh-CN" altLang="en-US" sz="2000" b="1" dirty="0"/>
              <a:t>社交机器人的双刃剑效应：</a:t>
            </a:r>
            <a:endParaRPr lang="en-US" altLang="zh-CN" sz="2000" b="1" dirty="0"/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正面用途：</a:t>
            </a:r>
            <a:r>
              <a:rPr lang="zh-CN" altLang="en-US" dirty="0"/>
              <a:t>自动发布地震警报（</a:t>
            </a:r>
            <a:r>
              <a:rPr lang="en-US" altLang="zh-CN" dirty="0"/>
              <a:t>SF </a:t>
            </a:r>
            <a:r>
              <a:rPr lang="en-US" altLang="zh-CN" dirty="0" err="1"/>
              <a:t>QuakeBot</a:t>
            </a:r>
            <a:r>
              <a:rPr lang="zh-CN" altLang="en-US" dirty="0"/>
              <a:t>）。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负面危害：这是论文关注的重点。社交机器人可以被用来：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操纵舆论：</a:t>
            </a:r>
            <a:r>
              <a:rPr lang="zh-CN" altLang="en-US" dirty="0"/>
              <a:t>通过大量、重复地发布特定信息（利用“虚幻真相效应”），影响公众对政治、疫情等话题的看法。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传播恶意软件和虚假信息：</a:t>
            </a:r>
            <a:r>
              <a:rPr lang="zh-CN" altLang="en-US" dirty="0"/>
              <a:t>放大有害内容的传播范围。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进行网络钓鱼攻击：</a:t>
            </a:r>
            <a:r>
              <a:rPr lang="zh-CN" altLang="en-US" dirty="0"/>
              <a:t>伪装成真人用户进行欺诈。</a:t>
            </a:r>
            <a:endParaRPr lang="zh-CN" altLang="en-US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5157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59FBE-19A3-654D-950F-0B6C1AADE6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91F64143-6ED3-7550-61AA-E3C3AC15FAB0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86F6EAD-56BA-2511-0746-3DAB2470CE5A}"/>
              </a:ext>
            </a:extLst>
          </p:cNvPr>
          <p:cNvSpPr txBox="1"/>
          <p:nvPr/>
        </p:nvSpPr>
        <p:spPr>
          <a:xfrm>
            <a:off x="473579" y="1108968"/>
            <a:ext cx="582352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第一部分：研究背景与核心问题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cs typeface="+mn-ea"/>
                <a:sym typeface="+mn-lt"/>
              </a:rPr>
              <a:t>(The Problem) 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E83C652-FA18-B42B-02D1-AA4D2DD2F90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9514AE01-7092-323C-8F0F-BFA5F90EE068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E9251E66-A39F-D232-2CB6-B2F969D02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32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07FA23CC-416C-878B-2FBE-D0C024B33F91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FD806CDF-C1D9-0CDD-3980-7C99A24881DE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925C29BE-D4DB-E4AB-73EE-22601005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EEAF088C-4A28-4EEA-DAFE-07537294DA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5F935ED3-9136-EBB0-D168-C5B0B55DA8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6DD6C783-8994-A320-AA0F-FE1814A76D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91126302-B0CE-CA4A-4AF8-83916744B3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C80EC7A6-B5DE-81BF-180F-6C61333861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17465570-41CE-C4F3-977F-2117DA52C6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F3FD65C8-358F-885D-1AF6-839FE68B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BE36E92F-80A4-E01B-2CA2-CA249EBE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07AFC3FD-3C5B-FF44-C54E-17DE88D27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91BE815E-1FA3-071B-D086-AE0621C8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359B2B9E-36E4-C67F-4029-0D4CAEE1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D5311CDB-C3C6-A375-514B-C6E8D1298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D306C455-BF47-DF67-7ADE-A70AEB78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53D2DBB-9C31-A13D-CB6E-D4F4BA4B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574BE4D6-AC55-5C87-C8BC-882A8986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60AC9984-FE6A-E5B8-B90E-60496A56E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B045F0A6-AF5A-F05C-D84A-F6D3EF49CC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B24E32A3-8CF7-FF74-625B-D6659E0E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E083998C-4E64-AA91-D6EC-EFDD38C1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D7C544B7-2EA4-53E9-C6AF-70DC6F48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1A59EB9D-43EE-DAA0-46D1-4CBAC3A40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E94832AA-9C00-4E95-FDE6-BF22536B97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03C8FBD3-C0F0-9201-CAB7-B021E7EB06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AE706650-AA87-4648-62BA-3FBC99879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062517BD-27D5-2CD4-0562-7ED03F0F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317914B3-4F23-3EC0-9AAB-2DA76EB7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CF1B657D-3308-5DCE-4B78-89291DCB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8E18D39E-04CB-A5CF-0CEE-1E743301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DBDA4B1F-37EC-ACE7-03CC-DFFD611E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F11A686A-E635-45B0-729F-80D42DEB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B61B4728-5503-1288-1BF0-62C57DF1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99A93D5E-3F77-9B87-877F-CC85DDD3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58B130C4-0610-8D32-E406-B9CD8705E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1E2650A0-39CA-C3CC-BB38-8F2E38DAC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99A1F60-BA40-49BF-BD68-3C08A294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DDCFE3CC-E41D-95F8-E374-DF4FA678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8963F5AD-1AE7-C04D-F43F-842ECC1C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25E1275E-50B9-906D-E6E0-97C34791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0EBEE337-8C44-4793-07A7-24D811601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E908573-F7B9-CB4B-7972-7DA89266B5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939DDAA1-DB4D-8651-8B90-683D2B05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E2458103-4760-90FE-2F2F-9B7AF930B0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2DE626C5-C74C-B51A-8340-5B4991F1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019C7151-7108-1FEE-DA98-D0393430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6AFD72A0-474F-7727-D59E-63F8A1EA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D47F56AA-5228-517D-AED5-49CE2D42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EAD65995-95AC-D72F-59DF-AEF0E71F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8E3CCC2B-A32F-7F30-EAD9-4E66F9F5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2FEC4C7B-6653-671F-AE85-D326DBBD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9E5DE75C-56A0-B70D-8C62-EBC3DD00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882B404D-D3FA-08B5-BBA0-54036C5918C8}"/>
              </a:ext>
            </a:extLst>
          </p:cNvPr>
          <p:cNvSpPr txBox="1"/>
          <p:nvPr/>
        </p:nvSpPr>
        <p:spPr>
          <a:xfrm>
            <a:off x="473580" y="1734899"/>
            <a:ext cx="11385340" cy="43309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2000" b="1" dirty="0">
                <a:latin typeface="+mn-ea"/>
              </a:rPr>
              <a:t>1.2 </a:t>
            </a:r>
            <a:r>
              <a:rPr lang="zh-CN" altLang="en-US" sz="2000" b="1" dirty="0"/>
              <a:t>检测的必要性与挑战：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必要性：</a:t>
            </a:r>
            <a:r>
              <a:rPr lang="en-US" altLang="zh-CN" dirty="0"/>
              <a:t>Twitter </a:t>
            </a:r>
            <a:r>
              <a:rPr lang="zh-CN" altLang="en-US" dirty="0"/>
              <a:t>平台估计有 </a:t>
            </a:r>
            <a:r>
              <a:rPr lang="en-US" altLang="zh-CN" dirty="0"/>
              <a:t>9%-15% </a:t>
            </a:r>
            <a:r>
              <a:rPr lang="zh-CN" altLang="en-US" dirty="0"/>
              <a:t>的账户是虚假的。为了维护平台健康和研究数据的完整性，自动化的检测系统至关重要。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核心挑战（论文明确指出）：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类图灵测试：</a:t>
            </a:r>
            <a:r>
              <a:rPr lang="zh-CN" altLang="en-US" dirty="0"/>
              <a:t>目标是区分人类和程序，但检测者无法与目标交互，只能被动分析其公开资料。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机器人类型的高度多样性：</a:t>
            </a:r>
            <a:r>
              <a:rPr lang="zh-CN" altLang="en-US" dirty="0"/>
              <a:t>每个机器人都体现了其创造者的想象力，行为模式千差万别。</a:t>
            </a:r>
          </a:p>
          <a:p>
            <a:pPr marL="742950" lvl="1" indent="-285750" algn="just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机器人的持续进化：</a:t>
            </a:r>
            <a:r>
              <a:rPr lang="zh-CN" altLang="en-US" dirty="0"/>
              <a:t>尤其是随着 </a:t>
            </a:r>
            <a:r>
              <a:rPr lang="en-US" altLang="zh-CN" dirty="0"/>
              <a:t>GPT-3 </a:t>
            </a:r>
            <a:r>
              <a:rPr lang="zh-CN" altLang="en-US" dirty="0"/>
              <a:t>等先进文本生成技术的发展，机器人发布的消息越来越“像人”，使得检测变成了一场“永无止境的攻防战”。</a:t>
            </a:r>
          </a:p>
          <a:p>
            <a:pPr algn="just">
              <a:lnSpc>
                <a:spcPct val="150000"/>
              </a:lnSpc>
            </a:pPr>
            <a:r>
              <a:rPr lang="zh-CN" altLang="en-US" sz="2000" dirty="0"/>
              <a:t>因此，本文要解决的核心问题是：</a:t>
            </a:r>
            <a:r>
              <a:rPr lang="zh-CN" alt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如何设计一个强大、通用且能适应未来演化的深度学习模型，以有效地区分 </a:t>
            </a:r>
            <a:r>
              <a:rPr lang="en-US" altLang="zh-CN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Twitter </a:t>
            </a:r>
            <a:r>
              <a:rPr lang="zh-CN" alt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上的人类账户和社交机器人账户</a:t>
            </a:r>
            <a:r>
              <a:rPr lang="zh-CN" altLang="en-US" sz="2000" dirty="0"/>
              <a:t>。</a:t>
            </a:r>
            <a:endParaRPr lang="zh-CN" altLang="en-US" sz="20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51351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EE601-C2FE-A905-0F93-10D868A1AA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1AD8797E-8FC3-75A7-BE34-E4B12E6214BB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BA77878-2B1B-ABF1-49E4-9B0DDDBB3284}"/>
              </a:ext>
            </a:extLst>
          </p:cNvPr>
          <p:cNvSpPr txBox="1"/>
          <p:nvPr/>
        </p:nvSpPr>
        <p:spPr>
          <a:xfrm>
            <a:off x="473580" y="1108968"/>
            <a:ext cx="4918552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第二部分：主要贡献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(Contributions)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66E2F6F4-4DDD-D5A9-9A9D-E641A9DAB60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6F4AA094-97B3-AD9D-E58F-F8A096EA7F06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C3808CBE-F7F4-20CF-FE37-27BEE5D54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33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5A7DB27D-874B-B832-5BA8-CCA9E62EBD63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D0F45995-685C-D82B-D3D4-7D682B6C0042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DF064B06-9323-C950-AED1-3CF7CE344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30C60065-8213-8102-4A77-673C2E92CC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4AE8B717-F713-F37E-2C8F-626A7715CB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968472E2-B477-9552-5992-182FCC78E8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A87A419F-1731-5CCE-CADB-1E634E918B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39FD541F-3AEC-AD5C-F926-53734B45D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10BAB8BD-7BEE-4000-14CE-E4D7A66800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0A86BF2D-CF38-B2E9-5B3F-65652BCB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91A88C84-10C1-CDE4-F7D6-4A49962B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423DBFE0-0931-4E1E-509A-F50AB751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DB2A315B-2876-F7A5-47EF-64427E2A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E3787BB6-CA30-56F9-109F-C56E663AA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5AAA589E-8431-F043-899D-6B5AE88B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F2F44DD2-3F5E-DDCB-7949-F6B631D23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EF0CEA3-3605-BCB4-B4F3-FE207EC15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7F82E62E-D44A-DF58-9496-77FF168F7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4216433-6C39-C0E8-EBD9-94A4647C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CEC86A22-9E60-304C-6152-29DE4DC75A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EC970CDA-15B6-E220-EE3D-6DC4D07C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E2519217-E467-FC11-E871-8B4CD0F6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34E3E18A-3594-0490-7DEA-8B6CDE6B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8B25DEB2-BEC3-99FE-41F1-012A4AA0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1DC7C1F4-9485-45E6-1754-2C16BFB43F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3E25B0B8-8202-A26B-AC0F-F2372A5A5F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21519B80-EBD7-82C2-5657-B2A694D3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7470118A-8F92-A563-8A35-4FF7BBD0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400D341C-F6BD-C1D1-7CFF-0CB33777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DA689002-992D-52BF-10CC-C6847043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A76A08B5-CC07-B860-F590-DC2D88BE5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AC0F2131-A944-7011-08E8-FF8F2777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1D28C86A-F765-C4EF-5638-9D5E7120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540DC1A4-AB9A-F48C-BB21-4F3AA9D2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89EF224-F18D-325D-E389-9FFF2497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2B3651C4-AD07-E580-92E2-F8275A30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10E84BC0-D92F-ACCD-5A42-12B943BD6F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DC7A09F3-2F68-AC25-486B-9209AE62F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B8906BE-D040-CB52-D408-3BBA178F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4170D454-BE38-BBDD-CCD0-F7A72748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4859E73B-62C3-C8E5-999C-12827842E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F9A0CAF3-66A8-C55D-06CE-D7297C57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A7ECBBAA-CC16-17DE-2FF3-44A58A10A7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64E7F675-F3A3-A1EF-A3D4-06FDD736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AEB24AC7-A4B6-2675-3195-BF0FF2E6C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340D6B34-4F8B-5F57-9F99-D46AEB02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F004E32F-005D-82D8-C94F-5125A749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0653FD95-1BBA-07A8-CC6D-167D721A5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59FB9586-47C6-AA6C-87D0-A92E9767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9DCFE9ED-C771-A3EA-B283-600C7798F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B3241C5E-A889-878C-9054-D810BFC2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E0BF3C3-1FE5-1C78-141C-886D1C5E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B3B6AF96-ABE6-A0B4-2A33-A5BEF4B1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C1B55D49-1D36-1412-DABF-4666536E8594}"/>
              </a:ext>
            </a:extLst>
          </p:cNvPr>
          <p:cNvSpPr txBox="1"/>
          <p:nvPr/>
        </p:nvSpPr>
        <p:spPr>
          <a:xfrm>
            <a:off x="473580" y="1734899"/>
            <a:ext cx="11385340" cy="37312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作者在引言部分清晰地列出了四点主要贡献：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2000" b="1" dirty="0">
                <a:latin typeface="+mn-ea"/>
              </a:rPr>
              <a:t>提出了一种新颖的深度学习架构：</a:t>
            </a:r>
            <a:r>
              <a:rPr lang="zh-CN" altLang="en-US" sz="2000" dirty="0">
                <a:latin typeface="+mn-ea"/>
              </a:rPr>
              <a:t>该架构旨在充分利用 </a:t>
            </a:r>
            <a:r>
              <a:rPr lang="en-US" altLang="zh-CN" sz="2000" dirty="0">
                <a:latin typeface="+mn-ea"/>
              </a:rPr>
              <a:t>Twitter </a:t>
            </a:r>
            <a:r>
              <a:rPr lang="zh-CN" altLang="en-US" sz="2000" dirty="0">
                <a:latin typeface="+mn-ea"/>
              </a:rPr>
              <a:t>账户的所有可用信息，包括推文内容、推文元数据、账户描述和账户元数据。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2000" b="1" dirty="0">
                <a:latin typeface="+mn-ea"/>
              </a:rPr>
              <a:t>探索了三种创新的训练方案：</a:t>
            </a:r>
            <a:r>
              <a:rPr lang="zh-CN" altLang="en-US" sz="2000" dirty="0">
                <a:latin typeface="+mn-ea"/>
              </a:rPr>
              <a:t>针对其复杂的多组件混合架构，提出了不同的训练策略来平衡各组件的学习过程。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2000" b="1" dirty="0">
                <a:latin typeface="+mn-ea"/>
              </a:rPr>
              <a:t>性能优越：</a:t>
            </a:r>
            <a:r>
              <a:rPr lang="zh-CN" altLang="en-US" sz="2000" dirty="0">
                <a:latin typeface="+mn-ea"/>
              </a:rPr>
              <a:t>在广泛的实验中，所提出的模型显著优于所有基线方法，包括当时最先进的商业工具 </a:t>
            </a:r>
            <a:r>
              <a:rPr lang="en-US" altLang="zh-CN" sz="2000" dirty="0" err="1">
                <a:latin typeface="+mn-ea"/>
              </a:rPr>
              <a:t>Botometer</a:t>
            </a:r>
            <a:r>
              <a:rPr lang="en-US" altLang="zh-CN" sz="2000" dirty="0">
                <a:latin typeface="+mn-ea"/>
              </a:rPr>
              <a:t> v4</a:t>
            </a:r>
            <a:r>
              <a:rPr lang="zh-CN" altLang="en-US" sz="2000" dirty="0">
                <a:latin typeface="+mn-ea"/>
              </a:rPr>
              <a:t>。</a:t>
            </a:r>
          </a:p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2000" b="1" dirty="0">
                <a:latin typeface="+mn-ea"/>
              </a:rPr>
              <a:t>开源与可复现性：</a:t>
            </a:r>
            <a:r>
              <a:rPr lang="zh-CN" altLang="en-US" sz="2000" dirty="0">
                <a:latin typeface="+mn-ea"/>
              </a:rPr>
              <a:t>公开了代码和实验细节，确保了研究的透明度和可复现性。</a:t>
            </a:r>
          </a:p>
        </p:txBody>
      </p:sp>
    </p:spTree>
    <p:extLst>
      <p:ext uri="{BB962C8B-B14F-4D97-AF65-F5344CB8AC3E}">
        <p14:creationId xmlns:p14="http://schemas.microsoft.com/office/powerpoint/2010/main" val="3924385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C438A8-CFD7-992E-23BA-B8A958F10D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D3DA0674-22C8-C8F2-D3CB-F9B8DCCCFEF2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000A49E5-F903-404C-D809-14887FCED3BD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第三部分：模型结构与细节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(Model Architecture &amp; Methodology)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4F93FE8C-F44A-729A-08F7-3E3F760D2AB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9EC83351-05F5-3E74-7C9D-91494DD98635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CE3156D1-28DB-550E-F871-F3C15DE2B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34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BA24FC4D-E318-A1B6-7B22-3AB0989E4CB6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538444C6-602C-2EAF-196E-8A1B1AB423F7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067D9810-C59D-BC05-070C-C195E0312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862EEC9C-8335-7572-116A-E36EDD0423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A957B257-89E8-A6ED-E0CD-0A529CFD6D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FC11177C-625C-ACBF-F13A-B555F6496B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15FDDFB6-6546-C04F-CCC3-32F89926F0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945E8FCA-541A-A356-9BAE-798132217A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371CAF5F-EA4B-7F09-DCD0-541478A867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E834092A-4CDC-6592-1746-0D604FBF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D62A3584-0B3B-1F48-7E7B-6CB2B161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560DD2C4-0F40-9496-AB3C-F2068C9EB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C445296E-1995-EFD9-9FD0-5C7BE565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3ADE6D93-13CA-AEC5-6914-29511420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0917DEFC-D3A3-115C-3CE1-AFC78C70B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3396D8BF-AA09-F154-84AA-801B12BCE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153E27B-7549-36FC-4C18-FA55A241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B70D3DC0-3DD1-C6DC-1EE9-25A580F9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10D41BF7-57BB-C0D4-7BFC-48D2315C4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5F467FDF-7CB3-7E5D-4BE5-5B297BC4AA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D93FEFCD-CA88-9A70-1C50-FBD9BE78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1A2877ED-280E-97F9-254C-2155EADF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8DD07F40-F6FE-AD7C-077A-6556E76B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EB3DB682-DA13-8A41-F8EC-74CC234ED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27C56F6C-EA1F-414E-6483-24605BA934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210A2DF7-6CAC-2983-5ADE-78ADA733DC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F8A60183-09CA-65C8-AEDF-07C11A4C7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F4C5E73E-D0BB-684A-8F1B-14C756D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C737E26F-E066-5745-3279-10EA3566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F5FA910-0EA0-DF55-CEF7-8EB57B07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3FB7FD4A-E1E6-206E-5A15-812B8658F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590E5754-7BCD-D5A1-8D0A-673E63F9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46C3AD73-8B0A-CA37-030C-2B823E95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C48B94CB-B392-799E-9DEC-D4D6228D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938750CA-FE6D-46E0-AB90-D8882901B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7CA05D9F-7F8F-C39D-5F23-056527E87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6776894F-EA39-445F-D132-3F0E71C191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75E1426-CBEF-ACBB-8CA8-0B6B23A6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5A5FA576-5C1E-BD9B-D8D4-1F7052ABC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F5591424-F568-F509-F16B-8A694EDD1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FA46BD0D-23F5-34DF-661F-92F64DAE3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03E8F2C4-D6AB-938B-0442-196CA8D6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DE02E497-B988-8DC8-737E-534025B09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7F2F6D3B-B865-4B30-1584-A42307F3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2EBDF43A-3A5A-CE18-5F68-B59AD506A1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FDD1EF00-8D7F-48EE-40A8-32C2AEC8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9F9A56CA-AE50-425A-AA75-03DFAD5B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A7463E64-DEAF-FC78-865F-E7F24F17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AFAA726F-9C18-31E0-6784-A4E631E4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6681D884-F6A5-7540-A08F-F63A4C78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57E9C9D7-A62A-5987-FBC7-A203AA13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3439089C-FDA2-4D26-372E-B023AC1AC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5CB725FD-BE60-50F9-5266-0A7196B3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48C64437-DCC4-70A3-1E35-BAE4F86D0523}"/>
              </a:ext>
            </a:extLst>
          </p:cNvPr>
          <p:cNvSpPr txBox="1"/>
          <p:nvPr/>
        </p:nvSpPr>
        <p:spPr>
          <a:xfrm>
            <a:off x="642945" y="2230177"/>
            <a:ext cx="4786578" cy="32696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n-ea"/>
              </a:rPr>
              <a:t>论文提出的模型是一个精心设计的混合深度学习架构，由</a:t>
            </a:r>
            <a:r>
              <a:rPr lang="zh-CN" altLang="en-US" sz="2000" b="1" dirty="0">
                <a:latin typeface="+mn-ea"/>
              </a:rPr>
              <a:t>三个</a:t>
            </a:r>
            <a:r>
              <a:rPr lang="en-US" altLang="zh-CN" sz="2000" b="1" dirty="0">
                <a:latin typeface="+mn-ea"/>
              </a:rPr>
              <a:t>LSTM </a:t>
            </a:r>
            <a:r>
              <a:rPr lang="zh-CN" altLang="en-US" sz="2000" b="1" dirty="0">
                <a:latin typeface="+mn-ea"/>
              </a:rPr>
              <a:t>模块和一个全连接（</a:t>
            </a:r>
            <a:r>
              <a:rPr lang="en-US" altLang="zh-CN" sz="2000" b="1" dirty="0">
                <a:latin typeface="+mn-ea"/>
              </a:rPr>
              <a:t>FC</a:t>
            </a:r>
            <a:r>
              <a:rPr lang="zh-CN" altLang="en-US" sz="2000" b="1" dirty="0">
                <a:latin typeface="+mn-ea"/>
              </a:rPr>
              <a:t>）层</a:t>
            </a:r>
            <a:r>
              <a:rPr lang="zh-CN" altLang="en-US" sz="2000" dirty="0">
                <a:latin typeface="+mn-ea"/>
              </a:rPr>
              <a:t>组成，旨在</a:t>
            </a:r>
            <a:r>
              <a:rPr lang="zh-CN" altLang="en-US" sz="2000" b="1" dirty="0">
                <a:latin typeface="+mn-ea"/>
              </a:rPr>
              <a:t>从不同维度捕捉账户特征</a:t>
            </a:r>
            <a:r>
              <a:rPr lang="zh-CN" altLang="en-US" sz="2000" dirty="0">
                <a:latin typeface="+mn-ea"/>
              </a:rPr>
              <a:t>。模型的输入分为四大类：</a:t>
            </a:r>
            <a:r>
              <a:rPr lang="zh-CN" altLang="en-US" sz="2000" b="1" dirty="0">
                <a:latin typeface="+mn-ea"/>
              </a:rPr>
              <a:t>推文内容、推文元数据、账户描述和账户元数据</a:t>
            </a:r>
            <a:r>
              <a:rPr lang="zh-CN" altLang="en-US" sz="2000" dirty="0">
                <a:latin typeface="+mn-ea"/>
              </a:rPr>
              <a:t>。这些信息在架构的不同层级被整合处理。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81E66368-9CFA-218D-66CA-42A6324C062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24035" y="1677960"/>
            <a:ext cx="5005818" cy="4355195"/>
          </a:xfrm>
          <a:prstGeom prst="rect">
            <a:avLst/>
          </a:prstGeom>
          <a:effectLst>
            <a:outerShdw blurRad="127000" dist="38100" dir="2700000" sx="104000" sy="104000" algn="tl" rotWithShape="0">
              <a:prstClr val="black">
                <a:alpha val="36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4238008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47841B-85C2-8EBC-89B4-01BB56B14A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252DE20D-5939-6164-4A70-809E2E3C32D8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4268E9DA-C247-3FF9-E05B-69D01DF426AF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第三部分：模型结构与细节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(Model Architecture &amp; Methodology)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877C3466-35F0-FC5F-FC75-17F01D4D4F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24F2C2B-0BC2-ECA3-AAEB-5B36EE11DD19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A63AD623-CD18-A26B-9E7F-3FBC1C5A59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35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A5239F2-897F-C5A9-A9E4-D8B2E7786B13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55DB866E-3A9C-F2E8-EC65-18EE30012FED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E2DBECCD-A922-DF2E-197A-22F1201A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90B39D28-FA52-3903-6310-3DBAE4E477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22F8BE2F-F784-5041-7C0C-DE199AEB38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1D3F239B-13DA-DB82-E422-939E53BEEA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976FCB9C-E230-5CCE-1A50-34CDDB0F55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447A7D74-EF37-8B05-998F-1CC99F22A6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65BBDA46-B43F-4E4A-BD8C-CFFDE28566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12B3538-A2B1-688C-03EF-8E20AE21C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2082630E-C3CE-AC98-33D9-19DDD938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15D3FD60-0E34-B0B1-3A4F-2E0A9CF1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E682F108-C1C2-8175-B764-93618E23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FEF1CD0B-85AE-20DA-A4DA-0506D15E9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A634DD6A-9961-3F1D-3C1B-5569E2689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8FA93101-021A-312A-DFF3-1486D127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96D760FB-D4E7-E076-0951-F5614136B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907A0B9-8646-DE5D-C762-DCA35735C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FA1C5412-2EA2-7C4C-1964-BE30E9E3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D1E0C768-AB4B-2910-844E-3B716FD734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AE4B64D-8811-F2CB-57A3-6C6FC7532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0DBD665E-3336-7AA7-B914-B7DB1B93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1422852A-2450-03A5-A71D-15DDE174F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74FA4933-B06C-E847-76B6-56CB9FF9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3D90AC68-C3CE-59E0-5D89-323360CA9D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ECE59153-0A67-FC34-E737-D29DAA1DB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C74149FA-4BE0-4311-A08F-2B1742A0B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C59B2365-A7A9-B4A1-7D3E-12E5A0C7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90B7AC8B-A81E-8AD7-CEDA-AB60C403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7525D432-0D0D-4E84-C520-260CE62D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05F1506D-B191-392E-CF5E-625FB82D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6C73558A-55A7-FD9D-7DBA-3E2672AD0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57E6F69C-9E67-AB91-396A-9C10A12E2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9CD5E412-1F47-F0AD-118E-BD577E85F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697E4FBF-BAC6-30A9-3C24-9954CABE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91D1E91A-9E77-B5E2-30BF-6518E699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58D15D8F-03F5-0141-F83F-DC95D5985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3600C9D-536D-329C-A951-EB2357D8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82A9514-EDD0-23B9-BE0C-B70E5B46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15C9A439-C2AD-A179-2C68-E21146C7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B5E07D78-F212-8FB4-B039-31456140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F585828-8081-DEDE-52B0-E08C19FD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30885DF9-C90B-8E92-A700-51B2F5E7CB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43FB9162-0937-1AFC-CFAB-210AB250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DE351C4A-A1EC-5778-A1B9-D6B9B7303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B358F739-91C2-363B-5804-731C8DEB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7F95323C-815F-6272-8380-91B016126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EE2DED27-8516-9E97-BF8C-7A221FA0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7F3A9344-3C71-9538-A143-88C9285E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69FC5DA2-3F4D-6A41-E43E-26E0CE93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859B0FD9-A940-6B39-7941-C0AE130FB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AD40AEDA-5B45-EF6C-F065-088267A4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82EA0670-534C-CBA6-3758-8C9C6085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723016EE-1F49-2EB0-7977-CAD1D769D85E}"/>
              </a:ext>
            </a:extLst>
          </p:cNvPr>
          <p:cNvSpPr txBox="1"/>
          <p:nvPr/>
        </p:nvSpPr>
        <p:spPr>
          <a:xfrm>
            <a:off x="547757" y="1968205"/>
            <a:ext cx="10879897" cy="29976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/>
              <a:t>模块一：</a:t>
            </a:r>
            <a:r>
              <a:rPr lang="en-US" altLang="zh-CN" sz="2000" b="1" dirty="0"/>
              <a:t>LSTMTC (Tweet Content Semantics)</a:t>
            </a:r>
            <a:endParaRPr lang="en-US" altLang="zh-CN" sz="2000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功能</a:t>
            </a:r>
            <a:r>
              <a:rPr lang="zh-CN" altLang="en-US" dirty="0"/>
              <a:t>：专门用于理解单条推文的</a:t>
            </a:r>
            <a:r>
              <a:rPr lang="zh-CN" altLang="en-US" b="1" dirty="0"/>
              <a:t>语义</a:t>
            </a:r>
            <a:r>
              <a:rPr lang="zh-CN" altLang="en-US" dirty="0"/>
              <a:t>。</a:t>
            </a:r>
            <a:endParaRPr lang="en-US" altLang="zh-CN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输入</a:t>
            </a:r>
            <a:r>
              <a:rPr lang="zh-CN" altLang="en-US" dirty="0"/>
              <a:t>：每条推文的文本，使用预训练的 “</a:t>
            </a:r>
            <a:r>
              <a:rPr lang="en-US" altLang="zh-CN" dirty="0"/>
              <a:t>glove-twitter-50</a:t>
            </a:r>
            <a:r>
              <a:rPr lang="zh-CN" altLang="en-US" dirty="0"/>
              <a:t> ”词向量进行嵌入。</a:t>
            </a:r>
            <a:endParaRPr lang="en-US" altLang="zh-CN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设计细节</a:t>
            </a:r>
            <a:r>
              <a:rPr lang="zh-CN" altLang="en-US" dirty="0"/>
              <a:t>：使用</a:t>
            </a:r>
            <a:r>
              <a:rPr lang="zh-CN" altLang="en-US" b="1" dirty="0"/>
              <a:t>同一个</a:t>
            </a:r>
            <a:r>
              <a:rPr lang="en-US" altLang="zh-CN" dirty="0"/>
              <a:t>LSTM</a:t>
            </a:r>
            <a:r>
              <a:rPr lang="zh-CN" altLang="en-US" dirty="0"/>
              <a:t>单元依次处理账户的</a:t>
            </a:r>
            <a:r>
              <a:rPr lang="zh-CN" altLang="en-US" b="1" dirty="0"/>
              <a:t>最近 </a:t>
            </a:r>
            <a:r>
              <a:rPr lang="en-US" altLang="zh-CN" b="1" dirty="0"/>
              <a:t>l </a:t>
            </a:r>
            <a:r>
              <a:rPr lang="zh-CN" altLang="en-US" b="1" dirty="0"/>
              <a:t>条推文</a:t>
            </a:r>
            <a:r>
              <a:rPr lang="zh-CN" altLang="en-US" dirty="0"/>
              <a:t>（默认 </a:t>
            </a:r>
            <a:r>
              <a:rPr lang="en-US" altLang="zh-CN" dirty="0"/>
              <a:t>l=10</a:t>
            </a:r>
            <a:r>
              <a:rPr lang="zh-CN" altLang="en-US" dirty="0"/>
              <a:t>）。这保证了模型不会因为推文在时间线上的位置（第</a:t>
            </a:r>
            <a:r>
              <a:rPr lang="en-US" altLang="zh-CN" dirty="0"/>
              <a:t>1</a:t>
            </a:r>
            <a:r>
              <a:rPr lang="zh-CN" altLang="en-US" dirty="0"/>
              <a:t>条 </a:t>
            </a:r>
            <a:r>
              <a:rPr lang="en-US" altLang="zh-CN" dirty="0"/>
              <a:t>vs </a:t>
            </a:r>
            <a:r>
              <a:rPr lang="zh-CN" altLang="en-US" dirty="0"/>
              <a:t>第</a:t>
            </a:r>
            <a:r>
              <a:rPr lang="en-US" altLang="zh-CN" dirty="0"/>
              <a:t>10</a:t>
            </a:r>
            <a:r>
              <a:rPr lang="zh-CN" altLang="en-US" dirty="0"/>
              <a:t>条）而学到不同的语义表示。对于没有推文的账户，使用句号“</a:t>
            </a:r>
            <a:r>
              <a:rPr lang="en-US" altLang="zh-CN" dirty="0"/>
              <a:t>.</a:t>
            </a:r>
            <a:r>
              <a:rPr lang="zh-CN" altLang="en-US" dirty="0"/>
              <a:t>”的向量作为占位符。</a:t>
            </a:r>
            <a:endParaRPr lang="en-US" altLang="zh-CN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输出</a:t>
            </a:r>
            <a:r>
              <a:rPr lang="zh-CN" altLang="en-US" dirty="0"/>
              <a:t>：每条推文对应一个语义向量 </a:t>
            </a:r>
            <a:r>
              <a:rPr lang="en-US" altLang="zh-CN" dirty="0" err="1"/>
              <a:t>y_i</a:t>
            </a:r>
            <a:r>
              <a:rPr lang="zh-CN" altLang="en-US" dirty="0"/>
              <a:t>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593438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8BE468-032C-1267-8B05-4AB72E37A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91E7EEB-388B-6165-71A7-7075B5D394F3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99C4D6E-0728-31FC-8B25-924C5FF5A45A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第三部分：模型结构与细节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(Model Architecture &amp; Methodology)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A724169D-441D-AAA8-E3B3-E5339EF0BA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95A0FBF5-1F27-4903-6E5A-03CE6705AAC6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8A30ABC6-7327-C88F-FDBF-D38B91BE7F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36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435465D8-12D1-2D6A-7573-92B47C0BB665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7981F461-C247-C2F8-89A7-27556011E98D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1BCE75D9-BCF7-1639-8BA2-A93E5F8E1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9BC4BAA5-28A4-3748-D9B7-D68EE85F4F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BDDBAA10-B392-339A-936B-219DD8A79E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7BFE78D1-2FDB-ACB5-4471-FD0B47F9C9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7D9EB882-48E7-7028-DD55-1DC88453F9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2C2ED196-C62E-11C4-4D8A-16FC7FE51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62BC3E72-BFDE-2449-35FC-4129EB728C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3824A44D-E27C-724E-E583-534DBED05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1706755D-7AEC-F37B-0442-C78EF029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4E49057-640D-9118-4671-FE63C6D41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1B9C7C40-7AF2-70E8-4F72-821EC617B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3F9087AC-B560-327F-7300-D6F8901E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4DCF6A2F-855A-A493-DB9E-7A929B5A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BAF6C7BA-6FFE-1FD5-D4C8-F16DCD05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85BAAB68-34AB-2325-E108-0085D422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5EF7343F-7186-512D-DC6F-57EB94F55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446560C9-67AF-6AEB-7BB1-5801A8C71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6FF96A33-6906-6C2A-3747-BC2802A15B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6DF30C73-2C34-B8AC-5267-5E9ACB5A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D1681ABF-A999-DE89-DF1E-235BF4BA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B47209FD-4396-B354-5E44-66DF28449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E40A612F-6265-63DD-B602-A76D93514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6ACEBEEC-A58A-7981-9290-FF08FC5BA8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F21AE73F-BEC0-5F3C-1803-4C5BA637F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063D2789-745E-2BB3-15D3-83CE522ED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11B3A2FC-8CE8-1F56-0E83-D380164A6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E082211D-C530-1C16-F13E-0BE5E20B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5087E0A1-DD3D-06C2-08F3-BA4C7A6E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C6C67F0E-A18C-07A1-8625-5FF61A94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189F1350-06B8-FD47-14C0-06D0A535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97F3973D-C2ED-80AD-3229-04FB66CD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FD601BF2-A6FF-2B30-90D8-6234E8AD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EDA69AF4-02B6-36F9-1344-38A976FA9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A01344EF-752C-122A-207A-D9DA061E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C74B27BD-B907-1920-31A2-75EB7A65C5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8E3F272-7284-4BEB-3F72-FFCC195A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3D50CCFF-D41B-DA57-0342-BAF2451B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DF87FE34-BCBA-90BC-A25F-D2E9E0C9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FAE47F28-0F89-42A5-A4AD-9C6B75BB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8044AD34-1849-D444-D400-4C87E8AF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3E2FE95B-70A1-E414-E6A8-2F43B2486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7CACB06F-0A68-7721-A1FD-083FE19D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DB0E5D48-7D34-D4C4-E2A7-E24A7C8813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E09BCB7E-5AC1-CA5C-DC06-1E398A2E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62E858FB-4078-3B48-3064-874281ED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9408BE5F-7B92-0FB6-AB74-C05301F2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3873A743-4794-E397-969A-BECB0DF51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1AF92C97-5522-5B4C-DC1B-A81EC3A4B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589AAE46-E2DF-3F34-2876-66D535BD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BB989CCB-A5FA-A32B-C26D-1387C62A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953912FE-0C13-38E8-68B6-ABBD27C64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0D9447ED-FDC0-7D70-442A-5CA2D4714607}"/>
              </a:ext>
            </a:extLst>
          </p:cNvPr>
          <p:cNvSpPr txBox="1"/>
          <p:nvPr/>
        </p:nvSpPr>
        <p:spPr>
          <a:xfrm>
            <a:off x="547757" y="1968205"/>
            <a:ext cx="10879897" cy="480131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/>
              <a:t>模块二：</a:t>
            </a:r>
            <a:r>
              <a:rPr lang="en-US" altLang="zh-CN" sz="2000" b="1" dirty="0"/>
              <a:t>LSTMT (Temporal &amp; Metadata Patterns)</a:t>
            </a:r>
            <a:endParaRPr lang="en-US" altLang="zh-CN" sz="2000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功能</a:t>
            </a:r>
            <a:r>
              <a:rPr lang="zh-CN" altLang="en-US" dirty="0"/>
              <a:t>：捕捉</a:t>
            </a:r>
            <a:r>
              <a:rPr lang="zh-CN" altLang="en-US" b="1" dirty="0"/>
              <a:t>推文序列的时间模式、互动行为以及推文间的语义关联</a:t>
            </a:r>
            <a:r>
              <a:rPr lang="zh-CN" altLang="en-US" dirty="0"/>
              <a:t>。这是模型的关键创新点之一。</a:t>
            </a:r>
            <a:endParaRPr lang="en-US" altLang="zh-CN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输入</a:t>
            </a:r>
            <a:r>
              <a:rPr lang="zh-CN" altLang="en-US" dirty="0"/>
              <a:t>：将 </a:t>
            </a:r>
            <a:r>
              <a:rPr lang="en-US" altLang="zh-CN" dirty="0"/>
              <a:t>LSTMTC</a:t>
            </a:r>
            <a:r>
              <a:rPr lang="zh-CN" altLang="en-US" dirty="0"/>
              <a:t> 的输出 </a:t>
            </a:r>
            <a:r>
              <a:rPr lang="en-US" altLang="zh-CN" dirty="0" err="1"/>
              <a:t>y_i</a:t>
            </a:r>
            <a:r>
              <a:rPr lang="zh-CN" altLang="en-US" dirty="0"/>
              <a:t> 与</a:t>
            </a:r>
            <a:r>
              <a:rPr lang="zh-CN" altLang="en-US" b="1" dirty="0"/>
              <a:t>推文元数据</a:t>
            </a:r>
            <a:r>
              <a:rPr lang="zh-CN" altLang="en-US" dirty="0"/>
              <a:t>进行拼接。元数据非常丰富，分为四类：</a:t>
            </a:r>
            <a:endParaRPr lang="en-US" altLang="zh-CN" dirty="0"/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文本内容相关</a:t>
            </a:r>
            <a:r>
              <a:rPr lang="zh-CN" altLang="en-US" dirty="0"/>
              <a:t>：</a:t>
            </a:r>
            <a:r>
              <a:rPr lang="en-US" altLang="zh-CN" dirty="0"/>
              <a:t>Hashtag</a:t>
            </a:r>
            <a:r>
              <a:rPr lang="zh-CN" altLang="en-US" dirty="0"/>
              <a:t>、</a:t>
            </a:r>
            <a:r>
              <a:rPr lang="en-US" altLang="zh-CN" dirty="0"/>
              <a:t>URL</a:t>
            </a:r>
            <a:r>
              <a:rPr lang="zh-CN" altLang="en-US" dirty="0"/>
              <a:t>、符号数量，是否被截断。</a:t>
            </a:r>
            <a:endParaRPr lang="en-US" altLang="zh-CN" dirty="0"/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发布速度</a:t>
            </a:r>
            <a:r>
              <a:rPr lang="zh-CN" altLang="en-US" dirty="0"/>
              <a:t>：与上一条推文的时间间隔（天、小时、分钟）。</a:t>
            </a:r>
            <a:endParaRPr lang="en-US" altLang="zh-CN" dirty="0"/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用户互动</a:t>
            </a:r>
            <a:r>
              <a:rPr lang="zh-CN" altLang="en-US" dirty="0"/>
              <a:t>：提及用户数、是否为回复</a:t>
            </a:r>
            <a:r>
              <a:rPr lang="en-US" altLang="zh-CN" dirty="0"/>
              <a:t>/</a:t>
            </a:r>
            <a:r>
              <a:rPr lang="zh-CN" altLang="en-US" dirty="0"/>
              <a:t>引用、被转发</a:t>
            </a:r>
            <a:r>
              <a:rPr lang="en-US" altLang="zh-CN" dirty="0"/>
              <a:t>/</a:t>
            </a:r>
            <a:r>
              <a:rPr lang="zh-CN" altLang="en-US" dirty="0"/>
              <a:t>点赞数。</a:t>
            </a:r>
            <a:endParaRPr lang="en-US" altLang="zh-CN" dirty="0"/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地理位置</a:t>
            </a:r>
            <a:r>
              <a:rPr lang="zh-CN" altLang="en-US" dirty="0"/>
              <a:t>：是否启用了位置共享。</a:t>
            </a:r>
            <a:endParaRPr lang="en-US" altLang="zh-CN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处理逻辑</a:t>
            </a:r>
            <a:r>
              <a:rPr lang="zh-CN" altLang="en-US" dirty="0"/>
              <a:t>：将拼接后的向量序列（按时间顺序）视为一个新的时间序列，输入到 </a:t>
            </a:r>
            <a:r>
              <a:rPr lang="en-US" altLang="zh-CN" dirty="0"/>
              <a:t>LSTMT</a:t>
            </a:r>
            <a:r>
              <a:rPr lang="zh-CN" altLang="en-US" dirty="0"/>
              <a:t> 中。这样，模型不仅能理解每条推文说了什么，还能理解</a:t>
            </a:r>
            <a:r>
              <a:rPr lang="zh-CN" altLang="en-US" b="1" dirty="0"/>
              <a:t>它们是如何被发布和互动的</a:t>
            </a:r>
            <a:r>
              <a:rPr lang="zh-CN" altLang="en-US" dirty="0"/>
              <a:t>（例如，机器人可能在短时间内密集发布高度相似的内容）。</a:t>
            </a:r>
          </a:p>
          <a:p>
            <a:endParaRPr lang="en-US" altLang="zh-CN" dirty="0"/>
          </a:p>
          <a:p>
            <a:pPr lvl="1"/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091970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4805A7-8DE8-0E06-85D0-8F3C5DE348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96C0F50-9707-A10C-AE91-12AF81068CEA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80AC436-1E09-890D-4B6E-955701EC6EB0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第三部分：模型结构与细节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(Model Architecture &amp; Methodology)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B8EA17B-B56C-FEB6-9F0E-29F01F25AC4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3DC720F-AAB7-AC76-4F7B-D3B688FF8BA4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64FCC13-7FB5-0CB4-87EB-729CBFDBDD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37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066022A9-CAB3-88E9-B457-16D81BF442F4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13866735-53F7-1CE1-F788-831512CB0608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A4C4B49B-70FF-0810-7B39-C100ADB6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A146D91D-0499-1F9F-6CD6-67ECF40008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604B87D4-AE64-DE45-41A3-09CF5AA8C7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8AB8426B-6D25-FCB6-F1CD-0B9F757B48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CA6A1A51-57DB-058F-94F1-D6576685D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4BEDC73A-63D4-CC29-563E-5452836068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B4AAE5BA-47BC-D98C-A814-6C808BF084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A68A4692-3A78-6E4B-0105-3810F1566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29D498D3-833C-02ED-9978-07F82A6D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D96FFEF1-281E-A2F4-2D19-32A98FB4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65E8F506-DD23-7094-2943-1EE59C41A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53574512-EC4A-35CD-4CEB-3E61F6BC5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4457208F-AFC8-F304-840F-1B6B3339D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102BC556-0CC3-7617-4042-2A5D54C15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C40B86C9-9528-EE03-9D8A-C7AC2CE44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500484DA-E693-AFCC-BA04-EF00261B4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2F91664A-330A-4AC2-42A6-24BB18C2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B018CF9C-CDA9-FE91-FD10-A2351D4775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B66D060C-7EE5-CE1D-C265-986CB206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3771A8A3-EBAE-A44D-377C-ADABA2032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5DE5BE61-3320-CF66-E1A3-A7D8255E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E758B4D2-3D08-8212-7FD4-7CA1486D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BB4D8801-A4C1-4A2C-4E94-AA86DB0369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9185474F-62EA-73FE-D3D9-DE47AB43F6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821131BB-5426-1D81-F2E9-7A096DB7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D262507B-EBDB-B9BD-FF4B-12879EB5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A8883E04-E0C3-E526-44DF-E00F7EB9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05DEBCFC-835E-10FA-578C-E33D8789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A0C4CD34-B1A6-3593-96E4-368E3D85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0FBC1A0-A05F-F15D-5F8F-9635A673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9B484ED4-FE83-314F-BEE3-72AF0DC7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4F86A4D4-3DE1-A578-361D-FAD08150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351CFB4-82EB-46B4-2C94-1C83A799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9C19E8A-4CEF-C486-0B38-DBAA2D47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CCB42AE7-6F84-E973-06C7-D15FA50A29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13038ADD-C74F-45D3-671B-584A2ED8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9F55F06E-689A-7AD5-D785-FCCCC496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A6E35C12-6E9F-0E39-3D6F-64FB0FE3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31B37C01-F59F-DAD6-280C-FE230E3A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FABE1D5D-97DA-F5BB-79E8-FC6A51B6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EF50B84-F580-5F74-85C4-1CAADE89AD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0FBA4B56-8783-A19C-8CAF-40AE60834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23AA09B6-BBE6-AE01-3433-06045661DC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3DEEC962-72CB-B758-9785-48AD808F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454F97D6-C658-DB44-46CC-09ECD0B13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8D251495-39DA-5AFB-9CF5-270F15A71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FFC08BF-9997-C57C-3895-95F944015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F7E5C77B-4FD9-6E11-79FD-175D74D7E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0690C4F8-95F4-DC8C-AD9E-3DD1FC70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BF2E3657-DCAF-0946-E388-FACA0376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62C6CE38-E9F4-BEDB-D233-0B9371C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07768667-B228-72B0-FF32-C03899C82757}"/>
              </a:ext>
            </a:extLst>
          </p:cNvPr>
          <p:cNvSpPr txBox="1"/>
          <p:nvPr/>
        </p:nvSpPr>
        <p:spPr>
          <a:xfrm>
            <a:off x="508281" y="1618428"/>
            <a:ext cx="10879897" cy="4705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/>
              <a:t>模块三：</a:t>
            </a:r>
            <a:r>
              <a:rPr lang="en-US" altLang="zh-CN" sz="2000" b="1" dirty="0"/>
              <a:t>LSTMAD (Account Description Semantics)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功能：</a:t>
            </a:r>
            <a:r>
              <a:rPr lang="zh-CN" altLang="en-US" dirty="0"/>
              <a:t>理解账户简介（</a:t>
            </a:r>
            <a:r>
              <a:rPr lang="en-US" altLang="zh-CN" dirty="0"/>
              <a:t>Bio</a:t>
            </a:r>
            <a:r>
              <a:rPr lang="zh-CN" altLang="en-US" dirty="0"/>
              <a:t>）的语义。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输入：</a:t>
            </a:r>
            <a:r>
              <a:rPr lang="zh-CN" altLang="en-US" dirty="0"/>
              <a:t>账户描述文本，同样使用 </a:t>
            </a:r>
            <a:r>
              <a:rPr lang="en-US" altLang="zh-CN" dirty="0" err="1"/>
              <a:t>GloVe</a:t>
            </a:r>
            <a:r>
              <a:rPr lang="en-US" altLang="zh-CN" dirty="0"/>
              <a:t> </a:t>
            </a:r>
            <a:r>
              <a:rPr lang="zh-CN" altLang="en-US" dirty="0"/>
              <a:t>词向量嵌入。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输出：</a:t>
            </a:r>
            <a:r>
              <a:rPr lang="zh-CN" altLang="en-US" dirty="0"/>
              <a:t>一个代表账户描述语义的向量。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备注：</a:t>
            </a:r>
            <a:r>
              <a:rPr lang="zh-CN" altLang="en-US" dirty="0"/>
              <a:t>对于没有简介的账户，同样使用“</a:t>
            </a:r>
            <a:r>
              <a:rPr lang="en-US" altLang="zh-CN" dirty="0"/>
              <a:t>.</a:t>
            </a:r>
            <a:r>
              <a:rPr lang="zh-CN" altLang="en-US" dirty="0"/>
              <a:t>”的向量。</a:t>
            </a:r>
          </a:p>
          <a:p>
            <a:pPr>
              <a:lnSpc>
                <a:spcPct val="150000"/>
              </a:lnSpc>
            </a:pPr>
            <a:r>
              <a:rPr lang="zh-CN" altLang="en-US" sz="2000" b="1" dirty="0"/>
              <a:t>最终决策层：</a:t>
            </a:r>
            <a:r>
              <a:rPr lang="en-US" altLang="zh-CN" sz="2000" b="1" dirty="0"/>
              <a:t>Fully Connected (FC) Layer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功能：</a:t>
            </a:r>
            <a:r>
              <a:rPr lang="zh-CN" altLang="en-US" dirty="0"/>
              <a:t>融合所有信息，做出最终的二分类预测（人类 </a:t>
            </a:r>
            <a:r>
              <a:rPr lang="en-US" altLang="zh-CN" dirty="0"/>
              <a:t>or </a:t>
            </a:r>
            <a:r>
              <a:rPr lang="zh-CN" altLang="en-US" dirty="0"/>
              <a:t>机器人）。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输入：</a:t>
            </a:r>
            <a:r>
              <a:rPr lang="zh-CN" altLang="en-US" dirty="0"/>
              <a:t>（</a:t>
            </a:r>
            <a:r>
              <a:rPr lang="en-US" altLang="zh-CN" dirty="0"/>
              <a:t>1</a:t>
            </a:r>
            <a:r>
              <a:rPr lang="zh-CN" altLang="en-US" dirty="0"/>
              <a:t>）</a:t>
            </a:r>
            <a:r>
              <a:rPr lang="en-US" altLang="zh-CN" dirty="0"/>
              <a:t>LSTMT </a:t>
            </a:r>
            <a:r>
              <a:rPr lang="zh-CN" altLang="en-US" dirty="0"/>
              <a:t>的最终输出（包含了推文内容</a:t>
            </a:r>
            <a:r>
              <a:rPr lang="en-US" altLang="zh-CN" dirty="0"/>
              <a:t>+</a:t>
            </a:r>
            <a:r>
              <a:rPr lang="zh-CN" altLang="en-US" dirty="0"/>
              <a:t>元数据的时序模式）。（</a:t>
            </a:r>
            <a:r>
              <a:rPr lang="en-US" altLang="zh-CN" dirty="0"/>
              <a:t>2</a:t>
            </a:r>
            <a:r>
              <a:rPr lang="zh-CN" altLang="en-US" dirty="0"/>
              <a:t>）</a:t>
            </a:r>
            <a:r>
              <a:rPr lang="en-US" altLang="zh-CN" dirty="0"/>
              <a:t>LSTMAD </a:t>
            </a:r>
            <a:r>
              <a:rPr lang="zh-CN" altLang="en-US" dirty="0"/>
              <a:t>的输出（账户描述语义）。（</a:t>
            </a:r>
            <a:r>
              <a:rPr lang="en-US" altLang="zh-CN" dirty="0"/>
              <a:t>3</a:t>
            </a:r>
            <a:r>
              <a:rPr lang="zh-CN" altLang="en-US" dirty="0"/>
              <a:t>）账户元数据，包含</a:t>
            </a:r>
            <a:r>
              <a:rPr lang="en-US" altLang="zh-CN" dirty="0"/>
              <a:t>8</a:t>
            </a:r>
            <a:r>
              <a:rPr lang="zh-CN" altLang="en-US" dirty="0"/>
              <a:t>大类信息：账户名、昵称、位置、描述、社交网络（粉丝</a:t>
            </a:r>
            <a:r>
              <a:rPr lang="en-US" altLang="zh-CN" dirty="0"/>
              <a:t>/</a:t>
            </a:r>
            <a:r>
              <a:rPr lang="zh-CN" altLang="en-US" dirty="0"/>
              <a:t>关注数）、社交媒体活动（总推文数等）、视觉配置（头像、背景图）、通用设置（是否验证等）。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输出：</a:t>
            </a:r>
            <a:r>
              <a:rPr lang="zh-CN" altLang="en-US" dirty="0"/>
              <a:t>通过一个 </a:t>
            </a:r>
            <a:r>
              <a:rPr lang="en-US" altLang="zh-CN" dirty="0"/>
              <a:t>Sigmoid </a:t>
            </a:r>
            <a:r>
              <a:rPr lang="zh-CN" altLang="en-US" dirty="0"/>
              <a:t>函数得到一个概率值。</a:t>
            </a:r>
            <a:endParaRPr lang="en-US" altLang="zh-CN" sz="1600" dirty="0"/>
          </a:p>
        </p:txBody>
      </p:sp>
    </p:spTree>
    <p:extLst>
      <p:ext uri="{BB962C8B-B14F-4D97-AF65-F5344CB8AC3E}">
        <p14:creationId xmlns:p14="http://schemas.microsoft.com/office/powerpoint/2010/main" val="1651166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5E314-7F4B-10DB-9F48-824FB3977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224C81F8-363D-5125-9CAC-AA8A5B67A652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5954116-C60F-8061-C66A-24D385577CC0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第三部分：模型结构与细节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(Model Architecture &amp; Methodology)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B2DFFC7-8868-E951-22FE-39C2DC95BD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443AB61C-B3B6-4564-AEE8-6785BCEC4D3F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DBD65C2E-1F6E-547A-F6DD-BC1CF5B6B1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38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70CA653C-4B22-48A6-B203-AED2FDFE327F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990894CB-3BB2-5FC0-2717-DFF5B7BDC3D6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E0D71551-B778-57D1-FA49-26FC214E2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767F1E88-0755-E495-1677-B8555867BB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B749143E-233E-4A33-0DB9-0DB651E2D9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5A268C7C-15E1-61C8-7C3C-EC5E12BCAD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B64266DF-D7AD-DC2A-DD53-781F4078C2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88B21AFF-638D-63DC-EC54-C6FA8D57CD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B7F1E740-40E9-B872-5FDA-76DEFDD20B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EDB38FC-2133-EE42-EC1C-DE2425CA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2B57E8AB-BF7B-5C6A-29DB-7804A2AD5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149216F6-0ECC-1380-4D98-E04218DD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682DC0F3-A618-DB17-B12F-165F1546C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07C800C1-5AC1-A6A0-2A7B-07AD9D24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5FA491A1-3261-5FAD-169D-C1B61576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BB2FE3B0-4465-AB42-7E87-B28D6978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1611FA26-0BDE-42D5-8B91-C0F881596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BF0B8560-842D-2ADB-673C-B27D43570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BC8F8658-8B35-07FB-A8EB-B702C8DD7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92E08657-FEC0-BCDC-08A4-4A9B4337A4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F0C1FD45-F051-C14A-059A-720D4BB1A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43551CFD-C45F-AA19-A0CF-72AB6824F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8AD39BA4-DF30-A3C0-CF33-627B9AA4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3F0FFEE6-FDD4-7E86-9733-3B1BC317D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5A0DBED9-BD09-2917-01C6-66C3933248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6AF80424-9A3C-2F8C-EE7C-4C92883D8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157B6DEB-AF3A-DB75-57CB-34527AEFE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3B26453B-41E5-A115-91A5-2BDA3751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5BD3D75B-9067-51D7-3604-A9B7EE11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ACF37CB7-23B0-B503-F00F-32B663EB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F2F5FD6C-44B3-672C-78ED-8958BF0B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B6B4E02E-8645-94E9-C978-F15C55077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45D29A74-0344-A29E-3DC6-686969E9C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A3E90B58-F132-3E04-A8DB-D591CF997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A3AE9E7F-849C-0C2A-0529-C0625898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E2F8AC6C-2353-D48F-E966-28B0AA06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0858DD87-BC76-47B4-FF8A-C20A953B45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E6142C96-F81C-734D-C733-439C1D6B0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6569B2AE-14D5-9C88-0E10-7DEBEFBB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086F7DFF-5949-3067-5EDB-D84F97786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5EFCDC95-52BA-DCA4-A125-8160E22C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5AC86D1E-D45B-2A36-0EC3-6419D72D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C932BF97-805D-5C16-ABCD-1089D671B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9DCACBE-78AC-869D-A5D4-97EBC4CC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784A244D-0DA3-3A1D-2CC4-C890A544FA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AE9FFD25-DFC2-D6D0-69C4-AC4153452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3FF29FDE-424A-2209-6C04-C27F058B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7B5149B8-2E46-6518-C09C-AFEB2CDE5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E35BD617-17AB-F337-9993-6334AB21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68CA17D1-A007-8B30-3A02-54665F07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4C2FED5F-8452-8D83-4D1F-85FD074D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C11699D4-A6D3-8667-C2D7-B07138A95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FC953B8E-4976-B9D6-3EFC-8C2DB5E96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4B8D275C-36C9-E3C8-638D-DE1FA0C205B5}"/>
              </a:ext>
            </a:extLst>
          </p:cNvPr>
          <p:cNvSpPr txBox="1"/>
          <p:nvPr/>
        </p:nvSpPr>
        <p:spPr>
          <a:xfrm>
            <a:off x="494910" y="2491487"/>
            <a:ext cx="10879897" cy="18841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/>
              <a:t>关键设计思想：</a:t>
            </a:r>
            <a:endParaRPr lang="en-US" altLang="zh-CN" sz="2000" b="1" dirty="0"/>
          </a:p>
          <a:p>
            <a:pPr>
              <a:lnSpc>
                <a:spcPct val="150000"/>
              </a:lnSpc>
            </a:pPr>
            <a:r>
              <a:rPr lang="zh-CN" altLang="en-US" sz="2000" dirty="0"/>
              <a:t>该架构不是简单地将所有特征拼接后丢给一个模型，而是通过分层、分模块的方式，让不同的子网络专注于不同类型的信息，并在最后进行深度融合。特别是 </a:t>
            </a:r>
            <a:r>
              <a:rPr lang="en-US" altLang="zh-CN" sz="2000" dirty="0"/>
              <a:t>LSTMT </a:t>
            </a:r>
            <a:r>
              <a:rPr lang="zh-CN" altLang="en-US" sz="2000" dirty="0"/>
              <a:t>的设计，巧妙地将内容语义与行为模式结合起来，这是超越许多仅使用静态特征或单一文本模型的基线方法的关键。</a:t>
            </a:r>
            <a:endParaRPr lang="en-US" altLang="zh-CN" sz="1600" dirty="0"/>
          </a:p>
        </p:txBody>
      </p:sp>
    </p:spTree>
    <p:extLst>
      <p:ext uri="{BB962C8B-B14F-4D97-AF65-F5344CB8AC3E}">
        <p14:creationId xmlns:p14="http://schemas.microsoft.com/office/powerpoint/2010/main" val="132624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ECAFB9-2279-AAD0-5112-0AFF18D631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C6A66C4D-06D7-D9A6-7086-9A8452A9A828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77FD07E-05A5-9AF3-BB15-195E88FBFC4C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第四部分：训练过程中的挑战与解决方案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(Training Procedure)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1BFB9A1-1463-F8C2-24BC-7CD6F21358A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2C97CD04-4CA2-5E1D-0A56-C10A47B554BE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D8695BCC-6D6E-7418-E1E8-4B85FA4179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39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05965D6C-EF85-5752-450B-76E012E5FBE1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F6053C0F-F06D-8715-EED7-0889AC78AC78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FF359722-9FD5-7911-CBF1-F306E9A06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4B1AD382-4064-6F59-3064-D168B023EA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A0CC804A-88D2-C7E8-6251-104F43229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E7BC623E-87DE-7E6D-91FA-6DD598E018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E8790BA3-AE18-2D0C-B175-63F89B8AC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8F20F7A7-E458-EC3F-1725-675E8353C8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F034DDE9-B236-DBB8-3077-E24DBA56BF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35B4668D-A3AE-8180-D00B-9C78F08F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FB965E1D-1F3A-D96B-CA4B-6E428E12C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CB754B88-DC09-121D-5EEC-42EF655A1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03239D20-DEF9-4278-3228-3DBDF615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EBC62C03-E697-B57C-D7BC-F9E848B8F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9D598566-826E-68A5-AF08-F3CC36B11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E221426F-7C1B-C020-68BE-0A65B9C8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46BF4633-0B3C-8D39-6162-C0F89381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310D33ED-03F8-9F32-150D-9E6D7353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0550FEDD-5FBF-14B6-1DEC-8E4E9C0F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FEA36C70-5B29-93B0-13B5-36B8E67627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E5FA90E3-B260-AE44-4C80-94F51228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F06991B1-A4E5-95D5-7976-D3E35871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6982C80E-00D8-FA8B-5157-D09952C0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DD38A6D7-448D-69B5-5B54-0C79C0D5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98F46FF0-0E22-0919-903C-8D30AE3F79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7216182F-A9A3-5B1D-A75F-03BBFEDA8A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C365F69F-2B70-89D4-9E7B-1DB056B2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C1584A37-E83F-2060-0413-CB56B0F7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BFC185AB-0F25-3911-BAD8-2C553277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2412931A-8678-DA12-D82E-199921F1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4A2A9772-E36C-01B8-8844-010DC7B2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CA412616-563A-4151-3B39-5C5C6073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1A46241C-41B3-9430-88F4-8C5138E47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3A20FE76-3617-F39F-635B-B44B92FE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97AC0722-0914-DE1E-7518-B2AC31D5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46A25159-59D0-B0F3-7EFD-125B444D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737274A-0423-8C11-F2EE-D99578501E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8338735D-A937-8B9C-080E-3945C3D8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F6105223-3BD6-7E56-0954-A8370141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434849FA-E17B-1043-1EBF-43C76BD9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56158A6D-5377-A335-6D30-A548F462E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264F1A39-DBA3-8632-DC0C-B73C62C5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5F731E8-4BC7-2BF2-81E2-19CC8BFD73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EED82A25-CEE8-166C-B96D-43E545AB4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BA93F716-2A51-33B2-B6A1-8560542558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CCE3BF1F-7537-16D9-937E-00AA1F25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1B53B200-B3EE-C372-09C1-814B2B89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1747801-1C89-7DE6-E489-B2B2473AB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9118DFE0-5AE4-B903-3B61-10AE4E6F8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0641225B-0B4D-809F-CA2E-474BADDB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D90F1C49-3C5C-581B-BB17-1274C4BC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7924753E-5CAA-AC7E-E3BC-F5C6C0A6B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B27F3943-4735-E391-4645-136BAEB53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F9881978-0D70-F77F-B628-C0163CDF4B01}"/>
              </a:ext>
            </a:extLst>
          </p:cNvPr>
          <p:cNvSpPr txBox="1"/>
          <p:nvPr/>
        </p:nvSpPr>
        <p:spPr>
          <a:xfrm>
            <a:off x="494910" y="1569727"/>
            <a:ext cx="10879897" cy="51157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b="1" dirty="0"/>
              <a:t>作者敏锐地发现了一个训练不平衡的问题：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/>
              <a:t>在一个 </a:t>
            </a:r>
            <a:r>
              <a:rPr lang="en-US" altLang="zh-CN" sz="2000" dirty="0"/>
              <a:t>batch </a:t>
            </a:r>
            <a:r>
              <a:rPr lang="zh-CN" altLang="en-US" sz="2000" dirty="0"/>
              <a:t>只包含一个账户的情况下，</a:t>
            </a:r>
            <a:r>
              <a:rPr lang="en-US" altLang="zh-CN" sz="2000" dirty="0"/>
              <a:t>LSTMTC </a:t>
            </a:r>
            <a:r>
              <a:rPr lang="zh-CN" altLang="en-US" sz="2000" dirty="0"/>
              <a:t>会为该账户的 </a:t>
            </a:r>
            <a:r>
              <a:rPr lang="en-US" altLang="zh-CN" sz="2000" dirty="0"/>
              <a:t>l </a:t>
            </a:r>
            <a:r>
              <a:rPr lang="zh-CN" altLang="en-US" sz="2000" dirty="0"/>
              <a:t>条推文分别计算梯度（即 </a:t>
            </a:r>
            <a:r>
              <a:rPr lang="en-US" altLang="zh-CN" sz="2000" dirty="0"/>
              <a:t>l </a:t>
            </a:r>
            <a:r>
              <a:rPr lang="zh-CN" altLang="en-US" sz="2000" dirty="0"/>
              <a:t>次更新），而其他模块（</a:t>
            </a:r>
            <a:r>
              <a:rPr lang="en-US" altLang="zh-CN" sz="2000" dirty="0"/>
              <a:t>LSTMT, LSTMAD, FC</a:t>
            </a:r>
            <a:r>
              <a:rPr lang="zh-CN" altLang="en-US" sz="2000" dirty="0"/>
              <a:t>）只进行一次更新。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sz="2000" dirty="0"/>
              <a:t>这会导致 </a:t>
            </a:r>
            <a:r>
              <a:rPr lang="en-US" altLang="zh-CN" sz="2000" dirty="0"/>
              <a:t>LSTMTC </a:t>
            </a:r>
            <a:r>
              <a:rPr lang="zh-CN" altLang="en-US" sz="2000" dirty="0"/>
              <a:t>的参数更新频率远高于其他部分，可能影响整体性能。</a:t>
            </a:r>
          </a:p>
          <a:p>
            <a:pPr>
              <a:lnSpc>
                <a:spcPct val="150000"/>
              </a:lnSpc>
            </a:pPr>
            <a:r>
              <a:rPr lang="zh-CN" altLang="en-US" sz="2000" b="1" dirty="0"/>
              <a:t>为此，作者提出了三种训练方案来探索最优解：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/>
              <a:t>Full Training</a:t>
            </a:r>
            <a:r>
              <a:rPr lang="zh-CN" altLang="en-US" sz="2000" b="1" dirty="0"/>
              <a:t>：</a:t>
            </a:r>
            <a:r>
              <a:rPr lang="zh-CN" altLang="en-US" sz="2000" dirty="0"/>
              <a:t>标准训练，所有模块在每个 </a:t>
            </a:r>
            <a:r>
              <a:rPr lang="en-US" altLang="zh-CN" sz="2000" dirty="0"/>
              <a:t>epoch </a:t>
            </a:r>
            <a:r>
              <a:rPr lang="zh-CN" altLang="en-US" sz="2000" dirty="0"/>
              <a:t>都更新。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/>
              <a:t>Partial Training</a:t>
            </a:r>
            <a:r>
              <a:rPr lang="zh-CN" altLang="en-US" sz="2000" b="1" dirty="0"/>
              <a:t>：</a:t>
            </a:r>
            <a:r>
              <a:rPr lang="zh-CN" altLang="en-US" sz="2000" dirty="0"/>
              <a:t>先正常训练直到验证集性能最佳，然后冻结 </a:t>
            </a:r>
            <a:r>
              <a:rPr lang="en-US" altLang="zh-CN" sz="2000" dirty="0"/>
              <a:t>LSTMTC</a:t>
            </a:r>
            <a:r>
              <a:rPr lang="zh-CN" altLang="en-US" sz="2000" dirty="0"/>
              <a:t>，只继续训练其他模块。目的是让其他模块有更多机会学习。</a:t>
            </a:r>
          </a:p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en-US" altLang="zh-CN" sz="2000" b="1" dirty="0"/>
              <a:t>On-Off Training</a:t>
            </a:r>
            <a:r>
              <a:rPr lang="zh-CN" altLang="en-US" sz="2000" b="1" dirty="0"/>
              <a:t>：</a:t>
            </a:r>
            <a:r>
              <a:rPr lang="zh-CN" altLang="en-US" sz="2000" dirty="0"/>
              <a:t>交替训练。奇数 </a:t>
            </a:r>
            <a:r>
              <a:rPr lang="en-US" altLang="zh-CN" sz="2000" dirty="0"/>
              <a:t>epoch </a:t>
            </a:r>
            <a:r>
              <a:rPr lang="zh-CN" altLang="en-US" sz="2000" dirty="0"/>
              <a:t>训练全部模块，偶数 </a:t>
            </a:r>
            <a:r>
              <a:rPr lang="en-US" altLang="zh-CN" sz="2000" dirty="0"/>
              <a:t>epoch </a:t>
            </a:r>
            <a:r>
              <a:rPr lang="zh-CN" altLang="en-US" sz="2000" dirty="0"/>
              <a:t>冻结 </a:t>
            </a:r>
            <a:r>
              <a:rPr lang="en-US" altLang="zh-CN" sz="2000" dirty="0"/>
              <a:t>LSTMTC</a:t>
            </a:r>
            <a:r>
              <a:rPr lang="zh-CN" altLang="en-US" sz="2000" dirty="0"/>
              <a:t>。</a:t>
            </a:r>
          </a:p>
          <a:p>
            <a:pPr>
              <a:lnSpc>
                <a:spcPct val="150000"/>
              </a:lnSpc>
            </a:pPr>
            <a:r>
              <a:rPr lang="zh-CN" altLang="en-US" sz="2000" dirty="0"/>
              <a:t>实验结果（</a:t>
            </a:r>
            <a:r>
              <a:rPr lang="en-US" altLang="zh-CN" sz="2000" dirty="0"/>
              <a:t>Section IV-B.2</a:t>
            </a:r>
            <a:r>
              <a:rPr lang="zh-CN" altLang="en-US" sz="2000" dirty="0"/>
              <a:t>）表明，</a:t>
            </a:r>
            <a:r>
              <a:rPr lang="zh-CN" altLang="en-US" sz="2000" b="1" dirty="0"/>
              <a:t>三种方法性能相近，其中 </a:t>
            </a:r>
            <a:r>
              <a:rPr lang="en-US" altLang="zh-CN" sz="2000" b="1" dirty="0"/>
              <a:t>On-Off </a:t>
            </a:r>
            <a:r>
              <a:rPr lang="zh-CN" altLang="en-US" sz="2000" b="1" dirty="0"/>
              <a:t>略优。但考虑到简洁性，后续实验主要采用 </a:t>
            </a:r>
            <a:r>
              <a:rPr lang="en-US" altLang="zh-CN" sz="2000" b="1" dirty="0"/>
              <a:t>Full Training</a:t>
            </a:r>
            <a:r>
              <a:rPr lang="zh-CN" altLang="en-US" sz="2000" dirty="0"/>
              <a:t>。</a:t>
            </a:r>
            <a:endParaRPr lang="en-US" altLang="zh-CN" sz="1600" dirty="0"/>
          </a:p>
        </p:txBody>
      </p:sp>
    </p:spTree>
    <p:extLst>
      <p:ext uri="{BB962C8B-B14F-4D97-AF65-F5344CB8AC3E}">
        <p14:creationId xmlns:p14="http://schemas.microsoft.com/office/powerpoint/2010/main" val="2860763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29589-3526-8101-FC07-41A85BA9A3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92D9EDD9-0167-162C-D443-F44A65066A79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C8110E9A-D33C-8B23-6CEF-8D5F486FD778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第五部分：实验过程与结果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(Experiments &amp; Results)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2BF64E64-57D7-835F-7DE7-6A6DD26D42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F6FF3AF6-6F0E-4328-42C4-C53B2F3875C4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80C066E-7F7B-9A8F-CCCB-A6DF331B4E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40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349AE366-D577-99E3-1318-C54DA7309320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F0E8DF40-746A-45CB-5564-4A36986FCF0B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FF8CF9A7-149D-77BC-19A2-EECC6396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0B2763D6-6028-D4E2-1CDF-36529BEF21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4462A540-F837-FF96-1870-07BF712A79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58AD3537-119C-2BE0-3852-7427D0DCF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C219705F-58F8-412B-7990-9F9809A4A6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311A7754-DA47-52D1-AE9C-EB006F9D02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0B097F30-585C-2D7D-859F-97DEBD8A5A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809C2CC0-F098-F0CD-A0D4-E3AEAB910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A1FF8D3C-EFD3-B1A5-4A1F-2BA574CA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E5E96331-6E23-E6DC-0771-6E233C6D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6C0415AD-3609-95E1-121A-CB584D50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62A8ED0C-8F78-3AFF-84E0-3ED93FDAC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75C1B384-84E8-DFCD-79C7-8DCF40777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AB5A4891-3C2A-1E4F-6BFC-45F95636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6BCD7387-237F-5759-7BA4-E20A3AB6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E118D58C-9D5B-5A10-6C42-B3564169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4F938524-6A1A-386E-2094-B12F9703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9C886E5C-E375-E2E1-B2BB-D1B0EE5923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FF076B21-D8FF-954C-AC55-9BB968B1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3F513E48-6810-C5BD-56E8-0FBDF602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9008B289-43DC-E999-C1A4-F323AF03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AB44E2D7-D60E-6176-1CB3-B4EE09B7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50B3DA88-E51B-6DD5-2312-7A458163E4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75BA2EE-1C44-E317-83DC-73A26680A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39EE25B0-A42E-419E-B021-C1CFA70B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7A3B601E-0173-9603-5C36-80E01D60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4ABC4AB6-67AF-2B62-E53D-68040AB7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20CE002B-3960-721F-BABC-4D79FB31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95B2D4B0-5DA1-8D65-6972-08E75CE2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8D192D7C-A7AD-4EA2-0E94-AB0E43EC6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E42057E6-784C-41EA-5C07-B9F54050E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120BCE57-E743-1FD4-8898-8EE1B89C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B9E89412-6D0E-2DCF-1375-620E6D6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E17A79A0-421A-1B70-5ED9-A0AE1B4B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FB15AC42-D794-E29C-6A31-6D7FD7513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BD4E67A2-7B86-7D7E-C39D-17EE92587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B5719244-73EA-3EA2-0B8C-2F2A7F95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C94F654A-81CC-6A61-8296-7706B9ED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B0F135E-8E1F-1F93-3DA6-13EB1C88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DFB3E542-0D32-9854-08EE-1C056CB23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4BB74157-A429-5908-8857-D7CE72FDF2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6B959873-56D1-045F-7CB7-DF60557B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371C9CC4-F547-6E1B-9D61-CC864F42F0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798271F5-0F84-C2E2-56E2-8E2E12834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2E535B64-24A6-45AA-8121-E510E253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814537E-78AA-757A-937D-EA119E8C6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1DB53E0-F056-D62E-7FE5-462B60E31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56C0B997-E53B-3EF5-EEE3-F45E156DB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9CF0292C-49F3-E538-F7A3-EE23FFBBF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2A5E0461-4C42-C2A6-DB72-61835E7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9640F7E8-5FBB-1B6D-21E5-E32C8DAC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1269176D-764E-37BB-F495-B851F5D57319}"/>
              </a:ext>
            </a:extLst>
          </p:cNvPr>
          <p:cNvSpPr txBox="1"/>
          <p:nvPr/>
        </p:nvSpPr>
        <p:spPr>
          <a:xfrm>
            <a:off x="494910" y="1455705"/>
            <a:ext cx="10879897" cy="54906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b="1" dirty="0"/>
              <a:t>5.1 </a:t>
            </a:r>
            <a:r>
              <a:rPr lang="zh-CN" altLang="en-US" sz="2000" b="1" dirty="0"/>
              <a:t>实验设置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实现细节：</a:t>
            </a:r>
            <a:r>
              <a:rPr lang="en-US" altLang="zh-CN" dirty="0" err="1"/>
              <a:t>PyTorch</a:t>
            </a:r>
            <a:r>
              <a:rPr lang="en-US" altLang="zh-CN" dirty="0"/>
              <a:t>, Adam </a:t>
            </a:r>
            <a:r>
              <a:rPr lang="zh-CN" altLang="en-US" dirty="0"/>
              <a:t>优化器</a:t>
            </a:r>
            <a:r>
              <a:rPr lang="en-US" altLang="zh-CN" dirty="0"/>
              <a:t>, Dropout=0.5, Batch Size=1, Epoch=3</a:t>
            </a:r>
            <a:endParaRPr lang="zh-CN" altLang="en-US" dirty="0"/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数据集：</a:t>
            </a:r>
            <a:r>
              <a:rPr lang="zh-CN" altLang="en-US" dirty="0"/>
              <a:t>使用了 </a:t>
            </a:r>
            <a:r>
              <a:rPr lang="en-US" altLang="zh-CN" dirty="0" err="1"/>
              <a:t>Botometer</a:t>
            </a:r>
            <a:r>
              <a:rPr lang="en-US" altLang="zh-CN" dirty="0"/>
              <a:t> </a:t>
            </a:r>
            <a:r>
              <a:rPr lang="zh-CN" altLang="en-US" dirty="0"/>
              <a:t>仓库中的 </a:t>
            </a:r>
            <a:r>
              <a:rPr lang="en-US" altLang="zh-CN" dirty="0"/>
              <a:t>4 </a:t>
            </a:r>
            <a:r>
              <a:rPr lang="zh-CN" altLang="en-US" dirty="0"/>
              <a:t>个经典数据集 </a:t>
            </a:r>
            <a:r>
              <a:rPr lang="en-US" altLang="zh-CN" dirty="0"/>
              <a:t>(varol-2017, cresci-2017, </a:t>
            </a:r>
            <a:r>
              <a:rPr lang="en-US" altLang="zh-CN" dirty="0" err="1"/>
              <a:t>botometer</a:t>
            </a:r>
            <a:r>
              <a:rPr lang="en-US" altLang="zh-CN" dirty="0"/>
              <a:t>-feedback, caverlee-2011)</a:t>
            </a:r>
            <a:r>
              <a:rPr lang="zh-CN" altLang="en-US" dirty="0"/>
              <a:t>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关键操作：</a:t>
            </a:r>
            <a:r>
              <a:rPr lang="zh-CN" altLang="en-US" dirty="0"/>
              <a:t>由于 </a:t>
            </a:r>
            <a:r>
              <a:rPr lang="en-US" altLang="zh-CN" dirty="0"/>
              <a:t>Twitter </a:t>
            </a:r>
            <a:r>
              <a:rPr lang="zh-CN" altLang="en-US" dirty="0"/>
              <a:t>的 </a:t>
            </a:r>
            <a:r>
              <a:rPr lang="en-US" altLang="zh-CN" dirty="0"/>
              <a:t>API </a:t>
            </a:r>
            <a:r>
              <a:rPr lang="zh-CN" altLang="en-US" dirty="0"/>
              <a:t>限制和账户动态变化（删除</a:t>
            </a:r>
            <a:r>
              <a:rPr lang="en-US" altLang="zh-CN" dirty="0"/>
              <a:t>/</a:t>
            </a:r>
            <a:r>
              <a:rPr lang="zh-CN" altLang="en-US" dirty="0"/>
              <a:t>封禁），作者重新爬取了这些数据集的原始 </a:t>
            </a:r>
            <a:r>
              <a:rPr lang="en-US" altLang="zh-CN" dirty="0"/>
              <a:t>ID</a:t>
            </a:r>
            <a:r>
              <a:rPr lang="zh-CN" altLang="en-US" dirty="0"/>
              <a:t>，构建了自己版本的数据集。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b="1" dirty="0"/>
              <a:t>构建混合数据集 </a:t>
            </a:r>
            <a:r>
              <a:rPr lang="en-US" altLang="zh-CN" b="1" dirty="0"/>
              <a:t>(mixed-2021)</a:t>
            </a:r>
            <a:r>
              <a:rPr lang="zh-CN" altLang="en-US" b="1" dirty="0"/>
              <a:t>：</a:t>
            </a:r>
            <a:r>
              <a:rPr lang="zh-CN" altLang="en-US" dirty="0"/>
              <a:t>为了公平地评估模型对不同类型机器人的泛化能力，作者从上述</a:t>
            </a:r>
            <a:r>
              <a:rPr lang="en-US" altLang="zh-CN" dirty="0"/>
              <a:t>4</a:t>
            </a:r>
            <a:r>
              <a:rPr lang="zh-CN" altLang="en-US" dirty="0"/>
              <a:t>个数据集中各抽取一部分样本，构建了一个包含 </a:t>
            </a:r>
            <a:r>
              <a:rPr lang="en-US" altLang="zh-CN" dirty="0"/>
              <a:t>2276 </a:t>
            </a:r>
            <a:r>
              <a:rPr lang="zh-CN" altLang="en-US" dirty="0"/>
              <a:t>个活跃账户的混合数据集。这个数据集是与 </a:t>
            </a:r>
            <a:r>
              <a:rPr lang="en-US" altLang="zh-CN" dirty="0" err="1"/>
              <a:t>Botometer</a:t>
            </a:r>
            <a:r>
              <a:rPr lang="en-US" altLang="zh-CN" dirty="0"/>
              <a:t> </a:t>
            </a:r>
            <a:r>
              <a:rPr lang="zh-CN" altLang="en-US" dirty="0"/>
              <a:t>进行对比的主要战场。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基线模型：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b="1" dirty="0" err="1"/>
              <a:t>Botometer</a:t>
            </a:r>
            <a:r>
              <a:rPr lang="en-US" altLang="zh-CN" b="1" dirty="0"/>
              <a:t> v4</a:t>
            </a:r>
            <a:r>
              <a:rPr lang="zh-CN" altLang="en-US" b="1" dirty="0"/>
              <a:t>：</a:t>
            </a:r>
            <a:r>
              <a:rPr lang="zh-CN" altLang="en-US" dirty="0"/>
              <a:t>当时的 </a:t>
            </a:r>
            <a:r>
              <a:rPr lang="en-US" altLang="zh-CN" dirty="0"/>
              <a:t>SOTA </a:t>
            </a:r>
            <a:r>
              <a:rPr lang="zh-CN" altLang="en-US" dirty="0"/>
              <a:t>商业工具（通过其 </a:t>
            </a:r>
            <a:r>
              <a:rPr lang="en-US" altLang="zh-CN" dirty="0"/>
              <a:t>API </a:t>
            </a:r>
            <a:r>
              <a:rPr lang="zh-CN" altLang="en-US" dirty="0"/>
              <a:t>调用）。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b="1" dirty="0" err="1"/>
              <a:t>Kudugunta</a:t>
            </a:r>
            <a:r>
              <a:rPr lang="en-US" altLang="zh-CN" b="1" dirty="0"/>
              <a:t> and Ferrara </a:t>
            </a:r>
            <a:r>
              <a:rPr lang="zh-CN" altLang="en-US" b="1" dirty="0"/>
              <a:t>：</a:t>
            </a:r>
            <a:r>
              <a:rPr lang="zh-CN" altLang="en-US" dirty="0"/>
              <a:t>基于 </a:t>
            </a:r>
            <a:r>
              <a:rPr lang="en-US" altLang="zh-CN" dirty="0"/>
              <a:t>AdaBoost </a:t>
            </a:r>
            <a:r>
              <a:rPr lang="zh-CN" altLang="en-US" dirty="0"/>
              <a:t>和传统元特征（粉丝数、是否地理定位等）。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b="1" dirty="0" err="1"/>
              <a:t>Efthimion</a:t>
            </a:r>
            <a:r>
              <a:rPr lang="en-US" altLang="zh-CN" b="1" dirty="0"/>
              <a:t> et al. </a:t>
            </a:r>
            <a:r>
              <a:rPr lang="zh-CN" altLang="en-US" b="1" dirty="0"/>
              <a:t>：</a:t>
            </a:r>
            <a:r>
              <a:rPr lang="zh-CN" altLang="en-US" dirty="0"/>
              <a:t>基于 </a:t>
            </a:r>
            <a:r>
              <a:rPr lang="en-US" altLang="zh-CN" dirty="0"/>
              <a:t>SVM </a:t>
            </a:r>
            <a:r>
              <a:rPr lang="zh-CN" altLang="en-US" dirty="0"/>
              <a:t>和账户资料特征。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731872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55CE77-1154-FBE3-3D7D-F8C296573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F561DAC3-215B-3F23-3604-88078ACF9DE6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16B05FF2-C10D-11D9-3AC8-EB50C24C50F5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第五部分：实验过程与结果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(Experiments &amp; Results)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0461002D-6831-3B97-318D-584DB0B7D50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748E5717-8D5F-3CB8-51DB-B956629C53EA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A25DE6B9-F74F-D668-7FC3-1CEEE1940F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41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09E09140-152C-C48E-9CDA-4053E5007B34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8207B311-1A68-4E00-31E5-B88099127A20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40971DED-73AC-4658-E720-2CEDD4EB3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7C56B70D-49B1-4140-F6E6-2FC85CB87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CC12F425-C328-2F3D-9EB4-E04A2BA419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D93EEEAC-0A88-F1ED-4922-CC41392A78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87C41052-73EA-A3B7-4A3E-4B207C97F9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306FB6D6-29D3-E3FE-8C1E-42102DBD23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46A2B8F7-3D13-3A51-2047-D352A70C86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9087AF3D-ABED-2183-DCD0-5B417FD6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06C2196F-96C2-D169-6B28-3A3FDC4E4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B81DE9CA-9A62-CB9F-3CAF-8CA9D2B0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31E1C559-3757-D2E5-276D-E2564CC78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1A209AF0-0FC0-E292-965B-84913A5B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D478B387-3EFA-F428-2E8B-740BD1D99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9CE76E2C-A770-0C3E-0076-31EEDA3F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86CE3C9D-6192-CAE4-E9A7-383C5594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90565C67-15BF-238E-0752-6A486B4C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CABBAE63-DC89-DB6A-5B66-3DF58823A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65EFE52C-635E-7189-DD3A-67AAF226E3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5FA869A-B9E7-0FBD-1FFC-ACA1875F0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F624D92A-6728-C7AF-3500-13342AAA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A64FAFFF-FA2B-A735-4F4C-C0943C9B4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B416A3C1-116C-E6BA-1E23-A722EF1D5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2C544797-466C-1E3C-F62B-132A3FD1B9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000F5DF8-DDAD-74D0-CF70-3DB484F615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658BEC15-EBC1-3024-79CD-F3EBE6E43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DD881C35-ACE9-671B-2970-461416BD7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5BB33D1C-2796-6F38-362E-36F384C4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19AC4948-19AC-35F1-E106-A5443224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28AD9822-0079-B2EC-4306-9979DCF4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8DB43BA6-8D6D-2810-95ED-14FCD138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FBE4D320-29EC-6969-3615-541773DE5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D4413AC3-566D-1F97-D090-128DA2B4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74797B8B-25F1-1FEB-F7F2-889CA20A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8394FF59-CAC4-5576-03D0-2E2A7677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861F084F-EEF8-3788-6942-F14ECF249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773F7DF-0F06-C10B-F32B-C0257C6B7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9FD63A9C-4B6F-D2E4-27E4-7139C763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75AACEE5-D969-C6C3-3474-485504F1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4F1E98F7-1098-78AF-991A-E064B975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B873BFD6-F345-C498-8FF4-1484B067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A31E1746-8D86-F789-9317-1B4DF612B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6D103DF0-5511-C690-7A08-3B51AE7A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48E2AD72-BB88-0985-7BF7-FD52889D6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F641A48C-BD05-4B6E-32C3-4A8A9CC4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DE6260C4-35EB-AEBA-90AF-C82961F64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121E8F5B-EA94-E548-3FC2-4304AF76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19079AD7-7C00-9EF0-2B1F-D6CA2E00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A5780E47-7D4B-7065-25A4-886A4BFA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87369F52-1E0A-C589-AD36-E869CC8D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A4A1BFBB-FFDF-8B99-0636-086450E3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4DC26B2D-BA04-8F10-5D91-41B22010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9524CD80-6CC6-CC1D-3940-D7700344AF09}"/>
              </a:ext>
            </a:extLst>
          </p:cNvPr>
          <p:cNvSpPr txBox="1"/>
          <p:nvPr/>
        </p:nvSpPr>
        <p:spPr>
          <a:xfrm>
            <a:off x="494910" y="1455705"/>
            <a:ext cx="10879897" cy="46596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b="1" dirty="0"/>
              <a:t>5.2 </a:t>
            </a:r>
            <a:r>
              <a:rPr lang="zh-CN" altLang="en-US" sz="2000" b="1" dirty="0"/>
              <a:t>关键实验与发现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超参数影响分析：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dirty="0"/>
              <a:t>Epoch </a:t>
            </a:r>
            <a:r>
              <a:rPr lang="zh-CN" altLang="en-US" dirty="0"/>
              <a:t>数：超过 </a:t>
            </a:r>
            <a:r>
              <a:rPr lang="en-US" altLang="zh-CN" dirty="0"/>
              <a:t>3 </a:t>
            </a:r>
            <a:r>
              <a:rPr lang="zh-CN" altLang="en-US" dirty="0"/>
              <a:t>个 </a:t>
            </a:r>
            <a:r>
              <a:rPr lang="en-US" altLang="zh-CN" dirty="0"/>
              <a:t>epoch </a:t>
            </a:r>
            <a:r>
              <a:rPr lang="zh-CN" altLang="en-US" dirty="0"/>
              <a:t>后模型开始过拟合。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推文数量 </a:t>
            </a:r>
            <a:r>
              <a:rPr lang="en-US" altLang="zh-CN" dirty="0"/>
              <a:t>(l)</a:t>
            </a:r>
            <a:r>
              <a:rPr lang="zh-CN" altLang="en-US" dirty="0"/>
              <a:t>：即使只用 </a:t>
            </a:r>
            <a:r>
              <a:rPr lang="en-US" altLang="zh-CN" dirty="0"/>
              <a:t>2 </a:t>
            </a:r>
            <a:r>
              <a:rPr lang="zh-CN" altLang="en-US" dirty="0"/>
              <a:t>条推文，模型也能取得不错的效果，说明账户元数据本身就很有判别力。但使用 </a:t>
            </a:r>
            <a:r>
              <a:rPr lang="en-US" altLang="zh-CN" dirty="0"/>
              <a:t>10 </a:t>
            </a:r>
            <a:r>
              <a:rPr lang="zh-CN" altLang="en-US" dirty="0"/>
              <a:t>条推文时性能达到最佳，之后趋于稳定。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训练方案比较：</a:t>
            </a:r>
            <a:r>
              <a:rPr lang="zh-CN" altLang="en-US" dirty="0"/>
              <a:t>如前所述，三种方案效果接近，</a:t>
            </a:r>
            <a:r>
              <a:rPr lang="en-US" altLang="zh-CN" dirty="0"/>
              <a:t>Full Training </a:t>
            </a:r>
            <a:r>
              <a:rPr lang="zh-CN" altLang="en-US" dirty="0"/>
              <a:t>因其简单而被选用。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特征消融研究 ：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推文元数据 </a:t>
            </a:r>
            <a:r>
              <a:rPr lang="en-US" altLang="zh-CN" dirty="0"/>
              <a:t>(Tweet Metadata) </a:t>
            </a:r>
            <a:r>
              <a:rPr lang="zh-CN" altLang="en-US" dirty="0"/>
              <a:t>是最重要的特征组。移除它（或整个推文模块）会导致 </a:t>
            </a:r>
            <a:r>
              <a:rPr lang="en-US" altLang="zh-CN" dirty="0"/>
              <a:t>AUC </a:t>
            </a:r>
            <a:r>
              <a:rPr lang="zh-CN" altLang="en-US" dirty="0"/>
              <a:t>性能大幅下降。这强有力地证明了行为模式（如发布时间间隔、互动方式）对于区分机器人至关重要。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账户描述 的影响最小，因为其信息量有限且容易被伪造。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使用全部特征时性能最佳，验证了多模态融合的有效性。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427578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45FE6B-D191-F72C-9E91-EF65034BE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B35E9A0-5D5E-8EFE-CA9A-FCAF5F976589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C936C8D7-1209-98CE-CE7C-A6BAC9D3974D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第五部分：实验过程与结果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(Experiments &amp; Results)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991CA64-CEB9-BA30-8652-B5D0E89CB1F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2CA7D71-A5FD-6CBC-271B-774B417318CD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0DDB2963-791C-590D-65FD-1EAD35D7C7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42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A152E1F9-18BB-31DF-325E-E9072C723CBC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05C26B5A-5421-913C-EB41-B66C9BDBD585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8077664C-BB16-82AD-580D-CE8B0340F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AAD66F05-5BD7-37D2-DC70-A7B57430FC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8D1C0BB2-FF24-242C-1BF3-4B4B05D13D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605B0F64-F90F-9E0D-D3AF-324005AC25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0DD17A83-3E95-0B31-5A64-28A45979F7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79B1853F-0B17-7C5F-7857-00477FCC47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9418D92E-320A-77F8-9C29-3AA8BE6349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46C09662-3006-C88E-C46D-BCAC2295B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486C1491-C179-1FB3-AC7F-A8857CB0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85B61F92-63F4-6A16-1FCE-099E43987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A32DF63F-C424-F31F-38C4-02F9ABEFF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F7C75952-3200-3E7C-4BA2-1380AEC21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63D78125-5B6B-EEF8-0042-3A553BB8D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CED793B9-DA74-5CB6-D47E-2DAD9D72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FACBA522-4345-9132-BC2B-40BC6A091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28A9B189-4EB3-EE1D-7B64-06A988F4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AE4FC474-9F46-ACAA-BFCD-F0D2EC30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C0BF774F-645E-CD82-0EBB-90AF175302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C0F2D582-4087-6E1A-50A2-DDE38DC4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87D4A85D-0208-59D0-190C-98CECE0E5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762ABADE-0A76-46B7-93EA-8DDFEDB62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DE22C16E-CCE9-F520-1A1D-F6EAB33E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6B203990-B3F9-3463-3F56-8FD9510607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85495988-11AC-E608-A857-EFB3BA23CB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66B1443A-5B06-38E6-9E50-419A49B9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A4565CFB-EC0A-E4FB-F61F-5442D36E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28D234E1-0D26-E7E1-537B-16ADBB3B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3E1E6A7A-6094-CC38-DC68-F0A60242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567585FB-64F5-E8F5-3537-98A4024A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FDDFBB8E-E515-0A29-BB05-61AF2CC9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9C6F8609-CF98-2FDA-97C0-949D1777B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5CB612E1-671D-08A0-4871-465E52CE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772078AD-6EC3-2066-921A-7980CDCB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E45BC149-E55E-38AE-1300-2312E9A8F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3E809F45-5392-6A2E-FEFF-41A540C9B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9AD0F786-8C10-8912-EE72-0C1D4218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1EBCDDFE-3BB8-3C63-39CF-59D5B6B0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C287D002-E892-6391-EE34-3F5BAC5F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10CEDB3E-954A-E8D0-EC75-77B6825E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9A688AF-7635-C90D-7D94-E147B36B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FF02AAE6-71BE-4353-206F-A0DF2EA30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6B9651DC-0943-2C97-B85E-0E3A01929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158FD115-F453-CCAE-89A4-40585DA34B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1E5088DD-755A-A5D9-BAC6-44183B5F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5661AD8F-00DD-015F-BC9D-1C55EB3F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D0D2B3FD-4DD2-954B-1B82-22162A70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363F432F-D36E-452B-8B40-1AE0CAD1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0AE040CF-B23C-4CD2-F156-074BA5F7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8278FDAF-D1EC-AFB5-4D2C-AAD7071EF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B129DF9F-1175-96A3-7663-36E60928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1B75B9FA-9D98-A3BD-0C2C-F4DF500F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4493029A-FFF9-B083-8BD8-82FF28192A95}"/>
              </a:ext>
            </a:extLst>
          </p:cNvPr>
          <p:cNvSpPr txBox="1"/>
          <p:nvPr/>
        </p:nvSpPr>
        <p:spPr>
          <a:xfrm>
            <a:off x="425753" y="1677960"/>
            <a:ext cx="10928048" cy="38286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000" b="1" dirty="0"/>
              <a:t>5.2 </a:t>
            </a:r>
            <a:r>
              <a:rPr lang="zh-CN" altLang="en-US" sz="2000" b="1" dirty="0"/>
              <a:t>关键实验与发现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/>
              <a:t>与基线模型的对比 </a:t>
            </a:r>
            <a:endParaRPr lang="en-US" altLang="zh-CN" dirty="0"/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主实验：在 </a:t>
            </a:r>
            <a:r>
              <a:rPr lang="en-US" altLang="zh-CN" dirty="0"/>
              <a:t>mixed-2021 </a:t>
            </a:r>
            <a:r>
              <a:rPr lang="zh-CN" altLang="en-US" dirty="0"/>
              <a:t>数据集上，作者的模型在 </a:t>
            </a:r>
            <a:r>
              <a:rPr lang="en-US" altLang="zh-CN" dirty="0"/>
              <a:t>Accuracy, Precision, Recall, F1-Score </a:t>
            </a:r>
            <a:r>
              <a:rPr lang="zh-CN" altLang="en-US" dirty="0"/>
              <a:t>所有指标上均显著优于所有基线，包括强大的 </a:t>
            </a:r>
            <a:r>
              <a:rPr lang="en-US" altLang="zh-CN" dirty="0" err="1"/>
              <a:t>Botometer</a:t>
            </a:r>
            <a:r>
              <a:rPr lang="en-US" altLang="zh-CN" dirty="0"/>
              <a:t> v4</a:t>
            </a:r>
            <a:r>
              <a:rPr lang="zh-CN" altLang="en-US" dirty="0"/>
              <a:t>。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鲁棒性验证：</a:t>
            </a:r>
          </a:p>
          <a:p>
            <a:pPr marL="1200150" lvl="2" indent="-28575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US" altLang="zh-CN" dirty="0"/>
              <a:t>5</a:t>
            </a:r>
            <a:r>
              <a:rPr lang="zh-CN" altLang="en-US" dirty="0"/>
              <a:t>折交叉验证：作者模型的平均 </a:t>
            </a:r>
            <a:r>
              <a:rPr lang="en-US" altLang="zh-CN" dirty="0"/>
              <a:t>F1 </a:t>
            </a:r>
            <a:r>
              <a:rPr lang="zh-CN" altLang="en-US" dirty="0"/>
              <a:t>为 </a:t>
            </a:r>
            <a:r>
              <a:rPr lang="en-US" altLang="zh-CN" dirty="0"/>
              <a:t>0.786</a:t>
            </a:r>
            <a:r>
              <a:rPr lang="zh-CN" altLang="en-US" dirty="0"/>
              <a:t>，而 </a:t>
            </a:r>
            <a:r>
              <a:rPr lang="en-US" altLang="zh-CN" dirty="0" err="1"/>
              <a:t>Botometer</a:t>
            </a:r>
            <a:r>
              <a:rPr lang="en-US" altLang="zh-CN" dirty="0"/>
              <a:t> </a:t>
            </a:r>
            <a:r>
              <a:rPr lang="zh-CN" altLang="en-US" dirty="0"/>
              <a:t>为 </a:t>
            </a:r>
            <a:r>
              <a:rPr lang="en-US" altLang="zh-CN" dirty="0"/>
              <a:t>0.744</a:t>
            </a:r>
            <a:r>
              <a:rPr lang="zh-CN" altLang="en-US" dirty="0"/>
              <a:t>。</a:t>
            </a:r>
          </a:p>
          <a:p>
            <a:pPr marL="1200150" lvl="2" indent="-28575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US" altLang="zh-CN" dirty="0"/>
              <a:t>20</a:t>
            </a:r>
            <a:r>
              <a:rPr lang="zh-CN" altLang="en-US" dirty="0"/>
              <a:t>次随机划分：</a:t>
            </a:r>
            <a:r>
              <a:rPr lang="en-US" altLang="zh-CN" dirty="0"/>
              <a:t>Figure 5 </a:t>
            </a:r>
            <a:r>
              <a:rPr lang="zh-CN" altLang="en-US" dirty="0"/>
              <a:t>显示，在 </a:t>
            </a:r>
            <a:r>
              <a:rPr lang="en-US" altLang="zh-CN" dirty="0"/>
              <a:t>20 </a:t>
            </a:r>
            <a:r>
              <a:rPr lang="zh-CN" altLang="en-US" dirty="0"/>
              <a:t>次不同的训练</a:t>
            </a:r>
            <a:r>
              <a:rPr lang="en-US" altLang="zh-CN" dirty="0"/>
              <a:t>/</a:t>
            </a:r>
            <a:r>
              <a:rPr lang="zh-CN" altLang="en-US" dirty="0"/>
              <a:t>测试集划分下，作者模型的 </a:t>
            </a:r>
            <a:r>
              <a:rPr lang="en-US" altLang="zh-CN" dirty="0"/>
              <a:t>Recall</a:t>
            </a:r>
            <a:r>
              <a:rPr lang="zh-CN" altLang="en-US" dirty="0"/>
              <a:t>（召回率）几乎总是最高，且整体 </a:t>
            </a:r>
            <a:r>
              <a:rPr lang="en-US" altLang="zh-CN" dirty="0"/>
              <a:t>F1 </a:t>
            </a:r>
            <a:r>
              <a:rPr lang="zh-CN" altLang="en-US" dirty="0"/>
              <a:t>分数（</a:t>
            </a:r>
            <a:r>
              <a:rPr lang="en-US" altLang="zh-CN" dirty="0"/>
              <a:t>0.784</a:t>
            </a:r>
            <a:r>
              <a:rPr lang="zh-CN" altLang="en-US" dirty="0"/>
              <a:t>）依然领先于 </a:t>
            </a:r>
            <a:r>
              <a:rPr lang="en-US" altLang="zh-CN" dirty="0" err="1"/>
              <a:t>Botometer</a:t>
            </a:r>
            <a:r>
              <a:rPr lang="zh-CN" altLang="en-US" dirty="0"/>
              <a:t>（</a:t>
            </a:r>
            <a:r>
              <a:rPr lang="en-US" altLang="zh-CN" dirty="0"/>
              <a:t>0.745</a:t>
            </a:r>
            <a:r>
              <a:rPr lang="zh-CN" altLang="en-US" dirty="0"/>
              <a:t>）。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zh-CN" altLang="en-US" dirty="0"/>
              <a:t>结论：该模型不仅在特定划分下表现好，而且具有很强的稳定性和泛化能力。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673941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71C7AF-8D5B-2B7E-CAD0-120A4B2199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5134A178-758B-DB51-7609-0878BA98021F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8474206F-0620-7101-A51C-A13D456DA28E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第六部分：局限性与未来工作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(Limitations &amp; Future Work)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9B51A6F-8C4B-A2AC-ABCB-F21C61BE2C8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3C53BC93-FA23-705D-74FA-A61F3ADAA87F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196716CB-4F95-37CB-4071-FF4203C322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43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1DAA7FE0-8543-1101-D423-FD87FC1D8D3D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BF04BF0F-B4FD-CC02-B62E-DF44EE7458A1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C4367255-4089-1AB2-E374-92484EB7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56059DD6-4AC1-13E6-4813-479B990E9A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19CAB9B1-39E8-F0A6-2C1C-4980ED9C9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CF7F2A2E-300D-07F4-37F4-D3E2030DEA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0494AA9E-8C32-32D4-758D-DB49F7997E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433A3D3D-9E1D-FE31-34CB-42A1B04248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16F06FF2-F6CB-F499-F28F-271887C768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3C025C1-F7E4-4D1B-BD80-E216E717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29419AF2-41D1-5D28-C282-ABF5D49E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2D2128FC-9D5A-4FB9-115A-572E0731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B841E6B9-20E9-2FED-61EA-4AC49E143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C1D5D8FB-6572-69F3-470E-942C2D6B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5DEA0BA0-0E7A-D207-B4E2-C320F201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4DF3A538-1243-7B49-2258-A631351C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7E141F6D-57F4-7FA6-78F5-5D7CC30E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68E410B8-3152-E284-097D-06B1E4964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3D2FCF06-632A-A237-84EC-C90D326FC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A073232D-6059-6292-95E7-E27D555927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157E661F-C74B-D48A-6A76-574D44D2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CCC08696-6F12-EF9C-ED12-E47BF6DD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EFF86356-6950-5807-9EF1-24C7DA0F1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D2FA7852-6734-4B16-1F72-2EF519EFD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3B1E7FBB-98C7-D659-2304-17C23210CA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552E5DAB-A987-8238-C1C2-8EEE7A82A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5A597349-593E-6A21-B597-89686EF0F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DB9C8CA8-2F26-AF59-4B8F-6A4E9940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5369C719-91D9-F13C-58F7-0A9675FA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88523E8D-FFF9-765F-17D1-6456CCD4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EF815C16-9ECE-2DFE-A56A-D382EC65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4A297B4F-F833-E3BB-B641-54FABDD4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CFC39D5F-F1FB-ED11-4A85-C3571FB04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61625359-C468-1FAE-904A-FACFE447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112E1EAF-396B-A4CD-C580-C173D8D4B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E651D38C-8E86-A939-E95F-E256F774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E66DEBB9-4D38-B23B-880B-137ECA9CE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63799C5-8239-E63A-C4F7-98C4D050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BA1546CC-DB25-C7AA-3F7D-D3430BBE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EFBB5DC3-3C38-200D-4260-B3DCF367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5ED1681C-B17B-B989-844E-1F23082A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6BC5C996-66D9-7F7F-70EF-7CF325F0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97CBCC1D-9783-8F73-C58C-D206B6C3D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3D38480-12B8-6B3A-35B5-6DC357572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A56CB745-16E2-2D02-B08C-89C33015A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16479DC3-87A5-1CC6-32CE-2C0B855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BE285469-FFBF-BD85-5E0A-592E58B6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BD2A0A9E-115C-DA16-0FC0-54C662F48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BA6E0DF-47C5-1339-9253-C3BC9605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ED505D71-710D-7445-FBE6-C557C802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9AB7C621-C47D-DAB5-E25B-839A110C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148C6C14-61C7-EDF9-74AD-542D0879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1F67D4A0-E54D-CDAA-E114-5439D216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0DEB7950-80B3-18F0-6F84-3A16ADAB84CC}"/>
              </a:ext>
            </a:extLst>
          </p:cNvPr>
          <p:cNvSpPr txBox="1"/>
          <p:nvPr/>
        </p:nvSpPr>
        <p:spPr>
          <a:xfrm>
            <a:off x="425753" y="1677960"/>
            <a:ext cx="10928048" cy="41979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作者讨论了工作的局限性：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超参数调优：</a:t>
            </a:r>
            <a:r>
              <a:rPr lang="zh-CN" altLang="en-US" dirty="0"/>
              <a:t>参数较多，且采用粗粒度调优，可能存在更优组合。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机器人类型的多样性</a:t>
            </a:r>
            <a:r>
              <a:rPr lang="zh-CN" altLang="en-US" dirty="0"/>
              <a:t>：尽管使用了多个数据集，但真实世界的机器人类型可能更加复杂和多样。实验表明，即使是同一类标注的机器人，其行为也可能存在至少</a:t>
            </a:r>
            <a:r>
              <a:rPr lang="en-US" altLang="zh-CN" dirty="0"/>
              <a:t>8</a:t>
            </a:r>
            <a:r>
              <a:rPr lang="zh-CN" altLang="en-US" dirty="0"/>
              <a:t>种不同的模式。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机器人的演化性</a:t>
            </a:r>
            <a:r>
              <a:rPr lang="zh-CN" altLang="en-US" dirty="0"/>
              <a:t>：面对未来更智能的机器人（如基于</a:t>
            </a:r>
            <a:r>
              <a:rPr lang="en-US" altLang="zh-CN" dirty="0"/>
              <a:t>GPT-4</a:t>
            </a:r>
            <a:r>
              <a:rPr lang="zh-CN" altLang="en-US" dirty="0"/>
              <a:t>），模型的有效性有待检验。但作者认为，只要抓住其“快速、大量传播信息”的核心目的，结合内容和行为的模型仍有优势。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忽略账户间关系</a:t>
            </a:r>
            <a:r>
              <a:rPr lang="zh-CN" altLang="en-US" dirty="0"/>
              <a:t>：模型是“以账户为中心”的，未考虑机器人通常协同作案的特点。未来希望开发能处理多账户关系的模型。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b="1" dirty="0"/>
              <a:t>平台与语言依赖性</a:t>
            </a:r>
            <a:r>
              <a:rPr lang="zh-CN" altLang="en-US" dirty="0"/>
              <a:t>：部分特征是 </a:t>
            </a:r>
            <a:r>
              <a:rPr lang="en-US" altLang="zh-CN" dirty="0"/>
              <a:t>Twitter </a:t>
            </a:r>
            <a:r>
              <a:rPr lang="zh-CN" altLang="en-US" dirty="0"/>
              <a:t>特有的，但整体框架可以迁移到其他平台。模型目前主要针对英语，但可通过更换词向量支持多语言。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005657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FDA67-3F6F-3450-B10C-D47B9C46BC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7818096E-7617-E941-74AD-A6D83035010D}"/>
              </a:ext>
            </a:extLst>
          </p:cNvPr>
          <p:cNvCxnSpPr/>
          <p:nvPr/>
        </p:nvCxnSpPr>
        <p:spPr>
          <a:xfrm>
            <a:off x="425752" y="1528840"/>
            <a:ext cx="2400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644B0148-4AF9-6DB1-1419-8AF348BF1823}"/>
              </a:ext>
            </a:extLst>
          </p:cNvPr>
          <p:cNvSpPr txBox="1"/>
          <p:nvPr/>
        </p:nvSpPr>
        <p:spPr>
          <a:xfrm>
            <a:off x="473579" y="1108968"/>
            <a:ext cx="8359335" cy="404714"/>
          </a:xfrm>
          <a:prstGeom prst="rect">
            <a:avLst/>
          </a:prstGeom>
          <a:noFill/>
        </p:spPr>
        <p:txBody>
          <a:bodyPr wrap="square" lIns="0" tIns="48000" rIns="0" bIns="48000" rtlCol="0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第六部分：局限性与未来工作 </a:t>
            </a:r>
            <a:r>
              <a:rPr lang="en-US" altLang="zh-CN" sz="2000" b="1" dirty="0">
                <a:solidFill>
                  <a:schemeClr val="accent1"/>
                </a:solidFill>
                <a:latin typeface="+mj-ea"/>
                <a:ea typeface="+mj-ea"/>
                <a:cs typeface="+mn-ea"/>
                <a:sym typeface="+mn-lt"/>
              </a:rPr>
              <a:t>(Limitations &amp; Future Work)</a:t>
            </a:r>
            <a:endParaRPr lang="zh-CN" altLang="en-US" sz="2000" b="1" dirty="0">
              <a:solidFill>
                <a:schemeClr val="accent1"/>
              </a:solidFill>
              <a:latin typeface="+mj-ea"/>
              <a:ea typeface="+mj-ea"/>
              <a:cs typeface="+mn-ea"/>
              <a:sym typeface="+mn-lt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F639E630-75BD-5508-894C-86D455BD41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846" t="20405" r="1846"/>
          <a:stretch>
            <a:fillRect/>
          </a:stretch>
        </p:blipFill>
        <p:spPr>
          <a:xfrm>
            <a:off x="0" y="1"/>
            <a:ext cx="12192000" cy="944689"/>
          </a:xfrm>
          <a:custGeom>
            <a:avLst/>
            <a:gdLst>
              <a:gd name="connsiteX0" fmla="*/ 0 w 12192000"/>
              <a:gd name="connsiteY0" fmla="*/ 0 h 944689"/>
              <a:gd name="connsiteX1" fmla="*/ 12192000 w 12192000"/>
              <a:gd name="connsiteY1" fmla="*/ 0 h 944689"/>
              <a:gd name="connsiteX2" fmla="*/ 12192000 w 12192000"/>
              <a:gd name="connsiteY2" fmla="*/ 944689 h 944689"/>
              <a:gd name="connsiteX3" fmla="*/ 0 w 12192000"/>
              <a:gd name="connsiteY3" fmla="*/ 944689 h 944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944689">
                <a:moveTo>
                  <a:pt x="0" y="0"/>
                </a:moveTo>
                <a:lnTo>
                  <a:pt x="12192000" y="0"/>
                </a:lnTo>
                <a:lnTo>
                  <a:pt x="12192000" y="944689"/>
                </a:lnTo>
                <a:lnTo>
                  <a:pt x="0" y="944689"/>
                </a:lnTo>
                <a:close/>
              </a:path>
            </a:pathLst>
          </a:custGeom>
        </p:spPr>
      </p:pic>
      <p:sp>
        <p:nvSpPr>
          <p:cNvPr id="3" name="矩形 4">
            <a:extLst>
              <a:ext uri="{FF2B5EF4-FFF2-40B4-BE49-F238E27FC236}">
                <a16:creationId xmlns:a16="http://schemas.microsoft.com/office/drawing/2014/main" id="{F09FFD80-77D4-AC55-850E-925887DA57A6}"/>
              </a:ext>
            </a:extLst>
          </p:cNvPr>
          <p:cNvSpPr/>
          <p:nvPr/>
        </p:nvSpPr>
        <p:spPr>
          <a:xfrm>
            <a:off x="0" y="0"/>
            <a:ext cx="12192000" cy="792000"/>
          </a:xfrm>
          <a:prstGeom prst="rect">
            <a:avLst/>
          </a:prstGeom>
          <a:solidFill>
            <a:srgbClr val="FAFAFA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endParaRPr lang="zh-CN" altLang="en-US" sz="2880" dirty="0">
              <a:cs typeface="+mn-ea"/>
              <a:sym typeface="+mn-lt"/>
            </a:endParaRPr>
          </a:p>
        </p:txBody>
      </p:sp>
      <p:sp>
        <p:nvSpPr>
          <p:cNvPr id="14" name="灯片编号占位符 13">
            <a:extLst>
              <a:ext uri="{FF2B5EF4-FFF2-40B4-BE49-F238E27FC236}">
                <a16:creationId xmlns:a16="http://schemas.microsoft.com/office/drawing/2014/main" id="{8C070A75-3E02-625A-DF2D-145347427C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44</a:t>
            </a:fld>
            <a:endParaRPr lang="zh-CN" altLang="en-US"/>
          </a:p>
        </p:txBody>
      </p:sp>
      <p:grpSp>
        <p:nvGrpSpPr>
          <p:cNvPr id="79" name="组合 78">
            <a:extLst>
              <a:ext uri="{FF2B5EF4-FFF2-40B4-BE49-F238E27FC236}">
                <a16:creationId xmlns:a16="http://schemas.microsoft.com/office/drawing/2014/main" id="{183647AD-391F-9C43-8B80-978603E9707B}"/>
              </a:ext>
            </a:extLst>
          </p:cNvPr>
          <p:cNvGrpSpPr/>
          <p:nvPr/>
        </p:nvGrpSpPr>
        <p:grpSpPr>
          <a:xfrm>
            <a:off x="473580" y="130809"/>
            <a:ext cx="1876079" cy="530383"/>
            <a:chOff x="3345242" y="1493633"/>
            <a:chExt cx="6107954" cy="1726770"/>
          </a:xfrm>
        </p:grpSpPr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878F9DD5-58F0-F638-5369-243209122093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109" name="Freeform 5">
                <a:extLst>
                  <a:ext uri="{FF2B5EF4-FFF2-40B4-BE49-F238E27FC236}">
                    <a16:creationId xmlns:a16="http://schemas.microsoft.com/office/drawing/2014/main" id="{BA3601B5-EFAF-DFBD-9C30-93A6308AD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0" name="Freeform 6">
                <a:extLst>
                  <a:ext uri="{FF2B5EF4-FFF2-40B4-BE49-F238E27FC236}">
                    <a16:creationId xmlns:a16="http://schemas.microsoft.com/office/drawing/2014/main" id="{20FB6330-3DDF-86F4-615B-9E595FE68A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1" name="Freeform 7">
                <a:extLst>
                  <a:ext uri="{FF2B5EF4-FFF2-40B4-BE49-F238E27FC236}">
                    <a16:creationId xmlns:a16="http://schemas.microsoft.com/office/drawing/2014/main" id="{E7F8D3C2-CB09-BCCD-A228-226DBBF138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2" name="Freeform 8">
                <a:extLst>
                  <a:ext uri="{FF2B5EF4-FFF2-40B4-BE49-F238E27FC236}">
                    <a16:creationId xmlns:a16="http://schemas.microsoft.com/office/drawing/2014/main" id="{F15A4CB6-DD79-E441-216E-DFDFBBF863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3" name="Freeform 9">
                <a:extLst>
                  <a:ext uri="{FF2B5EF4-FFF2-40B4-BE49-F238E27FC236}">
                    <a16:creationId xmlns:a16="http://schemas.microsoft.com/office/drawing/2014/main" id="{A75E8BC5-DD5E-E5FD-75C9-CADFF995A1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2AAAB677-2997-9286-1906-67717B81D5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D241307C-6821-E2AC-877B-CE5EAC2E95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B8CE51F7-162C-712A-AF8E-8B0E99544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7" name="Freeform 13">
                <a:extLst>
                  <a:ext uri="{FF2B5EF4-FFF2-40B4-BE49-F238E27FC236}">
                    <a16:creationId xmlns:a16="http://schemas.microsoft.com/office/drawing/2014/main" id="{125E4ADB-6951-757D-83FB-92C7B3C7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8" name="Freeform 14">
                <a:extLst>
                  <a:ext uri="{FF2B5EF4-FFF2-40B4-BE49-F238E27FC236}">
                    <a16:creationId xmlns:a16="http://schemas.microsoft.com/office/drawing/2014/main" id="{238076D9-77B8-464B-13B8-FCE07FE99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8A5297FD-CC4B-25E7-7783-C1D9A013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A0054597-EA01-C56F-ADB8-42C96F6B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F9670617-0B10-AC67-9DAD-09EC9048B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2" name="Freeform 18">
                <a:extLst>
                  <a:ext uri="{FF2B5EF4-FFF2-40B4-BE49-F238E27FC236}">
                    <a16:creationId xmlns:a16="http://schemas.microsoft.com/office/drawing/2014/main" id="{FC2A15C3-0836-C8F2-2161-402387EE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3" name="Freeform 19">
                <a:extLst>
                  <a:ext uri="{FF2B5EF4-FFF2-40B4-BE49-F238E27FC236}">
                    <a16:creationId xmlns:a16="http://schemas.microsoft.com/office/drawing/2014/main" id="{9577BFD1-EBA7-ABA6-1110-711374E8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4" name="Freeform 20">
                <a:extLst>
                  <a:ext uri="{FF2B5EF4-FFF2-40B4-BE49-F238E27FC236}">
                    <a16:creationId xmlns:a16="http://schemas.microsoft.com/office/drawing/2014/main" id="{0EA5FC3F-FEC4-0477-6DAD-E6C0171B6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5" name="Freeform 21">
                <a:extLst>
                  <a:ext uri="{FF2B5EF4-FFF2-40B4-BE49-F238E27FC236}">
                    <a16:creationId xmlns:a16="http://schemas.microsoft.com/office/drawing/2014/main" id="{B95845AA-00B4-177C-1C9B-B4744074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6" name="Freeform 22">
                <a:extLst>
                  <a:ext uri="{FF2B5EF4-FFF2-40B4-BE49-F238E27FC236}">
                    <a16:creationId xmlns:a16="http://schemas.microsoft.com/office/drawing/2014/main" id="{A7DE95B1-3F42-D56C-3388-D7FD414D81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7" name="Freeform 23">
                <a:extLst>
                  <a:ext uri="{FF2B5EF4-FFF2-40B4-BE49-F238E27FC236}">
                    <a16:creationId xmlns:a16="http://schemas.microsoft.com/office/drawing/2014/main" id="{4A6C075F-B80E-2533-1034-877091694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8" name="Freeform 24">
                <a:extLst>
                  <a:ext uri="{FF2B5EF4-FFF2-40B4-BE49-F238E27FC236}">
                    <a16:creationId xmlns:a16="http://schemas.microsoft.com/office/drawing/2014/main" id="{58BCF096-EDF4-F14F-90C7-614353B9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29" name="Freeform 25">
                <a:extLst>
                  <a:ext uri="{FF2B5EF4-FFF2-40B4-BE49-F238E27FC236}">
                    <a16:creationId xmlns:a16="http://schemas.microsoft.com/office/drawing/2014/main" id="{E811905B-E091-2610-89D6-141E3B3D0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0" name="Freeform 26">
                <a:extLst>
                  <a:ext uri="{FF2B5EF4-FFF2-40B4-BE49-F238E27FC236}">
                    <a16:creationId xmlns:a16="http://schemas.microsoft.com/office/drawing/2014/main" id="{BC7F9303-5417-8034-FC5B-E59211DB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131" name="Freeform 27">
                <a:extLst>
                  <a:ext uri="{FF2B5EF4-FFF2-40B4-BE49-F238E27FC236}">
                    <a16:creationId xmlns:a16="http://schemas.microsoft.com/office/drawing/2014/main" id="{5393E34C-8C91-D333-9412-1A7B70296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585BD58E-DCD1-98C4-3AD0-75898DB355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0973A18A-0A5E-5A48-2216-A377CAFD8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EDD6597E-D10F-0DC3-6439-BA45E0E2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43010C57-ED05-58A1-7CF0-627B0648E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68FEF805-CBC3-C1E7-6851-C98D2DD8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1B4474C9-B5FF-7606-4E6D-747DBA58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603ABF13-2B85-917F-AC4F-45530616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B5F18FDC-D62B-56FD-3742-52BEA207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89" name="Freeform 36">
              <a:extLst>
                <a:ext uri="{FF2B5EF4-FFF2-40B4-BE49-F238E27FC236}">
                  <a16:creationId xmlns:a16="http://schemas.microsoft.com/office/drawing/2014/main" id="{57DA23F0-6820-4B81-E3DC-DCEA4AE0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0" name="Freeform 37">
              <a:extLst>
                <a:ext uri="{FF2B5EF4-FFF2-40B4-BE49-F238E27FC236}">
                  <a16:creationId xmlns:a16="http://schemas.microsoft.com/office/drawing/2014/main" id="{5B7CC779-9DEB-3E4C-1163-1817911A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1" name="Freeform 38">
              <a:extLst>
                <a:ext uri="{FF2B5EF4-FFF2-40B4-BE49-F238E27FC236}">
                  <a16:creationId xmlns:a16="http://schemas.microsoft.com/office/drawing/2014/main" id="{BC746A33-6224-A936-7542-4B818BCDC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2" name="Freeform 39">
              <a:extLst>
                <a:ext uri="{FF2B5EF4-FFF2-40B4-BE49-F238E27FC236}">
                  <a16:creationId xmlns:a16="http://schemas.microsoft.com/office/drawing/2014/main" id="{BE9EE5AC-2D19-197F-D765-7D1D96F83D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51FEC9A8-7C68-3175-DDB5-475B010F1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4" name="Freeform 41">
              <a:extLst>
                <a:ext uri="{FF2B5EF4-FFF2-40B4-BE49-F238E27FC236}">
                  <a16:creationId xmlns:a16="http://schemas.microsoft.com/office/drawing/2014/main" id="{2773D057-BECE-311A-5763-99F69720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id="{F9B38BA3-01ED-6AF0-FF1C-2153249A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6" name="Freeform 43">
              <a:extLst>
                <a:ext uri="{FF2B5EF4-FFF2-40B4-BE49-F238E27FC236}">
                  <a16:creationId xmlns:a16="http://schemas.microsoft.com/office/drawing/2014/main" id="{DF51D9E6-7B5E-35FC-0C2F-507B2943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7" name="Freeform 44">
              <a:extLst>
                <a:ext uri="{FF2B5EF4-FFF2-40B4-BE49-F238E27FC236}">
                  <a16:creationId xmlns:a16="http://schemas.microsoft.com/office/drawing/2014/main" id="{8223BF82-6394-A87D-3B98-5C2A7AC7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8" name="Freeform 45">
              <a:extLst>
                <a:ext uri="{FF2B5EF4-FFF2-40B4-BE49-F238E27FC236}">
                  <a16:creationId xmlns:a16="http://schemas.microsoft.com/office/drawing/2014/main" id="{E48EDA74-CA7D-28E1-782F-AEA30E1AAC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99" name="Freeform 46">
              <a:extLst>
                <a:ext uri="{FF2B5EF4-FFF2-40B4-BE49-F238E27FC236}">
                  <a16:creationId xmlns:a16="http://schemas.microsoft.com/office/drawing/2014/main" id="{DF18D5D2-D5D7-E771-921E-8CCA75C6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0" name="Freeform 47">
              <a:extLst>
                <a:ext uri="{FF2B5EF4-FFF2-40B4-BE49-F238E27FC236}">
                  <a16:creationId xmlns:a16="http://schemas.microsoft.com/office/drawing/2014/main" id="{44DA7529-71DE-A65D-BF6C-DF8233DED4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1" name="Freeform 48">
              <a:extLst>
                <a:ext uri="{FF2B5EF4-FFF2-40B4-BE49-F238E27FC236}">
                  <a16:creationId xmlns:a16="http://schemas.microsoft.com/office/drawing/2014/main" id="{70E6E721-8F36-6D24-DB5F-9DE6F164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2" name="Freeform 49">
              <a:extLst>
                <a:ext uri="{FF2B5EF4-FFF2-40B4-BE49-F238E27FC236}">
                  <a16:creationId xmlns:a16="http://schemas.microsoft.com/office/drawing/2014/main" id="{91CFC62E-CB9E-5DCC-417A-A6DDCE12E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3" name="Freeform 50">
              <a:extLst>
                <a:ext uri="{FF2B5EF4-FFF2-40B4-BE49-F238E27FC236}">
                  <a16:creationId xmlns:a16="http://schemas.microsoft.com/office/drawing/2014/main" id="{39E27EC8-6C8A-52E3-3753-D6CA78D4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4" name="Freeform 51">
              <a:extLst>
                <a:ext uri="{FF2B5EF4-FFF2-40B4-BE49-F238E27FC236}">
                  <a16:creationId xmlns:a16="http://schemas.microsoft.com/office/drawing/2014/main" id="{C94ED7E4-A3C1-AD1F-933F-655FD100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5" name="Freeform 52">
              <a:extLst>
                <a:ext uri="{FF2B5EF4-FFF2-40B4-BE49-F238E27FC236}">
                  <a16:creationId xmlns:a16="http://schemas.microsoft.com/office/drawing/2014/main" id="{B05F13A0-5CB0-7509-41CF-F8536503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6" name="Freeform 53">
              <a:extLst>
                <a:ext uri="{FF2B5EF4-FFF2-40B4-BE49-F238E27FC236}">
                  <a16:creationId xmlns:a16="http://schemas.microsoft.com/office/drawing/2014/main" id="{FC42FBAB-E0A1-5E32-4480-D39257DBF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7" name="Freeform 54">
              <a:extLst>
                <a:ext uri="{FF2B5EF4-FFF2-40B4-BE49-F238E27FC236}">
                  <a16:creationId xmlns:a16="http://schemas.microsoft.com/office/drawing/2014/main" id="{798C2F95-97E5-0965-F926-0EBF31A0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08" name="Freeform 55">
              <a:extLst>
                <a:ext uri="{FF2B5EF4-FFF2-40B4-BE49-F238E27FC236}">
                  <a16:creationId xmlns:a16="http://schemas.microsoft.com/office/drawing/2014/main" id="{E15719B5-14EF-3435-DC89-EE54B0DB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16" name="文本框 15">
            <a:extLst>
              <a:ext uri="{FF2B5EF4-FFF2-40B4-BE49-F238E27FC236}">
                <a16:creationId xmlns:a16="http://schemas.microsoft.com/office/drawing/2014/main" id="{A3B686D2-F5A8-BF85-4B66-A4D48A03099F}"/>
              </a:ext>
            </a:extLst>
          </p:cNvPr>
          <p:cNvSpPr txBox="1"/>
          <p:nvPr/>
        </p:nvSpPr>
        <p:spPr>
          <a:xfrm>
            <a:off x="473579" y="2437604"/>
            <a:ext cx="10928048" cy="21204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未来工作方向也与局限性一一对应：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/>
              <a:t>引入图像、视频等多模态信息。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/>
              <a:t>开发能检测协同攻击的多账户模型。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/>
              <a:t>扩展到其他语言和社交平台。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p"/>
            </a:pPr>
            <a:r>
              <a:rPr lang="zh-CN" altLang="en-US" dirty="0"/>
              <a:t>将系统部署到真实环境中，分析当前活跃机器人的策略和影响。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2684927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owerpoint template design by DAJU_PPT正版来源小红书大橘PPT微信DAJU_PPT请勿抄袭搬运！盗版必究！"/>
          <p:cNvSpPr/>
          <p:nvPr/>
        </p:nvSpPr>
        <p:spPr>
          <a:xfrm>
            <a:off x="0" y="2164461"/>
            <a:ext cx="12192000" cy="25290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847EBF7-D3A6-5AEC-3ABB-1277C9C35D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537B7A-7510-410A-AA53-45D600DA0276}" type="slidenum">
              <a:rPr lang="zh-CN" altLang="en-US" smtClean="0"/>
              <a:t>45</a:t>
            </a:fld>
            <a:endParaRPr lang="zh-CN" altLang="en-US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FFECE8E0-BB1A-39F4-F951-1739150A367D}"/>
              </a:ext>
            </a:extLst>
          </p:cNvPr>
          <p:cNvGrpSpPr/>
          <p:nvPr/>
        </p:nvGrpSpPr>
        <p:grpSpPr>
          <a:xfrm>
            <a:off x="5010959" y="1273302"/>
            <a:ext cx="2170082" cy="613500"/>
            <a:chOff x="3345242" y="1493633"/>
            <a:chExt cx="6107954" cy="1726770"/>
          </a:xfrm>
        </p:grpSpPr>
        <p:grpSp>
          <p:nvGrpSpPr>
            <p:cNvPr id="9" name="组合 8">
              <a:extLst>
                <a:ext uri="{FF2B5EF4-FFF2-40B4-BE49-F238E27FC236}">
                  <a16:creationId xmlns:a16="http://schemas.microsoft.com/office/drawing/2014/main" id="{AE911D9D-3F71-CDC4-2A0D-C20D638EF0DC}"/>
                </a:ext>
              </a:extLst>
            </p:cNvPr>
            <p:cNvGrpSpPr/>
            <p:nvPr/>
          </p:nvGrpSpPr>
          <p:grpSpPr>
            <a:xfrm>
              <a:off x="3345242" y="1493633"/>
              <a:ext cx="1715368" cy="1726770"/>
              <a:chOff x="1008063" y="2425701"/>
              <a:chExt cx="2627312" cy="2644775"/>
            </a:xfrm>
          </p:grpSpPr>
          <p:sp>
            <p:nvSpPr>
              <p:cNvPr id="44" name="Freeform 5">
                <a:extLst>
                  <a:ext uri="{FF2B5EF4-FFF2-40B4-BE49-F238E27FC236}">
                    <a16:creationId xmlns:a16="http://schemas.microsoft.com/office/drawing/2014/main" id="{85014E67-AC48-B2E0-8B55-D37AA67C6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763" y="4697413"/>
                <a:ext cx="139700" cy="182563"/>
              </a:xfrm>
              <a:custGeom>
                <a:avLst/>
                <a:gdLst>
                  <a:gd name="T0" fmla="*/ 11 w 17"/>
                  <a:gd name="T1" fmla="*/ 22 h 22"/>
                  <a:gd name="T2" fmla="*/ 11 w 17"/>
                  <a:gd name="T3" fmla="*/ 22 h 22"/>
                  <a:gd name="T4" fmla="*/ 6 w 17"/>
                  <a:gd name="T5" fmla="*/ 20 h 22"/>
                  <a:gd name="T6" fmla="*/ 0 w 17"/>
                  <a:gd name="T7" fmla="*/ 17 h 22"/>
                  <a:gd name="T8" fmla="*/ 0 w 17"/>
                  <a:gd name="T9" fmla="*/ 17 h 22"/>
                  <a:gd name="T10" fmla="*/ 0 w 17"/>
                  <a:gd name="T11" fmla="*/ 16 h 22"/>
                  <a:gd name="T12" fmla="*/ 0 w 17"/>
                  <a:gd name="T13" fmla="*/ 16 h 22"/>
                  <a:gd name="T14" fmla="*/ 2 w 17"/>
                  <a:gd name="T15" fmla="*/ 17 h 22"/>
                  <a:gd name="T16" fmla="*/ 3 w 17"/>
                  <a:gd name="T17" fmla="*/ 17 h 22"/>
                  <a:gd name="T18" fmla="*/ 4 w 17"/>
                  <a:gd name="T19" fmla="*/ 17 h 22"/>
                  <a:gd name="T20" fmla="*/ 7 w 17"/>
                  <a:gd name="T21" fmla="*/ 12 h 22"/>
                  <a:gd name="T22" fmla="*/ 8 w 17"/>
                  <a:gd name="T23" fmla="*/ 8 h 22"/>
                  <a:gd name="T24" fmla="*/ 10 w 17"/>
                  <a:gd name="T25" fmla="*/ 4 h 22"/>
                  <a:gd name="T26" fmla="*/ 11 w 17"/>
                  <a:gd name="T27" fmla="*/ 3 h 22"/>
                  <a:gd name="T28" fmla="*/ 11 w 17"/>
                  <a:gd name="T29" fmla="*/ 2 h 22"/>
                  <a:gd name="T30" fmla="*/ 10 w 17"/>
                  <a:gd name="T31" fmla="*/ 2 h 22"/>
                  <a:gd name="T32" fmla="*/ 6 w 17"/>
                  <a:gd name="T33" fmla="*/ 2 h 22"/>
                  <a:gd name="T34" fmla="*/ 6 w 17"/>
                  <a:gd name="T35" fmla="*/ 2 h 22"/>
                  <a:gd name="T36" fmla="*/ 6 w 17"/>
                  <a:gd name="T37" fmla="*/ 0 h 22"/>
                  <a:gd name="T38" fmla="*/ 6 w 17"/>
                  <a:gd name="T39" fmla="*/ 0 h 22"/>
                  <a:gd name="T40" fmla="*/ 16 w 17"/>
                  <a:gd name="T41" fmla="*/ 1 h 22"/>
                  <a:gd name="T42" fmla="*/ 17 w 17"/>
                  <a:gd name="T43" fmla="*/ 1 h 22"/>
                  <a:gd name="T44" fmla="*/ 15 w 17"/>
                  <a:gd name="T45" fmla="*/ 4 h 22"/>
                  <a:gd name="T46" fmla="*/ 14 w 17"/>
                  <a:gd name="T47" fmla="*/ 7 h 22"/>
                  <a:gd name="T48" fmla="*/ 11 w 17"/>
                  <a:gd name="T49" fmla="*/ 13 h 22"/>
                  <a:gd name="T50" fmla="*/ 8 w 17"/>
                  <a:gd name="T51" fmla="*/ 19 h 22"/>
                  <a:gd name="T52" fmla="*/ 9 w 17"/>
                  <a:gd name="T53" fmla="*/ 20 h 22"/>
                  <a:gd name="T54" fmla="*/ 11 w 17"/>
                  <a:gd name="T55" fmla="*/ 21 h 22"/>
                  <a:gd name="T56" fmla="*/ 11 w 17"/>
                  <a:gd name="T57" fmla="*/ 21 h 22"/>
                  <a:gd name="T58" fmla="*/ 11 w 17"/>
                  <a:gd name="T5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2">
                    <a:moveTo>
                      <a:pt x="11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8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5"/>
                      <a:pt x="7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0" y="6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0"/>
                      <a:pt x="13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2"/>
                      <a:pt x="15" y="4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7"/>
                      <a:pt x="8" y="19"/>
                      <a:pt x="8" y="19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45" name="Freeform 6">
                <a:extLst>
                  <a:ext uri="{FF2B5EF4-FFF2-40B4-BE49-F238E27FC236}">
                    <a16:creationId xmlns:a16="http://schemas.microsoft.com/office/drawing/2014/main" id="{955A762C-9425-5074-9F7D-E8DF1171CD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5500" y="4779963"/>
                <a:ext cx="139700" cy="182563"/>
              </a:xfrm>
              <a:custGeom>
                <a:avLst/>
                <a:gdLst>
                  <a:gd name="T0" fmla="*/ 16 w 17"/>
                  <a:gd name="T1" fmla="*/ 16 h 22"/>
                  <a:gd name="T2" fmla="*/ 15 w 17"/>
                  <a:gd name="T3" fmla="*/ 19 h 22"/>
                  <a:gd name="T4" fmla="*/ 10 w 17"/>
                  <a:gd name="T5" fmla="*/ 22 h 22"/>
                  <a:gd name="T6" fmla="*/ 7 w 17"/>
                  <a:gd name="T7" fmla="*/ 22 h 22"/>
                  <a:gd name="T8" fmla="*/ 1 w 17"/>
                  <a:gd name="T9" fmla="*/ 18 h 22"/>
                  <a:gd name="T10" fmla="*/ 1 w 17"/>
                  <a:gd name="T11" fmla="*/ 15 h 22"/>
                  <a:gd name="T12" fmla="*/ 3 w 17"/>
                  <a:gd name="T13" fmla="*/ 11 h 22"/>
                  <a:gd name="T14" fmla="*/ 5 w 17"/>
                  <a:gd name="T15" fmla="*/ 10 h 22"/>
                  <a:gd name="T16" fmla="*/ 3 w 17"/>
                  <a:gd name="T17" fmla="*/ 5 h 22"/>
                  <a:gd name="T18" fmla="*/ 7 w 17"/>
                  <a:gd name="T19" fmla="*/ 0 h 22"/>
                  <a:gd name="T20" fmla="*/ 11 w 17"/>
                  <a:gd name="T21" fmla="*/ 0 h 22"/>
                  <a:gd name="T22" fmla="*/ 15 w 17"/>
                  <a:gd name="T23" fmla="*/ 2 h 22"/>
                  <a:gd name="T24" fmla="*/ 17 w 17"/>
                  <a:gd name="T25" fmla="*/ 5 h 22"/>
                  <a:gd name="T26" fmla="*/ 13 w 17"/>
                  <a:gd name="T27" fmla="*/ 9 h 22"/>
                  <a:gd name="T28" fmla="*/ 16 w 17"/>
                  <a:gd name="T29" fmla="*/ 12 h 22"/>
                  <a:gd name="T30" fmla="*/ 16 w 17"/>
                  <a:gd name="T31" fmla="*/ 16 h 22"/>
                  <a:gd name="T32" fmla="*/ 12 w 17"/>
                  <a:gd name="T33" fmla="*/ 17 h 22"/>
                  <a:gd name="T34" fmla="*/ 10 w 17"/>
                  <a:gd name="T35" fmla="*/ 13 h 22"/>
                  <a:gd name="T36" fmla="*/ 7 w 17"/>
                  <a:gd name="T37" fmla="*/ 11 h 22"/>
                  <a:gd name="T38" fmla="*/ 7 w 17"/>
                  <a:gd name="T39" fmla="*/ 11 h 22"/>
                  <a:gd name="T40" fmla="*/ 4 w 17"/>
                  <a:gd name="T41" fmla="*/ 15 h 22"/>
                  <a:gd name="T42" fmla="*/ 4 w 17"/>
                  <a:gd name="T43" fmla="*/ 18 h 22"/>
                  <a:gd name="T44" fmla="*/ 8 w 17"/>
                  <a:gd name="T45" fmla="*/ 20 h 22"/>
                  <a:gd name="T46" fmla="*/ 11 w 17"/>
                  <a:gd name="T47" fmla="*/ 20 h 22"/>
                  <a:gd name="T48" fmla="*/ 12 w 17"/>
                  <a:gd name="T49" fmla="*/ 17 h 22"/>
                  <a:gd name="T50" fmla="*/ 14 w 17"/>
                  <a:gd name="T51" fmla="*/ 5 h 22"/>
                  <a:gd name="T52" fmla="*/ 13 w 17"/>
                  <a:gd name="T53" fmla="*/ 3 h 22"/>
                  <a:gd name="T54" fmla="*/ 10 w 17"/>
                  <a:gd name="T55" fmla="*/ 1 h 22"/>
                  <a:gd name="T56" fmla="*/ 8 w 17"/>
                  <a:gd name="T57" fmla="*/ 2 h 22"/>
                  <a:gd name="T58" fmla="*/ 6 w 17"/>
                  <a:gd name="T59" fmla="*/ 4 h 22"/>
                  <a:gd name="T60" fmla="*/ 7 w 17"/>
                  <a:gd name="T61" fmla="*/ 6 h 22"/>
                  <a:gd name="T62" fmla="*/ 9 w 17"/>
                  <a:gd name="T63" fmla="*/ 7 h 22"/>
                  <a:gd name="T64" fmla="*/ 10 w 17"/>
                  <a:gd name="T65" fmla="*/ 8 h 22"/>
                  <a:gd name="T66" fmla="*/ 11 w 17"/>
                  <a:gd name="T67" fmla="*/ 9 h 22"/>
                  <a:gd name="T68" fmla="*/ 14 w 17"/>
                  <a:gd name="T6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2">
                    <a:moveTo>
                      <a:pt x="16" y="16"/>
                    </a:moveTo>
                    <a:cubicBezTo>
                      <a:pt x="16" y="17"/>
                      <a:pt x="16" y="18"/>
                      <a:pt x="15" y="19"/>
                    </a:cubicBezTo>
                    <a:cubicBezTo>
                      <a:pt x="14" y="20"/>
                      <a:pt x="12" y="22"/>
                      <a:pt x="10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4" y="22"/>
                      <a:pt x="2" y="20"/>
                      <a:pt x="1" y="18"/>
                    </a:cubicBezTo>
                    <a:cubicBezTo>
                      <a:pt x="1" y="18"/>
                      <a:pt x="0" y="16"/>
                      <a:pt x="1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3" y="9"/>
                      <a:pt x="2" y="7"/>
                      <a:pt x="3" y="5"/>
                    </a:cubicBezTo>
                    <a:cubicBezTo>
                      <a:pt x="3" y="2"/>
                      <a:pt x="4" y="1"/>
                      <a:pt x="7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7"/>
                      <a:pt x="15" y="9"/>
                      <a:pt x="13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6" y="13"/>
                      <a:pt x="16" y="14"/>
                      <a:pt x="16" y="16"/>
                    </a:cubicBezTo>
                    <a:close/>
                    <a:moveTo>
                      <a:pt x="12" y="17"/>
                    </a:moveTo>
                    <a:cubicBezTo>
                      <a:pt x="12" y="15"/>
                      <a:pt x="12" y="14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4" y="13"/>
                      <a:pt x="4" y="15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5" y="19"/>
                      <a:pt x="6" y="20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2" y="19"/>
                      <a:pt x="12" y="18"/>
                      <a:pt x="12" y="17"/>
                    </a:cubicBezTo>
                    <a:close/>
                    <a:moveTo>
                      <a:pt x="14" y="5"/>
                    </a:move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3" y="7"/>
                      <a:pt x="14" y="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46" name="Freeform 7">
                <a:extLst>
                  <a:ext uri="{FF2B5EF4-FFF2-40B4-BE49-F238E27FC236}">
                    <a16:creationId xmlns:a16="http://schemas.microsoft.com/office/drawing/2014/main" id="{6858F72D-62B8-D62F-EC1A-BFA06CD81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0300" y="4772026"/>
                <a:ext cx="139700" cy="198438"/>
              </a:xfrm>
              <a:custGeom>
                <a:avLst/>
                <a:gdLst>
                  <a:gd name="T0" fmla="*/ 16 w 17"/>
                  <a:gd name="T1" fmla="*/ 9 h 24"/>
                  <a:gd name="T2" fmla="*/ 16 w 17"/>
                  <a:gd name="T3" fmla="*/ 16 h 24"/>
                  <a:gd name="T4" fmla="*/ 12 w 17"/>
                  <a:gd name="T5" fmla="*/ 21 h 24"/>
                  <a:gd name="T6" fmla="*/ 5 w 17"/>
                  <a:gd name="T7" fmla="*/ 24 h 24"/>
                  <a:gd name="T8" fmla="*/ 4 w 17"/>
                  <a:gd name="T9" fmla="*/ 23 h 24"/>
                  <a:gd name="T10" fmla="*/ 4 w 17"/>
                  <a:gd name="T11" fmla="*/ 22 h 24"/>
                  <a:gd name="T12" fmla="*/ 6 w 17"/>
                  <a:gd name="T13" fmla="*/ 22 h 24"/>
                  <a:gd name="T14" fmla="*/ 10 w 17"/>
                  <a:gd name="T15" fmla="*/ 20 h 24"/>
                  <a:gd name="T16" fmla="*/ 11 w 17"/>
                  <a:gd name="T17" fmla="*/ 17 h 24"/>
                  <a:gd name="T18" fmla="*/ 12 w 17"/>
                  <a:gd name="T19" fmla="*/ 12 h 24"/>
                  <a:gd name="T20" fmla="*/ 9 w 17"/>
                  <a:gd name="T21" fmla="*/ 14 h 24"/>
                  <a:gd name="T22" fmla="*/ 7 w 17"/>
                  <a:gd name="T23" fmla="*/ 15 h 24"/>
                  <a:gd name="T24" fmla="*/ 3 w 17"/>
                  <a:gd name="T25" fmla="*/ 14 h 24"/>
                  <a:gd name="T26" fmla="*/ 1 w 17"/>
                  <a:gd name="T27" fmla="*/ 10 h 24"/>
                  <a:gd name="T28" fmla="*/ 3 w 17"/>
                  <a:gd name="T29" fmla="*/ 2 h 24"/>
                  <a:gd name="T30" fmla="*/ 7 w 17"/>
                  <a:gd name="T31" fmla="*/ 1 h 24"/>
                  <a:gd name="T32" fmla="*/ 15 w 17"/>
                  <a:gd name="T33" fmla="*/ 4 h 24"/>
                  <a:gd name="T34" fmla="*/ 16 w 17"/>
                  <a:gd name="T35" fmla="*/ 9 h 24"/>
                  <a:gd name="T36" fmla="*/ 12 w 17"/>
                  <a:gd name="T37" fmla="*/ 8 h 24"/>
                  <a:gd name="T38" fmla="*/ 10 w 17"/>
                  <a:gd name="T39" fmla="*/ 3 h 24"/>
                  <a:gd name="T40" fmla="*/ 7 w 17"/>
                  <a:gd name="T41" fmla="*/ 2 h 24"/>
                  <a:gd name="T42" fmla="*/ 5 w 17"/>
                  <a:gd name="T43" fmla="*/ 5 h 24"/>
                  <a:gd name="T44" fmla="*/ 5 w 17"/>
                  <a:gd name="T45" fmla="*/ 7 h 24"/>
                  <a:gd name="T46" fmla="*/ 6 w 17"/>
                  <a:gd name="T47" fmla="*/ 11 h 24"/>
                  <a:gd name="T48" fmla="*/ 9 w 17"/>
                  <a:gd name="T49" fmla="*/ 12 h 24"/>
                  <a:gd name="T50" fmla="*/ 12 w 17"/>
                  <a:gd name="T51" fmla="*/ 10 h 24"/>
                  <a:gd name="T52" fmla="*/ 12 w 17"/>
                  <a:gd name="T5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4">
                    <a:moveTo>
                      <a:pt x="16" y="9"/>
                    </a:moveTo>
                    <a:cubicBezTo>
                      <a:pt x="17" y="11"/>
                      <a:pt x="16" y="14"/>
                      <a:pt x="16" y="16"/>
                    </a:cubicBezTo>
                    <a:cubicBezTo>
                      <a:pt x="15" y="18"/>
                      <a:pt x="13" y="20"/>
                      <a:pt x="12" y="21"/>
                    </a:cubicBezTo>
                    <a:cubicBezTo>
                      <a:pt x="10" y="22"/>
                      <a:pt x="8" y="23"/>
                      <a:pt x="5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7" y="22"/>
                      <a:pt x="9" y="21"/>
                      <a:pt x="10" y="20"/>
                    </a:cubicBezTo>
                    <a:cubicBezTo>
                      <a:pt x="10" y="19"/>
                      <a:pt x="11" y="18"/>
                      <a:pt x="11" y="17"/>
                    </a:cubicBezTo>
                    <a:cubicBezTo>
                      <a:pt x="12" y="16"/>
                      <a:pt x="12" y="14"/>
                      <a:pt x="12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5" y="15"/>
                      <a:pt x="4" y="15"/>
                      <a:pt x="3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6" y="5"/>
                      <a:pt x="16" y="7"/>
                      <a:pt x="16" y="9"/>
                    </a:cubicBezTo>
                    <a:close/>
                    <a:moveTo>
                      <a:pt x="12" y="8"/>
                    </a:moveTo>
                    <a:cubicBezTo>
                      <a:pt x="11" y="6"/>
                      <a:pt x="11" y="4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47" name="Freeform 8">
                <a:extLst>
                  <a:ext uri="{FF2B5EF4-FFF2-40B4-BE49-F238E27FC236}">
                    <a16:creationId xmlns:a16="http://schemas.microsoft.com/office/drawing/2014/main" id="{04B0E41C-B017-FE79-BB87-06ADD97B5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7638" y="4689476"/>
                <a:ext cx="157162" cy="190500"/>
              </a:xfrm>
              <a:custGeom>
                <a:avLst/>
                <a:gdLst>
                  <a:gd name="T0" fmla="*/ 18 w 19"/>
                  <a:gd name="T1" fmla="*/ 12 h 23"/>
                  <a:gd name="T2" fmla="*/ 19 w 19"/>
                  <a:gd name="T3" fmla="*/ 15 h 23"/>
                  <a:gd name="T4" fmla="*/ 16 w 19"/>
                  <a:gd name="T5" fmla="*/ 21 h 23"/>
                  <a:gd name="T6" fmla="*/ 14 w 19"/>
                  <a:gd name="T7" fmla="*/ 22 h 23"/>
                  <a:gd name="T8" fmla="*/ 7 w 19"/>
                  <a:gd name="T9" fmla="*/ 22 h 23"/>
                  <a:gd name="T10" fmla="*/ 5 w 19"/>
                  <a:gd name="T11" fmla="*/ 20 h 23"/>
                  <a:gd name="T12" fmla="*/ 5 w 19"/>
                  <a:gd name="T13" fmla="*/ 15 h 23"/>
                  <a:gd name="T14" fmla="*/ 6 w 19"/>
                  <a:gd name="T15" fmla="*/ 13 h 23"/>
                  <a:gd name="T16" fmla="*/ 1 w 19"/>
                  <a:gd name="T17" fmla="*/ 10 h 23"/>
                  <a:gd name="T18" fmla="*/ 2 w 19"/>
                  <a:gd name="T19" fmla="*/ 3 h 23"/>
                  <a:gd name="T20" fmla="*/ 6 w 19"/>
                  <a:gd name="T21" fmla="*/ 1 h 23"/>
                  <a:gd name="T22" fmla="*/ 10 w 19"/>
                  <a:gd name="T23" fmla="*/ 1 h 23"/>
                  <a:gd name="T24" fmla="*/ 13 w 19"/>
                  <a:gd name="T25" fmla="*/ 3 h 23"/>
                  <a:gd name="T26" fmla="*/ 12 w 19"/>
                  <a:gd name="T27" fmla="*/ 9 h 23"/>
                  <a:gd name="T28" fmla="*/ 16 w 19"/>
                  <a:gd name="T29" fmla="*/ 9 h 23"/>
                  <a:gd name="T30" fmla="*/ 18 w 19"/>
                  <a:gd name="T31" fmla="*/ 12 h 23"/>
                  <a:gd name="T32" fmla="*/ 11 w 19"/>
                  <a:gd name="T33" fmla="*/ 5 h 23"/>
                  <a:gd name="T34" fmla="*/ 9 w 19"/>
                  <a:gd name="T35" fmla="*/ 3 h 23"/>
                  <a:gd name="T36" fmla="*/ 6 w 19"/>
                  <a:gd name="T37" fmla="*/ 3 h 23"/>
                  <a:gd name="T38" fmla="*/ 4 w 19"/>
                  <a:gd name="T39" fmla="*/ 5 h 23"/>
                  <a:gd name="T40" fmla="*/ 4 w 19"/>
                  <a:gd name="T41" fmla="*/ 7 h 23"/>
                  <a:gd name="T42" fmla="*/ 6 w 19"/>
                  <a:gd name="T43" fmla="*/ 9 h 23"/>
                  <a:gd name="T44" fmla="*/ 8 w 19"/>
                  <a:gd name="T45" fmla="*/ 9 h 23"/>
                  <a:gd name="T46" fmla="*/ 9 w 19"/>
                  <a:gd name="T47" fmla="*/ 9 h 23"/>
                  <a:gd name="T48" fmla="*/ 10 w 19"/>
                  <a:gd name="T49" fmla="*/ 9 h 23"/>
                  <a:gd name="T50" fmla="*/ 11 w 19"/>
                  <a:gd name="T51" fmla="*/ 5 h 23"/>
                  <a:gd name="T52" fmla="*/ 16 w 19"/>
                  <a:gd name="T53" fmla="*/ 15 h 23"/>
                  <a:gd name="T54" fmla="*/ 12 w 19"/>
                  <a:gd name="T55" fmla="*/ 13 h 23"/>
                  <a:gd name="T56" fmla="*/ 9 w 19"/>
                  <a:gd name="T57" fmla="*/ 13 h 23"/>
                  <a:gd name="T58" fmla="*/ 8 w 19"/>
                  <a:gd name="T59" fmla="*/ 13 h 23"/>
                  <a:gd name="T60" fmla="*/ 8 w 19"/>
                  <a:gd name="T61" fmla="*/ 18 h 23"/>
                  <a:gd name="T62" fmla="*/ 9 w 19"/>
                  <a:gd name="T63" fmla="*/ 20 h 23"/>
                  <a:gd name="T64" fmla="*/ 13 w 19"/>
                  <a:gd name="T65" fmla="*/ 20 h 23"/>
                  <a:gd name="T66" fmla="*/ 16 w 19"/>
                  <a:gd name="T67" fmla="*/ 18 h 23"/>
                  <a:gd name="T68" fmla="*/ 16 w 19"/>
                  <a:gd name="T6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3">
                    <a:moveTo>
                      <a:pt x="18" y="12"/>
                    </a:move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7"/>
                      <a:pt x="18" y="19"/>
                      <a:pt x="16" y="21"/>
                    </a:cubicBezTo>
                    <a:cubicBezTo>
                      <a:pt x="16" y="21"/>
                      <a:pt x="15" y="22"/>
                      <a:pt x="14" y="22"/>
                    </a:cubicBezTo>
                    <a:cubicBezTo>
                      <a:pt x="11" y="23"/>
                      <a:pt x="9" y="23"/>
                      <a:pt x="7" y="22"/>
                    </a:cubicBezTo>
                    <a:cubicBezTo>
                      <a:pt x="6" y="22"/>
                      <a:pt x="5" y="21"/>
                      <a:pt x="5" y="20"/>
                    </a:cubicBezTo>
                    <a:cubicBezTo>
                      <a:pt x="4" y="18"/>
                      <a:pt x="4" y="17"/>
                      <a:pt x="5" y="15"/>
                    </a:cubicBezTo>
                    <a:cubicBezTo>
                      <a:pt x="5" y="15"/>
                      <a:pt x="6" y="14"/>
                      <a:pt x="6" y="13"/>
                    </a:cubicBezTo>
                    <a:cubicBezTo>
                      <a:pt x="4" y="13"/>
                      <a:pt x="2" y="12"/>
                      <a:pt x="1" y="10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3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4" y="7"/>
                      <a:pt x="12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10"/>
                      <a:pt x="18" y="11"/>
                      <a:pt x="18" y="12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6"/>
                      <a:pt x="11" y="5"/>
                    </a:cubicBezTo>
                    <a:close/>
                    <a:moveTo>
                      <a:pt x="16" y="15"/>
                    </a:moveTo>
                    <a:cubicBezTo>
                      <a:pt x="15" y="14"/>
                      <a:pt x="14" y="13"/>
                      <a:pt x="12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5"/>
                      <a:pt x="7" y="16"/>
                      <a:pt x="8" y="18"/>
                    </a:cubicBezTo>
                    <a:cubicBezTo>
                      <a:pt x="8" y="19"/>
                      <a:pt x="8" y="20"/>
                      <a:pt x="9" y="20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6" y="17"/>
                      <a:pt x="16" y="16"/>
                      <a:pt x="16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48" name="Freeform 9">
                <a:extLst>
                  <a:ext uri="{FF2B5EF4-FFF2-40B4-BE49-F238E27FC236}">
                    <a16:creationId xmlns:a16="http://schemas.microsoft.com/office/drawing/2014/main" id="{BE64875F-E3D9-2908-F9B1-66E2C2404D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063" y="2425701"/>
                <a:ext cx="2627312" cy="2644775"/>
              </a:xfrm>
              <a:custGeom>
                <a:avLst/>
                <a:gdLst>
                  <a:gd name="T0" fmla="*/ 97 w 319"/>
                  <a:gd name="T1" fmla="*/ 13 h 319"/>
                  <a:gd name="T2" fmla="*/ 46 w 319"/>
                  <a:gd name="T3" fmla="*/ 47 h 319"/>
                  <a:gd name="T4" fmla="*/ 12 w 319"/>
                  <a:gd name="T5" fmla="*/ 98 h 319"/>
                  <a:gd name="T6" fmla="*/ 0 w 319"/>
                  <a:gd name="T7" fmla="*/ 160 h 319"/>
                  <a:gd name="T8" fmla="*/ 12 w 319"/>
                  <a:gd name="T9" fmla="*/ 222 h 319"/>
                  <a:gd name="T10" fmla="*/ 46 w 319"/>
                  <a:gd name="T11" fmla="*/ 273 h 319"/>
                  <a:gd name="T12" fmla="*/ 97 w 319"/>
                  <a:gd name="T13" fmla="*/ 307 h 319"/>
                  <a:gd name="T14" fmla="*/ 159 w 319"/>
                  <a:gd name="T15" fmla="*/ 319 h 319"/>
                  <a:gd name="T16" fmla="*/ 221 w 319"/>
                  <a:gd name="T17" fmla="*/ 307 h 319"/>
                  <a:gd name="T18" fmla="*/ 272 w 319"/>
                  <a:gd name="T19" fmla="*/ 273 h 319"/>
                  <a:gd name="T20" fmla="*/ 306 w 319"/>
                  <a:gd name="T21" fmla="*/ 222 h 319"/>
                  <a:gd name="T22" fmla="*/ 319 w 319"/>
                  <a:gd name="T23" fmla="*/ 160 h 319"/>
                  <a:gd name="T24" fmla="*/ 306 w 319"/>
                  <a:gd name="T25" fmla="*/ 98 h 319"/>
                  <a:gd name="T26" fmla="*/ 272 w 319"/>
                  <a:gd name="T27" fmla="*/ 47 h 319"/>
                  <a:gd name="T28" fmla="*/ 221 w 319"/>
                  <a:gd name="T29" fmla="*/ 13 h 319"/>
                  <a:gd name="T30" fmla="*/ 159 w 319"/>
                  <a:gd name="T31" fmla="*/ 0 h 319"/>
                  <a:gd name="T32" fmla="*/ 97 w 319"/>
                  <a:gd name="T33" fmla="*/ 13 h 319"/>
                  <a:gd name="T34" fmla="*/ 99 w 319"/>
                  <a:gd name="T35" fmla="*/ 302 h 319"/>
                  <a:gd name="T36" fmla="*/ 50 w 319"/>
                  <a:gd name="T37" fmla="*/ 269 h 319"/>
                  <a:gd name="T38" fmla="*/ 17 w 319"/>
                  <a:gd name="T39" fmla="*/ 220 h 319"/>
                  <a:gd name="T40" fmla="*/ 5 w 319"/>
                  <a:gd name="T41" fmla="*/ 160 h 319"/>
                  <a:gd name="T42" fmla="*/ 17 w 319"/>
                  <a:gd name="T43" fmla="*/ 100 h 319"/>
                  <a:gd name="T44" fmla="*/ 50 w 319"/>
                  <a:gd name="T45" fmla="*/ 51 h 319"/>
                  <a:gd name="T46" fmla="*/ 99 w 319"/>
                  <a:gd name="T47" fmla="*/ 18 h 319"/>
                  <a:gd name="T48" fmla="*/ 159 w 319"/>
                  <a:gd name="T49" fmla="*/ 6 h 319"/>
                  <a:gd name="T50" fmla="*/ 219 w 319"/>
                  <a:gd name="T51" fmla="*/ 18 h 319"/>
                  <a:gd name="T52" fmla="*/ 268 w 319"/>
                  <a:gd name="T53" fmla="*/ 51 h 319"/>
                  <a:gd name="T54" fmla="*/ 301 w 319"/>
                  <a:gd name="T55" fmla="*/ 100 h 319"/>
                  <a:gd name="T56" fmla="*/ 314 w 319"/>
                  <a:gd name="T57" fmla="*/ 160 h 319"/>
                  <a:gd name="T58" fmla="*/ 301 w 319"/>
                  <a:gd name="T59" fmla="*/ 220 h 319"/>
                  <a:gd name="T60" fmla="*/ 268 w 319"/>
                  <a:gd name="T61" fmla="*/ 269 h 319"/>
                  <a:gd name="T62" fmla="*/ 219 w 319"/>
                  <a:gd name="T63" fmla="*/ 302 h 319"/>
                  <a:gd name="T64" fmla="*/ 159 w 319"/>
                  <a:gd name="T65" fmla="*/ 314 h 319"/>
                  <a:gd name="T66" fmla="*/ 99 w 319"/>
                  <a:gd name="T67" fmla="*/ 30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9" h="319">
                    <a:moveTo>
                      <a:pt x="97" y="13"/>
                    </a:moveTo>
                    <a:cubicBezTo>
                      <a:pt x="78" y="21"/>
                      <a:pt x="61" y="32"/>
                      <a:pt x="46" y="47"/>
                    </a:cubicBezTo>
                    <a:cubicBezTo>
                      <a:pt x="32" y="62"/>
                      <a:pt x="20" y="79"/>
                      <a:pt x="12" y="98"/>
                    </a:cubicBezTo>
                    <a:cubicBezTo>
                      <a:pt x="4" y="117"/>
                      <a:pt x="0" y="138"/>
                      <a:pt x="0" y="160"/>
                    </a:cubicBezTo>
                    <a:cubicBezTo>
                      <a:pt x="0" y="181"/>
                      <a:pt x="4" y="202"/>
                      <a:pt x="12" y="222"/>
                    </a:cubicBezTo>
                    <a:cubicBezTo>
                      <a:pt x="20" y="241"/>
                      <a:pt x="32" y="258"/>
                      <a:pt x="46" y="273"/>
                    </a:cubicBezTo>
                    <a:cubicBezTo>
                      <a:pt x="61" y="287"/>
                      <a:pt x="78" y="299"/>
                      <a:pt x="97" y="307"/>
                    </a:cubicBezTo>
                    <a:cubicBezTo>
                      <a:pt x="117" y="315"/>
                      <a:pt x="138" y="319"/>
                      <a:pt x="159" y="319"/>
                    </a:cubicBezTo>
                    <a:cubicBezTo>
                      <a:pt x="181" y="319"/>
                      <a:pt x="202" y="315"/>
                      <a:pt x="221" y="307"/>
                    </a:cubicBezTo>
                    <a:cubicBezTo>
                      <a:pt x="240" y="299"/>
                      <a:pt x="257" y="287"/>
                      <a:pt x="272" y="273"/>
                    </a:cubicBezTo>
                    <a:cubicBezTo>
                      <a:pt x="287" y="258"/>
                      <a:pt x="298" y="241"/>
                      <a:pt x="306" y="222"/>
                    </a:cubicBezTo>
                    <a:cubicBezTo>
                      <a:pt x="315" y="202"/>
                      <a:pt x="319" y="181"/>
                      <a:pt x="319" y="160"/>
                    </a:cubicBezTo>
                    <a:cubicBezTo>
                      <a:pt x="319" y="138"/>
                      <a:pt x="315" y="117"/>
                      <a:pt x="306" y="98"/>
                    </a:cubicBezTo>
                    <a:cubicBezTo>
                      <a:pt x="298" y="79"/>
                      <a:pt x="287" y="62"/>
                      <a:pt x="272" y="47"/>
                    </a:cubicBezTo>
                    <a:cubicBezTo>
                      <a:pt x="257" y="32"/>
                      <a:pt x="240" y="21"/>
                      <a:pt x="221" y="13"/>
                    </a:cubicBezTo>
                    <a:cubicBezTo>
                      <a:pt x="202" y="5"/>
                      <a:pt x="181" y="0"/>
                      <a:pt x="159" y="0"/>
                    </a:cubicBezTo>
                    <a:cubicBezTo>
                      <a:pt x="138" y="0"/>
                      <a:pt x="117" y="5"/>
                      <a:pt x="97" y="13"/>
                    </a:cubicBezTo>
                    <a:close/>
                    <a:moveTo>
                      <a:pt x="99" y="302"/>
                    </a:moveTo>
                    <a:cubicBezTo>
                      <a:pt x="81" y="294"/>
                      <a:pt x="64" y="283"/>
                      <a:pt x="50" y="269"/>
                    </a:cubicBezTo>
                    <a:cubicBezTo>
                      <a:pt x="36" y="255"/>
                      <a:pt x="25" y="238"/>
                      <a:pt x="17" y="220"/>
                    </a:cubicBezTo>
                    <a:cubicBezTo>
                      <a:pt x="9" y="201"/>
                      <a:pt x="5" y="181"/>
                      <a:pt x="5" y="160"/>
                    </a:cubicBezTo>
                    <a:cubicBezTo>
                      <a:pt x="5" y="139"/>
                      <a:pt x="9" y="119"/>
                      <a:pt x="17" y="100"/>
                    </a:cubicBezTo>
                    <a:cubicBezTo>
                      <a:pt x="25" y="81"/>
                      <a:pt x="36" y="65"/>
                      <a:pt x="50" y="51"/>
                    </a:cubicBezTo>
                    <a:cubicBezTo>
                      <a:pt x="64" y="37"/>
                      <a:pt x="81" y="26"/>
                      <a:pt x="99" y="18"/>
                    </a:cubicBezTo>
                    <a:cubicBezTo>
                      <a:pt x="118" y="10"/>
                      <a:pt x="138" y="6"/>
                      <a:pt x="159" y="6"/>
                    </a:cubicBezTo>
                    <a:cubicBezTo>
                      <a:pt x="180" y="6"/>
                      <a:pt x="200" y="10"/>
                      <a:pt x="219" y="18"/>
                    </a:cubicBezTo>
                    <a:cubicBezTo>
                      <a:pt x="238" y="26"/>
                      <a:pt x="254" y="37"/>
                      <a:pt x="268" y="51"/>
                    </a:cubicBezTo>
                    <a:cubicBezTo>
                      <a:pt x="283" y="65"/>
                      <a:pt x="294" y="81"/>
                      <a:pt x="301" y="100"/>
                    </a:cubicBezTo>
                    <a:cubicBezTo>
                      <a:pt x="309" y="119"/>
                      <a:pt x="314" y="139"/>
                      <a:pt x="314" y="160"/>
                    </a:cubicBezTo>
                    <a:cubicBezTo>
                      <a:pt x="314" y="181"/>
                      <a:pt x="309" y="201"/>
                      <a:pt x="301" y="220"/>
                    </a:cubicBezTo>
                    <a:cubicBezTo>
                      <a:pt x="294" y="238"/>
                      <a:pt x="283" y="255"/>
                      <a:pt x="268" y="269"/>
                    </a:cubicBezTo>
                    <a:cubicBezTo>
                      <a:pt x="254" y="283"/>
                      <a:pt x="238" y="294"/>
                      <a:pt x="219" y="302"/>
                    </a:cubicBezTo>
                    <a:cubicBezTo>
                      <a:pt x="200" y="310"/>
                      <a:pt x="180" y="314"/>
                      <a:pt x="159" y="314"/>
                    </a:cubicBezTo>
                    <a:cubicBezTo>
                      <a:pt x="138" y="314"/>
                      <a:pt x="118" y="310"/>
                      <a:pt x="99" y="302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49" name="Freeform 10">
                <a:extLst>
                  <a:ext uri="{FF2B5EF4-FFF2-40B4-BE49-F238E27FC236}">
                    <a16:creationId xmlns:a16="http://schemas.microsoft.com/office/drawing/2014/main" id="{D6383EA0-7BA3-FA3E-5B91-A78684F655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200" y="2774951"/>
                <a:ext cx="1943100" cy="1955800"/>
              </a:xfrm>
              <a:custGeom>
                <a:avLst/>
                <a:gdLst>
                  <a:gd name="T0" fmla="*/ 72 w 236"/>
                  <a:gd name="T1" fmla="*/ 9 h 236"/>
                  <a:gd name="T2" fmla="*/ 35 w 236"/>
                  <a:gd name="T3" fmla="*/ 34 h 236"/>
                  <a:gd name="T4" fmla="*/ 10 w 236"/>
                  <a:gd name="T5" fmla="*/ 72 h 236"/>
                  <a:gd name="T6" fmla="*/ 0 w 236"/>
                  <a:gd name="T7" fmla="*/ 118 h 236"/>
                  <a:gd name="T8" fmla="*/ 10 w 236"/>
                  <a:gd name="T9" fmla="*/ 164 h 236"/>
                  <a:gd name="T10" fmla="*/ 35 w 236"/>
                  <a:gd name="T11" fmla="*/ 201 h 236"/>
                  <a:gd name="T12" fmla="*/ 72 w 236"/>
                  <a:gd name="T13" fmla="*/ 227 h 236"/>
                  <a:gd name="T14" fmla="*/ 118 w 236"/>
                  <a:gd name="T15" fmla="*/ 236 h 236"/>
                  <a:gd name="T16" fmla="*/ 164 w 236"/>
                  <a:gd name="T17" fmla="*/ 227 h 236"/>
                  <a:gd name="T18" fmla="*/ 202 w 236"/>
                  <a:gd name="T19" fmla="*/ 201 h 236"/>
                  <a:gd name="T20" fmla="*/ 227 w 236"/>
                  <a:gd name="T21" fmla="*/ 164 h 236"/>
                  <a:gd name="T22" fmla="*/ 236 w 236"/>
                  <a:gd name="T23" fmla="*/ 118 h 236"/>
                  <a:gd name="T24" fmla="*/ 227 w 236"/>
                  <a:gd name="T25" fmla="*/ 72 h 236"/>
                  <a:gd name="T26" fmla="*/ 202 w 236"/>
                  <a:gd name="T27" fmla="*/ 34 h 236"/>
                  <a:gd name="T28" fmla="*/ 164 w 236"/>
                  <a:gd name="T29" fmla="*/ 9 h 236"/>
                  <a:gd name="T30" fmla="*/ 118 w 236"/>
                  <a:gd name="T31" fmla="*/ 0 h 236"/>
                  <a:gd name="T32" fmla="*/ 72 w 236"/>
                  <a:gd name="T33" fmla="*/ 9 h 236"/>
                  <a:gd name="T34" fmla="*/ 74 w 236"/>
                  <a:gd name="T35" fmla="*/ 223 h 236"/>
                  <a:gd name="T36" fmla="*/ 37 w 236"/>
                  <a:gd name="T37" fmla="*/ 199 h 236"/>
                  <a:gd name="T38" fmla="*/ 13 w 236"/>
                  <a:gd name="T39" fmla="*/ 162 h 236"/>
                  <a:gd name="T40" fmla="*/ 4 w 236"/>
                  <a:gd name="T41" fmla="*/ 118 h 236"/>
                  <a:gd name="T42" fmla="*/ 13 w 236"/>
                  <a:gd name="T43" fmla="*/ 73 h 236"/>
                  <a:gd name="T44" fmla="*/ 37 w 236"/>
                  <a:gd name="T45" fmla="*/ 37 h 236"/>
                  <a:gd name="T46" fmla="*/ 74 w 236"/>
                  <a:gd name="T47" fmla="*/ 12 h 236"/>
                  <a:gd name="T48" fmla="*/ 118 w 236"/>
                  <a:gd name="T49" fmla="*/ 3 h 236"/>
                  <a:gd name="T50" fmla="*/ 163 w 236"/>
                  <a:gd name="T51" fmla="*/ 12 h 236"/>
                  <a:gd name="T52" fmla="*/ 199 w 236"/>
                  <a:gd name="T53" fmla="*/ 37 h 236"/>
                  <a:gd name="T54" fmla="*/ 224 w 236"/>
                  <a:gd name="T55" fmla="*/ 73 h 236"/>
                  <a:gd name="T56" fmla="*/ 233 w 236"/>
                  <a:gd name="T57" fmla="*/ 118 h 236"/>
                  <a:gd name="T58" fmla="*/ 224 w 236"/>
                  <a:gd name="T59" fmla="*/ 162 h 236"/>
                  <a:gd name="T60" fmla="*/ 199 w 236"/>
                  <a:gd name="T61" fmla="*/ 199 h 236"/>
                  <a:gd name="T62" fmla="*/ 163 w 236"/>
                  <a:gd name="T63" fmla="*/ 223 h 236"/>
                  <a:gd name="T64" fmla="*/ 118 w 236"/>
                  <a:gd name="T65" fmla="*/ 232 h 236"/>
                  <a:gd name="T66" fmla="*/ 74 w 236"/>
                  <a:gd name="T67" fmla="*/ 22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36">
                    <a:moveTo>
                      <a:pt x="72" y="9"/>
                    </a:moveTo>
                    <a:cubicBezTo>
                      <a:pt x="58" y="15"/>
                      <a:pt x="46" y="24"/>
                      <a:pt x="35" y="34"/>
                    </a:cubicBezTo>
                    <a:cubicBezTo>
                      <a:pt x="24" y="45"/>
                      <a:pt x="15" y="58"/>
                      <a:pt x="10" y="72"/>
                    </a:cubicBezTo>
                    <a:cubicBezTo>
                      <a:pt x="3" y="87"/>
                      <a:pt x="0" y="102"/>
                      <a:pt x="0" y="118"/>
                    </a:cubicBezTo>
                    <a:cubicBezTo>
                      <a:pt x="0" y="134"/>
                      <a:pt x="3" y="149"/>
                      <a:pt x="10" y="164"/>
                    </a:cubicBezTo>
                    <a:cubicBezTo>
                      <a:pt x="15" y="178"/>
                      <a:pt x="24" y="190"/>
                      <a:pt x="35" y="201"/>
                    </a:cubicBezTo>
                    <a:cubicBezTo>
                      <a:pt x="46" y="212"/>
                      <a:pt x="58" y="221"/>
                      <a:pt x="72" y="227"/>
                    </a:cubicBezTo>
                    <a:cubicBezTo>
                      <a:pt x="87" y="233"/>
                      <a:pt x="102" y="236"/>
                      <a:pt x="118" y="236"/>
                    </a:cubicBezTo>
                    <a:cubicBezTo>
                      <a:pt x="134" y="236"/>
                      <a:pt x="150" y="233"/>
                      <a:pt x="164" y="227"/>
                    </a:cubicBezTo>
                    <a:cubicBezTo>
                      <a:pt x="178" y="221"/>
                      <a:pt x="191" y="212"/>
                      <a:pt x="202" y="201"/>
                    </a:cubicBezTo>
                    <a:cubicBezTo>
                      <a:pt x="213" y="190"/>
                      <a:pt x="221" y="178"/>
                      <a:pt x="227" y="164"/>
                    </a:cubicBezTo>
                    <a:cubicBezTo>
                      <a:pt x="233" y="149"/>
                      <a:pt x="236" y="134"/>
                      <a:pt x="236" y="118"/>
                    </a:cubicBezTo>
                    <a:cubicBezTo>
                      <a:pt x="236" y="102"/>
                      <a:pt x="233" y="87"/>
                      <a:pt x="227" y="72"/>
                    </a:cubicBezTo>
                    <a:cubicBezTo>
                      <a:pt x="221" y="58"/>
                      <a:pt x="213" y="45"/>
                      <a:pt x="202" y="34"/>
                    </a:cubicBezTo>
                    <a:cubicBezTo>
                      <a:pt x="191" y="24"/>
                      <a:pt x="178" y="15"/>
                      <a:pt x="164" y="9"/>
                    </a:cubicBezTo>
                    <a:cubicBezTo>
                      <a:pt x="150" y="3"/>
                      <a:pt x="134" y="0"/>
                      <a:pt x="118" y="0"/>
                    </a:cubicBezTo>
                    <a:cubicBezTo>
                      <a:pt x="102" y="0"/>
                      <a:pt x="87" y="3"/>
                      <a:pt x="72" y="9"/>
                    </a:cubicBezTo>
                    <a:close/>
                    <a:moveTo>
                      <a:pt x="74" y="223"/>
                    </a:moveTo>
                    <a:cubicBezTo>
                      <a:pt x="60" y="218"/>
                      <a:pt x="48" y="209"/>
                      <a:pt x="37" y="199"/>
                    </a:cubicBezTo>
                    <a:cubicBezTo>
                      <a:pt x="27" y="188"/>
                      <a:pt x="19" y="176"/>
                      <a:pt x="13" y="162"/>
                    </a:cubicBezTo>
                    <a:cubicBezTo>
                      <a:pt x="7" y="148"/>
                      <a:pt x="4" y="133"/>
                      <a:pt x="4" y="118"/>
                    </a:cubicBezTo>
                    <a:cubicBezTo>
                      <a:pt x="4" y="102"/>
                      <a:pt x="7" y="87"/>
                      <a:pt x="13" y="73"/>
                    </a:cubicBezTo>
                    <a:cubicBezTo>
                      <a:pt x="19" y="60"/>
                      <a:pt x="27" y="47"/>
                      <a:pt x="37" y="37"/>
                    </a:cubicBezTo>
                    <a:cubicBezTo>
                      <a:pt x="48" y="26"/>
                      <a:pt x="60" y="18"/>
                      <a:pt x="74" y="12"/>
                    </a:cubicBezTo>
                    <a:cubicBezTo>
                      <a:pt x="88" y="6"/>
                      <a:pt x="103" y="3"/>
                      <a:pt x="118" y="3"/>
                    </a:cubicBezTo>
                    <a:cubicBezTo>
                      <a:pt x="134" y="3"/>
                      <a:pt x="149" y="6"/>
                      <a:pt x="163" y="12"/>
                    </a:cubicBezTo>
                    <a:cubicBezTo>
                      <a:pt x="176" y="18"/>
                      <a:pt x="189" y="26"/>
                      <a:pt x="199" y="37"/>
                    </a:cubicBezTo>
                    <a:cubicBezTo>
                      <a:pt x="210" y="47"/>
                      <a:pt x="218" y="60"/>
                      <a:pt x="224" y="73"/>
                    </a:cubicBezTo>
                    <a:cubicBezTo>
                      <a:pt x="230" y="87"/>
                      <a:pt x="233" y="102"/>
                      <a:pt x="233" y="118"/>
                    </a:cubicBezTo>
                    <a:cubicBezTo>
                      <a:pt x="233" y="133"/>
                      <a:pt x="230" y="148"/>
                      <a:pt x="224" y="162"/>
                    </a:cubicBezTo>
                    <a:cubicBezTo>
                      <a:pt x="218" y="176"/>
                      <a:pt x="210" y="188"/>
                      <a:pt x="199" y="199"/>
                    </a:cubicBezTo>
                    <a:cubicBezTo>
                      <a:pt x="189" y="209"/>
                      <a:pt x="176" y="218"/>
                      <a:pt x="163" y="223"/>
                    </a:cubicBezTo>
                    <a:cubicBezTo>
                      <a:pt x="149" y="229"/>
                      <a:pt x="134" y="232"/>
                      <a:pt x="118" y="232"/>
                    </a:cubicBezTo>
                    <a:cubicBezTo>
                      <a:pt x="103" y="232"/>
                      <a:pt x="88" y="229"/>
                      <a:pt x="74" y="22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0" name="Freeform 11">
                <a:extLst>
                  <a:ext uri="{FF2B5EF4-FFF2-40B4-BE49-F238E27FC236}">
                    <a16:creationId xmlns:a16="http://schemas.microsoft.com/office/drawing/2014/main" id="{23D453E0-5E63-8BC5-F879-BAE2091BFC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1100" y="4084638"/>
                <a:ext cx="206375" cy="173038"/>
              </a:xfrm>
              <a:custGeom>
                <a:avLst/>
                <a:gdLst>
                  <a:gd name="T0" fmla="*/ 3 w 25"/>
                  <a:gd name="T1" fmla="*/ 1 h 21"/>
                  <a:gd name="T2" fmla="*/ 6 w 25"/>
                  <a:gd name="T3" fmla="*/ 0 h 21"/>
                  <a:gd name="T4" fmla="*/ 9 w 25"/>
                  <a:gd name="T5" fmla="*/ 1 h 21"/>
                  <a:gd name="T6" fmla="*/ 11 w 25"/>
                  <a:gd name="T7" fmla="*/ 4 h 21"/>
                  <a:gd name="T8" fmla="*/ 13 w 25"/>
                  <a:gd name="T9" fmla="*/ 7 h 21"/>
                  <a:gd name="T10" fmla="*/ 13 w 25"/>
                  <a:gd name="T11" fmla="*/ 9 h 21"/>
                  <a:gd name="T12" fmla="*/ 19 w 25"/>
                  <a:gd name="T13" fmla="*/ 7 h 21"/>
                  <a:gd name="T14" fmla="*/ 20 w 25"/>
                  <a:gd name="T15" fmla="*/ 6 h 21"/>
                  <a:gd name="T16" fmla="*/ 20 w 25"/>
                  <a:gd name="T17" fmla="*/ 5 h 21"/>
                  <a:gd name="T18" fmla="*/ 20 w 25"/>
                  <a:gd name="T19" fmla="*/ 4 h 21"/>
                  <a:gd name="T20" fmla="*/ 19 w 25"/>
                  <a:gd name="T21" fmla="*/ 3 h 21"/>
                  <a:gd name="T22" fmla="*/ 21 w 25"/>
                  <a:gd name="T23" fmla="*/ 3 h 21"/>
                  <a:gd name="T24" fmla="*/ 25 w 25"/>
                  <a:gd name="T25" fmla="*/ 14 h 21"/>
                  <a:gd name="T26" fmla="*/ 24 w 25"/>
                  <a:gd name="T27" fmla="*/ 14 h 21"/>
                  <a:gd name="T28" fmla="*/ 23 w 25"/>
                  <a:gd name="T29" fmla="*/ 13 h 21"/>
                  <a:gd name="T30" fmla="*/ 23 w 25"/>
                  <a:gd name="T31" fmla="*/ 12 h 21"/>
                  <a:gd name="T32" fmla="*/ 22 w 25"/>
                  <a:gd name="T33" fmla="*/ 12 h 21"/>
                  <a:gd name="T34" fmla="*/ 21 w 25"/>
                  <a:gd name="T35" fmla="*/ 12 h 21"/>
                  <a:gd name="T36" fmla="*/ 7 w 25"/>
                  <a:gd name="T37" fmla="*/ 17 h 21"/>
                  <a:gd name="T38" fmla="*/ 6 w 25"/>
                  <a:gd name="T39" fmla="*/ 18 h 21"/>
                  <a:gd name="T40" fmla="*/ 6 w 25"/>
                  <a:gd name="T41" fmla="*/ 18 h 21"/>
                  <a:gd name="T42" fmla="*/ 6 w 25"/>
                  <a:gd name="T43" fmla="*/ 20 h 21"/>
                  <a:gd name="T44" fmla="*/ 6 w 25"/>
                  <a:gd name="T45" fmla="*/ 21 h 21"/>
                  <a:gd name="T46" fmla="*/ 5 w 25"/>
                  <a:gd name="T47" fmla="*/ 21 h 21"/>
                  <a:gd name="T48" fmla="*/ 1 w 25"/>
                  <a:gd name="T49" fmla="*/ 10 h 21"/>
                  <a:gd name="T50" fmla="*/ 0 w 25"/>
                  <a:gd name="T51" fmla="*/ 4 h 21"/>
                  <a:gd name="T52" fmla="*/ 3 w 25"/>
                  <a:gd name="T53" fmla="*/ 1 h 21"/>
                  <a:gd name="T54" fmla="*/ 6 w 25"/>
                  <a:gd name="T55" fmla="*/ 6 h 21"/>
                  <a:gd name="T56" fmla="*/ 3 w 25"/>
                  <a:gd name="T57" fmla="*/ 8 h 21"/>
                  <a:gd name="T58" fmla="*/ 3 w 25"/>
                  <a:gd name="T59" fmla="*/ 12 h 21"/>
                  <a:gd name="T60" fmla="*/ 3 w 25"/>
                  <a:gd name="T61" fmla="*/ 13 h 21"/>
                  <a:gd name="T62" fmla="*/ 12 w 25"/>
                  <a:gd name="T63" fmla="*/ 9 h 21"/>
                  <a:gd name="T64" fmla="*/ 12 w 25"/>
                  <a:gd name="T65" fmla="*/ 9 h 21"/>
                  <a:gd name="T66" fmla="*/ 9 w 25"/>
                  <a:gd name="T67" fmla="*/ 6 h 21"/>
                  <a:gd name="T68" fmla="*/ 6 w 25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21">
                    <a:moveTo>
                      <a:pt x="3" y="1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  <a:moveTo>
                      <a:pt x="6" y="6"/>
                    </a:moveTo>
                    <a:cubicBezTo>
                      <a:pt x="4" y="6"/>
                      <a:pt x="3" y="7"/>
                      <a:pt x="3" y="8"/>
                    </a:cubicBezTo>
                    <a:cubicBezTo>
                      <a:pt x="2" y="9"/>
                      <a:pt x="2" y="10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0" y="6"/>
                      <a:pt x="9" y="6"/>
                    </a:cubicBezTo>
                    <a:cubicBezTo>
                      <a:pt x="8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1" name="Freeform 12">
                <a:extLst>
                  <a:ext uri="{FF2B5EF4-FFF2-40B4-BE49-F238E27FC236}">
                    <a16:creationId xmlns:a16="http://schemas.microsoft.com/office/drawing/2014/main" id="{0533FF0E-78B3-F813-2F86-DF0502419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794126"/>
                <a:ext cx="190500" cy="182563"/>
              </a:xfrm>
              <a:custGeom>
                <a:avLst/>
                <a:gdLst>
                  <a:gd name="T0" fmla="*/ 5 w 23"/>
                  <a:gd name="T1" fmla="*/ 3 h 22"/>
                  <a:gd name="T2" fmla="*/ 5 w 23"/>
                  <a:gd name="T3" fmla="*/ 4 h 22"/>
                  <a:gd name="T4" fmla="*/ 3 w 23"/>
                  <a:gd name="T5" fmla="*/ 6 h 22"/>
                  <a:gd name="T6" fmla="*/ 2 w 23"/>
                  <a:gd name="T7" fmla="*/ 8 h 22"/>
                  <a:gd name="T8" fmla="*/ 2 w 23"/>
                  <a:gd name="T9" fmla="*/ 9 h 22"/>
                  <a:gd name="T10" fmla="*/ 2 w 23"/>
                  <a:gd name="T11" fmla="*/ 10 h 22"/>
                  <a:gd name="T12" fmla="*/ 3 w 23"/>
                  <a:gd name="T13" fmla="*/ 13 h 22"/>
                  <a:gd name="T14" fmla="*/ 11 w 23"/>
                  <a:gd name="T15" fmla="*/ 12 h 22"/>
                  <a:gd name="T16" fmla="*/ 10 w 23"/>
                  <a:gd name="T17" fmla="*/ 10 h 22"/>
                  <a:gd name="T18" fmla="*/ 10 w 23"/>
                  <a:gd name="T19" fmla="*/ 9 h 22"/>
                  <a:gd name="T20" fmla="*/ 9 w 23"/>
                  <a:gd name="T21" fmla="*/ 8 h 22"/>
                  <a:gd name="T22" fmla="*/ 8 w 23"/>
                  <a:gd name="T23" fmla="*/ 7 h 22"/>
                  <a:gd name="T24" fmla="*/ 6 w 23"/>
                  <a:gd name="T25" fmla="*/ 7 h 22"/>
                  <a:gd name="T26" fmla="*/ 6 w 23"/>
                  <a:gd name="T27" fmla="*/ 6 h 22"/>
                  <a:gd name="T28" fmla="*/ 15 w 23"/>
                  <a:gd name="T29" fmla="*/ 5 h 22"/>
                  <a:gd name="T30" fmla="*/ 15 w 23"/>
                  <a:gd name="T31" fmla="*/ 6 h 22"/>
                  <a:gd name="T32" fmla="*/ 13 w 23"/>
                  <a:gd name="T33" fmla="*/ 7 h 22"/>
                  <a:gd name="T34" fmla="*/ 12 w 23"/>
                  <a:gd name="T35" fmla="*/ 7 h 22"/>
                  <a:gd name="T36" fmla="*/ 12 w 23"/>
                  <a:gd name="T37" fmla="*/ 9 h 22"/>
                  <a:gd name="T38" fmla="*/ 12 w 23"/>
                  <a:gd name="T39" fmla="*/ 10 h 22"/>
                  <a:gd name="T40" fmla="*/ 12 w 23"/>
                  <a:gd name="T41" fmla="*/ 12 h 22"/>
                  <a:gd name="T42" fmla="*/ 18 w 23"/>
                  <a:gd name="T43" fmla="*/ 12 h 22"/>
                  <a:gd name="T44" fmla="*/ 19 w 23"/>
                  <a:gd name="T45" fmla="*/ 11 h 22"/>
                  <a:gd name="T46" fmla="*/ 20 w 23"/>
                  <a:gd name="T47" fmla="*/ 11 h 22"/>
                  <a:gd name="T48" fmla="*/ 20 w 23"/>
                  <a:gd name="T49" fmla="*/ 10 h 22"/>
                  <a:gd name="T50" fmla="*/ 20 w 23"/>
                  <a:gd name="T51" fmla="*/ 8 h 22"/>
                  <a:gd name="T52" fmla="*/ 20 w 23"/>
                  <a:gd name="T53" fmla="*/ 7 h 22"/>
                  <a:gd name="T54" fmla="*/ 20 w 23"/>
                  <a:gd name="T55" fmla="*/ 5 h 22"/>
                  <a:gd name="T56" fmla="*/ 20 w 23"/>
                  <a:gd name="T57" fmla="*/ 4 h 22"/>
                  <a:gd name="T58" fmla="*/ 19 w 23"/>
                  <a:gd name="T59" fmla="*/ 4 h 22"/>
                  <a:gd name="T60" fmla="*/ 17 w 23"/>
                  <a:gd name="T61" fmla="*/ 2 h 22"/>
                  <a:gd name="T62" fmla="*/ 14 w 23"/>
                  <a:gd name="T63" fmla="*/ 1 h 22"/>
                  <a:gd name="T64" fmla="*/ 14 w 23"/>
                  <a:gd name="T65" fmla="*/ 0 h 22"/>
                  <a:gd name="T66" fmla="*/ 21 w 23"/>
                  <a:gd name="T67" fmla="*/ 0 h 22"/>
                  <a:gd name="T68" fmla="*/ 23 w 23"/>
                  <a:gd name="T69" fmla="*/ 19 h 22"/>
                  <a:gd name="T70" fmla="*/ 22 w 23"/>
                  <a:gd name="T71" fmla="*/ 20 h 22"/>
                  <a:gd name="T72" fmla="*/ 22 w 23"/>
                  <a:gd name="T73" fmla="*/ 18 h 22"/>
                  <a:gd name="T74" fmla="*/ 21 w 23"/>
                  <a:gd name="T75" fmla="*/ 17 h 22"/>
                  <a:gd name="T76" fmla="*/ 21 w 23"/>
                  <a:gd name="T77" fmla="*/ 17 h 22"/>
                  <a:gd name="T78" fmla="*/ 20 w 23"/>
                  <a:gd name="T79" fmla="*/ 17 h 22"/>
                  <a:gd name="T80" fmla="*/ 5 w 23"/>
                  <a:gd name="T81" fmla="*/ 18 h 22"/>
                  <a:gd name="T82" fmla="*/ 4 w 23"/>
                  <a:gd name="T83" fmla="*/ 19 h 22"/>
                  <a:gd name="T84" fmla="*/ 4 w 23"/>
                  <a:gd name="T85" fmla="*/ 20 h 22"/>
                  <a:gd name="T86" fmla="*/ 3 w 23"/>
                  <a:gd name="T87" fmla="*/ 21 h 22"/>
                  <a:gd name="T88" fmla="*/ 3 w 23"/>
                  <a:gd name="T89" fmla="*/ 22 h 22"/>
                  <a:gd name="T90" fmla="*/ 2 w 23"/>
                  <a:gd name="T91" fmla="*/ 22 h 22"/>
                  <a:gd name="T92" fmla="*/ 0 w 23"/>
                  <a:gd name="T93" fmla="*/ 3 h 22"/>
                  <a:gd name="T94" fmla="*/ 5 w 23"/>
                  <a:gd name="T9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22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1" y="18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2" name="Freeform 13">
                <a:extLst>
                  <a:ext uri="{FF2B5EF4-FFF2-40B4-BE49-F238E27FC236}">
                    <a16:creationId xmlns:a16="http://schemas.microsoft.com/office/drawing/2014/main" id="{E5CDB3AC-A229-FC87-DF88-CACD80F0A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3478213"/>
                <a:ext cx="198437" cy="215900"/>
              </a:xfrm>
              <a:custGeom>
                <a:avLst/>
                <a:gdLst>
                  <a:gd name="T0" fmla="*/ 24 w 24"/>
                  <a:gd name="T1" fmla="*/ 2 h 26"/>
                  <a:gd name="T2" fmla="*/ 23 w 24"/>
                  <a:gd name="T3" fmla="*/ 10 h 26"/>
                  <a:gd name="T4" fmla="*/ 18 w 24"/>
                  <a:gd name="T5" fmla="*/ 13 h 26"/>
                  <a:gd name="T6" fmla="*/ 12 w 24"/>
                  <a:gd name="T7" fmla="*/ 16 h 26"/>
                  <a:gd name="T8" fmla="*/ 12 w 24"/>
                  <a:gd name="T9" fmla="*/ 17 h 26"/>
                  <a:gd name="T10" fmla="*/ 19 w 24"/>
                  <a:gd name="T11" fmla="*/ 18 h 26"/>
                  <a:gd name="T12" fmla="*/ 20 w 24"/>
                  <a:gd name="T13" fmla="*/ 18 h 26"/>
                  <a:gd name="T14" fmla="*/ 20 w 24"/>
                  <a:gd name="T15" fmla="*/ 17 h 26"/>
                  <a:gd name="T16" fmla="*/ 21 w 24"/>
                  <a:gd name="T17" fmla="*/ 16 h 26"/>
                  <a:gd name="T18" fmla="*/ 21 w 24"/>
                  <a:gd name="T19" fmla="*/ 15 h 26"/>
                  <a:gd name="T20" fmla="*/ 22 w 24"/>
                  <a:gd name="T21" fmla="*/ 15 h 26"/>
                  <a:gd name="T22" fmla="*/ 21 w 24"/>
                  <a:gd name="T23" fmla="*/ 26 h 26"/>
                  <a:gd name="T24" fmla="*/ 20 w 24"/>
                  <a:gd name="T25" fmla="*/ 26 h 26"/>
                  <a:gd name="T26" fmla="*/ 20 w 24"/>
                  <a:gd name="T27" fmla="*/ 25 h 26"/>
                  <a:gd name="T28" fmla="*/ 20 w 24"/>
                  <a:gd name="T29" fmla="*/ 24 h 26"/>
                  <a:gd name="T30" fmla="*/ 19 w 24"/>
                  <a:gd name="T31" fmla="*/ 23 h 26"/>
                  <a:gd name="T32" fmla="*/ 18 w 24"/>
                  <a:gd name="T33" fmla="*/ 23 h 26"/>
                  <a:gd name="T34" fmla="*/ 3 w 24"/>
                  <a:gd name="T35" fmla="*/ 21 h 26"/>
                  <a:gd name="T36" fmla="*/ 3 w 24"/>
                  <a:gd name="T37" fmla="*/ 21 h 26"/>
                  <a:gd name="T38" fmla="*/ 2 w 24"/>
                  <a:gd name="T39" fmla="*/ 21 h 26"/>
                  <a:gd name="T40" fmla="*/ 1 w 24"/>
                  <a:gd name="T41" fmla="*/ 22 h 26"/>
                  <a:gd name="T42" fmla="*/ 1 w 24"/>
                  <a:gd name="T43" fmla="*/ 23 h 26"/>
                  <a:gd name="T44" fmla="*/ 0 w 24"/>
                  <a:gd name="T45" fmla="*/ 23 h 26"/>
                  <a:gd name="T46" fmla="*/ 1 w 24"/>
                  <a:gd name="T47" fmla="*/ 12 h 26"/>
                  <a:gd name="T48" fmla="*/ 3 w 24"/>
                  <a:gd name="T49" fmla="*/ 12 h 26"/>
                  <a:gd name="T50" fmla="*/ 3 w 24"/>
                  <a:gd name="T51" fmla="*/ 13 h 26"/>
                  <a:gd name="T52" fmla="*/ 3 w 24"/>
                  <a:gd name="T53" fmla="*/ 14 h 26"/>
                  <a:gd name="T54" fmla="*/ 3 w 24"/>
                  <a:gd name="T55" fmla="*/ 15 h 26"/>
                  <a:gd name="T56" fmla="*/ 4 w 24"/>
                  <a:gd name="T57" fmla="*/ 15 h 26"/>
                  <a:gd name="T58" fmla="*/ 11 w 24"/>
                  <a:gd name="T59" fmla="*/ 16 h 26"/>
                  <a:gd name="T60" fmla="*/ 11 w 24"/>
                  <a:gd name="T61" fmla="*/ 16 h 26"/>
                  <a:gd name="T62" fmla="*/ 9 w 24"/>
                  <a:gd name="T63" fmla="*/ 13 h 26"/>
                  <a:gd name="T64" fmla="*/ 7 w 24"/>
                  <a:gd name="T65" fmla="*/ 10 h 26"/>
                  <a:gd name="T66" fmla="*/ 5 w 24"/>
                  <a:gd name="T67" fmla="*/ 8 h 26"/>
                  <a:gd name="T68" fmla="*/ 4 w 24"/>
                  <a:gd name="T69" fmla="*/ 7 h 26"/>
                  <a:gd name="T70" fmla="*/ 3 w 24"/>
                  <a:gd name="T71" fmla="*/ 8 h 26"/>
                  <a:gd name="T72" fmla="*/ 3 w 24"/>
                  <a:gd name="T73" fmla="*/ 9 h 26"/>
                  <a:gd name="T74" fmla="*/ 2 w 24"/>
                  <a:gd name="T75" fmla="*/ 9 h 26"/>
                  <a:gd name="T76" fmla="*/ 3 w 24"/>
                  <a:gd name="T77" fmla="*/ 0 h 26"/>
                  <a:gd name="T78" fmla="*/ 4 w 24"/>
                  <a:gd name="T79" fmla="*/ 0 h 26"/>
                  <a:gd name="T80" fmla="*/ 5 w 24"/>
                  <a:gd name="T81" fmla="*/ 3 h 26"/>
                  <a:gd name="T82" fmla="*/ 6 w 24"/>
                  <a:gd name="T83" fmla="*/ 6 h 26"/>
                  <a:gd name="T84" fmla="*/ 8 w 24"/>
                  <a:gd name="T85" fmla="*/ 9 h 26"/>
                  <a:gd name="T86" fmla="*/ 10 w 24"/>
                  <a:gd name="T87" fmla="*/ 12 h 26"/>
                  <a:gd name="T88" fmla="*/ 15 w 24"/>
                  <a:gd name="T89" fmla="*/ 9 h 26"/>
                  <a:gd name="T90" fmla="*/ 20 w 24"/>
                  <a:gd name="T91" fmla="*/ 6 h 26"/>
                  <a:gd name="T92" fmla="*/ 21 w 24"/>
                  <a:gd name="T93" fmla="*/ 5 h 26"/>
                  <a:gd name="T94" fmla="*/ 22 w 24"/>
                  <a:gd name="T95" fmla="*/ 3 h 26"/>
                  <a:gd name="T96" fmla="*/ 23 w 24"/>
                  <a:gd name="T97" fmla="*/ 2 h 26"/>
                  <a:gd name="T98" fmla="*/ 23 w 24"/>
                  <a:gd name="T99" fmla="*/ 2 h 26"/>
                  <a:gd name="T100" fmla="*/ 24 w 24"/>
                  <a:gd name="T10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6">
                    <a:moveTo>
                      <a:pt x="24" y="2"/>
                    </a:move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1"/>
                      <a:pt x="19" y="12"/>
                      <a:pt x="18" y="13"/>
                    </a:cubicBezTo>
                    <a:cubicBezTo>
                      <a:pt x="16" y="14"/>
                      <a:pt x="15" y="15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20" y="24"/>
                      <a:pt x="20" y="24"/>
                    </a:cubicBezTo>
                    <a:cubicBezTo>
                      <a:pt x="20" y="24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0" y="14"/>
                      <a:pt x="9" y="13"/>
                    </a:cubicBezTo>
                    <a:cubicBezTo>
                      <a:pt x="8" y="12"/>
                      <a:pt x="8" y="11"/>
                      <a:pt x="7" y="10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4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9"/>
                      <a:pt x="9" y="10"/>
                      <a:pt x="10" y="12"/>
                    </a:cubicBezTo>
                    <a:cubicBezTo>
                      <a:pt x="11" y="11"/>
                      <a:pt x="13" y="10"/>
                      <a:pt x="15" y="9"/>
                    </a:cubicBezTo>
                    <a:cubicBezTo>
                      <a:pt x="16" y="8"/>
                      <a:pt x="18" y="7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3" name="Freeform 14">
                <a:extLst>
                  <a:ext uri="{FF2B5EF4-FFF2-40B4-BE49-F238E27FC236}">
                    <a16:creationId xmlns:a16="http://schemas.microsoft.com/office/drawing/2014/main" id="{D1569745-93C0-C0D5-27F7-F195D02B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0" y="3254376"/>
                <a:ext cx="196850" cy="158750"/>
              </a:xfrm>
              <a:custGeom>
                <a:avLst/>
                <a:gdLst>
                  <a:gd name="T0" fmla="*/ 24 w 24"/>
                  <a:gd name="T1" fmla="*/ 8 h 19"/>
                  <a:gd name="T2" fmla="*/ 20 w 24"/>
                  <a:gd name="T3" fmla="*/ 19 h 19"/>
                  <a:gd name="T4" fmla="*/ 19 w 24"/>
                  <a:gd name="T5" fmla="*/ 18 h 19"/>
                  <a:gd name="T6" fmla="*/ 19 w 24"/>
                  <a:gd name="T7" fmla="*/ 17 h 19"/>
                  <a:gd name="T8" fmla="*/ 19 w 24"/>
                  <a:gd name="T9" fmla="*/ 16 h 19"/>
                  <a:gd name="T10" fmla="*/ 19 w 24"/>
                  <a:gd name="T11" fmla="*/ 15 h 19"/>
                  <a:gd name="T12" fmla="*/ 18 w 24"/>
                  <a:gd name="T13" fmla="*/ 15 h 19"/>
                  <a:gd name="T14" fmla="*/ 4 w 24"/>
                  <a:gd name="T15" fmla="*/ 9 h 19"/>
                  <a:gd name="T16" fmla="*/ 4 w 24"/>
                  <a:gd name="T17" fmla="*/ 9 h 19"/>
                  <a:gd name="T18" fmla="*/ 3 w 24"/>
                  <a:gd name="T19" fmla="*/ 10 h 19"/>
                  <a:gd name="T20" fmla="*/ 2 w 24"/>
                  <a:gd name="T21" fmla="*/ 10 h 19"/>
                  <a:gd name="T22" fmla="*/ 1 w 24"/>
                  <a:gd name="T23" fmla="*/ 11 h 19"/>
                  <a:gd name="T24" fmla="*/ 0 w 24"/>
                  <a:gd name="T25" fmla="*/ 11 h 19"/>
                  <a:gd name="T26" fmla="*/ 5 w 24"/>
                  <a:gd name="T27" fmla="*/ 0 h 19"/>
                  <a:gd name="T28" fmla="*/ 6 w 24"/>
                  <a:gd name="T29" fmla="*/ 1 h 19"/>
                  <a:gd name="T30" fmla="*/ 5 w 24"/>
                  <a:gd name="T31" fmla="*/ 2 h 19"/>
                  <a:gd name="T32" fmla="*/ 5 w 24"/>
                  <a:gd name="T33" fmla="*/ 3 h 19"/>
                  <a:gd name="T34" fmla="*/ 5 w 24"/>
                  <a:gd name="T35" fmla="*/ 4 h 19"/>
                  <a:gd name="T36" fmla="*/ 6 w 24"/>
                  <a:gd name="T37" fmla="*/ 4 h 19"/>
                  <a:gd name="T38" fmla="*/ 20 w 24"/>
                  <a:gd name="T39" fmla="*/ 10 h 19"/>
                  <a:gd name="T40" fmla="*/ 21 w 24"/>
                  <a:gd name="T41" fmla="*/ 10 h 19"/>
                  <a:gd name="T42" fmla="*/ 22 w 24"/>
                  <a:gd name="T43" fmla="*/ 9 h 19"/>
                  <a:gd name="T44" fmla="*/ 22 w 24"/>
                  <a:gd name="T45" fmla="*/ 9 h 19"/>
                  <a:gd name="T46" fmla="*/ 23 w 24"/>
                  <a:gd name="T47" fmla="*/ 8 h 19"/>
                  <a:gd name="T48" fmla="*/ 24 w 24"/>
                  <a:gd name="T4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24" y="8"/>
                    </a:move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4" name="Freeform 15">
                <a:extLst>
                  <a:ext uri="{FF2B5EF4-FFF2-40B4-BE49-F238E27FC236}">
                    <a16:creationId xmlns:a16="http://schemas.microsoft.com/office/drawing/2014/main" id="{CEA3D1E8-3B28-0CDE-54F8-D92BAD3C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965451"/>
                <a:ext cx="247650" cy="265113"/>
              </a:xfrm>
              <a:custGeom>
                <a:avLst/>
                <a:gdLst>
                  <a:gd name="T0" fmla="*/ 16 w 30"/>
                  <a:gd name="T1" fmla="*/ 0 h 32"/>
                  <a:gd name="T2" fmla="*/ 15 w 30"/>
                  <a:gd name="T3" fmla="*/ 1 h 32"/>
                  <a:gd name="T4" fmla="*/ 15 w 30"/>
                  <a:gd name="T5" fmla="*/ 3 h 32"/>
                  <a:gd name="T6" fmla="*/ 15 w 30"/>
                  <a:gd name="T7" fmla="*/ 4 h 32"/>
                  <a:gd name="T8" fmla="*/ 17 w 30"/>
                  <a:gd name="T9" fmla="*/ 6 h 32"/>
                  <a:gd name="T10" fmla="*/ 30 w 30"/>
                  <a:gd name="T11" fmla="*/ 15 h 32"/>
                  <a:gd name="T12" fmla="*/ 28 w 30"/>
                  <a:gd name="T13" fmla="*/ 17 h 32"/>
                  <a:gd name="T14" fmla="*/ 7 w 30"/>
                  <a:gd name="T15" fmla="*/ 18 h 32"/>
                  <a:gd name="T16" fmla="*/ 15 w 30"/>
                  <a:gd name="T17" fmla="*/ 24 h 32"/>
                  <a:gd name="T18" fmla="*/ 18 w 30"/>
                  <a:gd name="T19" fmla="*/ 25 h 32"/>
                  <a:gd name="T20" fmla="*/ 19 w 30"/>
                  <a:gd name="T21" fmla="*/ 25 h 32"/>
                  <a:gd name="T22" fmla="*/ 21 w 30"/>
                  <a:gd name="T23" fmla="*/ 25 h 32"/>
                  <a:gd name="T24" fmla="*/ 22 w 30"/>
                  <a:gd name="T25" fmla="*/ 24 h 32"/>
                  <a:gd name="T26" fmla="*/ 23 w 30"/>
                  <a:gd name="T27" fmla="*/ 25 h 32"/>
                  <a:gd name="T28" fmla="*/ 17 w 30"/>
                  <a:gd name="T29" fmla="*/ 32 h 32"/>
                  <a:gd name="T30" fmla="*/ 16 w 30"/>
                  <a:gd name="T31" fmla="*/ 31 h 32"/>
                  <a:gd name="T32" fmla="*/ 17 w 30"/>
                  <a:gd name="T33" fmla="*/ 30 h 32"/>
                  <a:gd name="T34" fmla="*/ 17 w 30"/>
                  <a:gd name="T35" fmla="*/ 29 h 32"/>
                  <a:gd name="T36" fmla="*/ 17 w 30"/>
                  <a:gd name="T37" fmla="*/ 27 h 32"/>
                  <a:gd name="T38" fmla="*/ 14 w 30"/>
                  <a:gd name="T39" fmla="*/ 25 h 32"/>
                  <a:gd name="T40" fmla="*/ 6 w 30"/>
                  <a:gd name="T41" fmla="*/ 20 h 32"/>
                  <a:gd name="T42" fmla="*/ 5 w 30"/>
                  <a:gd name="T43" fmla="*/ 19 h 32"/>
                  <a:gd name="T44" fmla="*/ 4 w 30"/>
                  <a:gd name="T45" fmla="*/ 19 h 32"/>
                  <a:gd name="T46" fmla="*/ 2 w 30"/>
                  <a:gd name="T47" fmla="*/ 19 h 32"/>
                  <a:gd name="T48" fmla="*/ 1 w 30"/>
                  <a:gd name="T49" fmla="*/ 20 h 32"/>
                  <a:gd name="T50" fmla="*/ 0 w 30"/>
                  <a:gd name="T51" fmla="*/ 20 h 32"/>
                  <a:gd name="T52" fmla="*/ 5 w 30"/>
                  <a:gd name="T53" fmla="*/ 13 h 32"/>
                  <a:gd name="T54" fmla="*/ 23 w 30"/>
                  <a:gd name="T55" fmla="*/ 12 h 32"/>
                  <a:gd name="T56" fmla="*/ 17 w 30"/>
                  <a:gd name="T57" fmla="*/ 8 h 32"/>
                  <a:gd name="T58" fmla="*/ 14 w 30"/>
                  <a:gd name="T59" fmla="*/ 6 h 32"/>
                  <a:gd name="T60" fmla="*/ 13 w 30"/>
                  <a:gd name="T61" fmla="*/ 6 h 32"/>
                  <a:gd name="T62" fmla="*/ 11 w 30"/>
                  <a:gd name="T63" fmla="*/ 7 h 32"/>
                  <a:gd name="T64" fmla="*/ 10 w 30"/>
                  <a:gd name="T65" fmla="*/ 8 h 32"/>
                  <a:gd name="T66" fmla="*/ 9 w 30"/>
                  <a:gd name="T67" fmla="*/ 7 h 32"/>
                  <a:gd name="T68" fmla="*/ 15 w 30"/>
                  <a:gd name="T69" fmla="*/ 0 h 32"/>
                  <a:gd name="T70" fmla="*/ 16 w 30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32"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6"/>
                      <a:pt x="19" y="26"/>
                      <a:pt x="19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1"/>
                      <a:pt x="17" y="30"/>
                      <a:pt x="17" y="30"/>
                    </a:cubicBezTo>
                    <a:cubicBezTo>
                      <a:pt x="17" y="30"/>
                      <a:pt x="17" y="29"/>
                      <a:pt x="17" y="29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6" y="27"/>
                      <a:pt x="16" y="26"/>
                      <a:pt x="14" y="25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5" name="Freeform 16">
                <a:extLst>
                  <a:ext uri="{FF2B5EF4-FFF2-40B4-BE49-F238E27FC236}">
                    <a16:creationId xmlns:a16="http://schemas.microsoft.com/office/drawing/2014/main" id="{E246D60A-9156-0A35-E1DB-1C3AD76D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175" y="2765426"/>
                <a:ext cx="196850" cy="207963"/>
              </a:xfrm>
              <a:custGeom>
                <a:avLst/>
                <a:gdLst>
                  <a:gd name="T0" fmla="*/ 22 w 24"/>
                  <a:gd name="T1" fmla="*/ 7 h 25"/>
                  <a:gd name="T2" fmla="*/ 21 w 24"/>
                  <a:gd name="T3" fmla="*/ 8 h 25"/>
                  <a:gd name="T4" fmla="*/ 21 w 24"/>
                  <a:gd name="T5" fmla="*/ 8 h 25"/>
                  <a:gd name="T6" fmla="*/ 21 w 24"/>
                  <a:gd name="T7" fmla="*/ 9 h 25"/>
                  <a:gd name="T8" fmla="*/ 21 w 24"/>
                  <a:gd name="T9" fmla="*/ 10 h 25"/>
                  <a:gd name="T10" fmla="*/ 23 w 24"/>
                  <a:gd name="T11" fmla="*/ 12 h 25"/>
                  <a:gd name="T12" fmla="*/ 23 w 24"/>
                  <a:gd name="T13" fmla="*/ 13 h 25"/>
                  <a:gd name="T14" fmla="*/ 24 w 24"/>
                  <a:gd name="T15" fmla="*/ 14 h 25"/>
                  <a:gd name="T16" fmla="*/ 22 w 24"/>
                  <a:gd name="T17" fmla="*/ 18 h 25"/>
                  <a:gd name="T18" fmla="*/ 18 w 24"/>
                  <a:gd name="T19" fmla="*/ 22 h 25"/>
                  <a:gd name="T20" fmla="*/ 14 w 24"/>
                  <a:gd name="T21" fmla="*/ 24 h 25"/>
                  <a:gd name="T22" fmla="*/ 10 w 24"/>
                  <a:gd name="T23" fmla="*/ 25 h 25"/>
                  <a:gd name="T24" fmla="*/ 6 w 24"/>
                  <a:gd name="T25" fmla="*/ 23 h 25"/>
                  <a:gd name="T26" fmla="*/ 3 w 24"/>
                  <a:gd name="T27" fmla="*/ 20 h 25"/>
                  <a:gd name="T28" fmla="*/ 0 w 24"/>
                  <a:gd name="T29" fmla="*/ 16 h 25"/>
                  <a:gd name="T30" fmla="*/ 0 w 24"/>
                  <a:gd name="T31" fmla="*/ 12 h 25"/>
                  <a:gd name="T32" fmla="*/ 1 w 24"/>
                  <a:gd name="T33" fmla="*/ 8 h 25"/>
                  <a:gd name="T34" fmla="*/ 5 w 24"/>
                  <a:gd name="T35" fmla="*/ 4 h 25"/>
                  <a:gd name="T36" fmla="*/ 8 w 24"/>
                  <a:gd name="T37" fmla="*/ 2 h 25"/>
                  <a:gd name="T38" fmla="*/ 10 w 24"/>
                  <a:gd name="T39" fmla="*/ 2 h 25"/>
                  <a:gd name="T40" fmla="*/ 10 w 24"/>
                  <a:gd name="T41" fmla="*/ 0 h 25"/>
                  <a:gd name="T42" fmla="*/ 11 w 24"/>
                  <a:gd name="T43" fmla="*/ 0 h 25"/>
                  <a:gd name="T44" fmla="*/ 16 w 24"/>
                  <a:gd name="T45" fmla="*/ 5 h 25"/>
                  <a:gd name="T46" fmla="*/ 15 w 24"/>
                  <a:gd name="T47" fmla="*/ 6 h 25"/>
                  <a:gd name="T48" fmla="*/ 10 w 24"/>
                  <a:gd name="T49" fmla="*/ 4 h 25"/>
                  <a:gd name="T50" fmla="*/ 6 w 24"/>
                  <a:gd name="T51" fmla="*/ 5 h 25"/>
                  <a:gd name="T52" fmla="*/ 4 w 24"/>
                  <a:gd name="T53" fmla="*/ 10 h 25"/>
                  <a:gd name="T54" fmla="*/ 7 w 24"/>
                  <a:gd name="T55" fmla="*/ 16 h 25"/>
                  <a:gd name="T56" fmla="*/ 13 w 24"/>
                  <a:gd name="T57" fmla="*/ 21 h 25"/>
                  <a:gd name="T58" fmla="*/ 18 w 24"/>
                  <a:gd name="T59" fmla="*/ 20 h 25"/>
                  <a:gd name="T60" fmla="*/ 19 w 24"/>
                  <a:gd name="T61" fmla="*/ 18 h 25"/>
                  <a:gd name="T62" fmla="*/ 20 w 24"/>
                  <a:gd name="T63" fmla="*/ 17 h 25"/>
                  <a:gd name="T64" fmla="*/ 17 w 24"/>
                  <a:gd name="T65" fmla="*/ 13 h 25"/>
                  <a:gd name="T66" fmla="*/ 17 w 24"/>
                  <a:gd name="T67" fmla="*/ 13 h 25"/>
                  <a:gd name="T68" fmla="*/ 16 w 24"/>
                  <a:gd name="T69" fmla="*/ 13 h 25"/>
                  <a:gd name="T70" fmla="*/ 14 w 24"/>
                  <a:gd name="T71" fmla="*/ 13 h 25"/>
                  <a:gd name="T72" fmla="*/ 13 w 24"/>
                  <a:gd name="T73" fmla="*/ 14 h 25"/>
                  <a:gd name="T74" fmla="*/ 13 w 24"/>
                  <a:gd name="T75" fmla="*/ 13 h 25"/>
                  <a:gd name="T76" fmla="*/ 21 w 24"/>
                  <a:gd name="T77" fmla="*/ 6 h 25"/>
                  <a:gd name="T78" fmla="*/ 22 w 24"/>
                  <a:gd name="T7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25">
                    <a:moveTo>
                      <a:pt x="22" y="7"/>
                    </a:moveTo>
                    <a:cubicBezTo>
                      <a:pt x="22" y="7"/>
                      <a:pt x="22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3" y="16"/>
                      <a:pt x="22" y="18"/>
                    </a:cubicBezTo>
                    <a:cubicBezTo>
                      <a:pt x="21" y="19"/>
                      <a:pt x="19" y="21"/>
                      <a:pt x="18" y="22"/>
                    </a:cubicBezTo>
                    <a:cubicBezTo>
                      <a:pt x="17" y="23"/>
                      <a:pt x="16" y="23"/>
                      <a:pt x="14" y="24"/>
                    </a:cubicBezTo>
                    <a:cubicBezTo>
                      <a:pt x="13" y="24"/>
                      <a:pt x="12" y="25"/>
                      <a:pt x="10" y="25"/>
                    </a:cubicBezTo>
                    <a:cubicBezTo>
                      <a:pt x="9" y="24"/>
                      <a:pt x="8" y="24"/>
                      <a:pt x="6" y="23"/>
                    </a:cubicBezTo>
                    <a:cubicBezTo>
                      <a:pt x="5" y="23"/>
                      <a:pt x="4" y="22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6"/>
                      <a:pt x="3" y="5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9" y="19"/>
                      <a:pt x="11" y="20"/>
                      <a:pt x="13" y="21"/>
                    </a:cubicBezTo>
                    <a:cubicBezTo>
                      <a:pt x="15" y="22"/>
                      <a:pt x="16" y="21"/>
                      <a:pt x="18" y="20"/>
                    </a:cubicBezTo>
                    <a:cubicBezTo>
                      <a:pt x="18" y="20"/>
                      <a:pt x="19" y="19"/>
                      <a:pt x="19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21" y="6"/>
                      <a:pt x="21" y="6"/>
                      <a:pt x="21" y="6"/>
                    </a:cubicBez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6" name="Freeform 17">
                <a:extLst>
                  <a:ext uri="{FF2B5EF4-FFF2-40B4-BE49-F238E27FC236}">
                    <a16:creationId xmlns:a16="http://schemas.microsoft.com/office/drawing/2014/main" id="{CFF70809-9E27-1F80-A681-216BDDAB3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525" y="2551113"/>
                <a:ext cx="196850" cy="206375"/>
              </a:xfrm>
              <a:custGeom>
                <a:avLst/>
                <a:gdLst>
                  <a:gd name="T0" fmla="*/ 24 w 24"/>
                  <a:gd name="T1" fmla="*/ 1 h 25"/>
                  <a:gd name="T2" fmla="*/ 23 w 24"/>
                  <a:gd name="T3" fmla="*/ 2 h 25"/>
                  <a:gd name="T4" fmla="*/ 22 w 24"/>
                  <a:gd name="T5" fmla="*/ 3 h 25"/>
                  <a:gd name="T6" fmla="*/ 21 w 24"/>
                  <a:gd name="T7" fmla="*/ 4 h 25"/>
                  <a:gd name="T8" fmla="*/ 22 w 24"/>
                  <a:gd name="T9" fmla="*/ 7 h 25"/>
                  <a:gd name="T10" fmla="*/ 24 w 24"/>
                  <a:gd name="T11" fmla="*/ 15 h 25"/>
                  <a:gd name="T12" fmla="*/ 23 w 24"/>
                  <a:gd name="T13" fmla="*/ 21 h 25"/>
                  <a:gd name="T14" fmla="*/ 17 w 24"/>
                  <a:gd name="T15" fmla="*/ 24 h 25"/>
                  <a:gd name="T16" fmla="*/ 10 w 24"/>
                  <a:gd name="T17" fmla="*/ 24 h 25"/>
                  <a:gd name="T18" fmla="*/ 6 w 24"/>
                  <a:gd name="T19" fmla="*/ 19 h 25"/>
                  <a:gd name="T20" fmla="*/ 4 w 24"/>
                  <a:gd name="T21" fmla="*/ 9 h 25"/>
                  <a:gd name="T22" fmla="*/ 3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0 w 24"/>
                  <a:gd name="T29" fmla="*/ 8 h 25"/>
                  <a:gd name="T30" fmla="*/ 0 w 24"/>
                  <a:gd name="T31" fmla="*/ 7 h 25"/>
                  <a:gd name="T32" fmla="*/ 11 w 24"/>
                  <a:gd name="T33" fmla="*/ 4 h 25"/>
                  <a:gd name="T34" fmla="*/ 11 w 24"/>
                  <a:gd name="T35" fmla="*/ 5 h 25"/>
                  <a:gd name="T36" fmla="*/ 10 w 24"/>
                  <a:gd name="T37" fmla="*/ 5 h 25"/>
                  <a:gd name="T38" fmla="*/ 9 w 24"/>
                  <a:gd name="T39" fmla="*/ 6 h 25"/>
                  <a:gd name="T40" fmla="*/ 9 w 24"/>
                  <a:gd name="T41" fmla="*/ 7 h 25"/>
                  <a:gd name="T42" fmla="*/ 9 w 24"/>
                  <a:gd name="T43" fmla="*/ 8 h 25"/>
                  <a:gd name="T44" fmla="*/ 11 w 24"/>
                  <a:gd name="T45" fmla="*/ 18 h 25"/>
                  <a:gd name="T46" fmla="*/ 14 w 24"/>
                  <a:gd name="T47" fmla="*/ 22 h 25"/>
                  <a:gd name="T48" fmla="*/ 18 w 24"/>
                  <a:gd name="T49" fmla="*/ 22 h 25"/>
                  <a:gd name="T50" fmla="*/ 22 w 24"/>
                  <a:gd name="T51" fmla="*/ 20 h 25"/>
                  <a:gd name="T52" fmla="*/ 22 w 24"/>
                  <a:gd name="T53" fmla="*/ 15 h 25"/>
                  <a:gd name="T54" fmla="*/ 20 w 24"/>
                  <a:gd name="T55" fmla="*/ 8 h 25"/>
                  <a:gd name="T56" fmla="*/ 19 w 24"/>
                  <a:gd name="T57" fmla="*/ 5 h 25"/>
                  <a:gd name="T58" fmla="*/ 18 w 24"/>
                  <a:gd name="T59" fmla="*/ 4 h 25"/>
                  <a:gd name="T60" fmla="*/ 17 w 24"/>
                  <a:gd name="T61" fmla="*/ 4 h 25"/>
                  <a:gd name="T62" fmla="*/ 15 w 24"/>
                  <a:gd name="T63" fmla="*/ 4 h 25"/>
                  <a:gd name="T64" fmla="*/ 15 w 24"/>
                  <a:gd name="T65" fmla="*/ 3 h 25"/>
                  <a:gd name="T66" fmla="*/ 24 w 24"/>
                  <a:gd name="T67" fmla="*/ 0 h 25"/>
                  <a:gd name="T68" fmla="*/ 24 w 24"/>
                  <a:gd name="T6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24" y="1"/>
                    </a:moveTo>
                    <a:cubicBezTo>
                      <a:pt x="24" y="2"/>
                      <a:pt x="23" y="2"/>
                      <a:pt x="23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7"/>
                      <a:pt x="24" y="19"/>
                      <a:pt x="23" y="21"/>
                    </a:cubicBezTo>
                    <a:cubicBezTo>
                      <a:pt x="22" y="22"/>
                      <a:pt x="20" y="24"/>
                      <a:pt x="17" y="24"/>
                    </a:cubicBezTo>
                    <a:cubicBezTo>
                      <a:pt x="15" y="25"/>
                      <a:pt x="12" y="25"/>
                      <a:pt x="10" y="24"/>
                    </a:cubicBezTo>
                    <a:cubicBezTo>
                      <a:pt x="8" y="23"/>
                      <a:pt x="7" y="22"/>
                      <a:pt x="6" y="1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20"/>
                      <a:pt x="13" y="21"/>
                      <a:pt x="14" y="22"/>
                    </a:cubicBezTo>
                    <a:cubicBezTo>
                      <a:pt x="15" y="22"/>
                      <a:pt x="16" y="23"/>
                      <a:pt x="18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18"/>
                      <a:pt x="22" y="17"/>
                      <a:pt x="22" y="1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7" name="Freeform 18">
                <a:extLst>
                  <a:ext uri="{FF2B5EF4-FFF2-40B4-BE49-F238E27FC236}">
                    <a16:creationId xmlns:a16="http://schemas.microsoft.com/office/drawing/2014/main" id="{C0BCA8E9-9DBE-E009-7093-78DC6DB4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533651"/>
                <a:ext cx="206375" cy="182563"/>
              </a:xfrm>
              <a:custGeom>
                <a:avLst/>
                <a:gdLst>
                  <a:gd name="T0" fmla="*/ 25 w 25"/>
                  <a:gd name="T1" fmla="*/ 2 h 22"/>
                  <a:gd name="T2" fmla="*/ 24 w 25"/>
                  <a:gd name="T3" fmla="*/ 2 h 22"/>
                  <a:gd name="T4" fmla="*/ 22 w 25"/>
                  <a:gd name="T5" fmla="*/ 3 h 22"/>
                  <a:gd name="T6" fmla="*/ 21 w 25"/>
                  <a:gd name="T7" fmla="*/ 4 h 22"/>
                  <a:gd name="T8" fmla="*/ 21 w 25"/>
                  <a:gd name="T9" fmla="*/ 7 h 22"/>
                  <a:gd name="T10" fmla="*/ 21 w 25"/>
                  <a:gd name="T11" fmla="*/ 22 h 22"/>
                  <a:gd name="T12" fmla="*/ 18 w 25"/>
                  <a:gd name="T13" fmla="*/ 22 h 22"/>
                  <a:gd name="T14" fmla="*/ 5 w 25"/>
                  <a:gd name="T15" fmla="*/ 5 h 22"/>
                  <a:gd name="T16" fmla="*/ 5 w 25"/>
                  <a:gd name="T17" fmla="*/ 15 h 22"/>
                  <a:gd name="T18" fmla="*/ 5 w 25"/>
                  <a:gd name="T19" fmla="*/ 18 h 22"/>
                  <a:gd name="T20" fmla="*/ 6 w 25"/>
                  <a:gd name="T21" fmla="*/ 20 h 22"/>
                  <a:gd name="T22" fmla="*/ 7 w 25"/>
                  <a:gd name="T23" fmla="*/ 20 h 22"/>
                  <a:gd name="T24" fmla="*/ 9 w 25"/>
                  <a:gd name="T25" fmla="*/ 21 h 22"/>
                  <a:gd name="T26" fmla="*/ 9 w 25"/>
                  <a:gd name="T27" fmla="*/ 22 h 22"/>
                  <a:gd name="T28" fmla="*/ 0 w 25"/>
                  <a:gd name="T29" fmla="*/ 22 h 22"/>
                  <a:gd name="T30" fmla="*/ 0 w 25"/>
                  <a:gd name="T31" fmla="*/ 20 h 22"/>
                  <a:gd name="T32" fmla="*/ 1 w 25"/>
                  <a:gd name="T33" fmla="*/ 20 h 22"/>
                  <a:gd name="T34" fmla="*/ 2 w 25"/>
                  <a:gd name="T35" fmla="*/ 20 h 22"/>
                  <a:gd name="T36" fmla="*/ 3 w 25"/>
                  <a:gd name="T37" fmla="*/ 18 h 22"/>
                  <a:gd name="T38" fmla="*/ 3 w 25"/>
                  <a:gd name="T39" fmla="*/ 15 h 22"/>
                  <a:gd name="T40" fmla="*/ 4 w 25"/>
                  <a:gd name="T41" fmla="*/ 5 h 22"/>
                  <a:gd name="T42" fmla="*/ 3 w 25"/>
                  <a:gd name="T43" fmla="*/ 4 h 22"/>
                  <a:gd name="T44" fmla="*/ 3 w 25"/>
                  <a:gd name="T45" fmla="*/ 3 h 22"/>
                  <a:gd name="T46" fmla="*/ 2 w 25"/>
                  <a:gd name="T47" fmla="*/ 2 h 22"/>
                  <a:gd name="T48" fmla="*/ 0 w 25"/>
                  <a:gd name="T49" fmla="*/ 2 h 22"/>
                  <a:gd name="T50" fmla="*/ 0 w 25"/>
                  <a:gd name="T51" fmla="*/ 0 h 22"/>
                  <a:gd name="T52" fmla="*/ 8 w 25"/>
                  <a:gd name="T53" fmla="*/ 1 h 22"/>
                  <a:gd name="T54" fmla="*/ 19 w 25"/>
                  <a:gd name="T55" fmla="*/ 15 h 22"/>
                  <a:gd name="T56" fmla="*/ 19 w 25"/>
                  <a:gd name="T57" fmla="*/ 7 h 22"/>
                  <a:gd name="T58" fmla="*/ 19 w 25"/>
                  <a:gd name="T59" fmla="*/ 4 h 22"/>
                  <a:gd name="T60" fmla="*/ 18 w 25"/>
                  <a:gd name="T61" fmla="*/ 3 h 22"/>
                  <a:gd name="T62" fmla="*/ 17 w 25"/>
                  <a:gd name="T63" fmla="*/ 2 h 22"/>
                  <a:gd name="T64" fmla="*/ 16 w 25"/>
                  <a:gd name="T65" fmla="*/ 2 h 22"/>
                  <a:gd name="T66" fmla="*/ 16 w 25"/>
                  <a:gd name="T67" fmla="*/ 1 h 22"/>
                  <a:gd name="T68" fmla="*/ 25 w 25"/>
                  <a:gd name="T69" fmla="*/ 1 h 22"/>
                  <a:gd name="T70" fmla="*/ 25 w 25"/>
                  <a:gd name="T7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22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5"/>
                      <a:pt x="21" y="6"/>
                      <a:pt x="21" y="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8" y="20"/>
                      <a:pt x="9" y="20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4"/>
                      <a:pt x="19" y="3"/>
                      <a:pt x="18" y="3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8" name="Freeform 19">
                <a:extLst>
                  <a:ext uri="{FF2B5EF4-FFF2-40B4-BE49-F238E27FC236}">
                    <a16:creationId xmlns:a16="http://schemas.microsoft.com/office/drawing/2014/main" id="{92D84D96-3DF2-270A-1327-CEA05DDC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063" y="2566988"/>
                <a:ext cx="139700" cy="190500"/>
              </a:xfrm>
              <a:custGeom>
                <a:avLst/>
                <a:gdLst>
                  <a:gd name="T0" fmla="*/ 11 w 17"/>
                  <a:gd name="T1" fmla="*/ 23 h 23"/>
                  <a:gd name="T2" fmla="*/ 0 w 17"/>
                  <a:gd name="T3" fmla="*/ 20 h 23"/>
                  <a:gd name="T4" fmla="*/ 0 w 17"/>
                  <a:gd name="T5" fmla="*/ 19 h 23"/>
                  <a:gd name="T6" fmla="*/ 2 w 17"/>
                  <a:gd name="T7" fmla="*/ 19 h 23"/>
                  <a:gd name="T8" fmla="*/ 3 w 17"/>
                  <a:gd name="T9" fmla="*/ 19 h 23"/>
                  <a:gd name="T10" fmla="*/ 3 w 17"/>
                  <a:gd name="T11" fmla="*/ 19 h 23"/>
                  <a:gd name="T12" fmla="*/ 4 w 17"/>
                  <a:gd name="T13" fmla="*/ 18 h 23"/>
                  <a:gd name="T14" fmla="*/ 8 w 17"/>
                  <a:gd name="T15" fmla="*/ 4 h 23"/>
                  <a:gd name="T16" fmla="*/ 8 w 17"/>
                  <a:gd name="T17" fmla="*/ 3 h 23"/>
                  <a:gd name="T18" fmla="*/ 7 w 17"/>
                  <a:gd name="T19" fmla="*/ 2 h 23"/>
                  <a:gd name="T20" fmla="*/ 6 w 17"/>
                  <a:gd name="T21" fmla="*/ 1 h 23"/>
                  <a:gd name="T22" fmla="*/ 5 w 17"/>
                  <a:gd name="T23" fmla="*/ 1 h 23"/>
                  <a:gd name="T24" fmla="*/ 5 w 17"/>
                  <a:gd name="T25" fmla="*/ 0 h 23"/>
                  <a:gd name="T26" fmla="*/ 17 w 17"/>
                  <a:gd name="T27" fmla="*/ 3 h 23"/>
                  <a:gd name="T28" fmla="*/ 16 w 17"/>
                  <a:gd name="T29" fmla="*/ 4 h 23"/>
                  <a:gd name="T30" fmla="*/ 15 w 17"/>
                  <a:gd name="T31" fmla="*/ 4 h 23"/>
                  <a:gd name="T32" fmla="*/ 14 w 17"/>
                  <a:gd name="T33" fmla="*/ 4 h 23"/>
                  <a:gd name="T34" fmla="*/ 13 w 17"/>
                  <a:gd name="T35" fmla="*/ 4 h 23"/>
                  <a:gd name="T36" fmla="*/ 13 w 17"/>
                  <a:gd name="T37" fmla="*/ 5 h 23"/>
                  <a:gd name="T38" fmla="*/ 9 w 17"/>
                  <a:gd name="T39" fmla="*/ 19 h 23"/>
                  <a:gd name="T40" fmla="*/ 9 w 17"/>
                  <a:gd name="T41" fmla="*/ 20 h 23"/>
                  <a:gd name="T42" fmla="*/ 10 w 17"/>
                  <a:gd name="T43" fmla="*/ 21 h 23"/>
                  <a:gd name="T44" fmla="*/ 11 w 17"/>
                  <a:gd name="T45" fmla="*/ 22 h 23"/>
                  <a:gd name="T46" fmla="*/ 12 w 17"/>
                  <a:gd name="T47" fmla="*/ 22 h 23"/>
                  <a:gd name="T48" fmla="*/ 11 w 17"/>
                  <a:gd name="T4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3">
                    <a:moveTo>
                      <a:pt x="11" y="2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0" y="21"/>
                      <a:pt x="11" y="22"/>
                    </a:cubicBezTo>
                    <a:cubicBezTo>
                      <a:pt x="11" y="22"/>
                      <a:pt x="11" y="22"/>
                      <a:pt x="12" y="22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59" name="Freeform 20">
                <a:extLst>
                  <a:ext uri="{FF2B5EF4-FFF2-40B4-BE49-F238E27FC236}">
                    <a16:creationId xmlns:a16="http://schemas.microsoft.com/office/drawing/2014/main" id="{3320E733-B24A-761A-C009-46BFDCF3A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633663"/>
                <a:ext cx="180975" cy="206375"/>
              </a:xfrm>
              <a:custGeom>
                <a:avLst/>
                <a:gdLst>
                  <a:gd name="T0" fmla="*/ 22 w 22"/>
                  <a:gd name="T1" fmla="*/ 12 h 25"/>
                  <a:gd name="T2" fmla="*/ 21 w 22"/>
                  <a:gd name="T3" fmla="*/ 12 h 25"/>
                  <a:gd name="T4" fmla="*/ 20 w 22"/>
                  <a:gd name="T5" fmla="*/ 12 h 25"/>
                  <a:gd name="T6" fmla="*/ 19 w 22"/>
                  <a:gd name="T7" fmla="*/ 12 h 25"/>
                  <a:gd name="T8" fmla="*/ 17 w 22"/>
                  <a:gd name="T9" fmla="*/ 13 h 25"/>
                  <a:gd name="T10" fmla="*/ 15 w 22"/>
                  <a:gd name="T11" fmla="*/ 15 h 25"/>
                  <a:gd name="T12" fmla="*/ 11 w 22"/>
                  <a:gd name="T13" fmla="*/ 18 h 25"/>
                  <a:gd name="T14" fmla="*/ 7 w 22"/>
                  <a:gd name="T15" fmla="*/ 21 h 25"/>
                  <a:gd name="T16" fmla="*/ 3 w 22"/>
                  <a:gd name="T17" fmla="*/ 25 h 25"/>
                  <a:gd name="T18" fmla="*/ 0 w 22"/>
                  <a:gd name="T19" fmla="*/ 24 h 25"/>
                  <a:gd name="T20" fmla="*/ 1 w 22"/>
                  <a:gd name="T21" fmla="*/ 12 h 25"/>
                  <a:gd name="T22" fmla="*/ 2 w 22"/>
                  <a:gd name="T23" fmla="*/ 5 h 25"/>
                  <a:gd name="T24" fmla="*/ 2 w 22"/>
                  <a:gd name="T25" fmla="*/ 3 h 25"/>
                  <a:gd name="T26" fmla="*/ 1 w 22"/>
                  <a:gd name="T27" fmla="*/ 2 h 25"/>
                  <a:gd name="T28" fmla="*/ 1 w 22"/>
                  <a:gd name="T29" fmla="*/ 1 h 25"/>
                  <a:gd name="T30" fmla="*/ 0 w 22"/>
                  <a:gd name="T31" fmla="*/ 1 h 25"/>
                  <a:gd name="T32" fmla="*/ 1 w 22"/>
                  <a:gd name="T33" fmla="*/ 0 h 25"/>
                  <a:gd name="T34" fmla="*/ 11 w 22"/>
                  <a:gd name="T35" fmla="*/ 5 h 25"/>
                  <a:gd name="T36" fmla="*/ 10 w 22"/>
                  <a:gd name="T37" fmla="*/ 6 h 25"/>
                  <a:gd name="T38" fmla="*/ 8 w 22"/>
                  <a:gd name="T39" fmla="*/ 5 h 25"/>
                  <a:gd name="T40" fmla="*/ 7 w 22"/>
                  <a:gd name="T41" fmla="*/ 6 h 25"/>
                  <a:gd name="T42" fmla="*/ 7 w 22"/>
                  <a:gd name="T43" fmla="*/ 6 h 25"/>
                  <a:gd name="T44" fmla="*/ 7 w 22"/>
                  <a:gd name="T45" fmla="*/ 6 h 25"/>
                  <a:gd name="T46" fmla="*/ 6 w 22"/>
                  <a:gd name="T47" fmla="*/ 11 h 25"/>
                  <a:gd name="T48" fmla="*/ 6 w 22"/>
                  <a:gd name="T49" fmla="*/ 21 h 25"/>
                  <a:gd name="T50" fmla="*/ 11 w 22"/>
                  <a:gd name="T51" fmla="*/ 16 h 25"/>
                  <a:gd name="T52" fmla="*/ 14 w 22"/>
                  <a:gd name="T53" fmla="*/ 13 h 25"/>
                  <a:gd name="T54" fmla="*/ 16 w 22"/>
                  <a:gd name="T55" fmla="*/ 12 h 25"/>
                  <a:gd name="T56" fmla="*/ 17 w 22"/>
                  <a:gd name="T57" fmla="*/ 11 h 25"/>
                  <a:gd name="T58" fmla="*/ 16 w 22"/>
                  <a:gd name="T59" fmla="*/ 10 h 25"/>
                  <a:gd name="T60" fmla="*/ 14 w 22"/>
                  <a:gd name="T61" fmla="*/ 8 h 25"/>
                  <a:gd name="T62" fmla="*/ 15 w 22"/>
                  <a:gd name="T63" fmla="*/ 7 h 25"/>
                  <a:gd name="T64" fmla="*/ 22 w 22"/>
                  <a:gd name="T65" fmla="*/ 11 h 25"/>
                  <a:gd name="T66" fmla="*/ 22 w 22"/>
                  <a:gd name="T6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5">
                    <a:moveTo>
                      <a:pt x="22" y="12"/>
                    </a:move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19"/>
                      <a:pt x="9" y="20"/>
                      <a:pt x="7" y="21"/>
                    </a:cubicBezTo>
                    <a:cubicBezTo>
                      <a:pt x="6" y="23"/>
                      <a:pt x="4" y="24"/>
                      <a:pt x="3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0"/>
                      <a:pt x="1" y="16"/>
                      <a:pt x="1" y="12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9"/>
                      <a:pt x="6" y="11"/>
                    </a:cubicBezTo>
                    <a:cubicBezTo>
                      <a:pt x="6" y="13"/>
                      <a:pt x="6" y="16"/>
                      <a:pt x="6" y="21"/>
                    </a:cubicBezTo>
                    <a:cubicBezTo>
                      <a:pt x="8" y="19"/>
                      <a:pt x="9" y="18"/>
                      <a:pt x="11" y="16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3"/>
                      <a:pt x="15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22" y="11"/>
                      <a:pt x="22" y="11"/>
                      <a:pt x="22" y="11"/>
                    </a:cubicBez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0" name="Freeform 21">
                <a:extLst>
                  <a:ext uri="{FF2B5EF4-FFF2-40B4-BE49-F238E27FC236}">
                    <a16:creationId xmlns:a16="http://schemas.microsoft.com/office/drawing/2014/main" id="{8A479D74-2A47-C7E8-F811-E7AF24FE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163" y="2798763"/>
                <a:ext cx="231775" cy="241300"/>
              </a:xfrm>
              <a:custGeom>
                <a:avLst/>
                <a:gdLst>
                  <a:gd name="T0" fmla="*/ 25 w 28"/>
                  <a:gd name="T1" fmla="*/ 17 h 29"/>
                  <a:gd name="T2" fmla="*/ 24 w 28"/>
                  <a:gd name="T3" fmla="*/ 16 h 29"/>
                  <a:gd name="T4" fmla="*/ 24 w 28"/>
                  <a:gd name="T5" fmla="*/ 13 h 29"/>
                  <a:gd name="T6" fmla="*/ 24 w 28"/>
                  <a:gd name="T7" fmla="*/ 11 h 29"/>
                  <a:gd name="T8" fmla="*/ 23 w 28"/>
                  <a:gd name="T9" fmla="*/ 10 h 29"/>
                  <a:gd name="T10" fmla="*/ 22 w 28"/>
                  <a:gd name="T11" fmla="*/ 9 h 29"/>
                  <a:gd name="T12" fmla="*/ 20 w 28"/>
                  <a:gd name="T13" fmla="*/ 7 h 29"/>
                  <a:gd name="T14" fmla="*/ 14 w 28"/>
                  <a:gd name="T15" fmla="*/ 13 h 29"/>
                  <a:gd name="T16" fmla="*/ 16 w 28"/>
                  <a:gd name="T17" fmla="*/ 14 h 29"/>
                  <a:gd name="T18" fmla="*/ 17 w 28"/>
                  <a:gd name="T19" fmla="*/ 15 h 29"/>
                  <a:gd name="T20" fmla="*/ 19 w 28"/>
                  <a:gd name="T21" fmla="*/ 15 h 29"/>
                  <a:gd name="T22" fmla="*/ 20 w 28"/>
                  <a:gd name="T23" fmla="*/ 15 h 29"/>
                  <a:gd name="T24" fmla="*/ 21 w 28"/>
                  <a:gd name="T25" fmla="*/ 14 h 29"/>
                  <a:gd name="T26" fmla="*/ 22 w 28"/>
                  <a:gd name="T27" fmla="*/ 15 h 29"/>
                  <a:gd name="T28" fmla="*/ 16 w 28"/>
                  <a:gd name="T29" fmla="*/ 21 h 29"/>
                  <a:gd name="T30" fmla="*/ 15 w 28"/>
                  <a:gd name="T31" fmla="*/ 21 h 29"/>
                  <a:gd name="T32" fmla="*/ 16 w 28"/>
                  <a:gd name="T33" fmla="*/ 19 h 29"/>
                  <a:gd name="T34" fmla="*/ 16 w 28"/>
                  <a:gd name="T35" fmla="*/ 18 h 29"/>
                  <a:gd name="T36" fmla="*/ 16 w 28"/>
                  <a:gd name="T37" fmla="*/ 16 h 29"/>
                  <a:gd name="T38" fmla="*/ 15 w 28"/>
                  <a:gd name="T39" fmla="*/ 15 h 29"/>
                  <a:gd name="T40" fmla="*/ 13 w 28"/>
                  <a:gd name="T41" fmla="*/ 14 h 29"/>
                  <a:gd name="T42" fmla="*/ 9 w 28"/>
                  <a:gd name="T43" fmla="*/ 18 h 29"/>
                  <a:gd name="T44" fmla="*/ 8 w 28"/>
                  <a:gd name="T45" fmla="*/ 20 h 29"/>
                  <a:gd name="T46" fmla="*/ 8 w 28"/>
                  <a:gd name="T47" fmla="*/ 21 h 29"/>
                  <a:gd name="T48" fmla="*/ 9 w 28"/>
                  <a:gd name="T49" fmla="*/ 21 h 29"/>
                  <a:gd name="T50" fmla="*/ 10 w 28"/>
                  <a:gd name="T51" fmla="*/ 23 h 29"/>
                  <a:gd name="T52" fmla="*/ 11 w 28"/>
                  <a:gd name="T53" fmla="*/ 24 h 29"/>
                  <a:gd name="T54" fmla="*/ 12 w 28"/>
                  <a:gd name="T55" fmla="*/ 24 h 29"/>
                  <a:gd name="T56" fmla="*/ 13 w 28"/>
                  <a:gd name="T57" fmla="*/ 25 h 29"/>
                  <a:gd name="T58" fmla="*/ 14 w 28"/>
                  <a:gd name="T59" fmla="*/ 25 h 29"/>
                  <a:gd name="T60" fmla="*/ 16 w 28"/>
                  <a:gd name="T61" fmla="*/ 25 h 29"/>
                  <a:gd name="T62" fmla="*/ 19 w 28"/>
                  <a:gd name="T63" fmla="*/ 24 h 29"/>
                  <a:gd name="T64" fmla="*/ 20 w 28"/>
                  <a:gd name="T65" fmla="*/ 25 h 29"/>
                  <a:gd name="T66" fmla="*/ 15 w 28"/>
                  <a:gd name="T67" fmla="*/ 29 h 29"/>
                  <a:gd name="T68" fmla="*/ 0 w 28"/>
                  <a:gd name="T69" fmla="*/ 16 h 29"/>
                  <a:gd name="T70" fmla="*/ 1 w 28"/>
                  <a:gd name="T71" fmla="*/ 15 h 29"/>
                  <a:gd name="T72" fmla="*/ 2 w 28"/>
                  <a:gd name="T73" fmla="*/ 16 h 29"/>
                  <a:gd name="T74" fmla="*/ 3 w 28"/>
                  <a:gd name="T75" fmla="*/ 16 h 29"/>
                  <a:gd name="T76" fmla="*/ 4 w 28"/>
                  <a:gd name="T77" fmla="*/ 16 h 29"/>
                  <a:gd name="T78" fmla="*/ 5 w 28"/>
                  <a:gd name="T79" fmla="*/ 16 h 29"/>
                  <a:gd name="T80" fmla="*/ 15 w 28"/>
                  <a:gd name="T81" fmla="*/ 5 h 29"/>
                  <a:gd name="T82" fmla="*/ 15 w 28"/>
                  <a:gd name="T83" fmla="*/ 4 h 29"/>
                  <a:gd name="T84" fmla="*/ 15 w 28"/>
                  <a:gd name="T85" fmla="*/ 3 h 29"/>
                  <a:gd name="T86" fmla="*/ 14 w 28"/>
                  <a:gd name="T87" fmla="*/ 2 h 29"/>
                  <a:gd name="T88" fmla="*/ 14 w 28"/>
                  <a:gd name="T89" fmla="*/ 1 h 29"/>
                  <a:gd name="T90" fmla="*/ 15 w 28"/>
                  <a:gd name="T91" fmla="*/ 0 h 29"/>
                  <a:gd name="T92" fmla="*/ 28 w 28"/>
                  <a:gd name="T93" fmla="*/ 13 h 29"/>
                  <a:gd name="T94" fmla="*/ 25 w 28"/>
                  <a:gd name="T9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29">
                    <a:moveTo>
                      <a:pt x="25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4"/>
                      <a:pt x="21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6"/>
                    </a:cubicBezTo>
                    <a:cubicBezTo>
                      <a:pt x="16" y="16"/>
                      <a:pt x="15" y="16"/>
                      <a:pt x="15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0" y="23"/>
                      <a:pt x="11" y="23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2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8" y="13"/>
                      <a:pt x="28" y="13"/>
                      <a:pt x="28" y="13"/>
                    </a:cubicBez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1" name="Freeform 22">
                <a:extLst>
                  <a:ext uri="{FF2B5EF4-FFF2-40B4-BE49-F238E27FC236}">
                    <a16:creationId xmlns:a16="http://schemas.microsoft.com/office/drawing/2014/main" id="{1F0A2492-7108-3E60-ED1B-8D77AF6A0E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1663" y="3014663"/>
                <a:ext cx="212725" cy="265113"/>
              </a:xfrm>
              <a:custGeom>
                <a:avLst/>
                <a:gdLst>
                  <a:gd name="T0" fmla="*/ 13 w 26"/>
                  <a:gd name="T1" fmla="*/ 32 h 32"/>
                  <a:gd name="T2" fmla="*/ 8 w 26"/>
                  <a:gd name="T3" fmla="*/ 25 h 32"/>
                  <a:gd name="T4" fmla="*/ 11 w 26"/>
                  <a:gd name="T5" fmla="*/ 20 h 32"/>
                  <a:gd name="T6" fmla="*/ 12 w 26"/>
                  <a:gd name="T7" fmla="*/ 14 h 32"/>
                  <a:gd name="T8" fmla="*/ 12 w 26"/>
                  <a:gd name="T9" fmla="*/ 14 h 32"/>
                  <a:gd name="T10" fmla="*/ 7 w 26"/>
                  <a:gd name="T11" fmla="*/ 17 h 32"/>
                  <a:gd name="T12" fmla="*/ 6 w 26"/>
                  <a:gd name="T13" fmla="*/ 18 h 32"/>
                  <a:gd name="T14" fmla="*/ 6 w 26"/>
                  <a:gd name="T15" fmla="*/ 19 h 32"/>
                  <a:gd name="T16" fmla="*/ 6 w 26"/>
                  <a:gd name="T17" fmla="*/ 20 h 32"/>
                  <a:gd name="T18" fmla="*/ 7 w 26"/>
                  <a:gd name="T19" fmla="*/ 21 h 32"/>
                  <a:gd name="T20" fmla="*/ 6 w 26"/>
                  <a:gd name="T21" fmla="*/ 21 h 32"/>
                  <a:gd name="T22" fmla="*/ 0 w 26"/>
                  <a:gd name="T23" fmla="*/ 12 h 32"/>
                  <a:gd name="T24" fmla="*/ 0 w 26"/>
                  <a:gd name="T25" fmla="*/ 11 h 32"/>
                  <a:gd name="T26" fmla="*/ 1 w 26"/>
                  <a:gd name="T27" fmla="*/ 12 h 32"/>
                  <a:gd name="T28" fmla="*/ 2 w 26"/>
                  <a:gd name="T29" fmla="*/ 13 h 32"/>
                  <a:gd name="T30" fmla="*/ 3 w 26"/>
                  <a:gd name="T31" fmla="*/ 13 h 32"/>
                  <a:gd name="T32" fmla="*/ 4 w 26"/>
                  <a:gd name="T33" fmla="*/ 13 h 32"/>
                  <a:gd name="T34" fmla="*/ 16 w 26"/>
                  <a:gd name="T35" fmla="*/ 5 h 32"/>
                  <a:gd name="T36" fmla="*/ 17 w 26"/>
                  <a:gd name="T37" fmla="*/ 4 h 32"/>
                  <a:gd name="T38" fmla="*/ 17 w 26"/>
                  <a:gd name="T39" fmla="*/ 3 h 32"/>
                  <a:gd name="T40" fmla="*/ 17 w 26"/>
                  <a:gd name="T41" fmla="*/ 2 h 32"/>
                  <a:gd name="T42" fmla="*/ 16 w 26"/>
                  <a:gd name="T43" fmla="*/ 1 h 32"/>
                  <a:gd name="T44" fmla="*/ 17 w 26"/>
                  <a:gd name="T45" fmla="*/ 0 h 32"/>
                  <a:gd name="T46" fmla="*/ 24 w 26"/>
                  <a:gd name="T47" fmla="*/ 10 h 32"/>
                  <a:gd name="T48" fmla="*/ 26 w 26"/>
                  <a:gd name="T49" fmla="*/ 16 h 32"/>
                  <a:gd name="T50" fmla="*/ 24 w 26"/>
                  <a:gd name="T51" fmla="*/ 20 h 32"/>
                  <a:gd name="T52" fmla="*/ 20 w 26"/>
                  <a:gd name="T53" fmla="*/ 21 h 32"/>
                  <a:gd name="T54" fmla="*/ 16 w 26"/>
                  <a:gd name="T55" fmla="*/ 19 h 32"/>
                  <a:gd name="T56" fmla="*/ 15 w 26"/>
                  <a:gd name="T57" fmla="*/ 22 h 32"/>
                  <a:gd name="T58" fmla="*/ 14 w 26"/>
                  <a:gd name="T59" fmla="*/ 26 h 32"/>
                  <a:gd name="T60" fmla="*/ 13 w 26"/>
                  <a:gd name="T61" fmla="*/ 28 h 32"/>
                  <a:gd name="T62" fmla="*/ 13 w 26"/>
                  <a:gd name="T63" fmla="*/ 30 h 32"/>
                  <a:gd name="T64" fmla="*/ 13 w 26"/>
                  <a:gd name="T65" fmla="*/ 31 h 32"/>
                  <a:gd name="T66" fmla="*/ 14 w 26"/>
                  <a:gd name="T67" fmla="*/ 31 h 32"/>
                  <a:gd name="T68" fmla="*/ 13 w 26"/>
                  <a:gd name="T69" fmla="*/ 32 h 32"/>
                  <a:gd name="T70" fmla="*/ 20 w 26"/>
                  <a:gd name="T71" fmla="*/ 15 h 32"/>
                  <a:gd name="T72" fmla="*/ 22 w 26"/>
                  <a:gd name="T73" fmla="*/ 12 h 32"/>
                  <a:gd name="T74" fmla="*/ 21 w 26"/>
                  <a:gd name="T75" fmla="*/ 9 h 32"/>
                  <a:gd name="T76" fmla="*/ 21 w 26"/>
                  <a:gd name="T77" fmla="*/ 8 h 32"/>
                  <a:gd name="T78" fmla="*/ 13 w 26"/>
                  <a:gd name="T79" fmla="*/ 13 h 32"/>
                  <a:gd name="T80" fmla="*/ 14 w 26"/>
                  <a:gd name="T81" fmla="*/ 14 h 32"/>
                  <a:gd name="T82" fmla="*/ 17 w 26"/>
                  <a:gd name="T83" fmla="*/ 16 h 32"/>
                  <a:gd name="T84" fmla="*/ 20 w 26"/>
                  <a:gd name="T8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32">
                    <a:moveTo>
                      <a:pt x="13" y="32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9" y="23"/>
                      <a:pt x="10" y="21"/>
                      <a:pt x="11" y="20"/>
                    </a:cubicBezTo>
                    <a:cubicBezTo>
                      <a:pt x="11" y="18"/>
                      <a:pt x="12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3"/>
                      <a:pt x="26" y="14"/>
                      <a:pt x="26" y="16"/>
                    </a:cubicBezTo>
                    <a:cubicBezTo>
                      <a:pt x="26" y="18"/>
                      <a:pt x="25" y="19"/>
                      <a:pt x="24" y="20"/>
                    </a:cubicBezTo>
                    <a:cubicBezTo>
                      <a:pt x="23" y="21"/>
                      <a:pt x="21" y="21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6" y="20"/>
                      <a:pt x="15" y="21"/>
                      <a:pt x="15" y="22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lnTo>
                      <a:pt x="13" y="32"/>
                    </a:ln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2" y="12"/>
                    </a:cubicBezTo>
                    <a:cubicBezTo>
                      <a:pt x="22" y="11"/>
                      <a:pt x="22" y="10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5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2" name="Freeform 23">
                <a:extLst>
                  <a:ext uri="{FF2B5EF4-FFF2-40B4-BE49-F238E27FC236}">
                    <a16:creationId xmlns:a16="http://schemas.microsoft.com/office/drawing/2014/main" id="{BD2448AC-0C5F-601A-AB7B-C986482A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425" y="3313113"/>
                <a:ext cx="204787" cy="165100"/>
              </a:xfrm>
              <a:custGeom>
                <a:avLst/>
                <a:gdLst>
                  <a:gd name="T0" fmla="*/ 2 w 25"/>
                  <a:gd name="T1" fmla="*/ 13 h 20"/>
                  <a:gd name="T2" fmla="*/ 2 w 25"/>
                  <a:gd name="T3" fmla="*/ 10 h 20"/>
                  <a:gd name="T4" fmla="*/ 2 w 25"/>
                  <a:gd name="T5" fmla="*/ 7 h 20"/>
                  <a:gd name="T6" fmla="*/ 1 w 25"/>
                  <a:gd name="T7" fmla="*/ 6 h 20"/>
                  <a:gd name="T8" fmla="*/ 0 w 25"/>
                  <a:gd name="T9" fmla="*/ 5 h 20"/>
                  <a:gd name="T10" fmla="*/ 7 w 25"/>
                  <a:gd name="T11" fmla="*/ 2 h 20"/>
                  <a:gd name="T12" fmla="*/ 8 w 25"/>
                  <a:gd name="T13" fmla="*/ 4 h 20"/>
                  <a:gd name="T14" fmla="*/ 6 w 25"/>
                  <a:gd name="T15" fmla="*/ 5 h 20"/>
                  <a:gd name="T16" fmla="*/ 4 w 25"/>
                  <a:gd name="T17" fmla="*/ 7 h 20"/>
                  <a:gd name="T18" fmla="*/ 4 w 25"/>
                  <a:gd name="T19" fmla="*/ 10 h 20"/>
                  <a:gd name="T20" fmla="*/ 4 w 25"/>
                  <a:gd name="T21" fmla="*/ 13 h 20"/>
                  <a:gd name="T22" fmla="*/ 6 w 25"/>
                  <a:gd name="T23" fmla="*/ 15 h 20"/>
                  <a:gd name="T24" fmla="*/ 8 w 25"/>
                  <a:gd name="T25" fmla="*/ 15 h 20"/>
                  <a:gd name="T26" fmla="*/ 10 w 25"/>
                  <a:gd name="T27" fmla="*/ 14 h 20"/>
                  <a:gd name="T28" fmla="*/ 11 w 25"/>
                  <a:gd name="T29" fmla="*/ 11 h 20"/>
                  <a:gd name="T30" fmla="*/ 11 w 25"/>
                  <a:gd name="T31" fmla="*/ 8 h 20"/>
                  <a:gd name="T32" fmla="*/ 11 w 25"/>
                  <a:gd name="T33" fmla="*/ 6 h 20"/>
                  <a:gd name="T34" fmla="*/ 12 w 25"/>
                  <a:gd name="T35" fmla="*/ 3 h 20"/>
                  <a:gd name="T36" fmla="*/ 15 w 25"/>
                  <a:gd name="T37" fmla="*/ 0 h 20"/>
                  <a:gd name="T38" fmla="*/ 17 w 25"/>
                  <a:gd name="T39" fmla="*/ 0 h 20"/>
                  <a:gd name="T40" fmla="*/ 20 w 25"/>
                  <a:gd name="T41" fmla="*/ 1 h 20"/>
                  <a:gd name="T42" fmla="*/ 22 w 25"/>
                  <a:gd name="T43" fmla="*/ 3 h 20"/>
                  <a:gd name="T44" fmla="*/ 23 w 25"/>
                  <a:gd name="T45" fmla="*/ 6 h 20"/>
                  <a:gd name="T46" fmla="*/ 24 w 25"/>
                  <a:gd name="T47" fmla="*/ 9 h 20"/>
                  <a:gd name="T48" fmla="*/ 24 w 25"/>
                  <a:gd name="T49" fmla="*/ 12 h 20"/>
                  <a:gd name="T50" fmla="*/ 25 w 25"/>
                  <a:gd name="T51" fmla="*/ 12 h 20"/>
                  <a:gd name="T52" fmla="*/ 25 w 25"/>
                  <a:gd name="T53" fmla="*/ 14 h 20"/>
                  <a:gd name="T54" fmla="*/ 19 w 25"/>
                  <a:gd name="T55" fmla="*/ 16 h 20"/>
                  <a:gd name="T56" fmla="*/ 18 w 25"/>
                  <a:gd name="T57" fmla="*/ 15 h 20"/>
                  <a:gd name="T58" fmla="*/ 20 w 25"/>
                  <a:gd name="T59" fmla="*/ 13 h 20"/>
                  <a:gd name="T60" fmla="*/ 22 w 25"/>
                  <a:gd name="T61" fmla="*/ 11 h 20"/>
                  <a:gd name="T62" fmla="*/ 22 w 25"/>
                  <a:gd name="T63" fmla="*/ 9 h 20"/>
                  <a:gd name="T64" fmla="*/ 22 w 25"/>
                  <a:gd name="T65" fmla="*/ 7 h 20"/>
                  <a:gd name="T66" fmla="*/ 20 w 25"/>
                  <a:gd name="T67" fmla="*/ 5 h 20"/>
                  <a:gd name="T68" fmla="*/ 18 w 25"/>
                  <a:gd name="T69" fmla="*/ 4 h 20"/>
                  <a:gd name="T70" fmla="*/ 16 w 25"/>
                  <a:gd name="T71" fmla="*/ 6 h 20"/>
                  <a:gd name="T72" fmla="*/ 16 w 25"/>
                  <a:gd name="T73" fmla="*/ 9 h 20"/>
                  <a:gd name="T74" fmla="*/ 16 w 25"/>
                  <a:gd name="T75" fmla="*/ 11 h 20"/>
                  <a:gd name="T76" fmla="*/ 16 w 25"/>
                  <a:gd name="T77" fmla="*/ 13 h 20"/>
                  <a:gd name="T78" fmla="*/ 15 w 25"/>
                  <a:gd name="T79" fmla="*/ 17 h 20"/>
                  <a:gd name="T80" fmla="*/ 12 w 25"/>
                  <a:gd name="T81" fmla="*/ 20 h 20"/>
                  <a:gd name="T82" fmla="*/ 9 w 25"/>
                  <a:gd name="T83" fmla="*/ 20 h 20"/>
                  <a:gd name="T84" fmla="*/ 6 w 25"/>
                  <a:gd name="T85" fmla="*/ 19 h 20"/>
                  <a:gd name="T86" fmla="*/ 4 w 25"/>
                  <a:gd name="T87" fmla="*/ 17 h 20"/>
                  <a:gd name="T88" fmla="*/ 2 w 25"/>
                  <a:gd name="T89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9" y="15"/>
                      <a:pt x="10" y="15"/>
                      <a:pt x="10" y="14"/>
                    </a:cubicBezTo>
                    <a:cubicBezTo>
                      <a:pt x="10" y="13"/>
                      <a:pt x="11" y="12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2" y="3"/>
                    </a:cubicBezTo>
                    <a:cubicBezTo>
                      <a:pt x="13" y="2"/>
                      <a:pt x="14" y="1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1"/>
                      <a:pt x="20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6"/>
                      <a:pt x="21" y="5"/>
                      <a:pt x="20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6" y="8"/>
                      <a:pt x="16" y="9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6" y="15"/>
                      <a:pt x="15" y="16"/>
                      <a:pt x="15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9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2" y="13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3" name="Freeform 24">
                <a:extLst>
                  <a:ext uri="{FF2B5EF4-FFF2-40B4-BE49-F238E27FC236}">
                    <a16:creationId xmlns:a16="http://schemas.microsoft.com/office/drawing/2014/main" id="{428E9F30-26C3-F388-5D7F-F9A6B8A54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578226"/>
                <a:ext cx="180975" cy="115888"/>
              </a:xfrm>
              <a:custGeom>
                <a:avLst/>
                <a:gdLst>
                  <a:gd name="T0" fmla="*/ 1 w 22"/>
                  <a:gd name="T1" fmla="*/ 14 h 14"/>
                  <a:gd name="T2" fmla="*/ 0 w 22"/>
                  <a:gd name="T3" fmla="*/ 2 h 14"/>
                  <a:gd name="T4" fmla="*/ 1 w 22"/>
                  <a:gd name="T5" fmla="*/ 2 h 14"/>
                  <a:gd name="T6" fmla="*/ 2 w 22"/>
                  <a:gd name="T7" fmla="*/ 3 h 14"/>
                  <a:gd name="T8" fmla="*/ 2 w 22"/>
                  <a:gd name="T9" fmla="*/ 4 h 14"/>
                  <a:gd name="T10" fmla="*/ 3 w 22"/>
                  <a:gd name="T11" fmla="*/ 5 h 14"/>
                  <a:gd name="T12" fmla="*/ 3 w 22"/>
                  <a:gd name="T13" fmla="*/ 5 h 14"/>
                  <a:gd name="T14" fmla="*/ 18 w 22"/>
                  <a:gd name="T15" fmla="*/ 3 h 14"/>
                  <a:gd name="T16" fmla="*/ 19 w 22"/>
                  <a:gd name="T17" fmla="*/ 3 h 14"/>
                  <a:gd name="T18" fmla="*/ 20 w 22"/>
                  <a:gd name="T19" fmla="*/ 2 h 14"/>
                  <a:gd name="T20" fmla="*/ 20 w 22"/>
                  <a:gd name="T21" fmla="*/ 1 h 14"/>
                  <a:gd name="T22" fmla="*/ 20 w 22"/>
                  <a:gd name="T23" fmla="*/ 0 h 14"/>
                  <a:gd name="T24" fmla="*/ 21 w 22"/>
                  <a:gd name="T25" fmla="*/ 0 h 14"/>
                  <a:gd name="T26" fmla="*/ 22 w 22"/>
                  <a:gd name="T27" fmla="*/ 12 h 14"/>
                  <a:gd name="T28" fmla="*/ 21 w 22"/>
                  <a:gd name="T29" fmla="*/ 12 h 14"/>
                  <a:gd name="T30" fmla="*/ 21 w 22"/>
                  <a:gd name="T31" fmla="*/ 11 h 14"/>
                  <a:gd name="T32" fmla="*/ 21 w 22"/>
                  <a:gd name="T33" fmla="*/ 9 h 14"/>
                  <a:gd name="T34" fmla="*/ 20 w 22"/>
                  <a:gd name="T35" fmla="*/ 9 h 14"/>
                  <a:gd name="T36" fmla="*/ 19 w 22"/>
                  <a:gd name="T37" fmla="*/ 9 h 14"/>
                  <a:gd name="T38" fmla="*/ 4 w 22"/>
                  <a:gd name="T39" fmla="*/ 10 h 14"/>
                  <a:gd name="T40" fmla="*/ 3 w 22"/>
                  <a:gd name="T41" fmla="*/ 11 h 14"/>
                  <a:gd name="T42" fmla="*/ 3 w 22"/>
                  <a:gd name="T43" fmla="*/ 11 h 14"/>
                  <a:gd name="T44" fmla="*/ 3 w 22"/>
                  <a:gd name="T45" fmla="*/ 12 h 14"/>
                  <a:gd name="T46" fmla="*/ 3 w 22"/>
                  <a:gd name="T47" fmla="*/ 14 h 14"/>
                  <a:gd name="T48" fmla="*/ 1 w 22"/>
                  <a:gd name="T4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14">
                    <a:moveTo>
                      <a:pt x="1" y="1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4" name="Freeform 25">
                <a:extLst>
                  <a:ext uri="{FF2B5EF4-FFF2-40B4-BE49-F238E27FC236}">
                    <a16:creationId xmlns:a16="http://schemas.microsoft.com/office/drawing/2014/main" id="{7C34315F-5564-8C8F-35A2-761695BD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3802063"/>
                <a:ext cx="188912" cy="174625"/>
              </a:xfrm>
              <a:custGeom>
                <a:avLst/>
                <a:gdLst>
                  <a:gd name="T0" fmla="*/ 14 w 23"/>
                  <a:gd name="T1" fmla="*/ 21 h 21"/>
                  <a:gd name="T2" fmla="*/ 14 w 23"/>
                  <a:gd name="T3" fmla="*/ 20 h 21"/>
                  <a:gd name="T4" fmla="*/ 17 w 23"/>
                  <a:gd name="T5" fmla="*/ 18 h 21"/>
                  <a:gd name="T6" fmla="*/ 19 w 23"/>
                  <a:gd name="T7" fmla="*/ 17 h 21"/>
                  <a:gd name="T8" fmla="*/ 20 w 23"/>
                  <a:gd name="T9" fmla="*/ 16 h 21"/>
                  <a:gd name="T10" fmla="*/ 20 w 23"/>
                  <a:gd name="T11" fmla="*/ 14 h 21"/>
                  <a:gd name="T12" fmla="*/ 20 w 23"/>
                  <a:gd name="T13" fmla="*/ 14 h 21"/>
                  <a:gd name="T14" fmla="*/ 3 w 23"/>
                  <a:gd name="T15" fmla="*/ 12 h 21"/>
                  <a:gd name="T16" fmla="*/ 3 w 23"/>
                  <a:gd name="T17" fmla="*/ 12 h 21"/>
                  <a:gd name="T18" fmla="*/ 2 w 23"/>
                  <a:gd name="T19" fmla="*/ 13 h 21"/>
                  <a:gd name="T20" fmla="*/ 1 w 23"/>
                  <a:gd name="T21" fmla="*/ 14 h 21"/>
                  <a:gd name="T22" fmla="*/ 1 w 23"/>
                  <a:gd name="T23" fmla="*/ 15 h 21"/>
                  <a:gd name="T24" fmla="*/ 0 w 23"/>
                  <a:gd name="T25" fmla="*/ 15 h 21"/>
                  <a:gd name="T26" fmla="*/ 1 w 23"/>
                  <a:gd name="T27" fmla="*/ 3 h 21"/>
                  <a:gd name="T28" fmla="*/ 2 w 23"/>
                  <a:gd name="T29" fmla="*/ 3 h 21"/>
                  <a:gd name="T30" fmla="*/ 2 w 23"/>
                  <a:gd name="T31" fmla="*/ 4 h 21"/>
                  <a:gd name="T32" fmla="*/ 2 w 23"/>
                  <a:gd name="T33" fmla="*/ 5 h 21"/>
                  <a:gd name="T34" fmla="*/ 3 w 23"/>
                  <a:gd name="T35" fmla="*/ 6 h 21"/>
                  <a:gd name="T36" fmla="*/ 4 w 23"/>
                  <a:gd name="T37" fmla="*/ 7 h 21"/>
                  <a:gd name="T38" fmla="*/ 20 w 23"/>
                  <a:gd name="T39" fmla="*/ 9 h 21"/>
                  <a:gd name="T40" fmla="*/ 21 w 23"/>
                  <a:gd name="T41" fmla="*/ 8 h 21"/>
                  <a:gd name="T42" fmla="*/ 21 w 23"/>
                  <a:gd name="T43" fmla="*/ 7 h 21"/>
                  <a:gd name="T44" fmla="*/ 21 w 23"/>
                  <a:gd name="T45" fmla="*/ 5 h 21"/>
                  <a:gd name="T46" fmla="*/ 19 w 23"/>
                  <a:gd name="T47" fmla="*/ 3 h 21"/>
                  <a:gd name="T48" fmla="*/ 17 w 23"/>
                  <a:gd name="T49" fmla="*/ 2 h 21"/>
                  <a:gd name="T50" fmla="*/ 17 w 23"/>
                  <a:gd name="T51" fmla="*/ 0 h 21"/>
                  <a:gd name="T52" fmla="*/ 23 w 23"/>
                  <a:gd name="T53" fmla="*/ 1 h 21"/>
                  <a:gd name="T54" fmla="*/ 20 w 23"/>
                  <a:gd name="T55" fmla="*/ 21 h 21"/>
                  <a:gd name="T56" fmla="*/ 14 w 23"/>
                  <a:gd name="T5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21">
                    <a:moveTo>
                      <a:pt x="14" y="21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9"/>
                      <a:pt x="16" y="19"/>
                      <a:pt x="17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3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21"/>
                      <a:pt x="20" y="21"/>
                      <a:pt x="20" y="21"/>
                    </a:cubicBez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5" name="Freeform 26">
                <a:extLst>
                  <a:ext uri="{FF2B5EF4-FFF2-40B4-BE49-F238E27FC236}">
                    <a16:creationId xmlns:a16="http://schemas.microsoft.com/office/drawing/2014/main" id="{D67DD015-CE23-9B77-F9A7-980A4FFA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900" y="4075113"/>
                <a:ext cx="214312" cy="207963"/>
              </a:xfrm>
              <a:custGeom>
                <a:avLst/>
                <a:gdLst>
                  <a:gd name="T0" fmla="*/ 16 w 26"/>
                  <a:gd name="T1" fmla="*/ 24 h 25"/>
                  <a:gd name="T2" fmla="*/ 17 w 26"/>
                  <a:gd name="T3" fmla="*/ 23 h 25"/>
                  <a:gd name="T4" fmla="*/ 17 w 26"/>
                  <a:gd name="T5" fmla="*/ 22 h 25"/>
                  <a:gd name="T6" fmla="*/ 16 w 26"/>
                  <a:gd name="T7" fmla="*/ 21 h 25"/>
                  <a:gd name="T8" fmla="*/ 15 w 26"/>
                  <a:gd name="T9" fmla="*/ 19 h 25"/>
                  <a:gd name="T10" fmla="*/ 13 w 26"/>
                  <a:gd name="T11" fmla="*/ 17 h 25"/>
                  <a:gd name="T12" fmla="*/ 11 w 26"/>
                  <a:gd name="T13" fmla="*/ 13 h 25"/>
                  <a:gd name="T14" fmla="*/ 9 w 26"/>
                  <a:gd name="T15" fmla="*/ 11 h 25"/>
                  <a:gd name="T16" fmla="*/ 7 w 26"/>
                  <a:gd name="T17" fmla="*/ 10 h 25"/>
                  <a:gd name="T18" fmla="*/ 4 w 26"/>
                  <a:gd name="T19" fmla="*/ 9 h 25"/>
                  <a:gd name="T20" fmla="*/ 3 w 26"/>
                  <a:gd name="T21" fmla="*/ 9 h 25"/>
                  <a:gd name="T22" fmla="*/ 2 w 26"/>
                  <a:gd name="T23" fmla="*/ 10 h 25"/>
                  <a:gd name="T24" fmla="*/ 2 w 26"/>
                  <a:gd name="T25" fmla="*/ 11 h 25"/>
                  <a:gd name="T26" fmla="*/ 1 w 26"/>
                  <a:gd name="T27" fmla="*/ 12 h 25"/>
                  <a:gd name="T28" fmla="*/ 0 w 26"/>
                  <a:gd name="T29" fmla="*/ 11 h 25"/>
                  <a:gd name="T30" fmla="*/ 4 w 26"/>
                  <a:gd name="T31" fmla="*/ 0 h 25"/>
                  <a:gd name="T32" fmla="*/ 5 w 26"/>
                  <a:gd name="T33" fmla="*/ 1 h 25"/>
                  <a:gd name="T34" fmla="*/ 5 w 26"/>
                  <a:gd name="T35" fmla="*/ 2 h 25"/>
                  <a:gd name="T36" fmla="*/ 5 w 26"/>
                  <a:gd name="T37" fmla="*/ 3 h 25"/>
                  <a:gd name="T38" fmla="*/ 5 w 26"/>
                  <a:gd name="T39" fmla="*/ 4 h 25"/>
                  <a:gd name="T40" fmla="*/ 6 w 26"/>
                  <a:gd name="T41" fmla="*/ 4 h 25"/>
                  <a:gd name="T42" fmla="*/ 9 w 26"/>
                  <a:gd name="T43" fmla="*/ 6 h 25"/>
                  <a:gd name="T44" fmla="*/ 10 w 26"/>
                  <a:gd name="T45" fmla="*/ 6 h 25"/>
                  <a:gd name="T46" fmla="*/ 11 w 26"/>
                  <a:gd name="T47" fmla="*/ 6 h 25"/>
                  <a:gd name="T48" fmla="*/ 12 w 26"/>
                  <a:gd name="T49" fmla="*/ 6 h 25"/>
                  <a:gd name="T50" fmla="*/ 13 w 26"/>
                  <a:gd name="T51" fmla="*/ 6 h 25"/>
                  <a:gd name="T52" fmla="*/ 17 w 26"/>
                  <a:gd name="T53" fmla="*/ 5 h 25"/>
                  <a:gd name="T54" fmla="*/ 21 w 26"/>
                  <a:gd name="T55" fmla="*/ 4 h 25"/>
                  <a:gd name="T56" fmla="*/ 23 w 26"/>
                  <a:gd name="T57" fmla="*/ 4 h 25"/>
                  <a:gd name="T58" fmla="*/ 24 w 26"/>
                  <a:gd name="T59" fmla="*/ 3 h 25"/>
                  <a:gd name="T60" fmla="*/ 25 w 26"/>
                  <a:gd name="T61" fmla="*/ 3 h 25"/>
                  <a:gd name="T62" fmla="*/ 25 w 26"/>
                  <a:gd name="T63" fmla="*/ 2 h 25"/>
                  <a:gd name="T64" fmla="*/ 26 w 26"/>
                  <a:gd name="T65" fmla="*/ 2 h 25"/>
                  <a:gd name="T66" fmla="*/ 22 w 26"/>
                  <a:gd name="T67" fmla="*/ 13 h 25"/>
                  <a:gd name="T68" fmla="*/ 21 w 26"/>
                  <a:gd name="T69" fmla="*/ 13 h 25"/>
                  <a:gd name="T70" fmla="*/ 21 w 26"/>
                  <a:gd name="T71" fmla="*/ 11 h 25"/>
                  <a:gd name="T72" fmla="*/ 21 w 26"/>
                  <a:gd name="T73" fmla="*/ 10 h 25"/>
                  <a:gd name="T74" fmla="*/ 20 w 26"/>
                  <a:gd name="T75" fmla="*/ 10 h 25"/>
                  <a:gd name="T76" fmla="*/ 19 w 26"/>
                  <a:gd name="T77" fmla="*/ 10 h 25"/>
                  <a:gd name="T78" fmla="*/ 16 w 26"/>
                  <a:gd name="T79" fmla="*/ 11 h 25"/>
                  <a:gd name="T80" fmla="*/ 11 w 26"/>
                  <a:gd name="T81" fmla="*/ 11 h 25"/>
                  <a:gd name="T82" fmla="*/ 16 w 26"/>
                  <a:gd name="T83" fmla="*/ 17 h 25"/>
                  <a:gd name="T84" fmla="*/ 17 w 26"/>
                  <a:gd name="T85" fmla="*/ 19 h 25"/>
                  <a:gd name="T86" fmla="*/ 18 w 26"/>
                  <a:gd name="T87" fmla="*/ 19 h 25"/>
                  <a:gd name="T88" fmla="*/ 19 w 26"/>
                  <a:gd name="T89" fmla="*/ 17 h 25"/>
                  <a:gd name="T90" fmla="*/ 20 w 26"/>
                  <a:gd name="T91" fmla="*/ 17 h 25"/>
                  <a:gd name="T92" fmla="*/ 18 w 26"/>
                  <a:gd name="T93" fmla="*/ 25 h 25"/>
                  <a:gd name="T94" fmla="*/ 16 w 26"/>
                  <a:gd name="T9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" h="25">
                    <a:moveTo>
                      <a:pt x="16" y="24"/>
                    </a:move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5" y="19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5"/>
                      <a:pt x="12" y="14"/>
                      <a:pt x="11" y="13"/>
                    </a:cubicBezTo>
                    <a:cubicBezTo>
                      <a:pt x="10" y="12"/>
                      <a:pt x="10" y="12"/>
                      <a:pt x="9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10"/>
                      <a:pt x="16" y="11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3" y="14"/>
                      <a:pt x="15" y="16"/>
                      <a:pt x="16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25"/>
                      <a:pt x="18" y="25"/>
                      <a:pt x="18" y="25"/>
                    </a:cubicBez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  <p:sp>
            <p:nvSpPr>
              <p:cNvPr id="66" name="Freeform 27">
                <a:extLst>
                  <a:ext uri="{FF2B5EF4-FFF2-40B4-BE49-F238E27FC236}">
                    <a16:creationId xmlns:a16="http://schemas.microsoft.com/office/drawing/2014/main" id="{6B055DE6-FECC-F7AD-4A9F-85CD4063C1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8750" y="2849563"/>
                <a:ext cx="1785937" cy="1798638"/>
              </a:xfrm>
              <a:custGeom>
                <a:avLst/>
                <a:gdLst>
                  <a:gd name="T0" fmla="*/ 108 w 217"/>
                  <a:gd name="T1" fmla="*/ 217 h 217"/>
                  <a:gd name="T2" fmla="*/ 108 w 217"/>
                  <a:gd name="T3" fmla="*/ 0 h 217"/>
                  <a:gd name="T4" fmla="*/ 92 w 217"/>
                  <a:gd name="T5" fmla="*/ 18 h 217"/>
                  <a:gd name="T6" fmla="*/ 84 w 217"/>
                  <a:gd name="T7" fmla="*/ 38 h 217"/>
                  <a:gd name="T8" fmla="*/ 27 w 217"/>
                  <a:gd name="T9" fmla="*/ 67 h 217"/>
                  <a:gd name="T10" fmla="*/ 38 w 217"/>
                  <a:gd name="T11" fmla="*/ 80 h 217"/>
                  <a:gd name="T12" fmla="*/ 84 w 217"/>
                  <a:gd name="T13" fmla="*/ 74 h 217"/>
                  <a:gd name="T14" fmla="*/ 21 w 217"/>
                  <a:gd name="T15" fmla="*/ 128 h 217"/>
                  <a:gd name="T16" fmla="*/ 23 w 217"/>
                  <a:gd name="T17" fmla="*/ 139 h 217"/>
                  <a:gd name="T18" fmla="*/ 63 w 217"/>
                  <a:gd name="T19" fmla="*/ 104 h 217"/>
                  <a:gd name="T20" fmla="*/ 101 w 217"/>
                  <a:gd name="T21" fmla="*/ 80 h 217"/>
                  <a:gd name="T22" fmla="*/ 101 w 217"/>
                  <a:gd name="T23" fmla="*/ 27 h 217"/>
                  <a:gd name="T24" fmla="*/ 92 w 217"/>
                  <a:gd name="T25" fmla="*/ 18 h 217"/>
                  <a:gd name="T26" fmla="*/ 116 w 217"/>
                  <a:gd name="T27" fmla="*/ 27 h 217"/>
                  <a:gd name="T28" fmla="*/ 116 w 217"/>
                  <a:gd name="T29" fmla="*/ 80 h 217"/>
                  <a:gd name="T30" fmla="*/ 154 w 217"/>
                  <a:gd name="T31" fmla="*/ 104 h 217"/>
                  <a:gd name="T32" fmla="*/ 193 w 217"/>
                  <a:gd name="T33" fmla="*/ 139 h 217"/>
                  <a:gd name="T34" fmla="*/ 196 w 217"/>
                  <a:gd name="T35" fmla="*/ 128 h 217"/>
                  <a:gd name="T36" fmla="*/ 133 w 217"/>
                  <a:gd name="T37" fmla="*/ 74 h 217"/>
                  <a:gd name="T38" fmla="*/ 178 w 217"/>
                  <a:gd name="T39" fmla="*/ 80 h 217"/>
                  <a:gd name="T40" fmla="*/ 189 w 217"/>
                  <a:gd name="T41" fmla="*/ 67 h 217"/>
                  <a:gd name="T42" fmla="*/ 133 w 217"/>
                  <a:gd name="T43" fmla="*/ 38 h 217"/>
                  <a:gd name="T44" fmla="*/ 124 w 217"/>
                  <a:gd name="T45" fmla="*/ 18 h 217"/>
                  <a:gd name="T46" fmla="*/ 176 w 217"/>
                  <a:gd name="T47" fmla="*/ 164 h 217"/>
                  <a:gd name="T48" fmla="*/ 148 w 217"/>
                  <a:gd name="T49" fmla="*/ 122 h 217"/>
                  <a:gd name="T50" fmla="*/ 117 w 217"/>
                  <a:gd name="T51" fmla="*/ 105 h 217"/>
                  <a:gd name="T52" fmla="*/ 108 w 217"/>
                  <a:gd name="T53" fmla="*/ 92 h 217"/>
                  <a:gd name="T54" fmla="*/ 100 w 217"/>
                  <a:gd name="T55" fmla="*/ 105 h 217"/>
                  <a:gd name="T56" fmla="*/ 68 w 217"/>
                  <a:gd name="T57" fmla="*/ 122 h 217"/>
                  <a:gd name="T58" fmla="*/ 41 w 217"/>
                  <a:gd name="T59" fmla="*/ 164 h 217"/>
                  <a:gd name="T60" fmla="*/ 56 w 217"/>
                  <a:gd name="T61" fmla="*/ 171 h 217"/>
                  <a:gd name="T62" fmla="*/ 100 w 217"/>
                  <a:gd name="T63" fmla="*/ 122 h 217"/>
                  <a:gd name="T64" fmla="*/ 95 w 217"/>
                  <a:gd name="T65" fmla="*/ 143 h 217"/>
                  <a:gd name="T66" fmla="*/ 82 w 217"/>
                  <a:gd name="T67" fmla="*/ 154 h 217"/>
                  <a:gd name="T68" fmla="*/ 75 w 217"/>
                  <a:gd name="T69" fmla="*/ 194 h 217"/>
                  <a:gd name="T70" fmla="*/ 95 w 217"/>
                  <a:gd name="T71" fmla="*/ 164 h 217"/>
                  <a:gd name="T72" fmla="*/ 121 w 217"/>
                  <a:gd name="T73" fmla="*/ 164 h 217"/>
                  <a:gd name="T74" fmla="*/ 141 w 217"/>
                  <a:gd name="T75" fmla="*/ 194 h 217"/>
                  <a:gd name="T76" fmla="*/ 134 w 217"/>
                  <a:gd name="T77" fmla="*/ 154 h 217"/>
                  <a:gd name="T78" fmla="*/ 122 w 217"/>
                  <a:gd name="T79" fmla="*/ 143 h 217"/>
                  <a:gd name="T80" fmla="*/ 117 w 217"/>
                  <a:gd name="T81" fmla="*/ 122 h 217"/>
                  <a:gd name="T82" fmla="*/ 160 w 217"/>
                  <a:gd name="T83" fmla="*/ 171 h 217"/>
                  <a:gd name="T84" fmla="*/ 176 w 217"/>
                  <a:gd name="T85" fmla="*/ 1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7" h="217">
                    <a:moveTo>
                      <a:pt x="217" y="109"/>
                    </a:moveTo>
                    <a:cubicBezTo>
                      <a:pt x="217" y="169"/>
                      <a:pt x="168" y="217"/>
                      <a:pt x="108" y="217"/>
                    </a:cubicBezTo>
                    <a:cubicBezTo>
                      <a:pt x="48" y="217"/>
                      <a:pt x="0" y="169"/>
                      <a:pt x="0" y="109"/>
                    </a:cubicBezTo>
                    <a:cubicBezTo>
                      <a:pt x="0" y="49"/>
                      <a:pt x="48" y="0"/>
                      <a:pt x="108" y="0"/>
                    </a:cubicBezTo>
                    <a:cubicBezTo>
                      <a:pt x="168" y="0"/>
                      <a:pt x="217" y="49"/>
                      <a:pt x="217" y="109"/>
                    </a:cubicBezTo>
                    <a:close/>
                    <a:moveTo>
                      <a:pt x="92" y="18"/>
                    </a:moveTo>
                    <a:cubicBezTo>
                      <a:pt x="88" y="18"/>
                      <a:pt x="84" y="22"/>
                      <a:pt x="84" y="2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75" y="40"/>
                      <a:pt x="66" y="43"/>
                      <a:pt x="57" y="48"/>
                    </a:cubicBezTo>
                    <a:cubicBezTo>
                      <a:pt x="46" y="53"/>
                      <a:pt x="36" y="60"/>
                      <a:pt x="27" y="67"/>
                    </a:cubicBezTo>
                    <a:cubicBezTo>
                      <a:pt x="24" y="70"/>
                      <a:pt x="23" y="75"/>
                      <a:pt x="26" y="79"/>
                    </a:cubicBezTo>
                    <a:cubicBezTo>
                      <a:pt x="29" y="82"/>
                      <a:pt x="35" y="83"/>
                      <a:pt x="38" y="80"/>
                    </a:cubicBezTo>
                    <a:cubicBezTo>
                      <a:pt x="52" y="68"/>
                      <a:pt x="68" y="59"/>
                      <a:pt x="84" y="55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73" y="77"/>
                      <a:pt x="62" y="83"/>
                      <a:pt x="52" y="92"/>
                    </a:cubicBezTo>
                    <a:cubicBezTo>
                      <a:pt x="41" y="101"/>
                      <a:pt x="30" y="113"/>
                      <a:pt x="21" y="128"/>
                    </a:cubicBezTo>
                    <a:cubicBezTo>
                      <a:pt x="20" y="129"/>
                      <a:pt x="19" y="131"/>
                      <a:pt x="19" y="132"/>
                    </a:cubicBezTo>
                    <a:cubicBezTo>
                      <a:pt x="19" y="135"/>
                      <a:pt x="21" y="138"/>
                      <a:pt x="23" y="139"/>
                    </a:cubicBezTo>
                    <a:cubicBezTo>
                      <a:pt x="27" y="142"/>
                      <a:pt x="32" y="141"/>
                      <a:pt x="35" y="137"/>
                    </a:cubicBezTo>
                    <a:cubicBezTo>
                      <a:pt x="43" y="124"/>
                      <a:pt x="53" y="113"/>
                      <a:pt x="63" y="104"/>
                    </a:cubicBezTo>
                    <a:cubicBezTo>
                      <a:pt x="73" y="96"/>
                      <a:pt x="84" y="90"/>
                      <a:pt x="94" y="88"/>
                    </a:cubicBezTo>
                    <a:cubicBezTo>
                      <a:pt x="99" y="87"/>
                      <a:pt x="101" y="83"/>
                      <a:pt x="101" y="80"/>
                    </a:cubicBezTo>
                    <a:cubicBezTo>
                      <a:pt x="101" y="80"/>
                      <a:pt x="101" y="78"/>
                      <a:pt x="101" y="76"/>
                    </a:cubicBezTo>
                    <a:cubicBezTo>
                      <a:pt x="101" y="63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2"/>
                      <a:pt x="97" y="18"/>
                      <a:pt x="92" y="18"/>
                    </a:cubicBezTo>
                    <a:close/>
                    <a:moveTo>
                      <a:pt x="116" y="27"/>
                    </a:move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63"/>
                      <a:pt x="116" y="76"/>
                    </a:cubicBezTo>
                    <a:cubicBezTo>
                      <a:pt x="116" y="78"/>
                      <a:pt x="116" y="80"/>
                      <a:pt x="116" y="80"/>
                    </a:cubicBezTo>
                    <a:cubicBezTo>
                      <a:pt x="116" y="83"/>
                      <a:pt x="118" y="87"/>
                      <a:pt x="122" y="88"/>
                    </a:cubicBezTo>
                    <a:cubicBezTo>
                      <a:pt x="132" y="90"/>
                      <a:pt x="143" y="96"/>
                      <a:pt x="154" y="104"/>
                    </a:cubicBezTo>
                    <a:cubicBezTo>
                      <a:pt x="164" y="113"/>
                      <a:pt x="173" y="124"/>
                      <a:pt x="182" y="137"/>
                    </a:cubicBezTo>
                    <a:cubicBezTo>
                      <a:pt x="184" y="141"/>
                      <a:pt x="189" y="142"/>
                      <a:pt x="193" y="139"/>
                    </a:cubicBezTo>
                    <a:cubicBezTo>
                      <a:pt x="196" y="138"/>
                      <a:pt x="197" y="135"/>
                      <a:pt x="197" y="132"/>
                    </a:cubicBezTo>
                    <a:cubicBezTo>
                      <a:pt x="197" y="131"/>
                      <a:pt x="197" y="129"/>
                      <a:pt x="196" y="128"/>
                    </a:cubicBezTo>
                    <a:cubicBezTo>
                      <a:pt x="186" y="113"/>
                      <a:pt x="176" y="101"/>
                      <a:pt x="164" y="92"/>
                    </a:cubicBezTo>
                    <a:cubicBezTo>
                      <a:pt x="154" y="83"/>
                      <a:pt x="144" y="77"/>
                      <a:pt x="133" y="74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48" y="59"/>
                      <a:pt x="165" y="68"/>
                      <a:pt x="178" y="80"/>
                    </a:cubicBezTo>
                    <a:cubicBezTo>
                      <a:pt x="182" y="83"/>
                      <a:pt x="187" y="82"/>
                      <a:pt x="190" y="79"/>
                    </a:cubicBezTo>
                    <a:cubicBezTo>
                      <a:pt x="193" y="75"/>
                      <a:pt x="193" y="70"/>
                      <a:pt x="189" y="67"/>
                    </a:cubicBezTo>
                    <a:cubicBezTo>
                      <a:pt x="180" y="60"/>
                      <a:pt x="170" y="53"/>
                      <a:pt x="160" y="48"/>
                    </a:cubicBezTo>
                    <a:cubicBezTo>
                      <a:pt x="151" y="43"/>
                      <a:pt x="142" y="40"/>
                      <a:pt x="133" y="3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2"/>
                      <a:pt x="129" y="18"/>
                      <a:pt x="124" y="18"/>
                    </a:cubicBezTo>
                    <a:cubicBezTo>
                      <a:pt x="119" y="18"/>
                      <a:pt x="116" y="22"/>
                      <a:pt x="116" y="27"/>
                    </a:cubicBezTo>
                    <a:close/>
                    <a:moveTo>
                      <a:pt x="176" y="164"/>
                    </a:moveTo>
                    <a:cubicBezTo>
                      <a:pt x="172" y="156"/>
                      <a:pt x="168" y="148"/>
                      <a:pt x="164" y="141"/>
                    </a:cubicBezTo>
                    <a:cubicBezTo>
                      <a:pt x="159" y="134"/>
                      <a:pt x="154" y="128"/>
                      <a:pt x="148" y="122"/>
                    </a:cubicBezTo>
                    <a:cubicBezTo>
                      <a:pt x="142" y="117"/>
                      <a:pt x="136" y="112"/>
                      <a:pt x="130" y="110"/>
                    </a:cubicBezTo>
                    <a:cubicBezTo>
                      <a:pt x="126" y="108"/>
                      <a:pt x="121" y="106"/>
                      <a:pt x="117" y="105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6"/>
                      <a:pt x="113" y="92"/>
                      <a:pt x="108" y="92"/>
                    </a:cubicBezTo>
                    <a:cubicBezTo>
                      <a:pt x="104" y="92"/>
                      <a:pt x="100" y="96"/>
                      <a:pt x="100" y="100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95" y="106"/>
                      <a:pt x="91" y="108"/>
                      <a:pt x="87" y="110"/>
                    </a:cubicBezTo>
                    <a:cubicBezTo>
                      <a:pt x="80" y="112"/>
                      <a:pt x="74" y="117"/>
                      <a:pt x="68" y="122"/>
                    </a:cubicBezTo>
                    <a:cubicBezTo>
                      <a:pt x="63" y="128"/>
                      <a:pt x="58" y="134"/>
                      <a:pt x="53" y="141"/>
                    </a:cubicBezTo>
                    <a:cubicBezTo>
                      <a:pt x="48" y="148"/>
                      <a:pt x="44" y="156"/>
                      <a:pt x="41" y="164"/>
                    </a:cubicBezTo>
                    <a:cubicBezTo>
                      <a:pt x="39" y="168"/>
                      <a:pt x="41" y="173"/>
                      <a:pt x="45" y="175"/>
                    </a:cubicBezTo>
                    <a:cubicBezTo>
                      <a:pt x="49" y="177"/>
                      <a:pt x="54" y="175"/>
                      <a:pt x="56" y="171"/>
                    </a:cubicBezTo>
                    <a:cubicBezTo>
                      <a:pt x="63" y="155"/>
                      <a:pt x="71" y="143"/>
                      <a:pt x="80" y="134"/>
                    </a:cubicBezTo>
                    <a:cubicBezTo>
                      <a:pt x="86" y="128"/>
                      <a:pt x="93" y="124"/>
                      <a:pt x="100" y="122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41"/>
                      <a:pt x="96" y="142"/>
                      <a:pt x="95" y="143"/>
                    </a:cubicBezTo>
                    <a:cubicBezTo>
                      <a:pt x="94" y="144"/>
                      <a:pt x="93" y="144"/>
                      <a:pt x="93" y="145"/>
                    </a:cubicBezTo>
                    <a:cubicBezTo>
                      <a:pt x="89" y="147"/>
                      <a:pt x="86" y="150"/>
                      <a:pt x="82" y="154"/>
                    </a:cubicBezTo>
                    <a:cubicBezTo>
                      <a:pt x="76" y="162"/>
                      <a:pt x="71" y="173"/>
                      <a:pt x="69" y="185"/>
                    </a:cubicBezTo>
                    <a:cubicBezTo>
                      <a:pt x="68" y="189"/>
                      <a:pt x="71" y="193"/>
                      <a:pt x="75" y="194"/>
                    </a:cubicBezTo>
                    <a:cubicBezTo>
                      <a:pt x="80" y="195"/>
                      <a:pt x="84" y="193"/>
                      <a:pt x="85" y="188"/>
                    </a:cubicBezTo>
                    <a:cubicBezTo>
                      <a:pt x="87" y="179"/>
                      <a:pt x="91" y="170"/>
                      <a:pt x="95" y="164"/>
                    </a:cubicBezTo>
                    <a:cubicBezTo>
                      <a:pt x="98" y="161"/>
                      <a:pt x="103" y="156"/>
                      <a:pt x="108" y="156"/>
                    </a:cubicBezTo>
                    <a:cubicBezTo>
                      <a:pt x="114" y="156"/>
                      <a:pt x="119" y="161"/>
                      <a:pt x="121" y="164"/>
                    </a:cubicBezTo>
                    <a:cubicBezTo>
                      <a:pt x="126" y="170"/>
                      <a:pt x="129" y="179"/>
                      <a:pt x="131" y="188"/>
                    </a:cubicBezTo>
                    <a:cubicBezTo>
                      <a:pt x="132" y="193"/>
                      <a:pt x="137" y="195"/>
                      <a:pt x="141" y="194"/>
                    </a:cubicBezTo>
                    <a:cubicBezTo>
                      <a:pt x="146" y="193"/>
                      <a:pt x="149" y="189"/>
                      <a:pt x="148" y="185"/>
                    </a:cubicBezTo>
                    <a:cubicBezTo>
                      <a:pt x="145" y="173"/>
                      <a:pt x="140" y="162"/>
                      <a:pt x="134" y="154"/>
                    </a:cubicBezTo>
                    <a:cubicBezTo>
                      <a:pt x="131" y="150"/>
                      <a:pt x="127" y="147"/>
                      <a:pt x="124" y="145"/>
                    </a:cubicBezTo>
                    <a:cubicBezTo>
                      <a:pt x="123" y="144"/>
                      <a:pt x="122" y="144"/>
                      <a:pt x="122" y="143"/>
                    </a:cubicBezTo>
                    <a:cubicBezTo>
                      <a:pt x="120" y="142"/>
                      <a:pt x="117" y="141"/>
                      <a:pt x="117" y="136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24" y="124"/>
                      <a:pt x="130" y="128"/>
                      <a:pt x="137" y="134"/>
                    </a:cubicBezTo>
                    <a:cubicBezTo>
                      <a:pt x="146" y="143"/>
                      <a:pt x="154" y="155"/>
                      <a:pt x="160" y="171"/>
                    </a:cubicBezTo>
                    <a:cubicBezTo>
                      <a:pt x="162" y="175"/>
                      <a:pt x="167" y="177"/>
                      <a:pt x="171" y="175"/>
                    </a:cubicBezTo>
                    <a:cubicBezTo>
                      <a:pt x="176" y="173"/>
                      <a:pt x="178" y="168"/>
                      <a:pt x="176" y="164"/>
                    </a:cubicBezTo>
                    <a:close/>
                  </a:path>
                </a:pathLst>
              </a:custGeom>
              <a:solidFill>
                <a:srgbClr val="9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82840" tIns="91421" rIns="182840" bIns="91421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7197"/>
              </a:p>
            </p:txBody>
          </p:sp>
        </p:grpSp>
        <p:sp>
          <p:nvSpPr>
            <p:cNvPr id="10" name="Freeform 28">
              <a:extLst>
                <a:ext uri="{FF2B5EF4-FFF2-40B4-BE49-F238E27FC236}">
                  <a16:creationId xmlns:a16="http://schemas.microsoft.com/office/drawing/2014/main" id="{B2314B56-C563-684A-B0E7-A70E7C55B1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9903" y="2884584"/>
              <a:ext cx="209368" cy="275703"/>
            </a:xfrm>
            <a:custGeom>
              <a:avLst/>
              <a:gdLst>
                <a:gd name="T0" fmla="*/ 39 w 39"/>
                <a:gd name="T1" fmla="*/ 13 h 51"/>
                <a:gd name="T2" fmla="*/ 37 w 39"/>
                <a:gd name="T3" fmla="*/ 20 h 51"/>
                <a:gd name="T4" fmla="*/ 33 w 39"/>
                <a:gd name="T5" fmla="*/ 25 h 51"/>
                <a:gd name="T6" fmla="*/ 27 w 39"/>
                <a:gd name="T7" fmla="*/ 28 h 51"/>
                <a:gd name="T8" fmla="*/ 20 w 39"/>
                <a:gd name="T9" fmla="*/ 29 h 51"/>
                <a:gd name="T10" fmla="*/ 14 w 39"/>
                <a:gd name="T11" fmla="*/ 29 h 51"/>
                <a:gd name="T12" fmla="*/ 14 w 39"/>
                <a:gd name="T13" fmla="*/ 44 h 51"/>
                <a:gd name="T14" fmla="*/ 15 w 39"/>
                <a:gd name="T15" fmla="*/ 47 h 51"/>
                <a:gd name="T16" fmla="*/ 17 w 39"/>
                <a:gd name="T17" fmla="*/ 48 h 51"/>
                <a:gd name="T18" fmla="*/ 19 w 39"/>
                <a:gd name="T19" fmla="*/ 49 h 51"/>
                <a:gd name="T20" fmla="*/ 22 w 39"/>
                <a:gd name="T21" fmla="*/ 49 h 51"/>
                <a:gd name="T22" fmla="*/ 22 w 39"/>
                <a:gd name="T23" fmla="*/ 51 h 51"/>
                <a:gd name="T24" fmla="*/ 0 w 39"/>
                <a:gd name="T25" fmla="*/ 51 h 51"/>
                <a:gd name="T26" fmla="*/ 0 w 39"/>
                <a:gd name="T27" fmla="*/ 49 h 51"/>
                <a:gd name="T28" fmla="*/ 3 w 39"/>
                <a:gd name="T29" fmla="*/ 49 h 51"/>
                <a:gd name="T30" fmla="*/ 5 w 39"/>
                <a:gd name="T31" fmla="*/ 48 h 51"/>
                <a:gd name="T32" fmla="*/ 6 w 39"/>
                <a:gd name="T33" fmla="*/ 47 h 51"/>
                <a:gd name="T34" fmla="*/ 7 w 39"/>
                <a:gd name="T35" fmla="*/ 44 h 51"/>
                <a:gd name="T36" fmla="*/ 7 w 39"/>
                <a:gd name="T37" fmla="*/ 8 h 51"/>
                <a:gd name="T38" fmla="*/ 6 w 39"/>
                <a:gd name="T39" fmla="*/ 5 h 51"/>
                <a:gd name="T40" fmla="*/ 5 w 39"/>
                <a:gd name="T41" fmla="*/ 4 h 51"/>
                <a:gd name="T42" fmla="*/ 2 w 39"/>
                <a:gd name="T43" fmla="*/ 3 h 51"/>
                <a:gd name="T44" fmla="*/ 0 w 39"/>
                <a:gd name="T45" fmla="*/ 3 h 51"/>
                <a:gd name="T46" fmla="*/ 0 w 39"/>
                <a:gd name="T47" fmla="*/ 0 h 51"/>
                <a:gd name="T48" fmla="*/ 23 w 39"/>
                <a:gd name="T49" fmla="*/ 0 h 51"/>
                <a:gd name="T50" fmla="*/ 35 w 39"/>
                <a:gd name="T51" fmla="*/ 4 h 51"/>
                <a:gd name="T52" fmla="*/ 39 w 39"/>
                <a:gd name="T53" fmla="*/ 13 h 51"/>
                <a:gd name="T54" fmla="*/ 28 w 39"/>
                <a:gd name="T55" fmla="*/ 22 h 51"/>
                <a:gd name="T56" fmla="*/ 30 w 39"/>
                <a:gd name="T57" fmla="*/ 18 h 51"/>
                <a:gd name="T58" fmla="*/ 30 w 39"/>
                <a:gd name="T59" fmla="*/ 15 h 51"/>
                <a:gd name="T60" fmla="*/ 30 w 39"/>
                <a:gd name="T61" fmla="*/ 11 h 51"/>
                <a:gd name="T62" fmla="*/ 28 w 39"/>
                <a:gd name="T63" fmla="*/ 7 h 51"/>
                <a:gd name="T64" fmla="*/ 25 w 39"/>
                <a:gd name="T65" fmla="*/ 4 h 51"/>
                <a:gd name="T66" fmla="*/ 20 w 39"/>
                <a:gd name="T67" fmla="*/ 3 h 51"/>
                <a:gd name="T68" fmla="*/ 14 w 39"/>
                <a:gd name="T69" fmla="*/ 3 h 51"/>
                <a:gd name="T70" fmla="*/ 14 w 39"/>
                <a:gd name="T71" fmla="*/ 26 h 51"/>
                <a:gd name="T72" fmla="*/ 18 w 39"/>
                <a:gd name="T73" fmla="*/ 26 h 51"/>
                <a:gd name="T74" fmla="*/ 24 w 39"/>
                <a:gd name="T75" fmla="*/ 25 h 51"/>
                <a:gd name="T76" fmla="*/ 28 w 39"/>
                <a:gd name="T7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51">
                  <a:moveTo>
                    <a:pt x="39" y="13"/>
                  </a:moveTo>
                  <a:cubicBezTo>
                    <a:pt x="39" y="16"/>
                    <a:pt x="38" y="18"/>
                    <a:pt x="37" y="20"/>
                  </a:cubicBezTo>
                  <a:cubicBezTo>
                    <a:pt x="36" y="22"/>
                    <a:pt x="35" y="24"/>
                    <a:pt x="33" y="25"/>
                  </a:cubicBezTo>
                  <a:cubicBezTo>
                    <a:pt x="31" y="27"/>
                    <a:pt x="29" y="28"/>
                    <a:pt x="27" y="28"/>
                  </a:cubicBezTo>
                  <a:cubicBezTo>
                    <a:pt x="25" y="29"/>
                    <a:pt x="23" y="29"/>
                    <a:pt x="2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7" y="6"/>
                    <a:pt x="39" y="9"/>
                    <a:pt x="39" y="13"/>
                  </a:cubicBezTo>
                  <a:close/>
                  <a:moveTo>
                    <a:pt x="28" y="22"/>
                  </a:moveTo>
                  <a:cubicBezTo>
                    <a:pt x="29" y="21"/>
                    <a:pt x="29" y="19"/>
                    <a:pt x="30" y="18"/>
                  </a:cubicBezTo>
                  <a:cubicBezTo>
                    <a:pt x="30" y="17"/>
                    <a:pt x="30" y="16"/>
                    <a:pt x="30" y="15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3" y="4"/>
                    <a:pt x="22" y="3"/>
                    <a:pt x="2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1" y="26"/>
                    <a:pt x="23" y="25"/>
                    <a:pt x="24" y="25"/>
                  </a:cubicBezTo>
                  <a:cubicBezTo>
                    <a:pt x="26" y="24"/>
                    <a:pt x="27" y="23"/>
                    <a:pt x="2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1" name="Freeform 29">
              <a:extLst>
                <a:ext uri="{FF2B5EF4-FFF2-40B4-BE49-F238E27FC236}">
                  <a16:creationId xmlns:a16="http://schemas.microsoft.com/office/drawing/2014/main" id="{F18E5DAE-B44A-1A97-9E43-FD24BD0FD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219" y="2884584"/>
              <a:ext cx="237353" cy="275703"/>
            </a:xfrm>
            <a:custGeom>
              <a:avLst/>
              <a:gdLst>
                <a:gd name="T0" fmla="*/ 44 w 44"/>
                <a:gd name="T1" fmla="*/ 36 h 51"/>
                <a:gd name="T2" fmla="*/ 43 w 44"/>
                <a:gd name="T3" fmla="*/ 51 h 51"/>
                <a:gd name="T4" fmla="*/ 0 w 44"/>
                <a:gd name="T5" fmla="*/ 51 h 51"/>
                <a:gd name="T6" fmla="*/ 0 w 44"/>
                <a:gd name="T7" fmla="*/ 49 h 51"/>
                <a:gd name="T8" fmla="*/ 3 w 44"/>
                <a:gd name="T9" fmla="*/ 49 h 51"/>
                <a:gd name="T10" fmla="*/ 6 w 44"/>
                <a:gd name="T11" fmla="*/ 48 h 51"/>
                <a:gd name="T12" fmla="*/ 7 w 44"/>
                <a:gd name="T13" fmla="*/ 47 h 51"/>
                <a:gd name="T14" fmla="*/ 8 w 44"/>
                <a:gd name="T15" fmla="*/ 44 h 51"/>
                <a:gd name="T16" fmla="*/ 8 w 44"/>
                <a:gd name="T17" fmla="*/ 8 h 51"/>
                <a:gd name="T18" fmla="*/ 7 w 44"/>
                <a:gd name="T19" fmla="*/ 6 h 51"/>
                <a:gd name="T20" fmla="*/ 6 w 44"/>
                <a:gd name="T21" fmla="*/ 4 h 51"/>
                <a:gd name="T22" fmla="*/ 3 w 44"/>
                <a:gd name="T23" fmla="*/ 3 h 51"/>
                <a:gd name="T24" fmla="*/ 0 w 44"/>
                <a:gd name="T25" fmla="*/ 3 h 51"/>
                <a:gd name="T26" fmla="*/ 0 w 44"/>
                <a:gd name="T27" fmla="*/ 0 h 51"/>
                <a:gd name="T28" fmla="*/ 40 w 44"/>
                <a:gd name="T29" fmla="*/ 0 h 51"/>
                <a:gd name="T30" fmla="*/ 40 w 44"/>
                <a:gd name="T31" fmla="*/ 13 h 51"/>
                <a:gd name="T32" fmla="*/ 37 w 44"/>
                <a:gd name="T33" fmla="*/ 13 h 51"/>
                <a:gd name="T34" fmla="*/ 34 w 44"/>
                <a:gd name="T35" fmla="*/ 7 h 51"/>
                <a:gd name="T36" fmla="*/ 29 w 44"/>
                <a:gd name="T37" fmla="*/ 4 h 51"/>
                <a:gd name="T38" fmla="*/ 27 w 44"/>
                <a:gd name="T39" fmla="*/ 4 h 51"/>
                <a:gd name="T40" fmla="*/ 23 w 44"/>
                <a:gd name="T41" fmla="*/ 3 h 51"/>
                <a:gd name="T42" fmla="*/ 15 w 44"/>
                <a:gd name="T43" fmla="*/ 3 h 51"/>
                <a:gd name="T44" fmla="*/ 15 w 44"/>
                <a:gd name="T45" fmla="*/ 24 h 51"/>
                <a:gd name="T46" fmla="*/ 21 w 44"/>
                <a:gd name="T47" fmla="*/ 24 h 51"/>
                <a:gd name="T48" fmla="*/ 25 w 44"/>
                <a:gd name="T49" fmla="*/ 23 h 51"/>
                <a:gd name="T50" fmla="*/ 27 w 44"/>
                <a:gd name="T51" fmla="*/ 21 h 51"/>
                <a:gd name="T52" fmla="*/ 29 w 44"/>
                <a:gd name="T53" fmla="*/ 19 h 51"/>
                <a:gd name="T54" fmla="*/ 29 w 44"/>
                <a:gd name="T55" fmla="*/ 15 h 51"/>
                <a:gd name="T56" fmla="*/ 32 w 44"/>
                <a:gd name="T57" fmla="*/ 15 h 51"/>
                <a:gd name="T58" fmla="*/ 32 w 44"/>
                <a:gd name="T59" fmla="*/ 35 h 51"/>
                <a:gd name="T60" fmla="*/ 29 w 44"/>
                <a:gd name="T61" fmla="*/ 35 h 51"/>
                <a:gd name="T62" fmla="*/ 29 w 44"/>
                <a:gd name="T63" fmla="*/ 32 h 51"/>
                <a:gd name="T64" fmla="*/ 27 w 44"/>
                <a:gd name="T65" fmla="*/ 29 h 51"/>
                <a:gd name="T66" fmla="*/ 25 w 44"/>
                <a:gd name="T67" fmla="*/ 27 h 51"/>
                <a:gd name="T68" fmla="*/ 21 w 44"/>
                <a:gd name="T69" fmla="*/ 27 h 51"/>
                <a:gd name="T70" fmla="*/ 15 w 44"/>
                <a:gd name="T71" fmla="*/ 27 h 51"/>
                <a:gd name="T72" fmla="*/ 15 w 44"/>
                <a:gd name="T73" fmla="*/ 42 h 51"/>
                <a:gd name="T74" fmla="*/ 16 w 44"/>
                <a:gd name="T75" fmla="*/ 45 h 51"/>
                <a:gd name="T76" fmla="*/ 17 w 44"/>
                <a:gd name="T77" fmla="*/ 47 h 51"/>
                <a:gd name="T78" fmla="*/ 19 w 44"/>
                <a:gd name="T79" fmla="*/ 48 h 51"/>
                <a:gd name="T80" fmla="*/ 24 w 44"/>
                <a:gd name="T81" fmla="*/ 48 h 51"/>
                <a:gd name="T82" fmla="*/ 27 w 44"/>
                <a:gd name="T83" fmla="*/ 48 h 51"/>
                <a:gd name="T84" fmla="*/ 30 w 44"/>
                <a:gd name="T85" fmla="*/ 48 h 51"/>
                <a:gd name="T86" fmla="*/ 33 w 44"/>
                <a:gd name="T87" fmla="*/ 48 h 51"/>
                <a:gd name="T88" fmla="*/ 35 w 44"/>
                <a:gd name="T89" fmla="*/ 47 h 51"/>
                <a:gd name="T90" fmla="*/ 39 w 44"/>
                <a:gd name="T91" fmla="*/ 42 h 51"/>
                <a:gd name="T92" fmla="*/ 41 w 44"/>
                <a:gd name="T93" fmla="*/ 36 h 51"/>
                <a:gd name="T94" fmla="*/ 44 w 44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51">
                  <a:moveTo>
                    <a:pt x="44" y="36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1"/>
                    <a:pt x="36" y="9"/>
                    <a:pt x="34" y="7"/>
                  </a:cubicBezTo>
                  <a:cubicBezTo>
                    <a:pt x="32" y="5"/>
                    <a:pt x="31" y="4"/>
                    <a:pt x="29" y="4"/>
                  </a:cubicBezTo>
                  <a:cubicBezTo>
                    <a:pt x="29" y="4"/>
                    <a:pt x="28" y="4"/>
                    <a:pt x="27" y="4"/>
                  </a:cubicBezTo>
                  <a:cubicBezTo>
                    <a:pt x="26" y="3"/>
                    <a:pt x="25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2"/>
                    <a:pt x="27" y="21"/>
                  </a:cubicBezTo>
                  <a:cubicBezTo>
                    <a:pt x="28" y="21"/>
                    <a:pt x="28" y="20"/>
                    <a:pt x="29" y="19"/>
                  </a:cubicBezTo>
                  <a:cubicBezTo>
                    <a:pt x="29" y="17"/>
                    <a:pt x="29" y="16"/>
                    <a:pt x="29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9" y="33"/>
                    <a:pt x="29" y="32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8"/>
                    <a:pt x="26" y="27"/>
                    <a:pt x="25" y="27"/>
                  </a:cubicBezTo>
                  <a:cubicBezTo>
                    <a:pt x="24" y="27"/>
                    <a:pt x="23" y="27"/>
                    <a:pt x="2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6" y="45"/>
                  </a:cubicBezTo>
                  <a:cubicBezTo>
                    <a:pt x="16" y="46"/>
                    <a:pt x="16" y="47"/>
                    <a:pt x="17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2" y="48"/>
                    <a:pt x="24" y="48"/>
                  </a:cubicBezTo>
                  <a:cubicBezTo>
                    <a:pt x="25" y="48"/>
                    <a:pt x="26" y="48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8"/>
                    <a:pt x="35" y="47"/>
                    <a:pt x="35" y="47"/>
                  </a:cubicBezTo>
                  <a:cubicBezTo>
                    <a:pt x="36" y="46"/>
                    <a:pt x="37" y="44"/>
                    <a:pt x="39" y="42"/>
                  </a:cubicBezTo>
                  <a:cubicBezTo>
                    <a:pt x="40" y="39"/>
                    <a:pt x="41" y="38"/>
                    <a:pt x="41" y="36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8" name="Freeform 30">
              <a:extLst>
                <a:ext uri="{FF2B5EF4-FFF2-40B4-BE49-F238E27FC236}">
                  <a16:creationId xmlns:a16="http://schemas.microsoft.com/office/drawing/2014/main" id="{DA842151-ABE9-5E20-0CD1-D0F8B55F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119" y="2884584"/>
              <a:ext cx="263265" cy="275703"/>
            </a:xfrm>
            <a:custGeom>
              <a:avLst/>
              <a:gdLst>
                <a:gd name="T0" fmla="*/ 49 w 49"/>
                <a:gd name="T1" fmla="*/ 51 h 51"/>
                <a:gd name="T2" fmla="*/ 35 w 49"/>
                <a:gd name="T3" fmla="*/ 51 h 51"/>
                <a:gd name="T4" fmla="*/ 26 w 49"/>
                <a:gd name="T5" fmla="*/ 39 h 51"/>
                <a:gd name="T6" fmla="*/ 15 w 49"/>
                <a:gd name="T7" fmla="*/ 27 h 51"/>
                <a:gd name="T8" fmla="*/ 14 w 49"/>
                <a:gd name="T9" fmla="*/ 27 h 51"/>
                <a:gd name="T10" fmla="*/ 14 w 49"/>
                <a:gd name="T11" fmla="*/ 44 h 51"/>
                <a:gd name="T12" fmla="*/ 14 w 49"/>
                <a:gd name="T13" fmla="*/ 46 h 51"/>
                <a:gd name="T14" fmla="*/ 16 w 49"/>
                <a:gd name="T15" fmla="*/ 48 h 51"/>
                <a:gd name="T16" fmla="*/ 18 w 49"/>
                <a:gd name="T17" fmla="*/ 48 h 51"/>
                <a:gd name="T18" fmla="*/ 21 w 49"/>
                <a:gd name="T19" fmla="*/ 49 h 51"/>
                <a:gd name="T20" fmla="*/ 21 w 49"/>
                <a:gd name="T21" fmla="*/ 51 h 51"/>
                <a:gd name="T22" fmla="*/ 0 w 49"/>
                <a:gd name="T23" fmla="*/ 51 h 51"/>
                <a:gd name="T24" fmla="*/ 0 w 49"/>
                <a:gd name="T25" fmla="*/ 49 h 51"/>
                <a:gd name="T26" fmla="*/ 2 w 49"/>
                <a:gd name="T27" fmla="*/ 49 h 51"/>
                <a:gd name="T28" fmla="*/ 4 w 49"/>
                <a:gd name="T29" fmla="*/ 48 h 51"/>
                <a:gd name="T30" fmla="*/ 6 w 49"/>
                <a:gd name="T31" fmla="*/ 47 h 51"/>
                <a:gd name="T32" fmla="*/ 6 w 49"/>
                <a:gd name="T33" fmla="*/ 45 h 51"/>
                <a:gd name="T34" fmla="*/ 6 w 49"/>
                <a:gd name="T35" fmla="*/ 8 h 51"/>
                <a:gd name="T36" fmla="*/ 6 w 49"/>
                <a:gd name="T37" fmla="*/ 6 h 51"/>
                <a:gd name="T38" fmla="*/ 4 w 49"/>
                <a:gd name="T39" fmla="*/ 4 h 51"/>
                <a:gd name="T40" fmla="*/ 2 w 49"/>
                <a:gd name="T41" fmla="*/ 3 h 51"/>
                <a:gd name="T42" fmla="*/ 0 w 49"/>
                <a:gd name="T43" fmla="*/ 3 h 51"/>
                <a:gd name="T44" fmla="*/ 0 w 49"/>
                <a:gd name="T45" fmla="*/ 0 h 51"/>
                <a:gd name="T46" fmla="*/ 21 w 49"/>
                <a:gd name="T47" fmla="*/ 0 h 51"/>
                <a:gd name="T48" fmla="*/ 21 w 49"/>
                <a:gd name="T49" fmla="*/ 3 h 51"/>
                <a:gd name="T50" fmla="*/ 18 w 49"/>
                <a:gd name="T51" fmla="*/ 3 h 51"/>
                <a:gd name="T52" fmla="*/ 16 w 49"/>
                <a:gd name="T53" fmla="*/ 4 h 51"/>
                <a:gd name="T54" fmla="*/ 14 w 49"/>
                <a:gd name="T55" fmla="*/ 5 h 51"/>
                <a:gd name="T56" fmla="*/ 14 w 49"/>
                <a:gd name="T57" fmla="*/ 8 h 51"/>
                <a:gd name="T58" fmla="*/ 14 w 49"/>
                <a:gd name="T59" fmla="*/ 25 h 51"/>
                <a:gd name="T60" fmla="*/ 15 w 49"/>
                <a:gd name="T61" fmla="*/ 25 h 51"/>
                <a:gd name="T62" fmla="*/ 21 w 49"/>
                <a:gd name="T63" fmla="*/ 19 h 51"/>
                <a:gd name="T64" fmla="*/ 27 w 49"/>
                <a:gd name="T65" fmla="*/ 14 h 51"/>
                <a:gd name="T66" fmla="*/ 31 w 49"/>
                <a:gd name="T67" fmla="*/ 8 h 51"/>
                <a:gd name="T68" fmla="*/ 32 w 49"/>
                <a:gd name="T69" fmla="*/ 5 h 51"/>
                <a:gd name="T70" fmla="*/ 32 w 49"/>
                <a:gd name="T71" fmla="*/ 4 h 51"/>
                <a:gd name="T72" fmla="*/ 30 w 49"/>
                <a:gd name="T73" fmla="*/ 3 h 51"/>
                <a:gd name="T74" fmla="*/ 28 w 49"/>
                <a:gd name="T75" fmla="*/ 3 h 51"/>
                <a:gd name="T76" fmla="*/ 27 w 49"/>
                <a:gd name="T77" fmla="*/ 3 h 51"/>
                <a:gd name="T78" fmla="*/ 27 w 49"/>
                <a:gd name="T79" fmla="*/ 0 h 51"/>
                <a:gd name="T80" fmla="*/ 46 w 49"/>
                <a:gd name="T81" fmla="*/ 0 h 51"/>
                <a:gd name="T82" fmla="*/ 46 w 49"/>
                <a:gd name="T83" fmla="*/ 3 h 51"/>
                <a:gd name="T84" fmla="*/ 46 w 49"/>
                <a:gd name="T85" fmla="*/ 3 h 51"/>
                <a:gd name="T86" fmla="*/ 45 w 49"/>
                <a:gd name="T87" fmla="*/ 3 h 51"/>
                <a:gd name="T88" fmla="*/ 44 w 49"/>
                <a:gd name="T89" fmla="*/ 3 h 51"/>
                <a:gd name="T90" fmla="*/ 42 w 49"/>
                <a:gd name="T91" fmla="*/ 4 h 51"/>
                <a:gd name="T92" fmla="*/ 40 w 49"/>
                <a:gd name="T93" fmla="*/ 4 h 51"/>
                <a:gd name="T94" fmla="*/ 38 w 49"/>
                <a:gd name="T95" fmla="*/ 6 h 51"/>
                <a:gd name="T96" fmla="*/ 30 w 49"/>
                <a:gd name="T97" fmla="*/ 15 h 51"/>
                <a:gd name="T98" fmla="*/ 22 w 49"/>
                <a:gd name="T99" fmla="*/ 23 h 51"/>
                <a:gd name="T100" fmla="*/ 31 w 49"/>
                <a:gd name="T101" fmla="*/ 34 h 51"/>
                <a:gd name="T102" fmla="*/ 39 w 49"/>
                <a:gd name="T103" fmla="*/ 43 h 51"/>
                <a:gd name="T104" fmla="*/ 42 w 49"/>
                <a:gd name="T105" fmla="*/ 46 h 51"/>
                <a:gd name="T106" fmla="*/ 44 w 49"/>
                <a:gd name="T107" fmla="*/ 48 h 51"/>
                <a:gd name="T108" fmla="*/ 47 w 49"/>
                <a:gd name="T109" fmla="*/ 49 h 51"/>
                <a:gd name="T110" fmla="*/ 49 w 49"/>
                <a:gd name="T111" fmla="*/ 49 h 51"/>
                <a:gd name="T112" fmla="*/ 49 w 49"/>
                <a:gd name="T1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1">
                  <a:moveTo>
                    <a:pt x="49" y="51"/>
                  </a:moveTo>
                  <a:cubicBezTo>
                    <a:pt x="35" y="51"/>
                    <a:pt x="35" y="51"/>
                    <a:pt x="35" y="51"/>
                  </a:cubicBezTo>
                  <a:cubicBezTo>
                    <a:pt x="32" y="47"/>
                    <a:pt x="29" y="43"/>
                    <a:pt x="26" y="39"/>
                  </a:cubicBezTo>
                  <a:cubicBezTo>
                    <a:pt x="22" y="35"/>
                    <a:pt x="19" y="30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5" y="47"/>
                    <a:pt x="15" y="47"/>
                    <a:pt x="16" y="48"/>
                  </a:cubicBezTo>
                  <a:cubicBezTo>
                    <a:pt x="16" y="48"/>
                    <a:pt x="17" y="48"/>
                    <a:pt x="18" y="48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3" y="49"/>
                    <a:pt x="4" y="48"/>
                    <a:pt x="4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6"/>
                    <a:pt x="6" y="45"/>
                    <a:pt x="6" y="4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3"/>
                    <a:pt x="19" y="21"/>
                    <a:pt x="21" y="19"/>
                  </a:cubicBezTo>
                  <a:cubicBezTo>
                    <a:pt x="23" y="17"/>
                    <a:pt x="25" y="16"/>
                    <a:pt x="27" y="14"/>
                  </a:cubicBezTo>
                  <a:cubicBezTo>
                    <a:pt x="29" y="11"/>
                    <a:pt x="30" y="10"/>
                    <a:pt x="31" y="8"/>
                  </a:cubicBezTo>
                  <a:cubicBezTo>
                    <a:pt x="32" y="7"/>
                    <a:pt x="32" y="6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1" y="4"/>
                    <a:pt x="40" y="4"/>
                  </a:cubicBezTo>
                  <a:cubicBezTo>
                    <a:pt x="39" y="5"/>
                    <a:pt x="38" y="5"/>
                    <a:pt x="38" y="6"/>
                  </a:cubicBezTo>
                  <a:cubicBezTo>
                    <a:pt x="35" y="9"/>
                    <a:pt x="33" y="12"/>
                    <a:pt x="30" y="15"/>
                  </a:cubicBezTo>
                  <a:cubicBezTo>
                    <a:pt x="27" y="18"/>
                    <a:pt x="25" y="20"/>
                    <a:pt x="22" y="23"/>
                  </a:cubicBezTo>
                  <a:cubicBezTo>
                    <a:pt x="26" y="27"/>
                    <a:pt x="29" y="31"/>
                    <a:pt x="31" y="34"/>
                  </a:cubicBezTo>
                  <a:cubicBezTo>
                    <a:pt x="33" y="36"/>
                    <a:pt x="36" y="40"/>
                    <a:pt x="39" y="43"/>
                  </a:cubicBezTo>
                  <a:cubicBezTo>
                    <a:pt x="40" y="44"/>
                    <a:pt x="41" y="45"/>
                    <a:pt x="42" y="46"/>
                  </a:cubicBezTo>
                  <a:cubicBezTo>
                    <a:pt x="43" y="47"/>
                    <a:pt x="44" y="47"/>
                    <a:pt x="44" y="48"/>
                  </a:cubicBezTo>
                  <a:cubicBezTo>
                    <a:pt x="45" y="48"/>
                    <a:pt x="46" y="48"/>
                    <a:pt x="47" y="49"/>
                  </a:cubicBezTo>
                  <a:cubicBezTo>
                    <a:pt x="48" y="49"/>
                    <a:pt x="48" y="49"/>
                    <a:pt x="49" y="49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19" name="Freeform 31">
              <a:extLst>
                <a:ext uri="{FF2B5EF4-FFF2-40B4-BE49-F238E27FC236}">
                  <a16:creationId xmlns:a16="http://schemas.microsoft.com/office/drawing/2014/main" id="{9EDB972D-A2C4-8B5B-E23C-B7AEDCF9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968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2 w 23"/>
                <a:gd name="T7" fmla="*/ 49 h 51"/>
                <a:gd name="T8" fmla="*/ 5 w 23"/>
                <a:gd name="T9" fmla="*/ 48 h 51"/>
                <a:gd name="T10" fmla="*/ 7 w 23"/>
                <a:gd name="T11" fmla="*/ 47 h 51"/>
                <a:gd name="T12" fmla="*/ 7 w 23"/>
                <a:gd name="T13" fmla="*/ 45 h 51"/>
                <a:gd name="T14" fmla="*/ 7 w 23"/>
                <a:gd name="T15" fmla="*/ 8 h 51"/>
                <a:gd name="T16" fmla="*/ 7 w 23"/>
                <a:gd name="T17" fmla="*/ 6 h 51"/>
                <a:gd name="T18" fmla="*/ 5 w 23"/>
                <a:gd name="T19" fmla="*/ 4 h 51"/>
                <a:gd name="T20" fmla="*/ 2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7 w 23"/>
                <a:gd name="T33" fmla="*/ 4 h 51"/>
                <a:gd name="T34" fmla="*/ 15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5 w 23"/>
                <a:gd name="T41" fmla="*/ 46 h 51"/>
                <a:gd name="T42" fmla="*/ 17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2" y="49"/>
                  </a:cubicBezTo>
                  <a:cubicBezTo>
                    <a:pt x="4" y="49"/>
                    <a:pt x="4" y="48"/>
                    <a:pt x="5" y="48"/>
                  </a:cubicBezTo>
                  <a:cubicBezTo>
                    <a:pt x="6" y="48"/>
                    <a:pt x="6" y="47"/>
                    <a:pt x="7" y="47"/>
                  </a:cubicBezTo>
                  <a:cubicBezTo>
                    <a:pt x="7" y="46"/>
                    <a:pt x="7" y="46"/>
                    <a:pt x="7" y="4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6" y="47"/>
                    <a:pt x="16" y="47"/>
                    <a:pt x="17" y="48"/>
                  </a:cubicBezTo>
                  <a:cubicBezTo>
                    <a:pt x="18" y="48"/>
                    <a:pt x="18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0" name="Freeform 32">
              <a:extLst>
                <a:ext uri="{FF2B5EF4-FFF2-40B4-BE49-F238E27FC236}">
                  <a16:creationId xmlns:a16="http://schemas.microsoft.com/office/drawing/2014/main" id="{BA0B0CBC-E677-A627-1F94-D58AE0BA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710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1 w 55"/>
                <a:gd name="T3" fmla="*/ 4 h 52"/>
                <a:gd name="T4" fmla="*/ 48 w 55"/>
                <a:gd name="T5" fmla="*/ 5 h 52"/>
                <a:gd name="T6" fmla="*/ 47 w 55"/>
                <a:gd name="T7" fmla="*/ 8 h 52"/>
                <a:gd name="T8" fmla="*/ 46 w 55"/>
                <a:gd name="T9" fmla="*/ 15 h 52"/>
                <a:gd name="T10" fmla="*/ 46 w 55"/>
                <a:gd name="T11" fmla="*/ 52 h 52"/>
                <a:gd name="T12" fmla="*/ 43 w 55"/>
                <a:gd name="T13" fmla="*/ 52 h 52"/>
                <a:gd name="T14" fmla="*/ 12 w 55"/>
                <a:gd name="T15" fmla="*/ 10 h 52"/>
                <a:gd name="T16" fmla="*/ 12 w 55"/>
                <a:gd name="T17" fmla="*/ 37 h 52"/>
                <a:gd name="T18" fmla="*/ 13 w 55"/>
                <a:gd name="T19" fmla="*/ 43 h 52"/>
                <a:gd name="T20" fmla="*/ 14 w 55"/>
                <a:gd name="T21" fmla="*/ 47 h 52"/>
                <a:gd name="T22" fmla="*/ 18 w 55"/>
                <a:gd name="T23" fmla="*/ 48 h 52"/>
                <a:gd name="T24" fmla="*/ 21 w 55"/>
                <a:gd name="T25" fmla="*/ 49 h 52"/>
                <a:gd name="T26" fmla="*/ 21 w 55"/>
                <a:gd name="T27" fmla="*/ 51 h 52"/>
                <a:gd name="T28" fmla="*/ 0 w 55"/>
                <a:gd name="T29" fmla="*/ 51 h 52"/>
                <a:gd name="T30" fmla="*/ 0 w 55"/>
                <a:gd name="T31" fmla="*/ 49 h 52"/>
                <a:gd name="T32" fmla="*/ 4 w 55"/>
                <a:gd name="T33" fmla="*/ 48 h 52"/>
                <a:gd name="T34" fmla="*/ 7 w 55"/>
                <a:gd name="T35" fmla="*/ 47 h 52"/>
                <a:gd name="T36" fmla="*/ 8 w 55"/>
                <a:gd name="T37" fmla="*/ 44 h 52"/>
                <a:gd name="T38" fmla="*/ 9 w 55"/>
                <a:gd name="T39" fmla="*/ 37 h 52"/>
                <a:gd name="T40" fmla="*/ 9 w 55"/>
                <a:gd name="T41" fmla="*/ 12 h 52"/>
                <a:gd name="T42" fmla="*/ 8 w 55"/>
                <a:gd name="T43" fmla="*/ 9 h 52"/>
                <a:gd name="T44" fmla="*/ 7 w 55"/>
                <a:gd name="T45" fmla="*/ 6 h 52"/>
                <a:gd name="T46" fmla="*/ 3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4 w 55"/>
                <a:gd name="T53" fmla="*/ 0 h 52"/>
                <a:gd name="T54" fmla="*/ 43 w 55"/>
                <a:gd name="T55" fmla="*/ 39 h 52"/>
                <a:gd name="T56" fmla="*/ 43 w 55"/>
                <a:gd name="T57" fmla="*/ 15 h 52"/>
                <a:gd name="T58" fmla="*/ 42 w 55"/>
                <a:gd name="T59" fmla="*/ 8 h 52"/>
                <a:gd name="T60" fmla="*/ 41 w 55"/>
                <a:gd name="T61" fmla="*/ 5 h 52"/>
                <a:gd name="T62" fmla="*/ 37 w 55"/>
                <a:gd name="T63" fmla="*/ 4 h 52"/>
                <a:gd name="T64" fmla="*/ 34 w 55"/>
                <a:gd name="T65" fmla="*/ 3 h 52"/>
                <a:gd name="T66" fmla="*/ 34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4" y="3"/>
                    <a:pt x="53" y="3"/>
                    <a:pt x="51" y="4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8" y="5"/>
                    <a:pt x="47" y="6"/>
                    <a:pt x="47" y="8"/>
                  </a:cubicBezTo>
                  <a:cubicBezTo>
                    <a:pt x="46" y="10"/>
                    <a:pt x="46" y="12"/>
                    <a:pt x="46" y="15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2" y="42"/>
                    <a:pt x="13" y="43"/>
                  </a:cubicBezTo>
                  <a:cubicBezTo>
                    <a:pt x="13" y="45"/>
                    <a:pt x="14" y="46"/>
                    <a:pt x="14" y="47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4" y="48"/>
                  </a:cubicBezTo>
                  <a:cubicBezTo>
                    <a:pt x="5" y="48"/>
                    <a:pt x="6" y="47"/>
                    <a:pt x="7" y="47"/>
                  </a:cubicBezTo>
                  <a:cubicBezTo>
                    <a:pt x="7" y="46"/>
                    <a:pt x="8" y="45"/>
                    <a:pt x="8" y="44"/>
                  </a:cubicBezTo>
                  <a:cubicBezTo>
                    <a:pt x="9" y="43"/>
                    <a:pt x="9" y="40"/>
                    <a:pt x="9" y="3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0"/>
                    <a:pt x="8" y="9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2"/>
                    <a:pt x="43" y="10"/>
                    <a:pt x="42" y="8"/>
                  </a:cubicBezTo>
                  <a:cubicBezTo>
                    <a:pt x="42" y="7"/>
                    <a:pt x="41" y="6"/>
                    <a:pt x="41" y="5"/>
                  </a:cubicBezTo>
                  <a:cubicBezTo>
                    <a:pt x="40" y="5"/>
                    <a:pt x="39" y="4"/>
                    <a:pt x="37" y="4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1" name="Freeform 33">
              <a:extLst>
                <a:ext uri="{FF2B5EF4-FFF2-40B4-BE49-F238E27FC236}">
                  <a16:creationId xmlns:a16="http://schemas.microsoft.com/office/drawing/2014/main" id="{0DCD30EB-E5EB-2EEA-E26F-EDE31037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53" y="2879402"/>
              <a:ext cx="269484" cy="292286"/>
            </a:xfrm>
            <a:custGeom>
              <a:avLst/>
              <a:gdLst>
                <a:gd name="T0" fmla="*/ 50 w 50"/>
                <a:gd name="T1" fmla="*/ 32 h 54"/>
                <a:gd name="T2" fmla="*/ 48 w 50"/>
                <a:gd name="T3" fmla="*/ 32 h 54"/>
                <a:gd name="T4" fmla="*/ 45 w 50"/>
                <a:gd name="T5" fmla="*/ 33 h 54"/>
                <a:gd name="T6" fmla="*/ 44 w 50"/>
                <a:gd name="T7" fmla="*/ 35 h 54"/>
                <a:gd name="T8" fmla="*/ 43 w 50"/>
                <a:gd name="T9" fmla="*/ 37 h 54"/>
                <a:gd name="T10" fmla="*/ 43 w 50"/>
                <a:gd name="T11" fmla="*/ 41 h 54"/>
                <a:gd name="T12" fmla="*/ 43 w 50"/>
                <a:gd name="T13" fmla="*/ 47 h 54"/>
                <a:gd name="T14" fmla="*/ 43 w 50"/>
                <a:gd name="T15" fmla="*/ 49 h 54"/>
                <a:gd name="T16" fmla="*/ 34 w 50"/>
                <a:gd name="T17" fmla="*/ 52 h 54"/>
                <a:gd name="T18" fmla="*/ 25 w 50"/>
                <a:gd name="T19" fmla="*/ 54 h 54"/>
                <a:gd name="T20" fmla="*/ 15 w 50"/>
                <a:gd name="T21" fmla="*/ 52 h 54"/>
                <a:gd name="T22" fmla="*/ 7 w 50"/>
                <a:gd name="T23" fmla="*/ 47 h 54"/>
                <a:gd name="T24" fmla="*/ 2 w 50"/>
                <a:gd name="T25" fmla="*/ 38 h 54"/>
                <a:gd name="T26" fmla="*/ 0 w 50"/>
                <a:gd name="T27" fmla="*/ 27 h 54"/>
                <a:gd name="T28" fmla="*/ 2 w 50"/>
                <a:gd name="T29" fmla="*/ 17 h 54"/>
                <a:gd name="T30" fmla="*/ 7 w 50"/>
                <a:gd name="T31" fmla="*/ 8 h 54"/>
                <a:gd name="T32" fmla="*/ 15 w 50"/>
                <a:gd name="T33" fmla="*/ 2 h 54"/>
                <a:gd name="T34" fmla="*/ 25 w 50"/>
                <a:gd name="T35" fmla="*/ 0 h 54"/>
                <a:gd name="T36" fmla="*/ 33 w 50"/>
                <a:gd name="T37" fmla="*/ 1 h 54"/>
                <a:gd name="T38" fmla="*/ 39 w 50"/>
                <a:gd name="T39" fmla="*/ 4 h 54"/>
                <a:gd name="T40" fmla="*/ 40 w 50"/>
                <a:gd name="T41" fmla="*/ 1 h 54"/>
                <a:gd name="T42" fmla="*/ 43 w 50"/>
                <a:gd name="T43" fmla="*/ 1 h 54"/>
                <a:gd name="T44" fmla="*/ 43 w 50"/>
                <a:gd name="T45" fmla="*/ 19 h 54"/>
                <a:gd name="T46" fmla="*/ 40 w 50"/>
                <a:gd name="T47" fmla="*/ 19 h 54"/>
                <a:gd name="T48" fmla="*/ 38 w 50"/>
                <a:gd name="T49" fmla="*/ 13 h 54"/>
                <a:gd name="T50" fmla="*/ 36 w 50"/>
                <a:gd name="T51" fmla="*/ 8 h 54"/>
                <a:gd name="T52" fmla="*/ 31 w 50"/>
                <a:gd name="T53" fmla="*/ 5 h 54"/>
                <a:gd name="T54" fmla="*/ 25 w 50"/>
                <a:gd name="T55" fmla="*/ 3 h 54"/>
                <a:gd name="T56" fmla="*/ 18 w 50"/>
                <a:gd name="T57" fmla="*/ 5 h 54"/>
                <a:gd name="T58" fmla="*/ 13 w 50"/>
                <a:gd name="T59" fmla="*/ 10 h 54"/>
                <a:gd name="T60" fmla="*/ 10 w 50"/>
                <a:gd name="T61" fmla="*/ 17 h 54"/>
                <a:gd name="T62" fmla="*/ 9 w 50"/>
                <a:gd name="T63" fmla="*/ 27 h 54"/>
                <a:gd name="T64" fmla="*/ 10 w 50"/>
                <a:gd name="T65" fmla="*/ 36 h 54"/>
                <a:gd name="T66" fmla="*/ 13 w 50"/>
                <a:gd name="T67" fmla="*/ 44 h 54"/>
                <a:gd name="T68" fmla="*/ 19 w 50"/>
                <a:gd name="T69" fmla="*/ 49 h 54"/>
                <a:gd name="T70" fmla="*/ 26 w 50"/>
                <a:gd name="T71" fmla="*/ 50 h 54"/>
                <a:gd name="T72" fmla="*/ 32 w 50"/>
                <a:gd name="T73" fmla="*/ 49 h 54"/>
                <a:gd name="T74" fmla="*/ 36 w 50"/>
                <a:gd name="T75" fmla="*/ 47 h 54"/>
                <a:gd name="T76" fmla="*/ 36 w 50"/>
                <a:gd name="T77" fmla="*/ 44 h 54"/>
                <a:gd name="T78" fmla="*/ 36 w 50"/>
                <a:gd name="T79" fmla="*/ 40 h 54"/>
                <a:gd name="T80" fmla="*/ 36 w 50"/>
                <a:gd name="T81" fmla="*/ 38 h 54"/>
                <a:gd name="T82" fmla="*/ 36 w 50"/>
                <a:gd name="T83" fmla="*/ 35 h 54"/>
                <a:gd name="T84" fmla="*/ 34 w 50"/>
                <a:gd name="T85" fmla="*/ 33 h 54"/>
                <a:gd name="T86" fmla="*/ 31 w 50"/>
                <a:gd name="T87" fmla="*/ 32 h 54"/>
                <a:gd name="T88" fmla="*/ 28 w 50"/>
                <a:gd name="T89" fmla="*/ 32 h 54"/>
                <a:gd name="T90" fmla="*/ 28 w 50"/>
                <a:gd name="T91" fmla="*/ 29 h 54"/>
                <a:gd name="T92" fmla="*/ 50 w 50"/>
                <a:gd name="T93" fmla="*/ 29 h 54"/>
                <a:gd name="T94" fmla="*/ 50 w 50"/>
                <a:gd name="T9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54">
                  <a:moveTo>
                    <a:pt x="50" y="32"/>
                  </a:moveTo>
                  <a:cubicBezTo>
                    <a:pt x="49" y="32"/>
                    <a:pt x="49" y="32"/>
                    <a:pt x="48" y="32"/>
                  </a:cubicBezTo>
                  <a:cubicBezTo>
                    <a:pt x="47" y="32"/>
                    <a:pt x="46" y="33"/>
                    <a:pt x="45" y="33"/>
                  </a:cubicBezTo>
                  <a:cubicBezTo>
                    <a:pt x="44" y="33"/>
                    <a:pt x="44" y="34"/>
                    <a:pt x="44" y="35"/>
                  </a:cubicBezTo>
                  <a:cubicBezTo>
                    <a:pt x="43" y="35"/>
                    <a:pt x="43" y="36"/>
                    <a:pt x="43" y="37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4"/>
                    <a:pt x="43" y="46"/>
                    <a:pt x="43" y="47"/>
                  </a:cubicBezTo>
                  <a:cubicBezTo>
                    <a:pt x="43" y="48"/>
                    <a:pt x="43" y="48"/>
                    <a:pt x="43" y="49"/>
                  </a:cubicBezTo>
                  <a:cubicBezTo>
                    <a:pt x="40" y="51"/>
                    <a:pt x="37" y="52"/>
                    <a:pt x="34" y="52"/>
                  </a:cubicBezTo>
                  <a:cubicBezTo>
                    <a:pt x="31" y="53"/>
                    <a:pt x="28" y="54"/>
                    <a:pt x="25" y="54"/>
                  </a:cubicBezTo>
                  <a:cubicBezTo>
                    <a:pt x="21" y="54"/>
                    <a:pt x="18" y="53"/>
                    <a:pt x="15" y="52"/>
                  </a:cubicBezTo>
                  <a:cubicBezTo>
                    <a:pt x="12" y="51"/>
                    <a:pt x="10" y="49"/>
                    <a:pt x="7" y="47"/>
                  </a:cubicBezTo>
                  <a:cubicBezTo>
                    <a:pt x="5" y="44"/>
                    <a:pt x="3" y="41"/>
                    <a:pt x="2" y="38"/>
                  </a:cubicBezTo>
                  <a:cubicBezTo>
                    <a:pt x="1" y="35"/>
                    <a:pt x="0" y="31"/>
                    <a:pt x="0" y="27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3" y="13"/>
                    <a:pt x="5" y="10"/>
                    <a:pt x="7" y="8"/>
                  </a:cubicBezTo>
                  <a:cubicBezTo>
                    <a:pt x="10" y="5"/>
                    <a:pt x="12" y="4"/>
                    <a:pt x="15" y="2"/>
                  </a:cubicBezTo>
                  <a:cubicBezTo>
                    <a:pt x="19" y="1"/>
                    <a:pt x="22" y="0"/>
                    <a:pt x="25" y="0"/>
                  </a:cubicBezTo>
                  <a:cubicBezTo>
                    <a:pt x="28" y="0"/>
                    <a:pt x="31" y="1"/>
                    <a:pt x="33" y="1"/>
                  </a:cubicBezTo>
                  <a:cubicBezTo>
                    <a:pt x="35" y="2"/>
                    <a:pt x="37" y="3"/>
                    <a:pt x="39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7"/>
                    <a:pt x="39" y="15"/>
                    <a:pt x="38" y="13"/>
                  </a:cubicBezTo>
                  <a:cubicBezTo>
                    <a:pt x="38" y="12"/>
                    <a:pt x="37" y="10"/>
                    <a:pt x="36" y="8"/>
                  </a:cubicBezTo>
                  <a:cubicBezTo>
                    <a:pt x="34" y="7"/>
                    <a:pt x="33" y="6"/>
                    <a:pt x="31" y="5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3" y="3"/>
                    <a:pt x="20" y="4"/>
                    <a:pt x="18" y="5"/>
                  </a:cubicBezTo>
                  <a:cubicBezTo>
                    <a:pt x="16" y="6"/>
                    <a:pt x="15" y="7"/>
                    <a:pt x="13" y="10"/>
                  </a:cubicBezTo>
                  <a:cubicBezTo>
                    <a:pt x="12" y="12"/>
                    <a:pt x="11" y="14"/>
                    <a:pt x="10" y="17"/>
                  </a:cubicBezTo>
                  <a:cubicBezTo>
                    <a:pt x="9" y="20"/>
                    <a:pt x="9" y="23"/>
                    <a:pt x="9" y="27"/>
                  </a:cubicBezTo>
                  <a:cubicBezTo>
                    <a:pt x="9" y="30"/>
                    <a:pt x="9" y="33"/>
                    <a:pt x="10" y="36"/>
                  </a:cubicBezTo>
                  <a:cubicBezTo>
                    <a:pt x="11" y="39"/>
                    <a:pt x="12" y="41"/>
                    <a:pt x="13" y="44"/>
                  </a:cubicBezTo>
                  <a:cubicBezTo>
                    <a:pt x="15" y="46"/>
                    <a:pt x="17" y="47"/>
                    <a:pt x="19" y="49"/>
                  </a:cubicBezTo>
                  <a:cubicBezTo>
                    <a:pt x="21" y="50"/>
                    <a:pt x="24" y="50"/>
                    <a:pt x="26" y="50"/>
                  </a:cubicBezTo>
                  <a:cubicBezTo>
                    <a:pt x="28" y="50"/>
                    <a:pt x="30" y="50"/>
                    <a:pt x="32" y="49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6" y="46"/>
                    <a:pt x="36" y="45"/>
                    <a:pt x="36" y="44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4"/>
                    <a:pt x="35" y="34"/>
                    <a:pt x="34" y="33"/>
                  </a:cubicBezTo>
                  <a:cubicBezTo>
                    <a:pt x="33" y="33"/>
                    <a:pt x="32" y="33"/>
                    <a:pt x="31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50" y="29"/>
                    <a:pt x="50" y="29"/>
                    <a:pt x="50" y="29"/>
                  </a:cubicBezTo>
                  <a:lnTo>
                    <a:pt x="5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2" name="Freeform 34">
              <a:extLst>
                <a:ext uri="{FF2B5EF4-FFF2-40B4-BE49-F238E27FC236}">
                  <a16:creationId xmlns:a16="http://schemas.microsoft.com/office/drawing/2014/main" id="{CD9B1446-2E63-616E-968E-EAAC7F57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112" y="2884584"/>
              <a:ext cx="279849" cy="287104"/>
            </a:xfrm>
            <a:custGeom>
              <a:avLst/>
              <a:gdLst>
                <a:gd name="T0" fmla="*/ 52 w 52"/>
                <a:gd name="T1" fmla="*/ 3 h 53"/>
                <a:gd name="T2" fmla="*/ 49 w 52"/>
                <a:gd name="T3" fmla="*/ 3 h 53"/>
                <a:gd name="T4" fmla="*/ 46 w 52"/>
                <a:gd name="T5" fmla="*/ 5 h 53"/>
                <a:gd name="T6" fmla="*/ 44 w 52"/>
                <a:gd name="T7" fmla="*/ 8 h 53"/>
                <a:gd name="T8" fmla="*/ 44 w 52"/>
                <a:gd name="T9" fmla="*/ 14 h 53"/>
                <a:gd name="T10" fmla="*/ 44 w 52"/>
                <a:gd name="T11" fmla="*/ 36 h 53"/>
                <a:gd name="T12" fmla="*/ 42 w 52"/>
                <a:gd name="T13" fmla="*/ 44 h 53"/>
                <a:gd name="T14" fmla="*/ 37 w 52"/>
                <a:gd name="T15" fmla="*/ 49 h 53"/>
                <a:gd name="T16" fmla="*/ 31 w 52"/>
                <a:gd name="T17" fmla="*/ 52 h 53"/>
                <a:gd name="T18" fmla="*/ 25 w 52"/>
                <a:gd name="T19" fmla="*/ 53 h 53"/>
                <a:gd name="T20" fmla="*/ 17 w 52"/>
                <a:gd name="T21" fmla="*/ 51 h 53"/>
                <a:gd name="T22" fmla="*/ 11 w 52"/>
                <a:gd name="T23" fmla="*/ 48 h 53"/>
                <a:gd name="T24" fmla="*/ 8 w 52"/>
                <a:gd name="T25" fmla="*/ 43 h 53"/>
                <a:gd name="T26" fmla="*/ 6 w 52"/>
                <a:gd name="T27" fmla="*/ 38 h 53"/>
                <a:gd name="T28" fmla="*/ 6 w 52"/>
                <a:gd name="T29" fmla="*/ 8 h 53"/>
                <a:gd name="T30" fmla="*/ 6 w 52"/>
                <a:gd name="T31" fmla="*/ 6 h 53"/>
                <a:gd name="T32" fmla="*/ 4 w 52"/>
                <a:gd name="T33" fmla="*/ 4 h 53"/>
                <a:gd name="T34" fmla="*/ 2 w 52"/>
                <a:gd name="T35" fmla="*/ 3 h 53"/>
                <a:gd name="T36" fmla="*/ 0 w 52"/>
                <a:gd name="T37" fmla="*/ 3 h 53"/>
                <a:gd name="T38" fmla="*/ 0 w 52"/>
                <a:gd name="T39" fmla="*/ 0 h 53"/>
                <a:gd name="T40" fmla="*/ 21 w 52"/>
                <a:gd name="T41" fmla="*/ 0 h 53"/>
                <a:gd name="T42" fmla="*/ 21 w 52"/>
                <a:gd name="T43" fmla="*/ 3 h 53"/>
                <a:gd name="T44" fmla="*/ 18 w 52"/>
                <a:gd name="T45" fmla="*/ 3 h 53"/>
                <a:gd name="T46" fmla="*/ 16 w 52"/>
                <a:gd name="T47" fmla="*/ 4 h 53"/>
                <a:gd name="T48" fmla="*/ 14 w 52"/>
                <a:gd name="T49" fmla="*/ 5 h 53"/>
                <a:gd name="T50" fmla="*/ 14 w 52"/>
                <a:gd name="T51" fmla="*/ 8 h 53"/>
                <a:gd name="T52" fmla="*/ 14 w 52"/>
                <a:gd name="T53" fmla="*/ 36 h 53"/>
                <a:gd name="T54" fmla="*/ 15 w 52"/>
                <a:gd name="T55" fmla="*/ 40 h 53"/>
                <a:gd name="T56" fmla="*/ 16 w 52"/>
                <a:gd name="T57" fmla="*/ 44 h 53"/>
                <a:gd name="T58" fmla="*/ 20 w 52"/>
                <a:gd name="T59" fmla="*/ 47 h 53"/>
                <a:gd name="T60" fmla="*/ 27 w 52"/>
                <a:gd name="T61" fmla="*/ 49 h 53"/>
                <a:gd name="T62" fmla="*/ 33 w 52"/>
                <a:gd name="T63" fmla="*/ 47 h 53"/>
                <a:gd name="T64" fmla="*/ 38 w 52"/>
                <a:gd name="T65" fmla="*/ 44 h 53"/>
                <a:gd name="T66" fmla="*/ 40 w 52"/>
                <a:gd name="T67" fmla="*/ 40 h 53"/>
                <a:gd name="T68" fmla="*/ 40 w 52"/>
                <a:gd name="T69" fmla="*/ 36 h 53"/>
                <a:gd name="T70" fmla="*/ 40 w 52"/>
                <a:gd name="T71" fmla="*/ 15 h 53"/>
                <a:gd name="T72" fmla="*/ 40 w 52"/>
                <a:gd name="T73" fmla="*/ 8 h 53"/>
                <a:gd name="T74" fmla="*/ 38 w 52"/>
                <a:gd name="T75" fmla="*/ 5 h 53"/>
                <a:gd name="T76" fmla="*/ 35 w 52"/>
                <a:gd name="T77" fmla="*/ 4 h 53"/>
                <a:gd name="T78" fmla="*/ 31 w 52"/>
                <a:gd name="T79" fmla="*/ 3 h 53"/>
                <a:gd name="T80" fmla="*/ 31 w 52"/>
                <a:gd name="T81" fmla="*/ 0 h 53"/>
                <a:gd name="T82" fmla="*/ 52 w 52"/>
                <a:gd name="T83" fmla="*/ 0 h 53"/>
                <a:gd name="T84" fmla="*/ 52 w 52"/>
                <a:gd name="T8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" h="53">
                  <a:moveTo>
                    <a:pt x="52" y="3"/>
                  </a:moveTo>
                  <a:cubicBezTo>
                    <a:pt x="51" y="3"/>
                    <a:pt x="50" y="3"/>
                    <a:pt x="49" y="3"/>
                  </a:cubicBezTo>
                  <a:cubicBezTo>
                    <a:pt x="48" y="4"/>
                    <a:pt x="47" y="4"/>
                    <a:pt x="46" y="5"/>
                  </a:cubicBezTo>
                  <a:cubicBezTo>
                    <a:pt x="45" y="5"/>
                    <a:pt x="45" y="6"/>
                    <a:pt x="44" y="8"/>
                  </a:cubicBezTo>
                  <a:cubicBezTo>
                    <a:pt x="44" y="10"/>
                    <a:pt x="44" y="12"/>
                    <a:pt x="44" y="1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9"/>
                    <a:pt x="43" y="42"/>
                    <a:pt x="42" y="44"/>
                  </a:cubicBezTo>
                  <a:cubicBezTo>
                    <a:pt x="41" y="46"/>
                    <a:pt x="39" y="48"/>
                    <a:pt x="37" y="49"/>
                  </a:cubicBezTo>
                  <a:cubicBezTo>
                    <a:pt x="36" y="50"/>
                    <a:pt x="34" y="51"/>
                    <a:pt x="31" y="52"/>
                  </a:cubicBezTo>
                  <a:cubicBezTo>
                    <a:pt x="29" y="52"/>
                    <a:pt x="27" y="53"/>
                    <a:pt x="25" y="53"/>
                  </a:cubicBezTo>
                  <a:cubicBezTo>
                    <a:pt x="22" y="53"/>
                    <a:pt x="20" y="52"/>
                    <a:pt x="17" y="51"/>
                  </a:cubicBezTo>
                  <a:cubicBezTo>
                    <a:pt x="15" y="51"/>
                    <a:pt x="13" y="49"/>
                    <a:pt x="11" y="48"/>
                  </a:cubicBezTo>
                  <a:cubicBezTo>
                    <a:pt x="10" y="47"/>
                    <a:pt x="8" y="45"/>
                    <a:pt x="8" y="43"/>
                  </a:cubicBezTo>
                  <a:cubicBezTo>
                    <a:pt x="7" y="42"/>
                    <a:pt x="6" y="40"/>
                    <a:pt x="6" y="3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8"/>
                    <a:pt x="15" y="40"/>
                  </a:cubicBezTo>
                  <a:cubicBezTo>
                    <a:pt x="15" y="41"/>
                    <a:pt x="15" y="43"/>
                    <a:pt x="16" y="44"/>
                  </a:cubicBezTo>
                  <a:cubicBezTo>
                    <a:pt x="17" y="45"/>
                    <a:pt x="19" y="46"/>
                    <a:pt x="20" y="47"/>
                  </a:cubicBezTo>
                  <a:cubicBezTo>
                    <a:pt x="22" y="48"/>
                    <a:pt x="24" y="49"/>
                    <a:pt x="27" y="49"/>
                  </a:cubicBezTo>
                  <a:cubicBezTo>
                    <a:pt x="29" y="49"/>
                    <a:pt x="32" y="48"/>
                    <a:pt x="33" y="47"/>
                  </a:cubicBezTo>
                  <a:cubicBezTo>
                    <a:pt x="35" y="46"/>
                    <a:pt x="37" y="45"/>
                    <a:pt x="38" y="44"/>
                  </a:cubicBezTo>
                  <a:cubicBezTo>
                    <a:pt x="39" y="43"/>
                    <a:pt x="39" y="41"/>
                    <a:pt x="40" y="40"/>
                  </a:cubicBezTo>
                  <a:cubicBezTo>
                    <a:pt x="40" y="39"/>
                    <a:pt x="40" y="37"/>
                    <a:pt x="40" y="3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2"/>
                    <a:pt x="40" y="10"/>
                    <a:pt x="40" y="8"/>
                  </a:cubicBezTo>
                  <a:cubicBezTo>
                    <a:pt x="39" y="7"/>
                    <a:pt x="39" y="6"/>
                    <a:pt x="38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3" name="Freeform 35">
              <a:extLst>
                <a:ext uri="{FF2B5EF4-FFF2-40B4-BE49-F238E27FC236}">
                  <a16:creationId xmlns:a16="http://schemas.microsoft.com/office/drawing/2014/main" id="{F1ADCD7D-6304-33C7-8E0C-B9775DB5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325" y="2884584"/>
              <a:ext cx="295395" cy="281922"/>
            </a:xfrm>
            <a:custGeom>
              <a:avLst/>
              <a:gdLst>
                <a:gd name="T0" fmla="*/ 55 w 55"/>
                <a:gd name="T1" fmla="*/ 3 h 52"/>
                <a:gd name="T2" fmla="*/ 52 w 55"/>
                <a:gd name="T3" fmla="*/ 4 h 52"/>
                <a:gd name="T4" fmla="*/ 49 w 55"/>
                <a:gd name="T5" fmla="*/ 5 h 52"/>
                <a:gd name="T6" fmla="*/ 48 w 55"/>
                <a:gd name="T7" fmla="*/ 8 h 52"/>
                <a:gd name="T8" fmla="*/ 47 w 55"/>
                <a:gd name="T9" fmla="*/ 15 h 52"/>
                <a:gd name="T10" fmla="*/ 47 w 55"/>
                <a:gd name="T11" fmla="*/ 52 h 52"/>
                <a:gd name="T12" fmla="*/ 44 w 55"/>
                <a:gd name="T13" fmla="*/ 52 h 52"/>
                <a:gd name="T14" fmla="*/ 13 w 55"/>
                <a:gd name="T15" fmla="*/ 10 h 52"/>
                <a:gd name="T16" fmla="*/ 13 w 55"/>
                <a:gd name="T17" fmla="*/ 37 h 52"/>
                <a:gd name="T18" fmla="*/ 14 w 55"/>
                <a:gd name="T19" fmla="*/ 43 h 52"/>
                <a:gd name="T20" fmla="*/ 15 w 55"/>
                <a:gd name="T21" fmla="*/ 47 h 52"/>
                <a:gd name="T22" fmla="*/ 19 w 55"/>
                <a:gd name="T23" fmla="*/ 48 h 52"/>
                <a:gd name="T24" fmla="*/ 22 w 55"/>
                <a:gd name="T25" fmla="*/ 49 h 52"/>
                <a:gd name="T26" fmla="*/ 22 w 55"/>
                <a:gd name="T27" fmla="*/ 51 h 52"/>
                <a:gd name="T28" fmla="*/ 1 w 55"/>
                <a:gd name="T29" fmla="*/ 51 h 52"/>
                <a:gd name="T30" fmla="*/ 1 w 55"/>
                <a:gd name="T31" fmla="*/ 49 h 52"/>
                <a:gd name="T32" fmla="*/ 5 w 55"/>
                <a:gd name="T33" fmla="*/ 48 h 52"/>
                <a:gd name="T34" fmla="*/ 7 w 55"/>
                <a:gd name="T35" fmla="*/ 47 h 52"/>
                <a:gd name="T36" fmla="*/ 9 w 55"/>
                <a:gd name="T37" fmla="*/ 44 h 52"/>
                <a:gd name="T38" fmla="*/ 10 w 55"/>
                <a:gd name="T39" fmla="*/ 37 h 52"/>
                <a:gd name="T40" fmla="*/ 10 w 55"/>
                <a:gd name="T41" fmla="*/ 12 h 52"/>
                <a:gd name="T42" fmla="*/ 9 w 55"/>
                <a:gd name="T43" fmla="*/ 9 h 52"/>
                <a:gd name="T44" fmla="*/ 8 w 55"/>
                <a:gd name="T45" fmla="*/ 6 h 52"/>
                <a:gd name="T46" fmla="*/ 4 w 55"/>
                <a:gd name="T47" fmla="*/ 4 h 52"/>
                <a:gd name="T48" fmla="*/ 0 w 55"/>
                <a:gd name="T49" fmla="*/ 3 h 52"/>
                <a:gd name="T50" fmla="*/ 0 w 55"/>
                <a:gd name="T51" fmla="*/ 0 h 52"/>
                <a:gd name="T52" fmla="*/ 15 w 55"/>
                <a:gd name="T53" fmla="*/ 0 h 52"/>
                <a:gd name="T54" fmla="*/ 44 w 55"/>
                <a:gd name="T55" fmla="*/ 39 h 52"/>
                <a:gd name="T56" fmla="*/ 44 w 55"/>
                <a:gd name="T57" fmla="*/ 15 h 52"/>
                <a:gd name="T58" fmla="*/ 43 w 55"/>
                <a:gd name="T59" fmla="*/ 8 h 52"/>
                <a:gd name="T60" fmla="*/ 41 w 55"/>
                <a:gd name="T61" fmla="*/ 5 h 52"/>
                <a:gd name="T62" fmla="*/ 38 w 55"/>
                <a:gd name="T63" fmla="*/ 4 h 52"/>
                <a:gd name="T64" fmla="*/ 35 w 55"/>
                <a:gd name="T65" fmla="*/ 3 h 52"/>
                <a:gd name="T66" fmla="*/ 35 w 55"/>
                <a:gd name="T67" fmla="*/ 0 h 52"/>
                <a:gd name="T68" fmla="*/ 55 w 55"/>
                <a:gd name="T69" fmla="*/ 0 h 52"/>
                <a:gd name="T70" fmla="*/ 55 w 55"/>
                <a:gd name="T7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52">
                  <a:moveTo>
                    <a:pt x="55" y="3"/>
                  </a:moveTo>
                  <a:cubicBezTo>
                    <a:pt x="55" y="3"/>
                    <a:pt x="54" y="3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6"/>
                    <a:pt x="48" y="8"/>
                  </a:cubicBezTo>
                  <a:cubicBezTo>
                    <a:pt x="47" y="10"/>
                    <a:pt x="47" y="12"/>
                    <a:pt x="47" y="15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42"/>
                    <a:pt x="14" y="43"/>
                  </a:cubicBezTo>
                  <a:cubicBezTo>
                    <a:pt x="14" y="45"/>
                    <a:pt x="15" y="46"/>
                    <a:pt x="15" y="47"/>
                  </a:cubicBezTo>
                  <a:cubicBezTo>
                    <a:pt x="16" y="47"/>
                    <a:pt x="17" y="48"/>
                    <a:pt x="19" y="48"/>
                  </a:cubicBezTo>
                  <a:cubicBezTo>
                    <a:pt x="20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3" y="49"/>
                    <a:pt x="5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3"/>
                    <a:pt x="10" y="40"/>
                    <a:pt x="10" y="3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2"/>
                    <a:pt x="43" y="10"/>
                    <a:pt x="43" y="8"/>
                  </a:cubicBezTo>
                  <a:cubicBezTo>
                    <a:pt x="43" y="7"/>
                    <a:pt x="42" y="6"/>
                    <a:pt x="41" y="5"/>
                  </a:cubicBezTo>
                  <a:cubicBezTo>
                    <a:pt x="41" y="5"/>
                    <a:pt x="40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5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4" name="Freeform 36">
              <a:extLst>
                <a:ext uri="{FF2B5EF4-FFF2-40B4-BE49-F238E27FC236}">
                  <a16:creationId xmlns:a16="http://schemas.microsoft.com/office/drawing/2014/main" id="{C0B6AE74-08C9-4726-9DD9-FBC922D6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22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8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8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1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6 w 23"/>
                <a:gd name="T37" fmla="*/ 7 h 51"/>
                <a:gd name="T38" fmla="*/ 16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7" y="48"/>
                    <a:pt x="7" y="47"/>
                    <a:pt x="8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6"/>
                    <a:pt x="16" y="46"/>
                  </a:cubicBezTo>
                  <a:cubicBezTo>
                    <a:pt x="17" y="47"/>
                    <a:pt x="17" y="47"/>
                    <a:pt x="18" y="48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22" y="49"/>
                    <a:pt x="23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5" name="Freeform 37">
              <a:extLst>
                <a:ext uri="{FF2B5EF4-FFF2-40B4-BE49-F238E27FC236}">
                  <a16:creationId xmlns:a16="http://schemas.microsoft.com/office/drawing/2014/main" id="{60F69A65-7CFE-16E3-5B1C-F97B59907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828" y="2884584"/>
              <a:ext cx="279849" cy="281922"/>
            </a:xfrm>
            <a:custGeom>
              <a:avLst/>
              <a:gdLst>
                <a:gd name="T0" fmla="*/ 52 w 52"/>
                <a:gd name="T1" fmla="*/ 3 h 52"/>
                <a:gd name="T2" fmla="*/ 50 w 52"/>
                <a:gd name="T3" fmla="*/ 3 h 52"/>
                <a:gd name="T4" fmla="*/ 48 w 52"/>
                <a:gd name="T5" fmla="*/ 4 h 52"/>
                <a:gd name="T6" fmla="*/ 46 w 52"/>
                <a:gd name="T7" fmla="*/ 6 h 52"/>
                <a:gd name="T8" fmla="*/ 44 w 52"/>
                <a:gd name="T9" fmla="*/ 9 h 52"/>
                <a:gd name="T10" fmla="*/ 37 w 52"/>
                <a:gd name="T11" fmla="*/ 27 h 52"/>
                <a:gd name="T12" fmla="*/ 27 w 52"/>
                <a:gd name="T13" fmla="*/ 52 h 52"/>
                <a:gd name="T14" fmla="*/ 24 w 52"/>
                <a:gd name="T15" fmla="*/ 52 h 52"/>
                <a:gd name="T16" fmla="*/ 14 w 52"/>
                <a:gd name="T17" fmla="*/ 25 h 52"/>
                <a:gd name="T18" fmla="*/ 8 w 52"/>
                <a:gd name="T19" fmla="*/ 8 h 52"/>
                <a:gd name="T20" fmla="*/ 7 w 52"/>
                <a:gd name="T21" fmla="*/ 6 h 52"/>
                <a:gd name="T22" fmla="*/ 5 w 52"/>
                <a:gd name="T23" fmla="*/ 4 h 52"/>
                <a:gd name="T24" fmla="*/ 2 w 52"/>
                <a:gd name="T25" fmla="*/ 3 h 52"/>
                <a:gd name="T26" fmla="*/ 0 w 52"/>
                <a:gd name="T27" fmla="*/ 3 h 52"/>
                <a:gd name="T28" fmla="*/ 0 w 52"/>
                <a:gd name="T29" fmla="*/ 0 h 52"/>
                <a:gd name="T30" fmla="*/ 21 w 52"/>
                <a:gd name="T31" fmla="*/ 0 h 52"/>
                <a:gd name="T32" fmla="*/ 21 w 52"/>
                <a:gd name="T33" fmla="*/ 3 h 52"/>
                <a:gd name="T34" fmla="*/ 17 w 52"/>
                <a:gd name="T35" fmla="*/ 4 h 52"/>
                <a:gd name="T36" fmla="*/ 15 w 52"/>
                <a:gd name="T37" fmla="*/ 5 h 52"/>
                <a:gd name="T38" fmla="*/ 15 w 52"/>
                <a:gd name="T39" fmla="*/ 6 h 52"/>
                <a:gd name="T40" fmla="*/ 15 w 52"/>
                <a:gd name="T41" fmla="*/ 7 h 52"/>
                <a:gd name="T42" fmla="*/ 20 w 52"/>
                <a:gd name="T43" fmla="*/ 18 h 52"/>
                <a:gd name="T44" fmla="*/ 28 w 52"/>
                <a:gd name="T45" fmla="*/ 41 h 52"/>
                <a:gd name="T46" fmla="*/ 34 w 52"/>
                <a:gd name="T47" fmla="*/ 25 h 52"/>
                <a:gd name="T48" fmla="*/ 39 w 52"/>
                <a:gd name="T49" fmla="*/ 13 h 52"/>
                <a:gd name="T50" fmla="*/ 41 w 52"/>
                <a:gd name="T51" fmla="*/ 8 h 52"/>
                <a:gd name="T52" fmla="*/ 41 w 52"/>
                <a:gd name="T53" fmla="*/ 6 h 52"/>
                <a:gd name="T54" fmla="*/ 40 w 52"/>
                <a:gd name="T55" fmla="*/ 5 h 52"/>
                <a:gd name="T56" fmla="*/ 38 w 52"/>
                <a:gd name="T57" fmla="*/ 4 h 52"/>
                <a:gd name="T58" fmla="*/ 36 w 52"/>
                <a:gd name="T59" fmla="*/ 3 h 52"/>
                <a:gd name="T60" fmla="*/ 33 w 52"/>
                <a:gd name="T61" fmla="*/ 3 h 52"/>
                <a:gd name="T62" fmla="*/ 33 w 52"/>
                <a:gd name="T63" fmla="*/ 0 h 52"/>
                <a:gd name="T64" fmla="*/ 52 w 52"/>
                <a:gd name="T65" fmla="*/ 0 h 52"/>
                <a:gd name="T66" fmla="*/ 52 w 52"/>
                <a:gd name="T67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2">
                  <a:moveTo>
                    <a:pt x="52" y="3"/>
                  </a:moveTo>
                  <a:cubicBezTo>
                    <a:pt x="52" y="3"/>
                    <a:pt x="51" y="3"/>
                    <a:pt x="50" y="3"/>
                  </a:cubicBezTo>
                  <a:cubicBezTo>
                    <a:pt x="49" y="4"/>
                    <a:pt x="48" y="4"/>
                    <a:pt x="48" y="4"/>
                  </a:cubicBezTo>
                  <a:cubicBezTo>
                    <a:pt x="47" y="5"/>
                    <a:pt x="46" y="6"/>
                    <a:pt x="46" y="6"/>
                  </a:cubicBezTo>
                  <a:cubicBezTo>
                    <a:pt x="45" y="7"/>
                    <a:pt x="45" y="8"/>
                    <a:pt x="44" y="9"/>
                  </a:cubicBezTo>
                  <a:cubicBezTo>
                    <a:pt x="43" y="13"/>
                    <a:pt x="40" y="19"/>
                    <a:pt x="37" y="27"/>
                  </a:cubicBezTo>
                  <a:cubicBezTo>
                    <a:pt x="34" y="35"/>
                    <a:pt x="31" y="43"/>
                    <a:pt x="27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1" y="43"/>
                    <a:pt x="17" y="34"/>
                    <a:pt x="14" y="25"/>
                  </a:cubicBezTo>
                  <a:cubicBezTo>
                    <a:pt x="11" y="17"/>
                    <a:pt x="9" y="11"/>
                    <a:pt x="8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6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6" y="9"/>
                    <a:pt x="18" y="13"/>
                    <a:pt x="20" y="18"/>
                  </a:cubicBezTo>
                  <a:cubicBezTo>
                    <a:pt x="22" y="24"/>
                    <a:pt x="24" y="31"/>
                    <a:pt x="28" y="41"/>
                  </a:cubicBezTo>
                  <a:cubicBezTo>
                    <a:pt x="30" y="36"/>
                    <a:pt x="32" y="31"/>
                    <a:pt x="34" y="25"/>
                  </a:cubicBezTo>
                  <a:cubicBezTo>
                    <a:pt x="37" y="19"/>
                    <a:pt x="38" y="15"/>
                    <a:pt x="39" y="13"/>
                  </a:cubicBezTo>
                  <a:cubicBezTo>
                    <a:pt x="40" y="11"/>
                    <a:pt x="40" y="9"/>
                    <a:pt x="41" y="8"/>
                  </a:cubicBezTo>
                  <a:cubicBezTo>
                    <a:pt x="41" y="7"/>
                    <a:pt x="41" y="7"/>
                    <a:pt x="41" y="6"/>
                  </a:cubicBezTo>
                  <a:cubicBezTo>
                    <a:pt x="41" y="6"/>
                    <a:pt x="40" y="5"/>
                    <a:pt x="40" y="5"/>
                  </a:cubicBezTo>
                  <a:cubicBezTo>
                    <a:pt x="40" y="4"/>
                    <a:pt x="39" y="4"/>
                    <a:pt x="38" y="4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6" name="Freeform 38">
              <a:extLst>
                <a:ext uri="{FF2B5EF4-FFF2-40B4-BE49-F238E27FC236}">
                  <a16:creationId xmlns:a16="http://schemas.microsoft.com/office/drawing/2014/main" id="{2DD82431-E65A-9ACB-62FD-670B9577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042" y="2884584"/>
              <a:ext cx="231134" cy="275703"/>
            </a:xfrm>
            <a:custGeom>
              <a:avLst/>
              <a:gdLst>
                <a:gd name="T0" fmla="*/ 43 w 43"/>
                <a:gd name="T1" fmla="*/ 36 h 51"/>
                <a:gd name="T2" fmla="*/ 42 w 43"/>
                <a:gd name="T3" fmla="*/ 51 h 51"/>
                <a:gd name="T4" fmla="*/ 0 w 43"/>
                <a:gd name="T5" fmla="*/ 51 h 51"/>
                <a:gd name="T6" fmla="*/ 0 w 43"/>
                <a:gd name="T7" fmla="*/ 49 h 51"/>
                <a:gd name="T8" fmla="*/ 3 w 43"/>
                <a:gd name="T9" fmla="*/ 49 h 51"/>
                <a:gd name="T10" fmla="*/ 5 w 43"/>
                <a:gd name="T11" fmla="*/ 48 h 51"/>
                <a:gd name="T12" fmla="*/ 6 w 43"/>
                <a:gd name="T13" fmla="*/ 47 h 51"/>
                <a:gd name="T14" fmla="*/ 7 w 43"/>
                <a:gd name="T15" fmla="*/ 44 h 51"/>
                <a:gd name="T16" fmla="*/ 7 w 43"/>
                <a:gd name="T17" fmla="*/ 8 h 51"/>
                <a:gd name="T18" fmla="*/ 7 w 43"/>
                <a:gd name="T19" fmla="*/ 6 h 51"/>
                <a:gd name="T20" fmla="*/ 5 w 43"/>
                <a:gd name="T21" fmla="*/ 4 h 51"/>
                <a:gd name="T22" fmla="*/ 2 w 43"/>
                <a:gd name="T23" fmla="*/ 3 h 51"/>
                <a:gd name="T24" fmla="*/ 0 w 43"/>
                <a:gd name="T25" fmla="*/ 3 h 51"/>
                <a:gd name="T26" fmla="*/ 0 w 43"/>
                <a:gd name="T27" fmla="*/ 0 h 51"/>
                <a:gd name="T28" fmla="*/ 39 w 43"/>
                <a:gd name="T29" fmla="*/ 0 h 51"/>
                <a:gd name="T30" fmla="*/ 39 w 43"/>
                <a:gd name="T31" fmla="*/ 13 h 51"/>
                <a:gd name="T32" fmla="*/ 36 w 43"/>
                <a:gd name="T33" fmla="*/ 13 h 51"/>
                <a:gd name="T34" fmla="*/ 33 w 43"/>
                <a:gd name="T35" fmla="*/ 7 h 51"/>
                <a:gd name="T36" fmla="*/ 29 w 43"/>
                <a:gd name="T37" fmla="*/ 4 h 51"/>
                <a:gd name="T38" fmla="*/ 26 w 43"/>
                <a:gd name="T39" fmla="*/ 4 h 51"/>
                <a:gd name="T40" fmla="*/ 23 w 43"/>
                <a:gd name="T41" fmla="*/ 3 h 51"/>
                <a:gd name="T42" fmla="*/ 15 w 43"/>
                <a:gd name="T43" fmla="*/ 3 h 51"/>
                <a:gd name="T44" fmla="*/ 15 w 43"/>
                <a:gd name="T45" fmla="*/ 24 h 51"/>
                <a:gd name="T46" fmla="*/ 20 w 43"/>
                <a:gd name="T47" fmla="*/ 24 h 51"/>
                <a:gd name="T48" fmla="*/ 24 w 43"/>
                <a:gd name="T49" fmla="*/ 23 h 51"/>
                <a:gd name="T50" fmla="*/ 27 w 43"/>
                <a:gd name="T51" fmla="*/ 21 h 51"/>
                <a:gd name="T52" fmla="*/ 28 w 43"/>
                <a:gd name="T53" fmla="*/ 19 h 51"/>
                <a:gd name="T54" fmla="*/ 29 w 43"/>
                <a:gd name="T55" fmla="*/ 15 h 51"/>
                <a:gd name="T56" fmla="*/ 31 w 43"/>
                <a:gd name="T57" fmla="*/ 15 h 51"/>
                <a:gd name="T58" fmla="*/ 31 w 43"/>
                <a:gd name="T59" fmla="*/ 35 h 51"/>
                <a:gd name="T60" fmla="*/ 29 w 43"/>
                <a:gd name="T61" fmla="*/ 35 h 51"/>
                <a:gd name="T62" fmla="*/ 28 w 43"/>
                <a:gd name="T63" fmla="*/ 32 h 51"/>
                <a:gd name="T64" fmla="*/ 27 w 43"/>
                <a:gd name="T65" fmla="*/ 29 h 51"/>
                <a:gd name="T66" fmla="*/ 24 w 43"/>
                <a:gd name="T67" fmla="*/ 27 h 51"/>
                <a:gd name="T68" fmla="*/ 20 w 43"/>
                <a:gd name="T69" fmla="*/ 27 h 51"/>
                <a:gd name="T70" fmla="*/ 15 w 43"/>
                <a:gd name="T71" fmla="*/ 27 h 51"/>
                <a:gd name="T72" fmla="*/ 15 w 43"/>
                <a:gd name="T73" fmla="*/ 42 h 51"/>
                <a:gd name="T74" fmla="*/ 15 w 43"/>
                <a:gd name="T75" fmla="*/ 45 h 51"/>
                <a:gd name="T76" fmla="*/ 16 w 43"/>
                <a:gd name="T77" fmla="*/ 47 h 51"/>
                <a:gd name="T78" fmla="*/ 19 w 43"/>
                <a:gd name="T79" fmla="*/ 48 h 51"/>
                <a:gd name="T80" fmla="*/ 23 w 43"/>
                <a:gd name="T81" fmla="*/ 48 h 51"/>
                <a:gd name="T82" fmla="*/ 26 w 43"/>
                <a:gd name="T83" fmla="*/ 48 h 51"/>
                <a:gd name="T84" fmla="*/ 30 w 43"/>
                <a:gd name="T85" fmla="*/ 48 h 51"/>
                <a:gd name="T86" fmla="*/ 32 w 43"/>
                <a:gd name="T87" fmla="*/ 48 h 51"/>
                <a:gd name="T88" fmla="*/ 34 w 43"/>
                <a:gd name="T89" fmla="*/ 47 h 51"/>
                <a:gd name="T90" fmla="*/ 38 w 43"/>
                <a:gd name="T91" fmla="*/ 42 h 51"/>
                <a:gd name="T92" fmla="*/ 40 w 43"/>
                <a:gd name="T93" fmla="*/ 36 h 51"/>
                <a:gd name="T94" fmla="*/ 43 w 43"/>
                <a:gd name="T95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1">
                  <a:moveTo>
                    <a:pt x="43" y="36"/>
                  </a:moveTo>
                  <a:cubicBezTo>
                    <a:pt x="42" y="51"/>
                    <a:pt x="42" y="51"/>
                    <a:pt x="4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9"/>
                    <a:pt x="3" y="49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5" y="9"/>
                    <a:pt x="33" y="7"/>
                  </a:cubicBezTo>
                  <a:cubicBezTo>
                    <a:pt x="32" y="5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5" y="3"/>
                    <a:pt x="24" y="3"/>
                    <a:pt x="23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3"/>
                    <a:pt x="26" y="22"/>
                    <a:pt x="27" y="21"/>
                  </a:cubicBezTo>
                  <a:cubicBezTo>
                    <a:pt x="27" y="21"/>
                    <a:pt x="28" y="20"/>
                    <a:pt x="28" y="19"/>
                  </a:cubicBezTo>
                  <a:cubicBezTo>
                    <a:pt x="28" y="17"/>
                    <a:pt x="28" y="16"/>
                    <a:pt x="29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8" y="32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8"/>
                    <a:pt x="25" y="27"/>
                    <a:pt x="24" y="27"/>
                  </a:cubicBezTo>
                  <a:cubicBezTo>
                    <a:pt x="23" y="27"/>
                    <a:pt x="22" y="27"/>
                    <a:pt x="20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4"/>
                    <a:pt x="15" y="45"/>
                  </a:cubicBezTo>
                  <a:cubicBezTo>
                    <a:pt x="15" y="46"/>
                    <a:pt x="16" y="47"/>
                    <a:pt x="16" y="47"/>
                  </a:cubicBezTo>
                  <a:cubicBezTo>
                    <a:pt x="17" y="48"/>
                    <a:pt x="18" y="48"/>
                    <a:pt x="19" y="48"/>
                  </a:cubicBezTo>
                  <a:cubicBezTo>
                    <a:pt x="20" y="48"/>
                    <a:pt x="21" y="48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3" y="48"/>
                    <a:pt x="34" y="47"/>
                    <a:pt x="34" y="47"/>
                  </a:cubicBezTo>
                  <a:cubicBezTo>
                    <a:pt x="36" y="46"/>
                    <a:pt x="37" y="44"/>
                    <a:pt x="38" y="42"/>
                  </a:cubicBezTo>
                  <a:cubicBezTo>
                    <a:pt x="39" y="39"/>
                    <a:pt x="40" y="38"/>
                    <a:pt x="40" y="36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7" name="Freeform 39">
              <a:extLst>
                <a:ext uri="{FF2B5EF4-FFF2-40B4-BE49-F238E27FC236}">
                  <a16:creationId xmlns:a16="http://schemas.microsoft.com/office/drawing/2014/main" id="{CF7FD178-E62E-EF44-34B7-44CD81F69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6124" y="2884584"/>
              <a:ext cx="269484" cy="275703"/>
            </a:xfrm>
            <a:custGeom>
              <a:avLst/>
              <a:gdLst>
                <a:gd name="T0" fmla="*/ 50 w 50"/>
                <a:gd name="T1" fmla="*/ 51 h 51"/>
                <a:gd name="T2" fmla="*/ 36 w 50"/>
                <a:gd name="T3" fmla="*/ 51 h 51"/>
                <a:gd name="T4" fmla="*/ 28 w 50"/>
                <a:gd name="T5" fmla="*/ 39 h 51"/>
                <a:gd name="T6" fmla="*/ 20 w 50"/>
                <a:gd name="T7" fmla="*/ 28 h 51"/>
                <a:gd name="T8" fmla="*/ 15 w 50"/>
                <a:gd name="T9" fmla="*/ 28 h 51"/>
                <a:gd name="T10" fmla="*/ 15 w 50"/>
                <a:gd name="T11" fmla="*/ 44 h 51"/>
                <a:gd name="T12" fmla="*/ 15 w 50"/>
                <a:gd name="T13" fmla="*/ 47 h 51"/>
                <a:gd name="T14" fmla="*/ 17 w 50"/>
                <a:gd name="T15" fmla="*/ 48 h 51"/>
                <a:gd name="T16" fmla="*/ 19 w 50"/>
                <a:gd name="T17" fmla="*/ 49 h 51"/>
                <a:gd name="T18" fmla="*/ 22 w 50"/>
                <a:gd name="T19" fmla="*/ 49 h 51"/>
                <a:gd name="T20" fmla="*/ 22 w 50"/>
                <a:gd name="T21" fmla="*/ 51 h 51"/>
                <a:gd name="T22" fmla="*/ 0 w 50"/>
                <a:gd name="T23" fmla="*/ 51 h 51"/>
                <a:gd name="T24" fmla="*/ 0 w 50"/>
                <a:gd name="T25" fmla="*/ 49 h 51"/>
                <a:gd name="T26" fmla="*/ 3 w 50"/>
                <a:gd name="T27" fmla="*/ 49 h 51"/>
                <a:gd name="T28" fmla="*/ 5 w 50"/>
                <a:gd name="T29" fmla="*/ 48 h 51"/>
                <a:gd name="T30" fmla="*/ 6 w 50"/>
                <a:gd name="T31" fmla="*/ 47 h 51"/>
                <a:gd name="T32" fmla="*/ 7 w 50"/>
                <a:gd name="T33" fmla="*/ 44 h 51"/>
                <a:gd name="T34" fmla="*/ 7 w 50"/>
                <a:gd name="T35" fmla="*/ 8 h 51"/>
                <a:gd name="T36" fmla="*/ 7 w 50"/>
                <a:gd name="T37" fmla="*/ 5 h 51"/>
                <a:gd name="T38" fmla="*/ 5 w 50"/>
                <a:gd name="T39" fmla="*/ 4 h 51"/>
                <a:gd name="T40" fmla="*/ 3 w 50"/>
                <a:gd name="T41" fmla="*/ 3 h 51"/>
                <a:gd name="T42" fmla="*/ 0 w 50"/>
                <a:gd name="T43" fmla="*/ 3 h 51"/>
                <a:gd name="T44" fmla="*/ 0 w 50"/>
                <a:gd name="T45" fmla="*/ 0 h 51"/>
                <a:gd name="T46" fmla="*/ 24 w 50"/>
                <a:gd name="T47" fmla="*/ 0 h 51"/>
                <a:gd name="T48" fmla="*/ 30 w 50"/>
                <a:gd name="T49" fmla="*/ 1 h 51"/>
                <a:gd name="T50" fmla="*/ 35 w 50"/>
                <a:gd name="T51" fmla="*/ 3 h 51"/>
                <a:gd name="T52" fmla="*/ 38 w 50"/>
                <a:gd name="T53" fmla="*/ 7 h 51"/>
                <a:gd name="T54" fmla="*/ 40 w 50"/>
                <a:gd name="T55" fmla="*/ 13 h 51"/>
                <a:gd name="T56" fmla="*/ 39 w 50"/>
                <a:gd name="T57" fmla="*/ 18 h 51"/>
                <a:gd name="T58" fmla="*/ 36 w 50"/>
                <a:gd name="T59" fmla="*/ 22 h 51"/>
                <a:gd name="T60" fmla="*/ 32 w 50"/>
                <a:gd name="T61" fmla="*/ 24 h 51"/>
                <a:gd name="T62" fmla="*/ 27 w 50"/>
                <a:gd name="T63" fmla="*/ 26 h 51"/>
                <a:gd name="T64" fmla="*/ 34 w 50"/>
                <a:gd name="T65" fmla="*/ 35 h 51"/>
                <a:gd name="T66" fmla="*/ 40 w 50"/>
                <a:gd name="T67" fmla="*/ 43 h 51"/>
                <a:gd name="T68" fmla="*/ 43 w 50"/>
                <a:gd name="T69" fmla="*/ 46 h 51"/>
                <a:gd name="T70" fmla="*/ 45 w 50"/>
                <a:gd name="T71" fmla="*/ 48 h 51"/>
                <a:gd name="T72" fmla="*/ 47 w 50"/>
                <a:gd name="T73" fmla="*/ 49 h 51"/>
                <a:gd name="T74" fmla="*/ 50 w 50"/>
                <a:gd name="T75" fmla="*/ 49 h 51"/>
                <a:gd name="T76" fmla="*/ 50 w 50"/>
                <a:gd name="T77" fmla="*/ 51 h 51"/>
                <a:gd name="T78" fmla="*/ 31 w 50"/>
                <a:gd name="T79" fmla="*/ 13 h 51"/>
                <a:gd name="T80" fmla="*/ 28 w 50"/>
                <a:gd name="T81" fmla="*/ 6 h 51"/>
                <a:gd name="T82" fmla="*/ 21 w 50"/>
                <a:gd name="T83" fmla="*/ 3 h 51"/>
                <a:gd name="T84" fmla="*/ 15 w 50"/>
                <a:gd name="T85" fmla="*/ 3 h 51"/>
                <a:gd name="T86" fmla="*/ 15 w 50"/>
                <a:gd name="T87" fmla="*/ 25 h 51"/>
                <a:gd name="T88" fmla="*/ 19 w 50"/>
                <a:gd name="T89" fmla="*/ 25 h 51"/>
                <a:gd name="T90" fmla="*/ 28 w 50"/>
                <a:gd name="T91" fmla="*/ 22 h 51"/>
                <a:gd name="T92" fmla="*/ 31 w 50"/>
                <a:gd name="T9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33" y="47"/>
                    <a:pt x="30" y="43"/>
                    <a:pt x="28" y="39"/>
                  </a:cubicBezTo>
                  <a:cubicBezTo>
                    <a:pt x="25" y="36"/>
                    <a:pt x="23" y="32"/>
                    <a:pt x="20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7" y="48"/>
                    <a:pt x="18" y="48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6" y="48"/>
                    <a:pt x="6" y="47"/>
                    <a:pt x="6" y="47"/>
                  </a:cubicBezTo>
                  <a:cubicBezTo>
                    <a:pt x="7" y="46"/>
                    <a:pt x="7" y="45"/>
                    <a:pt x="7" y="44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8" y="1"/>
                    <a:pt x="30" y="1"/>
                  </a:cubicBezTo>
                  <a:cubicBezTo>
                    <a:pt x="32" y="2"/>
                    <a:pt x="33" y="2"/>
                    <a:pt x="35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9"/>
                    <a:pt x="40" y="10"/>
                    <a:pt x="40" y="13"/>
                  </a:cubicBezTo>
                  <a:cubicBezTo>
                    <a:pt x="40" y="15"/>
                    <a:pt x="39" y="16"/>
                    <a:pt x="39" y="18"/>
                  </a:cubicBezTo>
                  <a:cubicBezTo>
                    <a:pt x="38" y="19"/>
                    <a:pt x="37" y="21"/>
                    <a:pt x="36" y="22"/>
                  </a:cubicBezTo>
                  <a:cubicBezTo>
                    <a:pt x="35" y="23"/>
                    <a:pt x="34" y="24"/>
                    <a:pt x="32" y="24"/>
                  </a:cubicBezTo>
                  <a:cubicBezTo>
                    <a:pt x="31" y="25"/>
                    <a:pt x="29" y="26"/>
                    <a:pt x="27" y="26"/>
                  </a:cubicBezTo>
                  <a:cubicBezTo>
                    <a:pt x="30" y="30"/>
                    <a:pt x="32" y="32"/>
                    <a:pt x="34" y="35"/>
                  </a:cubicBezTo>
                  <a:cubicBezTo>
                    <a:pt x="35" y="37"/>
                    <a:pt x="37" y="40"/>
                    <a:pt x="40" y="43"/>
                  </a:cubicBezTo>
                  <a:cubicBezTo>
                    <a:pt x="41" y="44"/>
                    <a:pt x="42" y="46"/>
                    <a:pt x="43" y="46"/>
                  </a:cubicBezTo>
                  <a:cubicBezTo>
                    <a:pt x="43" y="47"/>
                    <a:pt x="44" y="47"/>
                    <a:pt x="45" y="48"/>
                  </a:cubicBezTo>
                  <a:cubicBezTo>
                    <a:pt x="46" y="48"/>
                    <a:pt x="47" y="48"/>
                    <a:pt x="47" y="49"/>
                  </a:cubicBezTo>
                  <a:cubicBezTo>
                    <a:pt x="48" y="49"/>
                    <a:pt x="49" y="49"/>
                    <a:pt x="50" y="49"/>
                  </a:cubicBezTo>
                  <a:lnTo>
                    <a:pt x="50" y="51"/>
                  </a:lnTo>
                  <a:close/>
                  <a:moveTo>
                    <a:pt x="31" y="13"/>
                  </a:moveTo>
                  <a:cubicBezTo>
                    <a:pt x="31" y="10"/>
                    <a:pt x="30" y="8"/>
                    <a:pt x="28" y="6"/>
                  </a:cubicBezTo>
                  <a:cubicBezTo>
                    <a:pt x="26" y="4"/>
                    <a:pt x="24" y="3"/>
                    <a:pt x="21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4"/>
                    <a:pt x="28" y="22"/>
                  </a:cubicBezTo>
                  <a:cubicBezTo>
                    <a:pt x="30" y="20"/>
                    <a:pt x="31" y="17"/>
                    <a:pt x="3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8" name="Freeform 40">
              <a:extLst>
                <a:ext uri="{FF2B5EF4-FFF2-40B4-BE49-F238E27FC236}">
                  <a16:creationId xmlns:a16="http://schemas.microsoft.com/office/drawing/2014/main" id="{70FA75E1-ACE6-1EF2-C97F-E770B819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5972" y="2879402"/>
              <a:ext cx="188639" cy="292286"/>
            </a:xfrm>
            <a:custGeom>
              <a:avLst/>
              <a:gdLst>
                <a:gd name="T0" fmla="*/ 31 w 35"/>
                <a:gd name="T1" fmla="*/ 29 h 54"/>
                <a:gd name="T2" fmla="*/ 34 w 35"/>
                <a:gd name="T3" fmla="*/ 33 h 54"/>
                <a:gd name="T4" fmla="*/ 35 w 35"/>
                <a:gd name="T5" fmla="*/ 38 h 54"/>
                <a:gd name="T6" fmla="*/ 30 w 35"/>
                <a:gd name="T7" fmla="*/ 49 h 54"/>
                <a:gd name="T8" fmla="*/ 17 w 35"/>
                <a:gd name="T9" fmla="*/ 54 h 54"/>
                <a:gd name="T10" fmla="*/ 10 w 35"/>
                <a:gd name="T11" fmla="*/ 52 h 54"/>
                <a:gd name="T12" fmla="*/ 5 w 35"/>
                <a:gd name="T13" fmla="*/ 50 h 54"/>
                <a:gd name="T14" fmla="*/ 3 w 35"/>
                <a:gd name="T15" fmla="*/ 52 h 54"/>
                <a:gd name="T16" fmla="*/ 0 w 35"/>
                <a:gd name="T17" fmla="*/ 52 h 54"/>
                <a:gd name="T18" fmla="*/ 0 w 35"/>
                <a:gd name="T19" fmla="*/ 35 h 54"/>
                <a:gd name="T20" fmla="*/ 2 w 35"/>
                <a:gd name="T21" fmla="*/ 35 h 54"/>
                <a:gd name="T22" fmla="*/ 5 w 35"/>
                <a:gd name="T23" fmla="*/ 41 h 54"/>
                <a:gd name="T24" fmla="*/ 8 w 35"/>
                <a:gd name="T25" fmla="*/ 46 h 54"/>
                <a:gd name="T26" fmla="*/ 12 w 35"/>
                <a:gd name="T27" fmla="*/ 49 h 54"/>
                <a:gd name="T28" fmla="*/ 18 w 35"/>
                <a:gd name="T29" fmla="*/ 50 h 54"/>
                <a:gd name="T30" fmla="*/ 22 w 35"/>
                <a:gd name="T31" fmla="*/ 50 h 54"/>
                <a:gd name="T32" fmla="*/ 25 w 35"/>
                <a:gd name="T33" fmla="*/ 48 h 54"/>
                <a:gd name="T34" fmla="*/ 27 w 35"/>
                <a:gd name="T35" fmla="*/ 45 h 54"/>
                <a:gd name="T36" fmla="*/ 28 w 35"/>
                <a:gd name="T37" fmla="*/ 41 h 54"/>
                <a:gd name="T38" fmla="*/ 26 w 35"/>
                <a:gd name="T39" fmla="*/ 36 h 54"/>
                <a:gd name="T40" fmla="*/ 21 w 35"/>
                <a:gd name="T41" fmla="*/ 32 h 54"/>
                <a:gd name="T42" fmla="*/ 15 w 35"/>
                <a:gd name="T43" fmla="*/ 30 h 54"/>
                <a:gd name="T44" fmla="*/ 10 w 35"/>
                <a:gd name="T45" fmla="*/ 28 h 54"/>
                <a:gd name="T46" fmla="*/ 3 w 35"/>
                <a:gd name="T47" fmla="*/ 22 h 54"/>
                <a:gd name="T48" fmla="*/ 1 w 35"/>
                <a:gd name="T49" fmla="*/ 14 h 54"/>
                <a:gd name="T50" fmla="*/ 2 w 35"/>
                <a:gd name="T51" fmla="*/ 9 h 54"/>
                <a:gd name="T52" fmla="*/ 6 w 35"/>
                <a:gd name="T53" fmla="*/ 4 h 54"/>
                <a:gd name="T54" fmla="*/ 11 w 35"/>
                <a:gd name="T55" fmla="*/ 1 h 54"/>
                <a:gd name="T56" fmla="*/ 16 w 35"/>
                <a:gd name="T57" fmla="*/ 0 h 54"/>
                <a:gd name="T58" fmla="*/ 23 w 35"/>
                <a:gd name="T59" fmla="*/ 1 h 54"/>
                <a:gd name="T60" fmla="*/ 28 w 35"/>
                <a:gd name="T61" fmla="*/ 4 h 54"/>
                <a:gd name="T62" fmla="*/ 29 w 35"/>
                <a:gd name="T63" fmla="*/ 1 h 54"/>
                <a:gd name="T64" fmla="*/ 32 w 35"/>
                <a:gd name="T65" fmla="*/ 1 h 54"/>
                <a:gd name="T66" fmla="*/ 32 w 35"/>
                <a:gd name="T67" fmla="*/ 18 h 54"/>
                <a:gd name="T68" fmla="*/ 30 w 35"/>
                <a:gd name="T69" fmla="*/ 18 h 54"/>
                <a:gd name="T70" fmla="*/ 28 w 35"/>
                <a:gd name="T71" fmla="*/ 13 h 54"/>
                <a:gd name="T72" fmla="*/ 25 w 35"/>
                <a:gd name="T73" fmla="*/ 8 h 54"/>
                <a:gd name="T74" fmla="*/ 21 w 35"/>
                <a:gd name="T75" fmla="*/ 5 h 54"/>
                <a:gd name="T76" fmla="*/ 16 w 35"/>
                <a:gd name="T77" fmla="*/ 3 h 54"/>
                <a:gd name="T78" fmla="*/ 10 w 35"/>
                <a:gd name="T79" fmla="*/ 6 h 54"/>
                <a:gd name="T80" fmla="*/ 8 w 35"/>
                <a:gd name="T81" fmla="*/ 11 h 54"/>
                <a:gd name="T82" fmla="*/ 9 w 35"/>
                <a:gd name="T83" fmla="*/ 17 h 54"/>
                <a:gd name="T84" fmla="*/ 14 w 35"/>
                <a:gd name="T85" fmla="*/ 20 h 54"/>
                <a:gd name="T86" fmla="*/ 19 w 35"/>
                <a:gd name="T87" fmla="*/ 22 h 54"/>
                <a:gd name="T88" fmla="*/ 24 w 35"/>
                <a:gd name="T89" fmla="*/ 24 h 54"/>
                <a:gd name="T90" fmla="*/ 28 w 35"/>
                <a:gd name="T91" fmla="*/ 26 h 54"/>
                <a:gd name="T92" fmla="*/ 31 w 35"/>
                <a:gd name="T93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54">
                  <a:moveTo>
                    <a:pt x="31" y="29"/>
                  </a:moveTo>
                  <a:cubicBezTo>
                    <a:pt x="32" y="30"/>
                    <a:pt x="33" y="32"/>
                    <a:pt x="34" y="33"/>
                  </a:cubicBezTo>
                  <a:cubicBezTo>
                    <a:pt x="34" y="34"/>
                    <a:pt x="35" y="36"/>
                    <a:pt x="35" y="38"/>
                  </a:cubicBezTo>
                  <a:cubicBezTo>
                    <a:pt x="35" y="43"/>
                    <a:pt x="33" y="46"/>
                    <a:pt x="30" y="49"/>
                  </a:cubicBezTo>
                  <a:cubicBezTo>
                    <a:pt x="26" y="52"/>
                    <a:pt x="22" y="54"/>
                    <a:pt x="17" y="54"/>
                  </a:cubicBezTo>
                  <a:cubicBezTo>
                    <a:pt x="15" y="54"/>
                    <a:pt x="13" y="53"/>
                    <a:pt x="10" y="52"/>
                  </a:cubicBezTo>
                  <a:cubicBezTo>
                    <a:pt x="8" y="52"/>
                    <a:pt x="6" y="51"/>
                    <a:pt x="5" y="50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7"/>
                    <a:pt x="4" y="39"/>
                    <a:pt x="5" y="41"/>
                  </a:cubicBezTo>
                  <a:cubicBezTo>
                    <a:pt x="5" y="43"/>
                    <a:pt x="6" y="44"/>
                    <a:pt x="8" y="46"/>
                  </a:cubicBezTo>
                  <a:cubicBezTo>
                    <a:pt x="9" y="47"/>
                    <a:pt x="10" y="48"/>
                    <a:pt x="12" y="49"/>
                  </a:cubicBezTo>
                  <a:cubicBezTo>
                    <a:pt x="14" y="50"/>
                    <a:pt x="16" y="50"/>
                    <a:pt x="18" y="50"/>
                  </a:cubicBezTo>
                  <a:cubicBezTo>
                    <a:pt x="20" y="50"/>
                    <a:pt x="21" y="50"/>
                    <a:pt x="22" y="50"/>
                  </a:cubicBezTo>
                  <a:cubicBezTo>
                    <a:pt x="23" y="49"/>
                    <a:pt x="24" y="49"/>
                    <a:pt x="25" y="48"/>
                  </a:cubicBezTo>
                  <a:cubicBezTo>
                    <a:pt x="26" y="47"/>
                    <a:pt x="27" y="46"/>
                    <a:pt x="27" y="45"/>
                  </a:cubicBezTo>
                  <a:cubicBezTo>
                    <a:pt x="27" y="44"/>
                    <a:pt x="28" y="43"/>
                    <a:pt x="28" y="41"/>
                  </a:cubicBezTo>
                  <a:cubicBezTo>
                    <a:pt x="28" y="39"/>
                    <a:pt x="27" y="37"/>
                    <a:pt x="26" y="36"/>
                  </a:cubicBezTo>
                  <a:cubicBezTo>
                    <a:pt x="25" y="34"/>
                    <a:pt x="23" y="33"/>
                    <a:pt x="21" y="32"/>
                  </a:cubicBezTo>
                  <a:cubicBezTo>
                    <a:pt x="19" y="31"/>
                    <a:pt x="17" y="30"/>
                    <a:pt x="15" y="30"/>
                  </a:cubicBezTo>
                  <a:cubicBezTo>
                    <a:pt x="13" y="29"/>
                    <a:pt x="12" y="28"/>
                    <a:pt x="10" y="28"/>
                  </a:cubicBezTo>
                  <a:cubicBezTo>
                    <a:pt x="7" y="26"/>
                    <a:pt x="5" y="25"/>
                    <a:pt x="3" y="22"/>
                  </a:cubicBezTo>
                  <a:cubicBezTo>
                    <a:pt x="2" y="20"/>
                    <a:pt x="1" y="18"/>
                    <a:pt x="1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7"/>
                    <a:pt x="4" y="6"/>
                    <a:pt x="6" y="4"/>
                  </a:cubicBezTo>
                  <a:cubicBezTo>
                    <a:pt x="7" y="3"/>
                    <a:pt x="9" y="2"/>
                    <a:pt x="11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25" y="2"/>
                    <a:pt x="26" y="3"/>
                    <a:pt x="28" y="4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8" y="15"/>
                    <a:pt x="28" y="13"/>
                  </a:cubicBezTo>
                  <a:cubicBezTo>
                    <a:pt x="27" y="11"/>
                    <a:pt x="26" y="9"/>
                    <a:pt x="25" y="8"/>
                  </a:cubicBezTo>
                  <a:cubicBezTo>
                    <a:pt x="24" y="7"/>
                    <a:pt x="23" y="6"/>
                    <a:pt x="21" y="5"/>
                  </a:cubicBezTo>
                  <a:cubicBezTo>
                    <a:pt x="20" y="4"/>
                    <a:pt x="18" y="3"/>
                    <a:pt x="16" y="3"/>
                  </a:cubicBezTo>
                  <a:cubicBezTo>
                    <a:pt x="14" y="3"/>
                    <a:pt x="12" y="4"/>
                    <a:pt x="10" y="6"/>
                  </a:cubicBezTo>
                  <a:cubicBezTo>
                    <a:pt x="9" y="7"/>
                    <a:pt x="8" y="9"/>
                    <a:pt x="8" y="11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10" y="18"/>
                    <a:pt x="12" y="19"/>
                    <a:pt x="14" y="20"/>
                  </a:cubicBezTo>
                  <a:cubicBezTo>
                    <a:pt x="16" y="21"/>
                    <a:pt x="17" y="22"/>
                    <a:pt x="19" y="22"/>
                  </a:cubicBezTo>
                  <a:cubicBezTo>
                    <a:pt x="21" y="23"/>
                    <a:pt x="22" y="24"/>
                    <a:pt x="24" y="24"/>
                  </a:cubicBezTo>
                  <a:cubicBezTo>
                    <a:pt x="25" y="25"/>
                    <a:pt x="27" y="26"/>
                    <a:pt x="28" y="26"/>
                  </a:cubicBezTo>
                  <a:cubicBezTo>
                    <a:pt x="29" y="27"/>
                    <a:pt x="30" y="28"/>
                    <a:pt x="31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29" name="Freeform 41">
              <a:extLst>
                <a:ext uri="{FF2B5EF4-FFF2-40B4-BE49-F238E27FC236}">
                  <a16:creationId xmlns:a16="http://schemas.microsoft.com/office/drawing/2014/main" id="{3FC85F17-775C-8E6D-B33E-C881B44B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1559" y="2884584"/>
              <a:ext cx="123340" cy="275703"/>
            </a:xfrm>
            <a:custGeom>
              <a:avLst/>
              <a:gdLst>
                <a:gd name="T0" fmla="*/ 23 w 23"/>
                <a:gd name="T1" fmla="*/ 51 h 51"/>
                <a:gd name="T2" fmla="*/ 0 w 23"/>
                <a:gd name="T3" fmla="*/ 51 h 51"/>
                <a:gd name="T4" fmla="*/ 0 w 23"/>
                <a:gd name="T5" fmla="*/ 49 h 51"/>
                <a:gd name="T6" fmla="*/ 3 w 23"/>
                <a:gd name="T7" fmla="*/ 49 h 51"/>
                <a:gd name="T8" fmla="*/ 6 w 23"/>
                <a:gd name="T9" fmla="*/ 48 h 51"/>
                <a:gd name="T10" fmla="*/ 7 w 23"/>
                <a:gd name="T11" fmla="*/ 47 h 51"/>
                <a:gd name="T12" fmla="*/ 8 w 23"/>
                <a:gd name="T13" fmla="*/ 45 h 51"/>
                <a:gd name="T14" fmla="*/ 8 w 23"/>
                <a:gd name="T15" fmla="*/ 8 h 51"/>
                <a:gd name="T16" fmla="*/ 7 w 23"/>
                <a:gd name="T17" fmla="*/ 6 h 51"/>
                <a:gd name="T18" fmla="*/ 6 w 23"/>
                <a:gd name="T19" fmla="*/ 4 h 51"/>
                <a:gd name="T20" fmla="*/ 3 w 23"/>
                <a:gd name="T21" fmla="*/ 3 h 51"/>
                <a:gd name="T22" fmla="*/ 0 w 23"/>
                <a:gd name="T23" fmla="*/ 3 h 51"/>
                <a:gd name="T24" fmla="*/ 0 w 23"/>
                <a:gd name="T25" fmla="*/ 0 h 51"/>
                <a:gd name="T26" fmla="*/ 23 w 23"/>
                <a:gd name="T27" fmla="*/ 0 h 51"/>
                <a:gd name="T28" fmla="*/ 23 w 23"/>
                <a:gd name="T29" fmla="*/ 3 h 51"/>
                <a:gd name="T30" fmla="*/ 20 w 23"/>
                <a:gd name="T31" fmla="*/ 3 h 51"/>
                <a:gd name="T32" fmla="*/ 18 w 23"/>
                <a:gd name="T33" fmla="*/ 4 h 51"/>
                <a:gd name="T34" fmla="*/ 16 w 23"/>
                <a:gd name="T35" fmla="*/ 5 h 51"/>
                <a:gd name="T36" fmla="*/ 15 w 23"/>
                <a:gd name="T37" fmla="*/ 7 h 51"/>
                <a:gd name="T38" fmla="*/ 15 w 23"/>
                <a:gd name="T39" fmla="*/ 44 h 51"/>
                <a:gd name="T40" fmla="*/ 16 w 23"/>
                <a:gd name="T41" fmla="*/ 46 h 51"/>
                <a:gd name="T42" fmla="*/ 18 w 23"/>
                <a:gd name="T43" fmla="*/ 48 h 51"/>
                <a:gd name="T44" fmla="*/ 20 w 23"/>
                <a:gd name="T45" fmla="*/ 48 h 51"/>
                <a:gd name="T46" fmla="*/ 23 w 23"/>
                <a:gd name="T47" fmla="*/ 49 h 51"/>
                <a:gd name="T48" fmla="*/ 23 w 23"/>
                <a:gd name="T4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4" y="49"/>
                    <a:pt x="5" y="48"/>
                    <a:pt x="6" y="48"/>
                  </a:cubicBezTo>
                  <a:cubicBezTo>
                    <a:pt x="6" y="48"/>
                    <a:pt x="7" y="47"/>
                    <a:pt x="7" y="47"/>
                  </a:cubicBezTo>
                  <a:cubicBezTo>
                    <a:pt x="8" y="46"/>
                    <a:pt x="8" y="46"/>
                    <a:pt x="8" y="4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1" y="3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  <a:cubicBezTo>
                    <a:pt x="17" y="4"/>
                    <a:pt x="16" y="5"/>
                    <a:pt x="16" y="5"/>
                  </a:cubicBezTo>
                  <a:cubicBezTo>
                    <a:pt x="16" y="6"/>
                    <a:pt x="15" y="7"/>
                    <a:pt x="15" y="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6" y="46"/>
                    <a:pt x="16" y="46"/>
                  </a:cubicBezTo>
                  <a:cubicBezTo>
                    <a:pt x="16" y="47"/>
                    <a:pt x="17" y="47"/>
                    <a:pt x="18" y="48"/>
                  </a:cubicBezTo>
                  <a:cubicBezTo>
                    <a:pt x="18" y="48"/>
                    <a:pt x="19" y="48"/>
                    <a:pt x="20" y="48"/>
                  </a:cubicBezTo>
                  <a:cubicBezTo>
                    <a:pt x="21" y="49"/>
                    <a:pt x="22" y="49"/>
                    <a:pt x="23" y="49"/>
                  </a:cubicBezTo>
                  <a:lnTo>
                    <a:pt x="23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0" name="Freeform 42">
              <a:extLst>
                <a:ext uri="{FF2B5EF4-FFF2-40B4-BE49-F238E27FC236}">
                  <a16:creationId xmlns:a16="http://schemas.microsoft.com/office/drawing/2014/main" id="{F696FAD5-54C8-10E8-E313-23B10DDB4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666" y="2884584"/>
              <a:ext cx="236317" cy="275703"/>
            </a:xfrm>
            <a:custGeom>
              <a:avLst/>
              <a:gdLst>
                <a:gd name="T0" fmla="*/ 44 w 44"/>
                <a:gd name="T1" fmla="*/ 14 h 51"/>
                <a:gd name="T2" fmla="*/ 42 w 44"/>
                <a:gd name="T3" fmla="*/ 14 h 51"/>
                <a:gd name="T4" fmla="*/ 40 w 44"/>
                <a:gd name="T5" fmla="*/ 11 h 51"/>
                <a:gd name="T6" fmla="*/ 38 w 44"/>
                <a:gd name="T7" fmla="*/ 8 h 51"/>
                <a:gd name="T8" fmla="*/ 36 w 44"/>
                <a:gd name="T9" fmla="*/ 5 h 51"/>
                <a:gd name="T10" fmla="*/ 34 w 44"/>
                <a:gd name="T11" fmla="*/ 4 h 51"/>
                <a:gd name="T12" fmla="*/ 31 w 44"/>
                <a:gd name="T13" fmla="*/ 3 h 51"/>
                <a:gd name="T14" fmla="*/ 28 w 44"/>
                <a:gd name="T15" fmla="*/ 3 h 51"/>
                <a:gd name="T16" fmla="*/ 26 w 44"/>
                <a:gd name="T17" fmla="*/ 3 h 51"/>
                <a:gd name="T18" fmla="*/ 26 w 44"/>
                <a:gd name="T19" fmla="*/ 44 h 51"/>
                <a:gd name="T20" fmla="*/ 26 w 44"/>
                <a:gd name="T21" fmla="*/ 46 h 51"/>
                <a:gd name="T22" fmla="*/ 28 w 44"/>
                <a:gd name="T23" fmla="*/ 48 h 51"/>
                <a:gd name="T24" fmla="*/ 31 w 44"/>
                <a:gd name="T25" fmla="*/ 48 h 51"/>
                <a:gd name="T26" fmla="*/ 34 w 44"/>
                <a:gd name="T27" fmla="*/ 49 h 51"/>
                <a:gd name="T28" fmla="*/ 34 w 44"/>
                <a:gd name="T29" fmla="*/ 51 h 51"/>
                <a:gd name="T30" fmla="*/ 10 w 44"/>
                <a:gd name="T31" fmla="*/ 51 h 51"/>
                <a:gd name="T32" fmla="*/ 10 w 44"/>
                <a:gd name="T33" fmla="*/ 49 h 51"/>
                <a:gd name="T34" fmla="*/ 13 w 44"/>
                <a:gd name="T35" fmla="*/ 49 h 51"/>
                <a:gd name="T36" fmla="*/ 16 w 44"/>
                <a:gd name="T37" fmla="*/ 48 h 51"/>
                <a:gd name="T38" fmla="*/ 17 w 44"/>
                <a:gd name="T39" fmla="*/ 47 h 51"/>
                <a:gd name="T40" fmla="*/ 18 w 44"/>
                <a:gd name="T41" fmla="*/ 44 h 51"/>
                <a:gd name="T42" fmla="*/ 18 w 44"/>
                <a:gd name="T43" fmla="*/ 3 h 51"/>
                <a:gd name="T44" fmla="*/ 16 w 44"/>
                <a:gd name="T45" fmla="*/ 3 h 51"/>
                <a:gd name="T46" fmla="*/ 13 w 44"/>
                <a:gd name="T47" fmla="*/ 3 h 51"/>
                <a:gd name="T48" fmla="*/ 10 w 44"/>
                <a:gd name="T49" fmla="*/ 4 h 51"/>
                <a:gd name="T50" fmla="*/ 7 w 44"/>
                <a:gd name="T51" fmla="*/ 5 h 51"/>
                <a:gd name="T52" fmla="*/ 5 w 44"/>
                <a:gd name="T53" fmla="*/ 8 h 51"/>
                <a:gd name="T54" fmla="*/ 3 w 44"/>
                <a:gd name="T55" fmla="*/ 11 h 51"/>
                <a:gd name="T56" fmla="*/ 2 w 44"/>
                <a:gd name="T57" fmla="*/ 14 h 51"/>
                <a:gd name="T58" fmla="*/ 0 w 44"/>
                <a:gd name="T59" fmla="*/ 14 h 51"/>
                <a:gd name="T60" fmla="*/ 0 w 44"/>
                <a:gd name="T61" fmla="*/ 0 h 51"/>
                <a:gd name="T62" fmla="*/ 44 w 44"/>
                <a:gd name="T63" fmla="*/ 0 h 51"/>
                <a:gd name="T64" fmla="*/ 44 w 44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51">
                  <a:moveTo>
                    <a:pt x="44" y="14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41" y="13"/>
                    <a:pt x="41" y="12"/>
                    <a:pt x="40" y="11"/>
                  </a:cubicBezTo>
                  <a:cubicBezTo>
                    <a:pt x="40" y="10"/>
                    <a:pt x="39" y="9"/>
                    <a:pt x="38" y="8"/>
                  </a:cubicBezTo>
                  <a:cubicBezTo>
                    <a:pt x="38" y="7"/>
                    <a:pt x="37" y="6"/>
                    <a:pt x="36" y="5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7"/>
                    <a:pt x="27" y="47"/>
                    <a:pt x="28" y="48"/>
                  </a:cubicBezTo>
                  <a:cubicBezTo>
                    <a:pt x="28" y="48"/>
                    <a:pt x="29" y="48"/>
                    <a:pt x="31" y="48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3" y="49"/>
                  </a:cubicBezTo>
                  <a:cubicBezTo>
                    <a:pt x="14" y="48"/>
                    <a:pt x="15" y="48"/>
                    <a:pt x="16" y="48"/>
                  </a:cubicBezTo>
                  <a:cubicBezTo>
                    <a:pt x="16" y="48"/>
                    <a:pt x="17" y="47"/>
                    <a:pt x="17" y="47"/>
                  </a:cubicBezTo>
                  <a:cubicBezTo>
                    <a:pt x="18" y="46"/>
                    <a:pt x="18" y="45"/>
                    <a:pt x="18" y="4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2" y="3"/>
                    <a:pt x="11" y="3"/>
                    <a:pt x="10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3" y="13"/>
                    <a:pt x="2" y="14"/>
                    <a:pt x="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1" name="Freeform 43">
              <a:extLst>
                <a:ext uri="{FF2B5EF4-FFF2-40B4-BE49-F238E27FC236}">
                  <a16:creationId xmlns:a16="http://schemas.microsoft.com/office/drawing/2014/main" id="{D3119A99-DAA9-92A6-C876-DD6A48F9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9566" y="2884584"/>
              <a:ext cx="263265" cy="275703"/>
            </a:xfrm>
            <a:custGeom>
              <a:avLst/>
              <a:gdLst>
                <a:gd name="T0" fmla="*/ 49 w 49"/>
                <a:gd name="T1" fmla="*/ 3 h 51"/>
                <a:gd name="T2" fmla="*/ 47 w 49"/>
                <a:gd name="T3" fmla="*/ 4 h 51"/>
                <a:gd name="T4" fmla="*/ 45 w 49"/>
                <a:gd name="T5" fmla="*/ 4 h 51"/>
                <a:gd name="T6" fmla="*/ 43 w 49"/>
                <a:gd name="T7" fmla="*/ 6 h 51"/>
                <a:gd name="T8" fmla="*/ 41 w 49"/>
                <a:gd name="T9" fmla="*/ 8 h 51"/>
                <a:gd name="T10" fmla="*/ 36 w 49"/>
                <a:gd name="T11" fmla="*/ 16 h 51"/>
                <a:gd name="T12" fmla="*/ 30 w 49"/>
                <a:gd name="T13" fmla="*/ 26 h 51"/>
                <a:gd name="T14" fmla="*/ 28 w 49"/>
                <a:gd name="T15" fmla="*/ 30 h 51"/>
                <a:gd name="T16" fmla="*/ 28 w 49"/>
                <a:gd name="T17" fmla="*/ 34 h 51"/>
                <a:gd name="T18" fmla="*/ 28 w 49"/>
                <a:gd name="T19" fmla="*/ 44 h 51"/>
                <a:gd name="T20" fmla="*/ 29 w 49"/>
                <a:gd name="T21" fmla="*/ 46 h 51"/>
                <a:gd name="T22" fmla="*/ 30 w 49"/>
                <a:gd name="T23" fmla="*/ 48 h 51"/>
                <a:gd name="T24" fmla="*/ 33 w 49"/>
                <a:gd name="T25" fmla="*/ 48 h 51"/>
                <a:gd name="T26" fmla="*/ 36 w 49"/>
                <a:gd name="T27" fmla="*/ 49 h 51"/>
                <a:gd name="T28" fmla="*/ 36 w 49"/>
                <a:gd name="T29" fmla="*/ 51 h 51"/>
                <a:gd name="T30" fmla="*/ 12 w 49"/>
                <a:gd name="T31" fmla="*/ 51 h 51"/>
                <a:gd name="T32" fmla="*/ 12 w 49"/>
                <a:gd name="T33" fmla="*/ 49 h 51"/>
                <a:gd name="T34" fmla="*/ 15 w 49"/>
                <a:gd name="T35" fmla="*/ 49 h 51"/>
                <a:gd name="T36" fmla="*/ 18 w 49"/>
                <a:gd name="T37" fmla="*/ 48 h 51"/>
                <a:gd name="T38" fmla="*/ 20 w 49"/>
                <a:gd name="T39" fmla="*/ 47 h 51"/>
                <a:gd name="T40" fmla="*/ 20 w 49"/>
                <a:gd name="T41" fmla="*/ 44 h 51"/>
                <a:gd name="T42" fmla="*/ 20 w 49"/>
                <a:gd name="T43" fmla="*/ 32 h 51"/>
                <a:gd name="T44" fmla="*/ 20 w 49"/>
                <a:gd name="T45" fmla="*/ 30 h 51"/>
                <a:gd name="T46" fmla="*/ 18 w 49"/>
                <a:gd name="T47" fmla="*/ 26 h 51"/>
                <a:gd name="T48" fmla="*/ 13 w 49"/>
                <a:gd name="T49" fmla="*/ 17 h 51"/>
                <a:gd name="T50" fmla="*/ 9 w 49"/>
                <a:gd name="T51" fmla="*/ 9 h 51"/>
                <a:gd name="T52" fmla="*/ 7 w 49"/>
                <a:gd name="T53" fmla="*/ 6 h 51"/>
                <a:gd name="T54" fmla="*/ 5 w 49"/>
                <a:gd name="T55" fmla="*/ 4 h 51"/>
                <a:gd name="T56" fmla="*/ 2 w 49"/>
                <a:gd name="T57" fmla="*/ 3 h 51"/>
                <a:gd name="T58" fmla="*/ 0 w 49"/>
                <a:gd name="T59" fmla="*/ 3 h 51"/>
                <a:gd name="T60" fmla="*/ 0 w 49"/>
                <a:gd name="T61" fmla="*/ 0 h 51"/>
                <a:gd name="T62" fmla="*/ 22 w 49"/>
                <a:gd name="T63" fmla="*/ 0 h 51"/>
                <a:gd name="T64" fmla="*/ 22 w 49"/>
                <a:gd name="T65" fmla="*/ 3 h 51"/>
                <a:gd name="T66" fmla="*/ 17 w 49"/>
                <a:gd name="T67" fmla="*/ 4 h 51"/>
                <a:gd name="T68" fmla="*/ 15 w 49"/>
                <a:gd name="T69" fmla="*/ 5 h 51"/>
                <a:gd name="T70" fmla="*/ 16 w 49"/>
                <a:gd name="T71" fmla="*/ 6 h 51"/>
                <a:gd name="T72" fmla="*/ 16 w 49"/>
                <a:gd name="T73" fmla="*/ 7 h 51"/>
                <a:gd name="T74" fmla="*/ 17 w 49"/>
                <a:gd name="T75" fmla="*/ 9 h 51"/>
                <a:gd name="T76" fmla="*/ 18 w 49"/>
                <a:gd name="T77" fmla="*/ 11 h 51"/>
                <a:gd name="T78" fmla="*/ 22 w 49"/>
                <a:gd name="T79" fmla="*/ 18 h 51"/>
                <a:gd name="T80" fmla="*/ 26 w 49"/>
                <a:gd name="T81" fmla="*/ 26 h 51"/>
                <a:gd name="T82" fmla="*/ 35 w 49"/>
                <a:gd name="T83" fmla="*/ 12 h 51"/>
                <a:gd name="T84" fmla="*/ 38 w 49"/>
                <a:gd name="T85" fmla="*/ 6 h 51"/>
                <a:gd name="T86" fmla="*/ 37 w 49"/>
                <a:gd name="T87" fmla="*/ 4 h 51"/>
                <a:gd name="T88" fmla="*/ 36 w 49"/>
                <a:gd name="T89" fmla="*/ 4 h 51"/>
                <a:gd name="T90" fmla="*/ 34 w 49"/>
                <a:gd name="T91" fmla="*/ 3 h 51"/>
                <a:gd name="T92" fmla="*/ 31 w 49"/>
                <a:gd name="T93" fmla="*/ 3 h 51"/>
                <a:gd name="T94" fmla="*/ 31 w 49"/>
                <a:gd name="T95" fmla="*/ 0 h 51"/>
                <a:gd name="T96" fmla="*/ 49 w 49"/>
                <a:gd name="T97" fmla="*/ 0 h 51"/>
                <a:gd name="T98" fmla="*/ 49 w 49"/>
                <a:gd name="T9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51">
                  <a:moveTo>
                    <a:pt x="49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4" y="5"/>
                    <a:pt x="44" y="5"/>
                    <a:pt x="43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1"/>
                    <a:pt x="38" y="13"/>
                    <a:pt x="36" y="16"/>
                  </a:cubicBezTo>
                  <a:cubicBezTo>
                    <a:pt x="35" y="19"/>
                    <a:pt x="33" y="22"/>
                    <a:pt x="30" y="26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2"/>
                    <a:pt x="28" y="3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6"/>
                    <a:pt x="29" y="46"/>
                  </a:cubicBezTo>
                  <a:cubicBezTo>
                    <a:pt x="29" y="47"/>
                    <a:pt x="29" y="47"/>
                    <a:pt x="30" y="48"/>
                  </a:cubicBezTo>
                  <a:cubicBezTo>
                    <a:pt x="31" y="48"/>
                    <a:pt x="32" y="48"/>
                    <a:pt x="33" y="48"/>
                  </a:cubicBezTo>
                  <a:cubicBezTo>
                    <a:pt x="34" y="49"/>
                    <a:pt x="35" y="49"/>
                    <a:pt x="36" y="49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4" y="49"/>
                    <a:pt x="15" y="49"/>
                  </a:cubicBezTo>
                  <a:cubicBezTo>
                    <a:pt x="17" y="48"/>
                    <a:pt x="18" y="48"/>
                    <a:pt x="18" y="48"/>
                  </a:cubicBezTo>
                  <a:cubicBezTo>
                    <a:pt x="19" y="48"/>
                    <a:pt x="20" y="47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1"/>
                    <a:pt x="20" y="30"/>
                  </a:cubicBezTo>
                  <a:cubicBezTo>
                    <a:pt x="19" y="29"/>
                    <a:pt x="19" y="28"/>
                    <a:pt x="18" y="26"/>
                  </a:cubicBezTo>
                  <a:cubicBezTo>
                    <a:pt x="17" y="24"/>
                    <a:pt x="15" y="21"/>
                    <a:pt x="13" y="17"/>
                  </a:cubicBezTo>
                  <a:cubicBezTo>
                    <a:pt x="12" y="14"/>
                    <a:pt x="10" y="11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3"/>
                    <a:pt x="17" y="4"/>
                  </a:cubicBezTo>
                  <a:cubicBezTo>
                    <a:pt x="16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7" y="8"/>
                    <a:pt x="17" y="9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20" y="13"/>
                    <a:pt x="21" y="16"/>
                    <a:pt x="22" y="18"/>
                  </a:cubicBezTo>
                  <a:cubicBezTo>
                    <a:pt x="23" y="20"/>
                    <a:pt x="25" y="23"/>
                    <a:pt x="26" y="26"/>
                  </a:cubicBezTo>
                  <a:cubicBezTo>
                    <a:pt x="30" y="20"/>
                    <a:pt x="33" y="15"/>
                    <a:pt x="35" y="12"/>
                  </a:cubicBezTo>
                  <a:cubicBezTo>
                    <a:pt x="37" y="8"/>
                    <a:pt x="38" y="6"/>
                    <a:pt x="38" y="6"/>
                  </a:cubicBezTo>
                  <a:cubicBezTo>
                    <a:pt x="38" y="5"/>
                    <a:pt x="38" y="5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3"/>
                    <a:pt x="34" y="3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CFF0D751-78A6-6937-E0A8-84F1DC400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8198" y="1829451"/>
              <a:ext cx="468487" cy="660236"/>
            </a:xfrm>
            <a:custGeom>
              <a:avLst/>
              <a:gdLst>
                <a:gd name="T0" fmla="*/ 67 w 87"/>
                <a:gd name="T1" fmla="*/ 93 h 122"/>
                <a:gd name="T2" fmla="*/ 63 w 87"/>
                <a:gd name="T3" fmla="*/ 93 h 122"/>
                <a:gd name="T4" fmla="*/ 50 w 87"/>
                <a:gd name="T5" fmla="*/ 98 h 122"/>
                <a:gd name="T6" fmla="*/ 33 w 87"/>
                <a:gd name="T7" fmla="*/ 98 h 122"/>
                <a:gd name="T8" fmla="*/ 33 w 87"/>
                <a:gd name="T9" fmla="*/ 97 h 122"/>
                <a:gd name="T10" fmla="*/ 44 w 87"/>
                <a:gd name="T11" fmla="*/ 86 h 122"/>
                <a:gd name="T12" fmla="*/ 44 w 87"/>
                <a:gd name="T13" fmla="*/ 73 h 122"/>
                <a:gd name="T14" fmla="*/ 59 w 87"/>
                <a:gd name="T15" fmla="*/ 68 h 122"/>
                <a:gd name="T16" fmla="*/ 71 w 87"/>
                <a:gd name="T17" fmla="*/ 63 h 122"/>
                <a:gd name="T18" fmla="*/ 80 w 87"/>
                <a:gd name="T19" fmla="*/ 51 h 122"/>
                <a:gd name="T20" fmla="*/ 81 w 87"/>
                <a:gd name="T21" fmla="*/ 44 h 122"/>
                <a:gd name="T22" fmla="*/ 81 w 87"/>
                <a:gd name="T23" fmla="*/ 41 h 122"/>
                <a:gd name="T24" fmla="*/ 68 w 87"/>
                <a:gd name="T25" fmla="*/ 36 h 122"/>
                <a:gd name="T26" fmla="*/ 64 w 87"/>
                <a:gd name="T27" fmla="*/ 31 h 122"/>
                <a:gd name="T28" fmla="*/ 63 w 87"/>
                <a:gd name="T29" fmla="*/ 28 h 122"/>
                <a:gd name="T30" fmla="*/ 62 w 87"/>
                <a:gd name="T31" fmla="*/ 27 h 122"/>
                <a:gd name="T32" fmla="*/ 58 w 87"/>
                <a:gd name="T33" fmla="*/ 28 h 122"/>
                <a:gd name="T34" fmla="*/ 57 w 87"/>
                <a:gd name="T35" fmla="*/ 29 h 122"/>
                <a:gd name="T36" fmla="*/ 57 w 87"/>
                <a:gd name="T37" fmla="*/ 30 h 122"/>
                <a:gd name="T38" fmla="*/ 57 w 87"/>
                <a:gd name="T39" fmla="*/ 41 h 122"/>
                <a:gd name="T40" fmla="*/ 49 w 87"/>
                <a:gd name="T41" fmla="*/ 46 h 122"/>
                <a:gd name="T42" fmla="*/ 44 w 87"/>
                <a:gd name="T43" fmla="*/ 52 h 122"/>
                <a:gd name="T44" fmla="*/ 39 w 87"/>
                <a:gd name="T45" fmla="*/ 50 h 122"/>
                <a:gd name="T46" fmla="*/ 22 w 87"/>
                <a:gd name="T47" fmla="*/ 8 h 122"/>
                <a:gd name="T48" fmla="*/ 13 w 87"/>
                <a:gd name="T49" fmla="*/ 0 h 122"/>
                <a:gd name="T50" fmla="*/ 9 w 87"/>
                <a:gd name="T51" fmla="*/ 11 h 122"/>
                <a:gd name="T52" fmla="*/ 9 w 87"/>
                <a:gd name="T53" fmla="*/ 13 h 122"/>
                <a:gd name="T54" fmla="*/ 3 w 87"/>
                <a:gd name="T55" fmla="*/ 38 h 122"/>
                <a:gd name="T56" fmla="*/ 0 w 87"/>
                <a:gd name="T57" fmla="*/ 53 h 122"/>
                <a:gd name="T58" fmla="*/ 7 w 87"/>
                <a:gd name="T59" fmla="*/ 81 h 122"/>
                <a:gd name="T60" fmla="*/ 8 w 87"/>
                <a:gd name="T61" fmla="*/ 91 h 122"/>
                <a:gd name="T62" fmla="*/ 21 w 87"/>
                <a:gd name="T63" fmla="*/ 117 h 122"/>
                <a:gd name="T64" fmla="*/ 41 w 87"/>
                <a:gd name="T65" fmla="*/ 119 h 122"/>
                <a:gd name="T66" fmla="*/ 46 w 87"/>
                <a:gd name="T67" fmla="*/ 115 h 122"/>
                <a:gd name="T68" fmla="*/ 53 w 87"/>
                <a:gd name="T69" fmla="*/ 115 h 122"/>
                <a:gd name="T70" fmla="*/ 72 w 87"/>
                <a:gd name="T71" fmla="*/ 110 h 122"/>
                <a:gd name="T72" fmla="*/ 82 w 87"/>
                <a:gd name="T73" fmla="*/ 104 h 122"/>
                <a:gd name="T74" fmla="*/ 87 w 87"/>
                <a:gd name="T75" fmla="*/ 94 h 122"/>
                <a:gd name="T76" fmla="*/ 86 w 87"/>
                <a:gd name="T77" fmla="*/ 88 h 122"/>
                <a:gd name="T78" fmla="*/ 67 w 87"/>
                <a:gd name="T79" fmla="*/ 9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7" h="122">
                  <a:moveTo>
                    <a:pt x="67" y="93"/>
                  </a:moveTo>
                  <a:cubicBezTo>
                    <a:pt x="66" y="93"/>
                    <a:pt x="64" y="93"/>
                    <a:pt x="63" y="93"/>
                  </a:cubicBezTo>
                  <a:cubicBezTo>
                    <a:pt x="59" y="95"/>
                    <a:pt x="54" y="96"/>
                    <a:pt x="50" y="98"/>
                  </a:cubicBezTo>
                  <a:cubicBezTo>
                    <a:pt x="45" y="99"/>
                    <a:pt x="38" y="102"/>
                    <a:pt x="33" y="98"/>
                  </a:cubicBezTo>
                  <a:cubicBezTo>
                    <a:pt x="33" y="98"/>
                    <a:pt x="33" y="98"/>
                    <a:pt x="33" y="97"/>
                  </a:cubicBezTo>
                  <a:cubicBezTo>
                    <a:pt x="37" y="93"/>
                    <a:pt x="37" y="90"/>
                    <a:pt x="44" y="86"/>
                  </a:cubicBezTo>
                  <a:cubicBezTo>
                    <a:pt x="44" y="82"/>
                    <a:pt x="46" y="76"/>
                    <a:pt x="44" y="73"/>
                  </a:cubicBezTo>
                  <a:cubicBezTo>
                    <a:pt x="44" y="66"/>
                    <a:pt x="53" y="69"/>
                    <a:pt x="59" y="68"/>
                  </a:cubicBezTo>
                  <a:cubicBezTo>
                    <a:pt x="63" y="67"/>
                    <a:pt x="68" y="65"/>
                    <a:pt x="71" y="63"/>
                  </a:cubicBezTo>
                  <a:cubicBezTo>
                    <a:pt x="75" y="61"/>
                    <a:pt x="78" y="56"/>
                    <a:pt x="80" y="51"/>
                  </a:cubicBezTo>
                  <a:cubicBezTo>
                    <a:pt x="81" y="50"/>
                    <a:pt x="80" y="46"/>
                    <a:pt x="81" y="44"/>
                  </a:cubicBezTo>
                  <a:cubicBezTo>
                    <a:pt x="81" y="43"/>
                    <a:pt x="81" y="42"/>
                    <a:pt x="81" y="41"/>
                  </a:cubicBezTo>
                  <a:cubicBezTo>
                    <a:pt x="81" y="40"/>
                    <a:pt x="70" y="37"/>
                    <a:pt x="68" y="36"/>
                  </a:cubicBezTo>
                  <a:cubicBezTo>
                    <a:pt x="67" y="35"/>
                    <a:pt x="64" y="33"/>
                    <a:pt x="64" y="31"/>
                  </a:cubicBezTo>
                  <a:cubicBezTo>
                    <a:pt x="63" y="30"/>
                    <a:pt x="64" y="29"/>
                    <a:pt x="63" y="28"/>
                  </a:cubicBezTo>
                  <a:cubicBezTo>
                    <a:pt x="63" y="27"/>
                    <a:pt x="62" y="27"/>
                    <a:pt x="62" y="27"/>
                  </a:cubicBezTo>
                  <a:cubicBezTo>
                    <a:pt x="59" y="27"/>
                    <a:pt x="59" y="27"/>
                    <a:pt x="58" y="28"/>
                  </a:cubicBezTo>
                  <a:cubicBezTo>
                    <a:pt x="58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4"/>
                    <a:pt x="57" y="37"/>
                    <a:pt x="57" y="41"/>
                  </a:cubicBezTo>
                  <a:cubicBezTo>
                    <a:pt x="56" y="43"/>
                    <a:pt x="51" y="45"/>
                    <a:pt x="49" y="46"/>
                  </a:cubicBezTo>
                  <a:cubicBezTo>
                    <a:pt x="47" y="48"/>
                    <a:pt x="45" y="50"/>
                    <a:pt x="44" y="52"/>
                  </a:cubicBezTo>
                  <a:cubicBezTo>
                    <a:pt x="41" y="52"/>
                    <a:pt x="41" y="51"/>
                    <a:pt x="39" y="50"/>
                  </a:cubicBezTo>
                  <a:cubicBezTo>
                    <a:pt x="36" y="32"/>
                    <a:pt x="34" y="17"/>
                    <a:pt x="22" y="8"/>
                  </a:cubicBezTo>
                  <a:cubicBezTo>
                    <a:pt x="19" y="6"/>
                    <a:pt x="17" y="2"/>
                    <a:pt x="13" y="0"/>
                  </a:cubicBezTo>
                  <a:cubicBezTo>
                    <a:pt x="12" y="4"/>
                    <a:pt x="10" y="7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7" y="21"/>
                    <a:pt x="5" y="30"/>
                    <a:pt x="3" y="38"/>
                  </a:cubicBezTo>
                  <a:cubicBezTo>
                    <a:pt x="3" y="40"/>
                    <a:pt x="0" y="51"/>
                    <a:pt x="0" y="53"/>
                  </a:cubicBezTo>
                  <a:cubicBezTo>
                    <a:pt x="2" y="62"/>
                    <a:pt x="5" y="73"/>
                    <a:pt x="7" y="81"/>
                  </a:cubicBezTo>
                  <a:cubicBezTo>
                    <a:pt x="8" y="85"/>
                    <a:pt x="7" y="88"/>
                    <a:pt x="8" y="91"/>
                  </a:cubicBezTo>
                  <a:cubicBezTo>
                    <a:pt x="10" y="98"/>
                    <a:pt x="16" y="114"/>
                    <a:pt x="21" y="117"/>
                  </a:cubicBezTo>
                  <a:cubicBezTo>
                    <a:pt x="26" y="120"/>
                    <a:pt x="34" y="122"/>
                    <a:pt x="41" y="119"/>
                  </a:cubicBezTo>
                  <a:cubicBezTo>
                    <a:pt x="43" y="118"/>
                    <a:pt x="45" y="115"/>
                    <a:pt x="46" y="115"/>
                  </a:cubicBezTo>
                  <a:cubicBezTo>
                    <a:pt x="49" y="115"/>
                    <a:pt x="51" y="115"/>
                    <a:pt x="53" y="115"/>
                  </a:cubicBezTo>
                  <a:cubicBezTo>
                    <a:pt x="59" y="113"/>
                    <a:pt x="66" y="111"/>
                    <a:pt x="72" y="110"/>
                  </a:cubicBezTo>
                  <a:cubicBezTo>
                    <a:pt x="74" y="109"/>
                    <a:pt x="80" y="106"/>
                    <a:pt x="82" y="104"/>
                  </a:cubicBezTo>
                  <a:cubicBezTo>
                    <a:pt x="84" y="102"/>
                    <a:pt x="84" y="97"/>
                    <a:pt x="87" y="94"/>
                  </a:cubicBezTo>
                  <a:cubicBezTo>
                    <a:pt x="87" y="91"/>
                    <a:pt x="87" y="90"/>
                    <a:pt x="86" y="88"/>
                  </a:cubicBezTo>
                  <a:cubicBezTo>
                    <a:pt x="78" y="88"/>
                    <a:pt x="73" y="91"/>
                    <a:pt x="67" y="93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3" name="Freeform 45">
              <a:extLst>
                <a:ext uri="{FF2B5EF4-FFF2-40B4-BE49-F238E27FC236}">
                  <a16:creationId xmlns:a16="http://schemas.microsoft.com/office/drawing/2014/main" id="{12462558-8778-A39B-833F-075AED3E17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4720" y="1705074"/>
              <a:ext cx="403189" cy="920391"/>
            </a:xfrm>
            <a:custGeom>
              <a:avLst/>
              <a:gdLst>
                <a:gd name="T0" fmla="*/ 74 w 75"/>
                <a:gd name="T1" fmla="*/ 59 h 170"/>
                <a:gd name="T2" fmla="*/ 73 w 75"/>
                <a:gd name="T3" fmla="*/ 42 h 170"/>
                <a:gd name="T4" fmla="*/ 72 w 75"/>
                <a:gd name="T5" fmla="*/ 30 h 170"/>
                <a:gd name="T6" fmla="*/ 42 w 75"/>
                <a:gd name="T7" fmla="*/ 7 h 170"/>
                <a:gd name="T8" fmla="*/ 33 w 75"/>
                <a:gd name="T9" fmla="*/ 1 h 170"/>
                <a:gd name="T10" fmla="*/ 30 w 75"/>
                <a:gd name="T11" fmla="*/ 4 h 170"/>
                <a:gd name="T12" fmla="*/ 37 w 75"/>
                <a:gd name="T13" fmla="*/ 16 h 170"/>
                <a:gd name="T14" fmla="*/ 42 w 75"/>
                <a:gd name="T15" fmla="*/ 23 h 170"/>
                <a:gd name="T16" fmla="*/ 51 w 75"/>
                <a:gd name="T17" fmla="*/ 35 h 170"/>
                <a:gd name="T18" fmla="*/ 52 w 75"/>
                <a:gd name="T19" fmla="*/ 71 h 170"/>
                <a:gd name="T20" fmla="*/ 52 w 75"/>
                <a:gd name="T21" fmla="*/ 80 h 170"/>
                <a:gd name="T22" fmla="*/ 51 w 75"/>
                <a:gd name="T23" fmla="*/ 90 h 170"/>
                <a:gd name="T24" fmla="*/ 44 w 75"/>
                <a:gd name="T25" fmla="*/ 86 h 170"/>
                <a:gd name="T26" fmla="*/ 39 w 75"/>
                <a:gd name="T27" fmla="*/ 85 h 170"/>
                <a:gd name="T28" fmla="*/ 33 w 75"/>
                <a:gd name="T29" fmla="*/ 81 h 170"/>
                <a:gd name="T30" fmla="*/ 26 w 75"/>
                <a:gd name="T31" fmla="*/ 80 h 170"/>
                <a:gd name="T32" fmla="*/ 17 w 75"/>
                <a:gd name="T33" fmla="*/ 77 h 170"/>
                <a:gd name="T34" fmla="*/ 14 w 75"/>
                <a:gd name="T35" fmla="*/ 79 h 170"/>
                <a:gd name="T36" fmla="*/ 19 w 75"/>
                <a:gd name="T37" fmla="*/ 88 h 170"/>
                <a:gd name="T38" fmla="*/ 19 w 75"/>
                <a:gd name="T39" fmla="*/ 91 h 170"/>
                <a:gd name="T40" fmla="*/ 21 w 75"/>
                <a:gd name="T41" fmla="*/ 101 h 170"/>
                <a:gd name="T42" fmla="*/ 18 w 75"/>
                <a:gd name="T43" fmla="*/ 112 h 170"/>
                <a:gd name="T44" fmla="*/ 2 w 75"/>
                <a:gd name="T45" fmla="*/ 143 h 170"/>
                <a:gd name="T46" fmla="*/ 1 w 75"/>
                <a:gd name="T47" fmla="*/ 144 h 170"/>
                <a:gd name="T48" fmla="*/ 1 w 75"/>
                <a:gd name="T49" fmla="*/ 146 h 170"/>
                <a:gd name="T50" fmla="*/ 6 w 75"/>
                <a:gd name="T51" fmla="*/ 169 h 170"/>
                <a:gd name="T52" fmla="*/ 7 w 75"/>
                <a:gd name="T53" fmla="*/ 170 h 170"/>
                <a:gd name="T54" fmla="*/ 15 w 75"/>
                <a:gd name="T55" fmla="*/ 170 h 170"/>
                <a:gd name="T56" fmla="*/ 24 w 75"/>
                <a:gd name="T57" fmla="*/ 161 h 170"/>
                <a:gd name="T58" fmla="*/ 36 w 75"/>
                <a:gd name="T59" fmla="*/ 153 h 170"/>
                <a:gd name="T60" fmla="*/ 38 w 75"/>
                <a:gd name="T61" fmla="*/ 151 h 170"/>
                <a:gd name="T62" fmla="*/ 50 w 75"/>
                <a:gd name="T63" fmla="*/ 141 h 170"/>
                <a:gd name="T64" fmla="*/ 51 w 75"/>
                <a:gd name="T65" fmla="*/ 141 h 170"/>
                <a:gd name="T66" fmla="*/ 51 w 75"/>
                <a:gd name="T67" fmla="*/ 147 h 170"/>
                <a:gd name="T68" fmla="*/ 53 w 75"/>
                <a:gd name="T69" fmla="*/ 165 h 170"/>
                <a:gd name="T70" fmla="*/ 58 w 75"/>
                <a:gd name="T71" fmla="*/ 164 h 170"/>
                <a:gd name="T72" fmla="*/ 65 w 75"/>
                <a:gd name="T73" fmla="*/ 154 h 170"/>
                <a:gd name="T74" fmla="*/ 72 w 75"/>
                <a:gd name="T75" fmla="*/ 124 h 170"/>
                <a:gd name="T76" fmla="*/ 72 w 75"/>
                <a:gd name="T77" fmla="*/ 113 h 170"/>
                <a:gd name="T78" fmla="*/ 74 w 75"/>
                <a:gd name="T79" fmla="*/ 80 h 170"/>
                <a:gd name="T80" fmla="*/ 75 w 75"/>
                <a:gd name="T81" fmla="*/ 66 h 170"/>
                <a:gd name="T82" fmla="*/ 74 w 75"/>
                <a:gd name="T83" fmla="*/ 59 h 170"/>
                <a:gd name="T84" fmla="*/ 51 w 75"/>
                <a:gd name="T85" fmla="*/ 122 h 170"/>
                <a:gd name="T86" fmla="*/ 51 w 75"/>
                <a:gd name="T87" fmla="*/ 128 h 170"/>
                <a:gd name="T88" fmla="*/ 44 w 75"/>
                <a:gd name="T89" fmla="*/ 132 h 170"/>
                <a:gd name="T90" fmla="*/ 40 w 75"/>
                <a:gd name="T91" fmla="*/ 136 h 170"/>
                <a:gd name="T92" fmla="*/ 31 w 75"/>
                <a:gd name="T93" fmla="*/ 139 h 170"/>
                <a:gd name="T94" fmla="*/ 24 w 75"/>
                <a:gd name="T95" fmla="*/ 144 h 170"/>
                <a:gd name="T96" fmla="*/ 13 w 75"/>
                <a:gd name="T97" fmla="*/ 146 h 170"/>
                <a:gd name="T98" fmla="*/ 12 w 75"/>
                <a:gd name="T99" fmla="*/ 145 h 170"/>
                <a:gd name="T100" fmla="*/ 17 w 75"/>
                <a:gd name="T101" fmla="*/ 135 h 170"/>
                <a:gd name="T102" fmla="*/ 30 w 75"/>
                <a:gd name="T103" fmla="*/ 118 h 170"/>
                <a:gd name="T104" fmla="*/ 31 w 75"/>
                <a:gd name="T105" fmla="*/ 115 h 170"/>
                <a:gd name="T106" fmla="*/ 36 w 75"/>
                <a:gd name="T107" fmla="*/ 108 h 170"/>
                <a:gd name="T108" fmla="*/ 49 w 75"/>
                <a:gd name="T109" fmla="*/ 99 h 170"/>
                <a:gd name="T110" fmla="*/ 51 w 75"/>
                <a:gd name="T111" fmla="*/ 99 h 170"/>
                <a:gd name="T112" fmla="*/ 51 w 75"/>
                <a:gd name="T113" fmla="*/ 114 h 170"/>
                <a:gd name="T114" fmla="*/ 51 w 75"/>
                <a:gd name="T115" fmla="*/ 12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" h="170">
                  <a:moveTo>
                    <a:pt x="74" y="59"/>
                  </a:moveTo>
                  <a:cubicBezTo>
                    <a:pt x="74" y="53"/>
                    <a:pt x="74" y="46"/>
                    <a:pt x="73" y="42"/>
                  </a:cubicBezTo>
                  <a:cubicBezTo>
                    <a:pt x="72" y="38"/>
                    <a:pt x="74" y="33"/>
                    <a:pt x="72" y="30"/>
                  </a:cubicBezTo>
                  <a:cubicBezTo>
                    <a:pt x="68" y="20"/>
                    <a:pt x="51" y="12"/>
                    <a:pt x="42" y="7"/>
                  </a:cubicBezTo>
                  <a:cubicBezTo>
                    <a:pt x="38" y="5"/>
                    <a:pt x="38" y="2"/>
                    <a:pt x="33" y="1"/>
                  </a:cubicBezTo>
                  <a:cubicBezTo>
                    <a:pt x="32" y="0"/>
                    <a:pt x="30" y="3"/>
                    <a:pt x="30" y="4"/>
                  </a:cubicBezTo>
                  <a:cubicBezTo>
                    <a:pt x="29" y="10"/>
                    <a:pt x="34" y="12"/>
                    <a:pt x="37" y="16"/>
                  </a:cubicBezTo>
                  <a:cubicBezTo>
                    <a:pt x="39" y="18"/>
                    <a:pt x="40" y="21"/>
                    <a:pt x="42" y="23"/>
                  </a:cubicBezTo>
                  <a:cubicBezTo>
                    <a:pt x="45" y="27"/>
                    <a:pt x="49" y="30"/>
                    <a:pt x="51" y="35"/>
                  </a:cubicBezTo>
                  <a:cubicBezTo>
                    <a:pt x="54" y="43"/>
                    <a:pt x="54" y="63"/>
                    <a:pt x="52" y="71"/>
                  </a:cubicBezTo>
                  <a:cubicBezTo>
                    <a:pt x="52" y="74"/>
                    <a:pt x="52" y="77"/>
                    <a:pt x="52" y="80"/>
                  </a:cubicBezTo>
                  <a:cubicBezTo>
                    <a:pt x="52" y="84"/>
                    <a:pt x="51" y="87"/>
                    <a:pt x="51" y="90"/>
                  </a:cubicBezTo>
                  <a:cubicBezTo>
                    <a:pt x="49" y="89"/>
                    <a:pt x="47" y="87"/>
                    <a:pt x="44" y="86"/>
                  </a:cubicBezTo>
                  <a:cubicBezTo>
                    <a:pt x="43" y="86"/>
                    <a:pt x="41" y="85"/>
                    <a:pt x="39" y="85"/>
                  </a:cubicBezTo>
                  <a:cubicBezTo>
                    <a:pt x="37" y="84"/>
                    <a:pt x="36" y="82"/>
                    <a:pt x="33" y="81"/>
                  </a:cubicBezTo>
                  <a:cubicBezTo>
                    <a:pt x="31" y="80"/>
                    <a:pt x="28" y="81"/>
                    <a:pt x="26" y="80"/>
                  </a:cubicBezTo>
                  <a:cubicBezTo>
                    <a:pt x="23" y="79"/>
                    <a:pt x="22" y="77"/>
                    <a:pt x="17" y="77"/>
                  </a:cubicBezTo>
                  <a:cubicBezTo>
                    <a:pt x="16" y="77"/>
                    <a:pt x="14" y="78"/>
                    <a:pt x="14" y="79"/>
                  </a:cubicBezTo>
                  <a:cubicBezTo>
                    <a:pt x="15" y="83"/>
                    <a:pt x="18" y="84"/>
                    <a:pt x="19" y="88"/>
                  </a:cubicBezTo>
                  <a:cubicBezTo>
                    <a:pt x="19" y="89"/>
                    <a:pt x="19" y="90"/>
                    <a:pt x="19" y="91"/>
                  </a:cubicBezTo>
                  <a:cubicBezTo>
                    <a:pt x="20" y="94"/>
                    <a:pt x="21" y="98"/>
                    <a:pt x="21" y="101"/>
                  </a:cubicBezTo>
                  <a:cubicBezTo>
                    <a:pt x="22" y="106"/>
                    <a:pt x="19" y="109"/>
                    <a:pt x="18" y="112"/>
                  </a:cubicBezTo>
                  <a:cubicBezTo>
                    <a:pt x="14" y="124"/>
                    <a:pt x="12" y="137"/>
                    <a:pt x="2" y="143"/>
                  </a:cubicBezTo>
                  <a:cubicBezTo>
                    <a:pt x="2" y="144"/>
                    <a:pt x="2" y="144"/>
                    <a:pt x="1" y="144"/>
                  </a:cubicBezTo>
                  <a:cubicBezTo>
                    <a:pt x="1" y="145"/>
                    <a:pt x="1" y="146"/>
                    <a:pt x="1" y="146"/>
                  </a:cubicBezTo>
                  <a:cubicBezTo>
                    <a:pt x="1" y="153"/>
                    <a:pt x="0" y="167"/>
                    <a:pt x="6" y="169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8" y="170"/>
                    <a:pt x="14" y="170"/>
                    <a:pt x="15" y="170"/>
                  </a:cubicBezTo>
                  <a:cubicBezTo>
                    <a:pt x="17" y="169"/>
                    <a:pt x="21" y="162"/>
                    <a:pt x="24" y="161"/>
                  </a:cubicBezTo>
                  <a:cubicBezTo>
                    <a:pt x="28" y="158"/>
                    <a:pt x="32" y="156"/>
                    <a:pt x="36" y="153"/>
                  </a:cubicBezTo>
                  <a:cubicBezTo>
                    <a:pt x="37" y="152"/>
                    <a:pt x="38" y="151"/>
                    <a:pt x="38" y="151"/>
                  </a:cubicBezTo>
                  <a:cubicBezTo>
                    <a:pt x="42" y="148"/>
                    <a:pt x="46" y="144"/>
                    <a:pt x="50" y="141"/>
                  </a:cubicBezTo>
                  <a:cubicBezTo>
                    <a:pt x="50" y="141"/>
                    <a:pt x="51" y="141"/>
                    <a:pt x="51" y="141"/>
                  </a:cubicBezTo>
                  <a:cubicBezTo>
                    <a:pt x="51" y="142"/>
                    <a:pt x="52" y="146"/>
                    <a:pt x="51" y="147"/>
                  </a:cubicBezTo>
                  <a:cubicBezTo>
                    <a:pt x="51" y="155"/>
                    <a:pt x="50" y="160"/>
                    <a:pt x="53" y="165"/>
                  </a:cubicBezTo>
                  <a:cubicBezTo>
                    <a:pt x="55" y="165"/>
                    <a:pt x="57" y="165"/>
                    <a:pt x="58" y="164"/>
                  </a:cubicBezTo>
                  <a:cubicBezTo>
                    <a:pt x="62" y="163"/>
                    <a:pt x="63" y="157"/>
                    <a:pt x="65" y="154"/>
                  </a:cubicBezTo>
                  <a:cubicBezTo>
                    <a:pt x="69" y="145"/>
                    <a:pt x="70" y="134"/>
                    <a:pt x="72" y="124"/>
                  </a:cubicBezTo>
                  <a:cubicBezTo>
                    <a:pt x="72" y="120"/>
                    <a:pt x="72" y="117"/>
                    <a:pt x="72" y="113"/>
                  </a:cubicBezTo>
                  <a:cubicBezTo>
                    <a:pt x="75" y="103"/>
                    <a:pt x="74" y="91"/>
                    <a:pt x="74" y="80"/>
                  </a:cubicBezTo>
                  <a:cubicBezTo>
                    <a:pt x="74" y="75"/>
                    <a:pt x="74" y="71"/>
                    <a:pt x="75" y="66"/>
                  </a:cubicBezTo>
                  <a:cubicBezTo>
                    <a:pt x="74" y="64"/>
                    <a:pt x="74" y="61"/>
                    <a:pt x="74" y="59"/>
                  </a:cubicBezTo>
                  <a:close/>
                  <a:moveTo>
                    <a:pt x="51" y="122"/>
                  </a:moveTo>
                  <a:cubicBezTo>
                    <a:pt x="51" y="124"/>
                    <a:pt x="51" y="126"/>
                    <a:pt x="51" y="128"/>
                  </a:cubicBezTo>
                  <a:cubicBezTo>
                    <a:pt x="50" y="130"/>
                    <a:pt x="46" y="131"/>
                    <a:pt x="44" y="132"/>
                  </a:cubicBezTo>
                  <a:cubicBezTo>
                    <a:pt x="43" y="133"/>
                    <a:pt x="41" y="135"/>
                    <a:pt x="40" y="136"/>
                  </a:cubicBezTo>
                  <a:cubicBezTo>
                    <a:pt x="37" y="137"/>
                    <a:pt x="34" y="137"/>
                    <a:pt x="31" y="139"/>
                  </a:cubicBezTo>
                  <a:cubicBezTo>
                    <a:pt x="29" y="140"/>
                    <a:pt x="26" y="142"/>
                    <a:pt x="24" y="144"/>
                  </a:cubicBezTo>
                  <a:cubicBezTo>
                    <a:pt x="22" y="145"/>
                    <a:pt x="16" y="148"/>
                    <a:pt x="13" y="146"/>
                  </a:cubicBezTo>
                  <a:cubicBezTo>
                    <a:pt x="12" y="146"/>
                    <a:pt x="12" y="145"/>
                    <a:pt x="12" y="145"/>
                  </a:cubicBezTo>
                  <a:cubicBezTo>
                    <a:pt x="12" y="141"/>
                    <a:pt x="15" y="138"/>
                    <a:pt x="17" y="135"/>
                  </a:cubicBezTo>
                  <a:cubicBezTo>
                    <a:pt x="21" y="129"/>
                    <a:pt x="26" y="124"/>
                    <a:pt x="30" y="118"/>
                  </a:cubicBezTo>
                  <a:cubicBezTo>
                    <a:pt x="30" y="117"/>
                    <a:pt x="31" y="116"/>
                    <a:pt x="31" y="115"/>
                  </a:cubicBezTo>
                  <a:cubicBezTo>
                    <a:pt x="32" y="113"/>
                    <a:pt x="35" y="111"/>
                    <a:pt x="36" y="108"/>
                  </a:cubicBezTo>
                  <a:cubicBezTo>
                    <a:pt x="44" y="108"/>
                    <a:pt x="48" y="104"/>
                    <a:pt x="49" y="99"/>
                  </a:cubicBezTo>
                  <a:cubicBezTo>
                    <a:pt x="50" y="99"/>
                    <a:pt x="51" y="99"/>
                    <a:pt x="51" y="99"/>
                  </a:cubicBezTo>
                  <a:cubicBezTo>
                    <a:pt x="51" y="104"/>
                    <a:pt x="52" y="109"/>
                    <a:pt x="51" y="114"/>
                  </a:cubicBezTo>
                  <a:cubicBezTo>
                    <a:pt x="51" y="117"/>
                    <a:pt x="52" y="121"/>
                    <a:pt x="51" y="12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4" name="Freeform 46">
              <a:extLst>
                <a:ext uri="{FF2B5EF4-FFF2-40B4-BE49-F238E27FC236}">
                  <a16:creationId xmlns:a16="http://schemas.microsoft.com/office/drawing/2014/main" id="{7ED478F4-FA1C-7240-7AC8-543F23BD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2845" y="1785919"/>
              <a:ext cx="225952" cy="314053"/>
            </a:xfrm>
            <a:custGeom>
              <a:avLst/>
              <a:gdLst>
                <a:gd name="T0" fmla="*/ 14 w 42"/>
                <a:gd name="T1" fmla="*/ 25 h 58"/>
                <a:gd name="T2" fmla="*/ 19 w 42"/>
                <a:gd name="T3" fmla="*/ 30 h 58"/>
                <a:gd name="T4" fmla="*/ 28 w 42"/>
                <a:gd name="T5" fmla="*/ 58 h 58"/>
                <a:gd name="T6" fmla="*/ 42 w 42"/>
                <a:gd name="T7" fmla="*/ 47 h 58"/>
                <a:gd name="T8" fmla="*/ 25 w 42"/>
                <a:gd name="T9" fmla="*/ 15 h 58"/>
                <a:gd name="T10" fmla="*/ 13 w 42"/>
                <a:gd name="T11" fmla="*/ 9 h 58"/>
                <a:gd name="T12" fmla="*/ 2 w 42"/>
                <a:gd name="T13" fmla="*/ 0 h 58"/>
                <a:gd name="T14" fmla="*/ 0 w 42"/>
                <a:gd name="T15" fmla="*/ 2 h 58"/>
                <a:gd name="T16" fmla="*/ 0 w 42"/>
                <a:gd name="T17" fmla="*/ 9 h 58"/>
                <a:gd name="T18" fmla="*/ 5 w 42"/>
                <a:gd name="T19" fmla="*/ 13 h 58"/>
                <a:gd name="T20" fmla="*/ 14 w 42"/>
                <a:gd name="T21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58">
                  <a:moveTo>
                    <a:pt x="14" y="25"/>
                  </a:moveTo>
                  <a:cubicBezTo>
                    <a:pt x="15" y="27"/>
                    <a:pt x="18" y="28"/>
                    <a:pt x="19" y="30"/>
                  </a:cubicBezTo>
                  <a:cubicBezTo>
                    <a:pt x="24" y="37"/>
                    <a:pt x="25" y="50"/>
                    <a:pt x="28" y="58"/>
                  </a:cubicBezTo>
                  <a:cubicBezTo>
                    <a:pt x="35" y="58"/>
                    <a:pt x="39" y="51"/>
                    <a:pt x="42" y="47"/>
                  </a:cubicBezTo>
                  <a:cubicBezTo>
                    <a:pt x="42" y="36"/>
                    <a:pt x="31" y="19"/>
                    <a:pt x="25" y="15"/>
                  </a:cubicBezTo>
                  <a:cubicBezTo>
                    <a:pt x="21" y="12"/>
                    <a:pt x="17" y="11"/>
                    <a:pt x="13" y="9"/>
                  </a:cubicBezTo>
                  <a:cubicBezTo>
                    <a:pt x="9" y="6"/>
                    <a:pt x="7" y="2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8" y="17"/>
                    <a:pt x="11" y="21"/>
                    <a:pt x="14" y="25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5" name="Freeform 47">
              <a:extLst>
                <a:ext uri="{FF2B5EF4-FFF2-40B4-BE49-F238E27FC236}">
                  <a16:creationId xmlns:a16="http://schemas.microsoft.com/office/drawing/2014/main" id="{8E999C6C-9817-02F4-098F-7230F7A77D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5341" y="1564113"/>
              <a:ext cx="677855" cy="762847"/>
            </a:xfrm>
            <a:custGeom>
              <a:avLst/>
              <a:gdLst>
                <a:gd name="T0" fmla="*/ 120 w 126"/>
                <a:gd name="T1" fmla="*/ 50 h 141"/>
                <a:gd name="T2" fmla="*/ 114 w 126"/>
                <a:gd name="T3" fmla="*/ 33 h 141"/>
                <a:gd name="T4" fmla="*/ 105 w 126"/>
                <a:gd name="T5" fmla="*/ 32 h 141"/>
                <a:gd name="T6" fmla="*/ 79 w 126"/>
                <a:gd name="T7" fmla="*/ 40 h 141"/>
                <a:gd name="T8" fmla="*/ 86 w 126"/>
                <a:gd name="T9" fmla="*/ 19 h 141"/>
                <a:gd name="T10" fmla="*/ 82 w 126"/>
                <a:gd name="T11" fmla="*/ 1 h 141"/>
                <a:gd name="T12" fmla="*/ 67 w 126"/>
                <a:gd name="T13" fmla="*/ 30 h 141"/>
                <a:gd name="T14" fmla="*/ 46 w 126"/>
                <a:gd name="T15" fmla="*/ 34 h 141"/>
                <a:gd name="T16" fmla="*/ 48 w 126"/>
                <a:gd name="T17" fmla="*/ 44 h 141"/>
                <a:gd name="T18" fmla="*/ 50 w 126"/>
                <a:gd name="T19" fmla="*/ 52 h 141"/>
                <a:gd name="T20" fmla="*/ 60 w 126"/>
                <a:gd name="T21" fmla="*/ 54 h 141"/>
                <a:gd name="T22" fmla="*/ 43 w 126"/>
                <a:gd name="T23" fmla="*/ 66 h 141"/>
                <a:gd name="T24" fmla="*/ 46 w 126"/>
                <a:gd name="T25" fmla="*/ 72 h 141"/>
                <a:gd name="T26" fmla="*/ 37 w 126"/>
                <a:gd name="T27" fmla="*/ 90 h 141"/>
                <a:gd name="T28" fmla="*/ 53 w 126"/>
                <a:gd name="T29" fmla="*/ 79 h 141"/>
                <a:gd name="T30" fmla="*/ 62 w 126"/>
                <a:gd name="T31" fmla="*/ 90 h 141"/>
                <a:gd name="T32" fmla="*/ 79 w 126"/>
                <a:gd name="T33" fmla="*/ 90 h 141"/>
                <a:gd name="T34" fmla="*/ 73 w 126"/>
                <a:gd name="T35" fmla="*/ 94 h 141"/>
                <a:gd name="T36" fmla="*/ 37 w 126"/>
                <a:gd name="T37" fmla="*/ 113 h 141"/>
                <a:gd name="T38" fmla="*/ 0 w 126"/>
                <a:gd name="T39" fmla="*/ 135 h 141"/>
                <a:gd name="T40" fmla="*/ 0 w 126"/>
                <a:gd name="T41" fmla="*/ 139 h 141"/>
                <a:gd name="T42" fmla="*/ 68 w 126"/>
                <a:gd name="T43" fmla="*/ 111 h 141"/>
                <a:gd name="T44" fmla="*/ 85 w 126"/>
                <a:gd name="T45" fmla="*/ 98 h 141"/>
                <a:gd name="T46" fmla="*/ 83 w 126"/>
                <a:gd name="T47" fmla="*/ 104 h 141"/>
                <a:gd name="T48" fmla="*/ 75 w 126"/>
                <a:gd name="T49" fmla="*/ 114 h 141"/>
                <a:gd name="T50" fmla="*/ 61 w 126"/>
                <a:gd name="T51" fmla="*/ 127 h 141"/>
                <a:gd name="T52" fmla="*/ 78 w 126"/>
                <a:gd name="T53" fmla="*/ 124 h 141"/>
                <a:gd name="T54" fmla="*/ 92 w 126"/>
                <a:gd name="T55" fmla="*/ 116 h 141"/>
                <a:gd name="T56" fmla="*/ 100 w 126"/>
                <a:gd name="T57" fmla="*/ 87 h 141"/>
                <a:gd name="T58" fmla="*/ 100 w 126"/>
                <a:gd name="T59" fmla="*/ 78 h 141"/>
                <a:gd name="T60" fmla="*/ 81 w 126"/>
                <a:gd name="T61" fmla="*/ 80 h 141"/>
                <a:gd name="T62" fmla="*/ 75 w 126"/>
                <a:gd name="T63" fmla="*/ 63 h 141"/>
                <a:gd name="T64" fmla="*/ 68 w 126"/>
                <a:gd name="T65" fmla="*/ 74 h 141"/>
                <a:gd name="T66" fmla="*/ 76 w 126"/>
                <a:gd name="T67" fmla="*/ 48 h 141"/>
                <a:gd name="T68" fmla="*/ 86 w 126"/>
                <a:gd name="T69" fmla="*/ 7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141">
                  <a:moveTo>
                    <a:pt x="100" y="78"/>
                  </a:moveTo>
                  <a:cubicBezTo>
                    <a:pt x="106" y="69"/>
                    <a:pt x="115" y="61"/>
                    <a:pt x="120" y="50"/>
                  </a:cubicBezTo>
                  <a:cubicBezTo>
                    <a:pt x="121" y="47"/>
                    <a:pt x="126" y="39"/>
                    <a:pt x="123" y="35"/>
                  </a:cubicBezTo>
                  <a:cubicBezTo>
                    <a:pt x="121" y="33"/>
                    <a:pt x="117" y="34"/>
                    <a:pt x="114" y="33"/>
                  </a:cubicBezTo>
                  <a:cubicBezTo>
                    <a:pt x="113" y="33"/>
                    <a:pt x="112" y="31"/>
                    <a:pt x="111" y="31"/>
                  </a:cubicBezTo>
                  <a:cubicBezTo>
                    <a:pt x="109" y="30"/>
                    <a:pt x="106" y="32"/>
                    <a:pt x="105" y="32"/>
                  </a:cubicBezTo>
                  <a:cubicBezTo>
                    <a:pt x="100" y="34"/>
                    <a:pt x="95" y="35"/>
                    <a:pt x="90" y="37"/>
                  </a:cubicBezTo>
                  <a:cubicBezTo>
                    <a:pt x="88" y="38"/>
                    <a:pt x="81" y="41"/>
                    <a:pt x="79" y="40"/>
                  </a:cubicBezTo>
                  <a:cubicBezTo>
                    <a:pt x="78" y="40"/>
                    <a:pt x="78" y="39"/>
                    <a:pt x="77" y="39"/>
                  </a:cubicBezTo>
                  <a:cubicBezTo>
                    <a:pt x="78" y="31"/>
                    <a:pt x="84" y="26"/>
                    <a:pt x="86" y="19"/>
                  </a:cubicBezTo>
                  <a:cubicBezTo>
                    <a:pt x="87" y="17"/>
                    <a:pt x="90" y="12"/>
                    <a:pt x="88" y="10"/>
                  </a:cubicBezTo>
                  <a:cubicBezTo>
                    <a:pt x="88" y="6"/>
                    <a:pt x="84" y="3"/>
                    <a:pt x="82" y="1"/>
                  </a:cubicBezTo>
                  <a:cubicBezTo>
                    <a:pt x="81" y="0"/>
                    <a:pt x="78" y="1"/>
                    <a:pt x="78" y="3"/>
                  </a:cubicBezTo>
                  <a:cubicBezTo>
                    <a:pt x="78" y="14"/>
                    <a:pt x="73" y="26"/>
                    <a:pt x="67" y="30"/>
                  </a:cubicBezTo>
                  <a:cubicBezTo>
                    <a:pt x="65" y="31"/>
                    <a:pt x="63" y="31"/>
                    <a:pt x="60" y="32"/>
                  </a:cubicBezTo>
                  <a:cubicBezTo>
                    <a:pt x="56" y="33"/>
                    <a:pt x="51" y="38"/>
                    <a:pt x="46" y="34"/>
                  </a:cubicBezTo>
                  <a:cubicBezTo>
                    <a:pt x="44" y="34"/>
                    <a:pt x="43" y="34"/>
                    <a:pt x="42" y="35"/>
                  </a:cubicBezTo>
                  <a:cubicBezTo>
                    <a:pt x="42" y="40"/>
                    <a:pt x="45" y="43"/>
                    <a:pt x="48" y="44"/>
                  </a:cubicBezTo>
                  <a:cubicBezTo>
                    <a:pt x="49" y="45"/>
                    <a:pt x="52" y="45"/>
                    <a:pt x="55" y="44"/>
                  </a:cubicBezTo>
                  <a:cubicBezTo>
                    <a:pt x="54" y="48"/>
                    <a:pt x="52" y="51"/>
                    <a:pt x="50" y="52"/>
                  </a:cubicBezTo>
                  <a:cubicBezTo>
                    <a:pt x="50" y="54"/>
                    <a:pt x="50" y="55"/>
                    <a:pt x="50" y="56"/>
                  </a:cubicBezTo>
                  <a:cubicBezTo>
                    <a:pt x="55" y="57"/>
                    <a:pt x="56" y="54"/>
                    <a:pt x="60" y="54"/>
                  </a:cubicBezTo>
                  <a:cubicBezTo>
                    <a:pt x="59" y="59"/>
                    <a:pt x="55" y="61"/>
                    <a:pt x="53" y="65"/>
                  </a:cubicBezTo>
                  <a:cubicBezTo>
                    <a:pt x="50" y="66"/>
                    <a:pt x="46" y="66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70"/>
                    <a:pt x="44" y="71"/>
                    <a:pt x="46" y="72"/>
                  </a:cubicBezTo>
                  <a:cubicBezTo>
                    <a:pt x="45" y="77"/>
                    <a:pt x="41" y="80"/>
                    <a:pt x="39" y="84"/>
                  </a:cubicBezTo>
                  <a:cubicBezTo>
                    <a:pt x="38" y="85"/>
                    <a:pt x="35" y="87"/>
                    <a:pt x="37" y="90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4" y="87"/>
                    <a:pt x="51" y="85"/>
                    <a:pt x="53" y="79"/>
                  </a:cubicBezTo>
                  <a:cubicBezTo>
                    <a:pt x="60" y="79"/>
                    <a:pt x="60" y="81"/>
                    <a:pt x="64" y="83"/>
                  </a:cubicBezTo>
                  <a:cubicBezTo>
                    <a:pt x="64" y="86"/>
                    <a:pt x="63" y="88"/>
                    <a:pt x="62" y="90"/>
                  </a:cubicBezTo>
                  <a:cubicBezTo>
                    <a:pt x="62" y="92"/>
                    <a:pt x="62" y="93"/>
                    <a:pt x="62" y="94"/>
                  </a:cubicBezTo>
                  <a:cubicBezTo>
                    <a:pt x="67" y="94"/>
                    <a:pt x="75" y="87"/>
                    <a:pt x="79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9" y="92"/>
                    <a:pt x="76" y="93"/>
                    <a:pt x="73" y="94"/>
                  </a:cubicBezTo>
                  <a:cubicBezTo>
                    <a:pt x="69" y="97"/>
                    <a:pt x="63" y="99"/>
                    <a:pt x="58" y="101"/>
                  </a:cubicBezTo>
                  <a:cubicBezTo>
                    <a:pt x="51" y="105"/>
                    <a:pt x="43" y="109"/>
                    <a:pt x="37" y="113"/>
                  </a:cubicBezTo>
                  <a:cubicBezTo>
                    <a:pt x="35" y="114"/>
                    <a:pt x="33" y="114"/>
                    <a:pt x="31" y="115"/>
                  </a:cubicBezTo>
                  <a:cubicBezTo>
                    <a:pt x="21" y="121"/>
                    <a:pt x="11" y="129"/>
                    <a:pt x="0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7"/>
                    <a:pt x="0" y="138"/>
                    <a:pt x="0" y="139"/>
                  </a:cubicBezTo>
                  <a:cubicBezTo>
                    <a:pt x="14" y="141"/>
                    <a:pt x="24" y="135"/>
                    <a:pt x="34" y="132"/>
                  </a:cubicBezTo>
                  <a:cubicBezTo>
                    <a:pt x="46" y="127"/>
                    <a:pt x="58" y="118"/>
                    <a:pt x="68" y="111"/>
                  </a:cubicBezTo>
                  <a:cubicBezTo>
                    <a:pt x="71" y="109"/>
                    <a:pt x="74" y="104"/>
                    <a:pt x="77" y="102"/>
                  </a:cubicBezTo>
                  <a:cubicBezTo>
                    <a:pt x="80" y="100"/>
                    <a:pt x="82" y="100"/>
                    <a:pt x="85" y="98"/>
                  </a:cubicBezTo>
                  <a:cubicBezTo>
                    <a:pt x="85" y="98"/>
                    <a:pt x="86" y="98"/>
                    <a:pt x="87" y="98"/>
                  </a:cubicBezTo>
                  <a:cubicBezTo>
                    <a:pt x="86" y="101"/>
                    <a:pt x="84" y="102"/>
                    <a:pt x="83" y="104"/>
                  </a:cubicBezTo>
                  <a:cubicBezTo>
                    <a:pt x="83" y="105"/>
                    <a:pt x="82" y="106"/>
                    <a:pt x="82" y="107"/>
                  </a:cubicBezTo>
                  <a:cubicBezTo>
                    <a:pt x="79" y="109"/>
                    <a:pt x="77" y="111"/>
                    <a:pt x="75" y="114"/>
                  </a:cubicBezTo>
                  <a:cubicBezTo>
                    <a:pt x="74" y="115"/>
                    <a:pt x="73" y="117"/>
                    <a:pt x="71" y="118"/>
                  </a:cubicBezTo>
                  <a:cubicBezTo>
                    <a:pt x="68" y="121"/>
                    <a:pt x="64" y="124"/>
                    <a:pt x="61" y="127"/>
                  </a:cubicBezTo>
                  <a:cubicBezTo>
                    <a:pt x="61" y="128"/>
                    <a:pt x="61" y="130"/>
                    <a:pt x="62" y="132"/>
                  </a:cubicBezTo>
                  <a:cubicBezTo>
                    <a:pt x="69" y="131"/>
                    <a:pt x="73" y="126"/>
                    <a:pt x="78" y="124"/>
                  </a:cubicBezTo>
                  <a:cubicBezTo>
                    <a:pt x="81" y="123"/>
                    <a:pt x="84" y="122"/>
                    <a:pt x="87" y="121"/>
                  </a:cubicBezTo>
                  <a:cubicBezTo>
                    <a:pt x="89" y="119"/>
                    <a:pt x="90" y="117"/>
                    <a:pt x="92" y="116"/>
                  </a:cubicBezTo>
                  <a:cubicBezTo>
                    <a:pt x="101" y="109"/>
                    <a:pt x="108" y="105"/>
                    <a:pt x="107" y="89"/>
                  </a:cubicBezTo>
                  <a:cubicBezTo>
                    <a:pt x="104" y="88"/>
                    <a:pt x="101" y="88"/>
                    <a:pt x="100" y="87"/>
                  </a:cubicBezTo>
                  <a:cubicBezTo>
                    <a:pt x="97" y="87"/>
                    <a:pt x="93" y="87"/>
                    <a:pt x="90" y="87"/>
                  </a:cubicBezTo>
                  <a:cubicBezTo>
                    <a:pt x="92" y="82"/>
                    <a:pt x="97" y="82"/>
                    <a:pt x="100" y="78"/>
                  </a:cubicBezTo>
                  <a:close/>
                  <a:moveTo>
                    <a:pt x="86" y="72"/>
                  </a:moveTo>
                  <a:cubicBezTo>
                    <a:pt x="84" y="75"/>
                    <a:pt x="83" y="77"/>
                    <a:pt x="81" y="80"/>
                  </a:cubicBezTo>
                  <a:cubicBezTo>
                    <a:pt x="80" y="80"/>
                    <a:pt x="80" y="80"/>
                    <a:pt x="79" y="79"/>
                  </a:cubicBezTo>
                  <a:cubicBezTo>
                    <a:pt x="78" y="73"/>
                    <a:pt x="77" y="68"/>
                    <a:pt x="75" y="63"/>
                  </a:cubicBezTo>
                  <a:cubicBezTo>
                    <a:pt x="74" y="63"/>
                    <a:pt x="73" y="63"/>
                    <a:pt x="72" y="64"/>
                  </a:cubicBezTo>
                  <a:cubicBezTo>
                    <a:pt x="69" y="66"/>
                    <a:pt x="71" y="72"/>
                    <a:pt x="68" y="74"/>
                  </a:cubicBezTo>
                  <a:cubicBezTo>
                    <a:pt x="66" y="76"/>
                    <a:pt x="63" y="71"/>
                    <a:pt x="62" y="70"/>
                  </a:cubicBezTo>
                  <a:cubicBezTo>
                    <a:pt x="63" y="61"/>
                    <a:pt x="72" y="54"/>
                    <a:pt x="76" y="48"/>
                  </a:cubicBezTo>
                  <a:cubicBezTo>
                    <a:pt x="85" y="48"/>
                    <a:pt x="91" y="52"/>
                    <a:pt x="99" y="52"/>
                  </a:cubicBezTo>
                  <a:cubicBezTo>
                    <a:pt x="98" y="63"/>
                    <a:pt x="90" y="66"/>
                    <a:pt x="86" y="7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6" name="Freeform 48">
              <a:extLst>
                <a:ext uri="{FF2B5EF4-FFF2-40B4-BE49-F238E27FC236}">
                  <a16:creationId xmlns:a16="http://schemas.microsoft.com/office/drawing/2014/main" id="{73B8B231-652A-D4E5-1EB3-C18C33BF9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2481" y="2046074"/>
              <a:ext cx="101575" cy="173092"/>
            </a:xfrm>
            <a:custGeom>
              <a:avLst/>
              <a:gdLst>
                <a:gd name="T0" fmla="*/ 2 w 19"/>
                <a:gd name="T1" fmla="*/ 24 h 32"/>
                <a:gd name="T2" fmla="*/ 7 w 19"/>
                <a:gd name="T3" fmla="*/ 32 h 32"/>
                <a:gd name="T4" fmla="*/ 12 w 19"/>
                <a:gd name="T5" fmla="*/ 32 h 32"/>
                <a:gd name="T6" fmla="*/ 18 w 19"/>
                <a:gd name="T7" fmla="*/ 19 h 32"/>
                <a:gd name="T8" fmla="*/ 5 w 19"/>
                <a:gd name="T9" fmla="*/ 0 h 32"/>
                <a:gd name="T10" fmla="*/ 1 w 19"/>
                <a:gd name="T11" fmla="*/ 0 h 32"/>
                <a:gd name="T12" fmla="*/ 2 w 19"/>
                <a:gd name="T13" fmla="*/ 15 h 32"/>
                <a:gd name="T14" fmla="*/ 2 w 19"/>
                <a:gd name="T1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2">
                  <a:moveTo>
                    <a:pt x="2" y="24"/>
                  </a:moveTo>
                  <a:cubicBezTo>
                    <a:pt x="3" y="26"/>
                    <a:pt x="6" y="29"/>
                    <a:pt x="7" y="32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29"/>
                    <a:pt x="17" y="25"/>
                    <a:pt x="18" y="19"/>
                  </a:cubicBezTo>
                  <a:cubicBezTo>
                    <a:pt x="19" y="14"/>
                    <a:pt x="9" y="1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3"/>
                    <a:pt x="2" y="12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7" name="Freeform 49">
              <a:extLst>
                <a:ext uri="{FF2B5EF4-FFF2-40B4-BE49-F238E27FC236}">
                  <a16:creationId xmlns:a16="http://schemas.microsoft.com/office/drawing/2014/main" id="{B3A4666B-EBD7-064F-ED94-3FE39C1E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8949" y="2311413"/>
              <a:ext cx="570062" cy="378314"/>
            </a:xfrm>
            <a:custGeom>
              <a:avLst/>
              <a:gdLst>
                <a:gd name="T0" fmla="*/ 87 w 106"/>
                <a:gd name="T1" fmla="*/ 0 h 70"/>
                <a:gd name="T2" fmla="*/ 63 w 106"/>
                <a:gd name="T3" fmla="*/ 7 h 70"/>
                <a:gd name="T4" fmla="*/ 38 w 106"/>
                <a:gd name="T5" fmla="*/ 16 h 70"/>
                <a:gd name="T6" fmla="*/ 22 w 106"/>
                <a:gd name="T7" fmla="*/ 24 h 70"/>
                <a:gd name="T8" fmla="*/ 17 w 106"/>
                <a:gd name="T9" fmla="*/ 25 h 70"/>
                <a:gd name="T10" fmla="*/ 10 w 106"/>
                <a:gd name="T11" fmla="*/ 29 h 70"/>
                <a:gd name="T12" fmla="*/ 4 w 106"/>
                <a:gd name="T13" fmla="*/ 30 h 70"/>
                <a:gd name="T14" fmla="*/ 0 w 106"/>
                <a:gd name="T15" fmla="*/ 35 h 70"/>
                <a:gd name="T16" fmla="*/ 6 w 106"/>
                <a:gd name="T17" fmla="*/ 49 h 70"/>
                <a:gd name="T18" fmla="*/ 7 w 106"/>
                <a:gd name="T19" fmla="*/ 52 h 70"/>
                <a:gd name="T20" fmla="*/ 10 w 106"/>
                <a:gd name="T21" fmla="*/ 54 h 70"/>
                <a:gd name="T22" fmla="*/ 20 w 106"/>
                <a:gd name="T23" fmla="*/ 51 h 70"/>
                <a:gd name="T24" fmla="*/ 41 w 106"/>
                <a:gd name="T25" fmla="*/ 37 h 70"/>
                <a:gd name="T26" fmla="*/ 51 w 106"/>
                <a:gd name="T27" fmla="*/ 32 h 70"/>
                <a:gd name="T28" fmla="*/ 59 w 106"/>
                <a:gd name="T29" fmla="*/ 31 h 70"/>
                <a:gd name="T30" fmla="*/ 69 w 106"/>
                <a:gd name="T31" fmla="*/ 28 h 70"/>
                <a:gd name="T32" fmla="*/ 71 w 106"/>
                <a:gd name="T33" fmla="*/ 31 h 70"/>
                <a:gd name="T34" fmla="*/ 70 w 106"/>
                <a:gd name="T35" fmla="*/ 40 h 70"/>
                <a:gd name="T36" fmla="*/ 72 w 106"/>
                <a:gd name="T37" fmla="*/ 47 h 70"/>
                <a:gd name="T38" fmla="*/ 69 w 106"/>
                <a:gd name="T39" fmla="*/ 51 h 70"/>
                <a:gd name="T40" fmla="*/ 54 w 106"/>
                <a:gd name="T41" fmla="*/ 56 h 70"/>
                <a:gd name="T42" fmla="*/ 44 w 106"/>
                <a:gd name="T43" fmla="*/ 56 h 70"/>
                <a:gd name="T44" fmla="*/ 43 w 106"/>
                <a:gd name="T45" fmla="*/ 56 h 70"/>
                <a:gd name="T46" fmla="*/ 44 w 106"/>
                <a:gd name="T47" fmla="*/ 60 h 70"/>
                <a:gd name="T48" fmla="*/ 52 w 106"/>
                <a:gd name="T49" fmla="*/ 63 h 70"/>
                <a:gd name="T50" fmla="*/ 67 w 106"/>
                <a:gd name="T51" fmla="*/ 67 h 70"/>
                <a:gd name="T52" fmla="*/ 71 w 106"/>
                <a:gd name="T53" fmla="*/ 63 h 70"/>
                <a:gd name="T54" fmla="*/ 80 w 106"/>
                <a:gd name="T55" fmla="*/ 62 h 70"/>
                <a:gd name="T56" fmla="*/ 83 w 106"/>
                <a:gd name="T57" fmla="*/ 56 h 70"/>
                <a:gd name="T58" fmla="*/ 86 w 106"/>
                <a:gd name="T59" fmla="*/ 49 h 70"/>
                <a:gd name="T60" fmla="*/ 85 w 106"/>
                <a:gd name="T61" fmla="*/ 42 h 70"/>
                <a:gd name="T62" fmla="*/ 84 w 106"/>
                <a:gd name="T63" fmla="*/ 37 h 70"/>
                <a:gd name="T64" fmla="*/ 80 w 106"/>
                <a:gd name="T65" fmla="*/ 25 h 70"/>
                <a:gd name="T66" fmla="*/ 81 w 106"/>
                <a:gd name="T67" fmla="*/ 23 h 70"/>
                <a:gd name="T68" fmla="*/ 97 w 106"/>
                <a:gd name="T69" fmla="*/ 21 h 70"/>
                <a:gd name="T70" fmla="*/ 104 w 106"/>
                <a:gd name="T71" fmla="*/ 15 h 70"/>
                <a:gd name="T72" fmla="*/ 106 w 106"/>
                <a:gd name="T73" fmla="*/ 9 h 70"/>
                <a:gd name="T74" fmla="*/ 103 w 106"/>
                <a:gd name="T75" fmla="*/ 2 h 70"/>
                <a:gd name="T76" fmla="*/ 87 w 106"/>
                <a:gd name="T7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70">
                  <a:moveTo>
                    <a:pt x="87" y="0"/>
                  </a:moveTo>
                  <a:cubicBezTo>
                    <a:pt x="83" y="4"/>
                    <a:pt x="69" y="4"/>
                    <a:pt x="63" y="7"/>
                  </a:cubicBezTo>
                  <a:cubicBezTo>
                    <a:pt x="55" y="10"/>
                    <a:pt x="47" y="13"/>
                    <a:pt x="38" y="16"/>
                  </a:cubicBezTo>
                  <a:cubicBezTo>
                    <a:pt x="33" y="19"/>
                    <a:pt x="27" y="22"/>
                    <a:pt x="22" y="24"/>
                  </a:cubicBezTo>
                  <a:cubicBezTo>
                    <a:pt x="20" y="24"/>
                    <a:pt x="19" y="25"/>
                    <a:pt x="17" y="25"/>
                  </a:cubicBezTo>
                  <a:cubicBezTo>
                    <a:pt x="15" y="26"/>
                    <a:pt x="13" y="28"/>
                    <a:pt x="10" y="29"/>
                  </a:cubicBezTo>
                  <a:cubicBezTo>
                    <a:pt x="8" y="30"/>
                    <a:pt x="6" y="30"/>
                    <a:pt x="4" y="30"/>
                  </a:cubicBezTo>
                  <a:cubicBezTo>
                    <a:pt x="2" y="31"/>
                    <a:pt x="1" y="33"/>
                    <a:pt x="0" y="35"/>
                  </a:cubicBezTo>
                  <a:cubicBezTo>
                    <a:pt x="0" y="42"/>
                    <a:pt x="4" y="45"/>
                    <a:pt x="6" y="49"/>
                  </a:cubicBezTo>
                  <a:cubicBezTo>
                    <a:pt x="6" y="50"/>
                    <a:pt x="6" y="51"/>
                    <a:pt x="7" y="52"/>
                  </a:cubicBezTo>
                  <a:cubicBezTo>
                    <a:pt x="7" y="53"/>
                    <a:pt x="9" y="54"/>
                    <a:pt x="10" y="54"/>
                  </a:cubicBezTo>
                  <a:cubicBezTo>
                    <a:pt x="14" y="54"/>
                    <a:pt x="18" y="52"/>
                    <a:pt x="20" y="51"/>
                  </a:cubicBezTo>
                  <a:cubicBezTo>
                    <a:pt x="28" y="47"/>
                    <a:pt x="34" y="41"/>
                    <a:pt x="41" y="37"/>
                  </a:cubicBezTo>
                  <a:cubicBezTo>
                    <a:pt x="44" y="35"/>
                    <a:pt x="48" y="33"/>
                    <a:pt x="51" y="32"/>
                  </a:cubicBezTo>
                  <a:cubicBezTo>
                    <a:pt x="54" y="31"/>
                    <a:pt x="56" y="32"/>
                    <a:pt x="59" y="31"/>
                  </a:cubicBezTo>
                  <a:cubicBezTo>
                    <a:pt x="64" y="29"/>
                    <a:pt x="62" y="26"/>
                    <a:pt x="69" y="28"/>
                  </a:cubicBezTo>
                  <a:cubicBezTo>
                    <a:pt x="70" y="29"/>
                    <a:pt x="71" y="30"/>
                    <a:pt x="71" y="31"/>
                  </a:cubicBezTo>
                  <a:cubicBezTo>
                    <a:pt x="72" y="34"/>
                    <a:pt x="70" y="38"/>
                    <a:pt x="70" y="40"/>
                  </a:cubicBezTo>
                  <a:cubicBezTo>
                    <a:pt x="71" y="43"/>
                    <a:pt x="72" y="43"/>
                    <a:pt x="72" y="47"/>
                  </a:cubicBezTo>
                  <a:cubicBezTo>
                    <a:pt x="71" y="48"/>
                    <a:pt x="70" y="50"/>
                    <a:pt x="69" y="51"/>
                  </a:cubicBezTo>
                  <a:cubicBezTo>
                    <a:pt x="65" y="54"/>
                    <a:pt x="59" y="55"/>
                    <a:pt x="54" y="56"/>
                  </a:cubicBezTo>
                  <a:cubicBezTo>
                    <a:pt x="51" y="57"/>
                    <a:pt x="46" y="55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8"/>
                    <a:pt x="43" y="59"/>
                    <a:pt x="44" y="60"/>
                  </a:cubicBezTo>
                  <a:cubicBezTo>
                    <a:pt x="45" y="64"/>
                    <a:pt x="47" y="62"/>
                    <a:pt x="52" y="63"/>
                  </a:cubicBezTo>
                  <a:cubicBezTo>
                    <a:pt x="56" y="65"/>
                    <a:pt x="60" y="70"/>
                    <a:pt x="67" y="67"/>
                  </a:cubicBezTo>
                  <a:cubicBezTo>
                    <a:pt x="68" y="66"/>
                    <a:pt x="69" y="64"/>
                    <a:pt x="71" y="63"/>
                  </a:cubicBezTo>
                  <a:cubicBezTo>
                    <a:pt x="74" y="62"/>
                    <a:pt x="77" y="64"/>
                    <a:pt x="80" y="62"/>
                  </a:cubicBezTo>
                  <a:cubicBezTo>
                    <a:pt x="82" y="61"/>
                    <a:pt x="82" y="58"/>
                    <a:pt x="83" y="56"/>
                  </a:cubicBezTo>
                  <a:cubicBezTo>
                    <a:pt x="84" y="54"/>
                    <a:pt x="86" y="52"/>
                    <a:pt x="86" y="49"/>
                  </a:cubicBezTo>
                  <a:cubicBezTo>
                    <a:pt x="87" y="46"/>
                    <a:pt x="85" y="44"/>
                    <a:pt x="85" y="42"/>
                  </a:cubicBezTo>
                  <a:cubicBezTo>
                    <a:pt x="84" y="40"/>
                    <a:pt x="84" y="39"/>
                    <a:pt x="84" y="37"/>
                  </a:cubicBezTo>
                  <a:cubicBezTo>
                    <a:pt x="82" y="33"/>
                    <a:pt x="80" y="31"/>
                    <a:pt x="80" y="25"/>
                  </a:cubicBezTo>
                  <a:cubicBezTo>
                    <a:pt x="79" y="24"/>
                    <a:pt x="80" y="23"/>
                    <a:pt x="81" y="23"/>
                  </a:cubicBezTo>
                  <a:cubicBezTo>
                    <a:pt x="86" y="22"/>
                    <a:pt x="91" y="21"/>
                    <a:pt x="97" y="21"/>
                  </a:cubicBezTo>
                  <a:cubicBezTo>
                    <a:pt x="99" y="19"/>
                    <a:pt x="102" y="17"/>
                    <a:pt x="104" y="15"/>
                  </a:cubicBezTo>
                  <a:cubicBezTo>
                    <a:pt x="105" y="13"/>
                    <a:pt x="105" y="10"/>
                    <a:pt x="106" y="9"/>
                  </a:cubicBezTo>
                  <a:cubicBezTo>
                    <a:pt x="106" y="5"/>
                    <a:pt x="104" y="4"/>
                    <a:pt x="103" y="2"/>
                  </a:cubicBezTo>
                  <a:cubicBezTo>
                    <a:pt x="96" y="2"/>
                    <a:pt x="93" y="0"/>
                    <a:pt x="87" y="0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8" name="Freeform 50">
              <a:extLst>
                <a:ext uri="{FF2B5EF4-FFF2-40B4-BE49-F238E27FC236}">
                  <a16:creationId xmlns:a16="http://schemas.microsoft.com/office/drawing/2014/main" id="{FBCF8B63-BCB3-8CF0-D76A-B054F2A5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3277" y="1699891"/>
              <a:ext cx="796014" cy="848875"/>
            </a:xfrm>
            <a:custGeom>
              <a:avLst/>
              <a:gdLst>
                <a:gd name="T0" fmla="*/ 143 w 148"/>
                <a:gd name="T1" fmla="*/ 58 h 157"/>
                <a:gd name="T2" fmla="*/ 146 w 148"/>
                <a:gd name="T3" fmla="*/ 53 h 157"/>
                <a:gd name="T4" fmla="*/ 145 w 148"/>
                <a:gd name="T5" fmla="*/ 47 h 157"/>
                <a:gd name="T6" fmla="*/ 119 w 148"/>
                <a:gd name="T7" fmla="*/ 62 h 157"/>
                <a:gd name="T8" fmla="*/ 106 w 148"/>
                <a:gd name="T9" fmla="*/ 70 h 157"/>
                <a:gd name="T10" fmla="*/ 106 w 148"/>
                <a:gd name="T11" fmla="*/ 70 h 157"/>
                <a:gd name="T12" fmla="*/ 105 w 148"/>
                <a:gd name="T13" fmla="*/ 40 h 157"/>
                <a:gd name="T14" fmla="*/ 105 w 148"/>
                <a:gd name="T15" fmla="*/ 29 h 157"/>
                <a:gd name="T16" fmla="*/ 107 w 148"/>
                <a:gd name="T17" fmla="*/ 26 h 157"/>
                <a:gd name="T18" fmla="*/ 106 w 148"/>
                <a:gd name="T19" fmla="*/ 14 h 157"/>
                <a:gd name="T20" fmla="*/ 96 w 148"/>
                <a:gd name="T21" fmla="*/ 7 h 157"/>
                <a:gd name="T22" fmla="*/ 90 w 148"/>
                <a:gd name="T23" fmla="*/ 2 h 157"/>
                <a:gd name="T24" fmla="*/ 79 w 148"/>
                <a:gd name="T25" fmla="*/ 0 h 157"/>
                <a:gd name="T26" fmla="*/ 75 w 148"/>
                <a:gd name="T27" fmla="*/ 2 h 157"/>
                <a:gd name="T28" fmla="*/ 84 w 148"/>
                <a:gd name="T29" fmla="*/ 33 h 157"/>
                <a:gd name="T30" fmla="*/ 85 w 148"/>
                <a:gd name="T31" fmla="*/ 66 h 157"/>
                <a:gd name="T32" fmla="*/ 82 w 148"/>
                <a:gd name="T33" fmla="*/ 84 h 157"/>
                <a:gd name="T34" fmla="*/ 63 w 148"/>
                <a:gd name="T35" fmla="*/ 93 h 157"/>
                <a:gd name="T36" fmla="*/ 53 w 148"/>
                <a:gd name="T37" fmla="*/ 97 h 157"/>
                <a:gd name="T38" fmla="*/ 42 w 148"/>
                <a:gd name="T39" fmla="*/ 100 h 157"/>
                <a:gd name="T40" fmla="*/ 24 w 148"/>
                <a:gd name="T41" fmla="*/ 110 h 157"/>
                <a:gd name="T42" fmla="*/ 19 w 148"/>
                <a:gd name="T43" fmla="*/ 111 h 157"/>
                <a:gd name="T44" fmla="*/ 12 w 148"/>
                <a:gd name="T45" fmla="*/ 114 h 157"/>
                <a:gd name="T46" fmla="*/ 9 w 148"/>
                <a:gd name="T47" fmla="*/ 114 h 157"/>
                <a:gd name="T48" fmla="*/ 4 w 148"/>
                <a:gd name="T49" fmla="*/ 108 h 157"/>
                <a:gd name="T50" fmla="*/ 2 w 148"/>
                <a:gd name="T51" fmla="*/ 107 h 157"/>
                <a:gd name="T52" fmla="*/ 1 w 148"/>
                <a:gd name="T53" fmla="*/ 109 h 157"/>
                <a:gd name="T54" fmla="*/ 6 w 148"/>
                <a:gd name="T55" fmla="*/ 134 h 157"/>
                <a:gd name="T56" fmla="*/ 36 w 148"/>
                <a:gd name="T57" fmla="*/ 125 h 157"/>
                <a:gd name="T58" fmla="*/ 47 w 148"/>
                <a:gd name="T59" fmla="*/ 119 h 157"/>
                <a:gd name="T60" fmla="*/ 55 w 148"/>
                <a:gd name="T61" fmla="*/ 112 h 157"/>
                <a:gd name="T62" fmla="*/ 59 w 148"/>
                <a:gd name="T63" fmla="*/ 111 h 157"/>
                <a:gd name="T64" fmla="*/ 78 w 148"/>
                <a:gd name="T65" fmla="*/ 105 h 157"/>
                <a:gd name="T66" fmla="*/ 57 w 148"/>
                <a:gd name="T67" fmla="*/ 140 h 157"/>
                <a:gd name="T68" fmla="*/ 52 w 148"/>
                <a:gd name="T69" fmla="*/ 142 h 157"/>
                <a:gd name="T70" fmla="*/ 47 w 148"/>
                <a:gd name="T71" fmla="*/ 145 h 157"/>
                <a:gd name="T72" fmla="*/ 44 w 148"/>
                <a:gd name="T73" fmla="*/ 145 h 157"/>
                <a:gd name="T74" fmla="*/ 37 w 148"/>
                <a:gd name="T75" fmla="*/ 149 h 157"/>
                <a:gd name="T76" fmla="*/ 33 w 148"/>
                <a:gd name="T77" fmla="*/ 156 h 157"/>
                <a:gd name="T78" fmla="*/ 33 w 148"/>
                <a:gd name="T79" fmla="*/ 157 h 157"/>
                <a:gd name="T80" fmla="*/ 83 w 148"/>
                <a:gd name="T81" fmla="*/ 136 h 157"/>
                <a:gd name="T82" fmla="*/ 97 w 148"/>
                <a:gd name="T83" fmla="*/ 123 h 157"/>
                <a:gd name="T84" fmla="*/ 103 w 148"/>
                <a:gd name="T85" fmla="*/ 99 h 157"/>
                <a:gd name="T86" fmla="*/ 105 w 148"/>
                <a:gd name="T87" fmla="*/ 89 h 157"/>
                <a:gd name="T88" fmla="*/ 115 w 148"/>
                <a:gd name="T89" fmla="*/ 82 h 157"/>
                <a:gd name="T90" fmla="*/ 121 w 148"/>
                <a:gd name="T91" fmla="*/ 76 h 157"/>
                <a:gd name="T92" fmla="*/ 135 w 148"/>
                <a:gd name="T93" fmla="*/ 66 h 157"/>
                <a:gd name="T94" fmla="*/ 143 w 148"/>
                <a:gd name="T9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57">
                  <a:moveTo>
                    <a:pt x="143" y="58"/>
                  </a:moveTo>
                  <a:cubicBezTo>
                    <a:pt x="144" y="56"/>
                    <a:pt x="144" y="54"/>
                    <a:pt x="146" y="53"/>
                  </a:cubicBezTo>
                  <a:cubicBezTo>
                    <a:pt x="148" y="52"/>
                    <a:pt x="146" y="47"/>
                    <a:pt x="145" y="47"/>
                  </a:cubicBezTo>
                  <a:cubicBezTo>
                    <a:pt x="129" y="43"/>
                    <a:pt x="127" y="55"/>
                    <a:pt x="119" y="62"/>
                  </a:cubicBezTo>
                  <a:cubicBezTo>
                    <a:pt x="115" y="65"/>
                    <a:pt x="110" y="67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4" y="61"/>
                    <a:pt x="105" y="50"/>
                    <a:pt x="105" y="40"/>
                  </a:cubicBezTo>
                  <a:cubicBezTo>
                    <a:pt x="105" y="36"/>
                    <a:pt x="105" y="32"/>
                    <a:pt x="105" y="29"/>
                  </a:cubicBezTo>
                  <a:cubicBezTo>
                    <a:pt x="105" y="28"/>
                    <a:pt x="107" y="27"/>
                    <a:pt x="107" y="26"/>
                  </a:cubicBezTo>
                  <a:cubicBezTo>
                    <a:pt x="109" y="23"/>
                    <a:pt x="108" y="17"/>
                    <a:pt x="106" y="14"/>
                  </a:cubicBezTo>
                  <a:cubicBezTo>
                    <a:pt x="104" y="10"/>
                    <a:pt x="99" y="9"/>
                    <a:pt x="96" y="7"/>
                  </a:cubicBezTo>
                  <a:cubicBezTo>
                    <a:pt x="94" y="5"/>
                    <a:pt x="92" y="3"/>
                    <a:pt x="90" y="2"/>
                  </a:cubicBezTo>
                  <a:cubicBezTo>
                    <a:pt x="86" y="1"/>
                    <a:pt x="82" y="2"/>
                    <a:pt x="79" y="0"/>
                  </a:cubicBezTo>
                  <a:cubicBezTo>
                    <a:pt x="77" y="0"/>
                    <a:pt x="77" y="1"/>
                    <a:pt x="75" y="2"/>
                  </a:cubicBezTo>
                  <a:cubicBezTo>
                    <a:pt x="72" y="12"/>
                    <a:pt x="81" y="26"/>
                    <a:pt x="84" y="33"/>
                  </a:cubicBezTo>
                  <a:cubicBezTo>
                    <a:pt x="86" y="39"/>
                    <a:pt x="86" y="59"/>
                    <a:pt x="85" y="66"/>
                  </a:cubicBezTo>
                  <a:cubicBezTo>
                    <a:pt x="83" y="72"/>
                    <a:pt x="85" y="80"/>
                    <a:pt x="82" y="84"/>
                  </a:cubicBezTo>
                  <a:cubicBezTo>
                    <a:pt x="81" y="86"/>
                    <a:pt x="66" y="91"/>
                    <a:pt x="63" y="93"/>
                  </a:cubicBezTo>
                  <a:cubicBezTo>
                    <a:pt x="60" y="94"/>
                    <a:pt x="56" y="96"/>
                    <a:pt x="53" y="97"/>
                  </a:cubicBezTo>
                  <a:cubicBezTo>
                    <a:pt x="49" y="98"/>
                    <a:pt x="45" y="98"/>
                    <a:pt x="42" y="100"/>
                  </a:cubicBezTo>
                  <a:cubicBezTo>
                    <a:pt x="37" y="103"/>
                    <a:pt x="30" y="109"/>
                    <a:pt x="24" y="110"/>
                  </a:cubicBezTo>
                  <a:cubicBezTo>
                    <a:pt x="23" y="111"/>
                    <a:pt x="21" y="111"/>
                    <a:pt x="19" y="111"/>
                  </a:cubicBezTo>
                  <a:cubicBezTo>
                    <a:pt x="17" y="112"/>
                    <a:pt x="14" y="113"/>
                    <a:pt x="12" y="114"/>
                  </a:cubicBezTo>
                  <a:cubicBezTo>
                    <a:pt x="11" y="114"/>
                    <a:pt x="9" y="114"/>
                    <a:pt x="9" y="114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3" y="107"/>
                    <a:pt x="2" y="107"/>
                    <a:pt x="2" y="107"/>
                  </a:cubicBezTo>
                  <a:cubicBezTo>
                    <a:pt x="2" y="107"/>
                    <a:pt x="1" y="108"/>
                    <a:pt x="1" y="109"/>
                  </a:cubicBezTo>
                  <a:cubicBezTo>
                    <a:pt x="1" y="122"/>
                    <a:pt x="0" y="125"/>
                    <a:pt x="6" y="134"/>
                  </a:cubicBezTo>
                  <a:cubicBezTo>
                    <a:pt x="19" y="137"/>
                    <a:pt x="28" y="131"/>
                    <a:pt x="36" y="125"/>
                  </a:cubicBezTo>
                  <a:cubicBezTo>
                    <a:pt x="40" y="123"/>
                    <a:pt x="43" y="121"/>
                    <a:pt x="47" y="119"/>
                  </a:cubicBezTo>
                  <a:cubicBezTo>
                    <a:pt x="50" y="117"/>
                    <a:pt x="52" y="113"/>
                    <a:pt x="55" y="112"/>
                  </a:cubicBezTo>
                  <a:cubicBezTo>
                    <a:pt x="56" y="111"/>
                    <a:pt x="58" y="111"/>
                    <a:pt x="59" y="111"/>
                  </a:cubicBezTo>
                  <a:cubicBezTo>
                    <a:pt x="65" y="109"/>
                    <a:pt x="70" y="105"/>
                    <a:pt x="78" y="105"/>
                  </a:cubicBezTo>
                  <a:cubicBezTo>
                    <a:pt x="78" y="119"/>
                    <a:pt x="66" y="134"/>
                    <a:pt x="57" y="140"/>
                  </a:cubicBezTo>
                  <a:cubicBezTo>
                    <a:pt x="55" y="141"/>
                    <a:pt x="54" y="142"/>
                    <a:pt x="52" y="142"/>
                  </a:cubicBezTo>
                  <a:cubicBezTo>
                    <a:pt x="51" y="143"/>
                    <a:pt x="49" y="144"/>
                    <a:pt x="47" y="145"/>
                  </a:cubicBezTo>
                  <a:cubicBezTo>
                    <a:pt x="46" y="145"/>
                    <a:pt x="45" y="145"/>
                    <a:pt x="44" y="145"/>
                  </a:cubicBezTo>
                  <a:cubicBezTo>
                    <a:pt x="42" y="146"/>
                    <a:pt x="39" y="148"/>
                    <a:pt x="37" y="149"/>
                  </a:cubicBezTo>
                  <a:cubicBezTo>
                    <a:pt x="34" y="152"/>
                    <a:pt x="34" y="154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56" y="157"/>
                    <a:pt x="70" y="147"/>
                    <a:pt x="83" y="136"/>
                  </a:cubicBezTo>
                  <a:cubicBezTo>
                    <a:pt x="88" y="132"/>
                    <a:pt x="94" y="129"/>
                    <a:pt x="97" y="123"/>
                  </a:cubicBezTo>
                  <a:cubicBezTo>
                    <a:pt x="100" y="115"/>
                    <a:pt x="101" y="106"/>
                    <a:pt x="103" y="99"/>
                  </a:cubicBezTo>
                  <a:cubicBezTo>
                    <a:pt x="104" y="96"/>
                    <a:pt x="104" y="93"/>
                    <a:pt x="105" y="89"/>
                  </a:cubicBezTo>
                  <a:cubicBezTo>
                    <a:pt x="106" y="87"/>
                    <a:pt x="112" y="84"/>
                    <a:pt x="115" y="82"/>
                  </a:cubicBezTo>
                  <a:cubicBezTo>
                    <a:pt x="117" y="80"/>
                    <a:pt x="119" y="78"/>
                    <a:pt x="121" y="76"/>
                  </a:cubicBezTo>
                  <a:cubicBezTo>
                    <a:pt x="126" y="72"/>
                    <a:pt x="131" y="69"/>
                    <a:pt x="135" y="66"/>
                  </a:cubicBezTo>
                  <a:cubicBezTo>
                    <a:pt x="138" y="64"/>
                    <a:pt x="142" y="61"/>
                    <a:pt x="143" y="5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39" name="Freeform 51">
              <a:extLst>
                <a:ext uri="{FF2B5EF4-FFF2-40B4-BE49-F238E27FC236}">
                  <a16:creationId xmlns:a16="http://schemas.microsoft.com/office/drawing/2014/main" id="{CB4A6AC2-070B-3B49-8901-0F658C38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680" y="2326960"/>
              <a:ext cx="172055" cy="216624"/>
            </a:xfrm>
            <a:custGeom>
              <a:avLst/>
              <a:gdLst>
                <a:gd name="T0" fmla="*/ 15 w 32"/>
                <a:gd name="T1" fmla="*/ 8 h 40"/>
                <a:gd name="T2" fmla="*/ 1 w 32"/>
                <a:gd name="T3" fmla="*/ 0 h 40"/>
                <a:gd name="T4" fmla="*/ 0 w 32"/>
                <a:gd name="T5" fmla="*/ 1 h 40"/>
                <a:gd name="T6" fmla="*/ 4 w 32"/>
                <a:gd name="T7" fmla="*/ 20 h 40"/>
                <a:gd name="T8" fmla="*/ 5 w 32"/>
                <a:gd name="T9" fmla="*/ 24 h 40"/>
                <a:gd name="T10" fmla="*/ 7 w 32"/>
                <a:gd name="T11" fmla="*/ 34 h 40"/>
                <a:gd name="T12" fmla="*/ 19 w 32"/>
                <a:gd name="T13" fmla="*/ 38 h 40"/>
                <a:gd name="T14" fmla="*/ 32 w 32"/>
                <a:gd name="T15" fmla="*/ 29 h 40"/>
                <a:gd name="T16" fmla="*/ 15 w 32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15" y="8"/>
                  </a:moveTo>
                  <a:cubicBezTo>
                    <a:pt x="11" y="5"/>
                    <a:pt x="9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1"/>
                    <a:pt x="1" y="12"/>
                    <a:pt x="4" y="20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6" y="26"/>
                    <a:pt x="10" y="30"/>
                    <a:pt x="7" y="34"/>
                  </a:cubicBezTo>
                  <a:cubicBezTo>
                    <a:pt x="8" y="38"/>
                    <a:pt x="14" y="40"/>
                    <a:pt x="19" y="38"/>
                  </a:cubicBezTo>
                  <a:cubicBezTo>
                    <a:pt x="24" y="37"/>
                    <a:pt x="29" y="33"/>
                    <a:pt x="32" y="29"/>
                  </a:cubicBezTo>
                  <a:cubicBezTo>
                    <a:pt x="32" y="18"/>
                    <a:pt x="22" y="13"/>
                    <a:pt x="15" y="8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40" name="Freeform 52">
              <a:extLst>
                <a:ext uri="{FF2B5EF4-FFF2-40B4-BE49-F238E27FC236}">
                  <a16:creationId xmlns:a16="http://schemas.microsoft.com/office/drawing/2014/main" id="{CCABA96F-B44B-291F-8B8C-9958FDDD7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632" y="1548566"/>
              <a:ext cx="252900" cy="259119"/>
            </a:xfrm>
            <a:custGeom>
              <a:avLst/>
              <a:gdLst>
                <a:gd name="T0" fmla="*/ 6 w 47"/>
                <a:gd name="T1" fmla="*/ 16 h 48"/>
                <a:gd name="T2" fmla="*/ 8 w 47"/>
                <a:gd name="T3" fmla="*/ 18 h 48"/>
                <a:gd name="T4" fmla="*/ 12 w 47"/>
                <a:gd name="T5" fmla="*/ 27 h 48"/>
                <a:gd name="T6" fmla="*/ 10 w 47"/>
                <a:gd name="T7" fmla="*/ 44 h 48"/>
                <a:gd name="T8" fmla="*/ 12 w 47"/>
                <a:gd name="T9" fmla="*/ 48 h 48"/>
                <a:gd name="T10" fmla="*/ 28 w 47"/>
                <a:gd name="T11" fmla="*/ 37 h 48"/>
                <a:gd name="T12" fmla="*/ 46 w 47"/>
                <a:gd name="T13" fmla="*/ 22 h 48"/>
                <a:gd name="T14" fmla="*/ 43 w 47"/>
                <a:gd name="T15" fmla="*/ 18 h 48"/>
                <a:gd name="T16" fmla="*/ 32 w 47"/>
                <a:gd name="T17" fmla="*/ 10 h 48"/>
                <a:gd name="T18" fmla="*/ 26 w 47"/>
                <a:gd name="T19" fmla="*/ 8 h 48"/>
                <a:gd name="T20" fmla="*/ 5 w 47"/>
                <a:gd name="T21" fmla="*/ 0 h 48"/>
                <a:gd name="T22" fmla="*/ 5 w 47"/>
                <a:gd name="T23" fmla="*/ 11 h 48"/>
                <a:gd name="T24" fmla="*/ 6 w 47"/>
                <a:gd name="T25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6" y="16"/>
                  </a:move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4"/>
                    <a:pt x="12" y="27"/>
                  </a:cubicBezTo>
                  <a:cubicBezTo>
                    <a:pt x="14" y="32"/>
                    <a:pt x="14" y="41"/>
                    <a:pt x="10" y="44"/>
                  </a:cubicBezTo>
                  <a:cubicBezTo>
                    <a:pt x="10" y="44"/>
                    <a:pt x="10" y="48"/>
                    <a:pt x="12" y="48"/>
                  </a:cubicBezTo>
                  <a:cubicBezTo>
                    <a:pt x="19" y="48"/>
                    <a:pt x="26" y="43"/>
                    <a:pt x="28" y="37"/>
                  </a:cubicBezTo>
                  <a:cubicBezTo>
                    <a:pt x="40" y="38"/>
                    <a:pt x="47" y="34"/>
                    <a:pt x="46" y="22"/>
                  </a:cubicBezTo>
                  <a:cubicBezTo>
                    <a:pt x="45" y="21"/>
                    <a:pt x="45" y="19"/>
                    <a:pt x="43" y="18"/>
                  </a:cubicBezTo>
                  <a:cubicBezTo>
                    <a:pt x="40" y="15"/>
                    <a:pt x="36" y="12"/>
                    <a:pt x="32" y="10"/>
                  </a:cubicBezTo>
                  <a:cubicBezTo>
                    <a:pt x="30" y="9"/>
                    <a:pt x="28" y="9"/>
                    <a:pt x="26" y="8"/>
                  </a:cubicBezTo>
                  <a:cubicBezTo>
                    <a:pt x="20" y="4"/>
                    <a:pt x="15" y="0"/>
                    <a:pt x="5" y="0"/>
                  </a:cubicBezTo>
                  <a:cubicBezTo>
                    <a:pt x="0" y="6"/>
                    <a:pt x="3" y="6"/>
                    <a:pt x="5" y="11"/>
                  </a:cubicBezTo>
                  <a:cubicBezTo>
                    <a:pt x="5" y="13"/>
                    <a:pt x="6" y="15"/>
                    <a:pt x="6" y="1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41" name="Freeform 53">
              <a:extLst>
                <a:ext uri="{FF2B5EF4-FFF2-40B4-BE49-F238E27FC236}">
                  <a16:creationId xmlns:a16="http://schemas.microsoft.com/office/drawing/2014/main" id="{8FC8FD36-D5A7-47CD-BB76-44EF6275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109" y="1840852"/>
              <a:ext cx="435320" cy="232171"/>
            </a:xfrm>
            <a:custGeom>
              <a:avLst/>
              <a:gdLst>
                <a:gd name="T0" fmla="*/ 20 w 81"/>
                <a:gd name="T1" fmla="*/ 42 h 43"/>
                <a:gd name="T2" fmla="*/ 34 w 81"/>
                <a:gd name="T3" fmla="*/ 41 h 43"/>
                <a:gd name="T4" fmla="*/ 55 w 81"/>
                <a:gd name="T5" fmla="*/ 21 h 43"/>
                <a:gd name="T6" fmla="*/ 69 w 81"/>
                <a:gd name="T7" fmla="*/ 11 h 43"/>
                <a:gd name="T8" fmla="*/ 75 w 81"/>
                <a:gd name="T9" fmla="*/ 10 h 43"/>
                <a:gd name="T10" fmla="*/ 81 w 81"/>
                <a:gd name="T11" fmla="*/ 4 h 43"/>
                <a:gd name="T12" fmla="*/ 79 w 81"/>
                <a:gd name="T13" fmla="*/ 0 h 43"/>
                <a:gd name="T14" fmla="*/ 74 w 81"/>
                <a:gd name="T15" fmla="*/ 0 h 43"/>
                <a:gd name="T16" fmla="*/ 65 w 81"/>
                <a:gd name="T17" fmla="*/ 1 h 43"/>
                <a:gd name="T18" fmla="*/ 50 w 81"/>
                <a:gd name="T19" fmla="*/ 7 h 43"/>
                <a:gd name="T20" fmla="*/ 46 w 81"/>
                <a:gd name="T21" fmla="*/ 7 h 43"/>
                <a:gd name="T22" fmla="*/ 2 w 81"/>
                <a:gd name="T23" fmla="*/ 25 h 43"/>
                <a:gd name="T24" fmla="*/ 2 w 81"/>
                <a:gd name="T25" fmla="*/ 32 h 43"/>
                <a:gd name="T26" fmla="*/ 20 w 81"/>
                <a:gd name="T2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43">
                  <a:moveTo>
                    <a:pt x="20" y="42"/>
                  </a:moveTo>
                  <a:cubicBezTo>
                    <a:pt x="24" y="43"/>
                    <a:pt x="31" y="42"/>
                    <a:pt x="34" y="41"/>
                  </a:cubicBezTo>
                  <a:cubicBezTo>
                    <a:pt x="41" y="38"/>
                    <a:pt x="49" y="25"/>
                    <a:pt x="55" y="21"/>
                  </a:cubicBezTo>
                  <a:cubicBezTo>
                    <a:pt x="60" y="18"/>
                    <a:pt x="64" y="13"/>
                    <a:pt x="69" y="11"/>
                  </a:cubicBezTo>
                  <a:cubicBezTo>
                    <a:pt x="71" y="11"/>
                    <a:pt x="73" y="10"/>
                    <a:pt x="75" y="10"/>
                  </a:cubicBezTo>
                  <a:cubicBezTo>
                    <a:pt x="77" y="8"/>
                    <a:pt x="79" y="6"/>
                    <a:pt x="81" y="4"/>
                  </a:cubicBezTo>
                  <a:cubicBezTo>
                    <a:pt x="81" y="1"/>
                    <a:pt x="80" y="0"/>
                    <a:pt x="79" y="0"/>
                  </a:cubicBezTo>
                  <a:cubicBezTo>
                    <a:pt x="77" y="0"/>
                    <a:pt x="76" y="0"/>
                    <a:pt x="74" y="0"/>
                  </a:cubicBezTo>
                  <a:cubicBezTo>
                    <a:pt x="71" y="1"/>
                    <a:pt x="67" y="1"/>
                    <a:pt x="65" y="1"/>
                  </a:cubicBezTo>
                  <a:cubicBezTo>
                    <a:pt x="60" y="3"/>
                    <a:pt x="54" y="5"/>
                    <a:pt x="50" y="7"/>
                  </a:cubicBezTo>
                  <a:cubicBezTo>
                    <a:pt x="48" y="7"/>
                    <a:pt x="47" y="7"/>
                    <a:pt x="46" y="7"/>
                  </a:cubicBezTo>
                  <a:cubicBezTo>
                    <a:pt x="31" y="12"/>
                    <a:pt x="16" y="19"/>
                    <a:pt x="2" y="25"/>
                  </a:cubicBezTo>
                  <a:cubicBezTo>
                    <a:pt x="2" y="27"/>
                    <a:pt x="0" y="30"/>
                    <a:pt x="2" y="32"/>
                  </a:cubicBezTo>
                  <a:cubicBezTo>
                    <a:pt x="3" y="37"/>
                    <a:pt x="15" y="41"/>
                    <a:pt x="20" y="4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42" name="Freeform 54">
              <a:extLst>
                <a:ext uri="{FF2B5EF4-FFF2-40B4-BE49-F238E27FC236}">
                  <a16:creationId xmlns:a16="http://schemas.microsoft.com/office/drawing/2014/main" id="{9927F6EE-40EF-B89B-96EF-0578F0458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3002" y="2083388"/>
              <a:ext cx="563843" cy="628105"/>
            </a:xfrm>
            <a:custGeom>
              <a:avLst/>
              <a:gdLst>
                <a:gd name="T0" fmla="*/ 76 w 105"/>
                <a:gd name="T1" fmla="*/ 37 h 116"/>
                <a:gd name="T2" fmla="*/ 78 w 105"/>
                <a:gd name="T3" fmla="*/ 32 h 116"/>
                <a:gd name="T4" fmla="*/ 88 w 105"/>
                <a:gd name="T5" fmla="*/ 23 h 116"/>
                <a:gd name="T6" fmla="*/ 92 w 105"/>
                <a:gd name="T7" fmla="*/ 19 h 116"/>
                <a:gd name="T8" fmla="*/ 105 w 105"/>
                <a:gd name="T9" fmla="*/ 8 h 116"/>
                <a:gd name="T10" fmla="*/ 81 w 105"/>
                <a:gd name="T11" fmla="*/ 1 h 116"/>
                <a:gd name="T12" fmla="*/ 71 w 105"/>
                <a:gd name="T13" fmla="*/ 8 h 116"/>
                <a:gd name="T14" fmla="*/ 57 w 105"/>
                <a:gd name="T15" fmla="*/ 16 h 116"/>
                <a:gd name="T16" fmla="*/ 33 w 105"/>
                <a:gd name="T17" fmla="*/ 20 h 116"/>
                <a:gd name="T18" fmla="*/ 28 w 105"/>
                <a:gd name="T19" fmla="*/ 19 h 116"/>
                <a:gd name="T20" fmla="*/ 26 w 105"/>
                <a:gd name="T21" fmla="*/ 30 h 116"/>
                <a:gd name="T22" fmla="*/ 27 w 105"/>
                <a:gd name="T23" fmla="*/ 63 h 116"/>
                <a:gd name="T24" fmla="*/ 33 w 105"/>
                <a:gd name="T25" fmla="*/ 74 h 116"/>
                <a:gd name="T26" fmla="*/ 47 w 105"/>
                <a:gd name="T27" fmla="*/ 56 h 116"/>
                <a:gd name="T28" fmla="*/ 47 w 105"/>
                <a:gd name="T29" fmla="*/ 53 h 116"/>
                <a:gd name="T30" fmla="*/ 47 w 105"/>
                <a:gd name="T31" fmla="*/ 43 h 116"/>
                <a:gd name="T32" fmla="*/ 57 w 105"/>
                <a:gd name="T33" fmla="*/ 42 h 116"/>
                <a:gd name="T34" fmla="*/ 56 w 105"/>
                <a:gd name="T35" fmla="*/ 60 h 116"/>
                <a:gd name="T36" fmla="*/ 30 w 105"/>
                <a:gd name="T37" fmla="*/ 81 h 116"/>
                <a:gd name="T38" fmla="*/ 20 w 105"/>
                <a:gd name="T39" fmla="*/ 86 h 116"/>
                <a:gd name="T40" fmla="*/ 12 w 105"/>
                <a:gd name="T41" fmla="*/ 91 h 116"/>
                <a:gd name="T42" fmla="*/ 1 w 105"/>
                <a:gd name="T43" fmla="*/ 92 h 116"/>
                <a:gd name="T44" fmla="*/ 35 w 105"/>
                <a:gd name="T45" fmla="*/ 95 h 116"/>
                <a:gd name="T46" fmla="*/ 43 w 105"/>
                <a:gd name="T47" fmla="*/ 85 h 116"/>
                <a:gd name="T48" fmla="*/ 50 w 105"/>
                <a:gd name="T49" fmla="*/ 79 h 116"/>
                <a:gd name="T50" fmla="*/ 56 w 105"/>
                <a:gd name="T51" fmla="*/ 77 h 116"/>
                <a:gd name="T52" fmla="*/ 56 w 105"/>
                <a:gd name="T53" fmla="*/ 92 h 116"/>
                <a:gd name="T54" fmla="*/ 49 w 105"/>
                <a:gd name="T55" fmla="*/ 96 h 116"/>
                <a:gd name="T56" fmla="*/ 58 w 105"/>
                <a:gd name="T57" fmla="*/ 103 h 116"/>
                <a:gd name="T58" fmla="*/ 61 w 105"/>
                <a:gd name="T59" fmla="*/ 111 h 116"/>
                <a:gd name="T60" fmla="*/ 71 w 105"/>
                <a:gd name="T61" fmla="*/ 115 h 116"/>
                <a:gd name="T62" fmla="*/ 67 w 105"/>
                <a:gd name="T63" fmla="*/ 78 h 116"/>
                <a:gd name="T64" fmla="*/ 72 w 105"/>
                <a:gd name="T65" fmla="*/ 57 h 116"/>
                <a:gd name="T66" fmla="*/ 93 w 105"/>
                <a:gd name="T67" fmla="*/ 4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16">
                  <a:moveTo>
                    <a:pt x="91" y="36"/>
                  </a:moveTo>
                  <a:cubicBezTo>
                    <a:pt x="86" y="36"/>
                    <a:pt x="81" y="35"/>
                    <a:pt x="76" y="37"/>
                  </a:cubicBezTo>
                  <a:cubicBezTo>
                    <a:pt x="74" y="38"/>
                    <a:pt x="73" y="39"/>
                    <a:pt x="71" y="40"/>
                  </a:cubicBezTo>
                  <a:cubicBezTo>
                    <a:pt x="71" y="37"/>
                    <a:pt x="77" y="34"/>
                    <a:pt x="78" y="32"/>
                  </a:cubicBezTo>
                  <a:cubicBezTo>
                    <a:pt x="80" y="30"/>
                    <a:pt x="81" y="28"/>
                    <a:pt x="83" y="26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89" y="20"/>
                    <a:pt x="90" y="19"/>
                  </a:cubicBezTo>
                  <a:cubicBezTo>
                    <a:pt x="91" y="19"/>
                    <a:pt x="92" y="19"/>
                    <a:pt x="92" y="19"/>
                  </a:cubicBezTo>
                  <a:cubicBezTo>
                    <a:pt x="94" y="18"/>
                    <a:pt x="94" y="16"/>
                    <a:pt x="95" y="15"/>
                  </a:cubicBezTo>
                  <a:cubicBezTo>
                    <a:pt x="99" y="12"/>
                    <a:pt x="102" y="12"/>
                    <a:pt x="105" y="8"/>
                  </a:cubicBezTo>
                  <a:cubicBezTo>
                    <a:pt x="105" y="7"/>
                    <a:pt x="104" y="5"/>
                    <a:pt x="103" y="4"/>
                  </a:cubicBezTo>
                  <a:cubicBezTo>
                    <a:pt x="100" y="2"/>
                    <a:pt x="86" y="0"/>
                    <a:pt x="81" y="1"/>
                  </a:cubicBezTo>
                  <a:cubicBezTo>
                    <a:pt x="79" y="2"/>
                    <a:pt x="75" y="4"/>
                    <a:pt x="73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68" y="9"/>
                    <a:pt x="66" y="9"/>
                    <a:pt x="64" y="9"/>
                  </a:cubicBezTo>
                  <a:cubicBezTo>
                    <a:pt x="61" y="11"/>
                    <a:pt x="59" y="14"/>
                    <a:pt x="57" y="16"/>
                  </a:cubicBezTo>
                  <a:cubicBezTo>
                    <a:pt x="51" y="20"/>
                    <a:pt x="46" y="23"/>
                    <a:pt x="40" y="26"/>
                  </a:cubicBezTo>
                  <a:cubicBezTo>
                    <a:pt x="38" y="27"/>
                    <a:pt x="35" y="21"/>
                    <a:pt x="33" y="20"/>
                  </a:cubicBezTo>
                  <a:cubicBezTo>
                    <a:pt x="32" y="19"/>
                    <a:pt x="30" y="19"/>
                    <a:pt x="29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6" y="20"/>
                  </a:cubicBezTo>
                  <a:cubicBezTo>
                    <a:pt x="26" y="23"/>
                    <a:pt x="27" y="27"/>
                    <a:pt x="26" y="30"/>
                  </a:cubicBezTo>
                  <a:cubicBezTo>
                    <a:pt x="25" y="37"/>
                    <a:pt x="22" y="50"/>
                    <a:pt x="24" y="59"/>
                  </a:cubicBezTo>
                  <a:cubicBezTo>
                    <a:pt x="25" y="60"/>
                    <a:pt x="26" y="62"/>
                    <a:pt x="27" y="63"/>
                  </a:cubicBezTo>
                  <a:cubicBezTo>
                    <a:pt x="28" y="65"/>
                    <a:pt x="27" y="66"/>
                    <a:pt x="28" y="68"/>
                  </a:cubicBezTo>
                  <a:cubicBezTo>
                    <a:pt x="29" y="70"/>
                    <a:pt x="32" y="71"/>
                    <a:pt x="33" y="74"/>
                  </a:cubicBezTo>
                  <a:cubicBezTo>
                    <a:pt x="37" y="73"/>
                    <a:pt x="44" y="61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4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0"/>
                    <a:pt x="47" y="46"/>
                    <a:pt x="47" y="43"/>
                  </a:cubicBezTo>
                  <a:cubicBezTo>
                    <a:pt x="49" y="42"/>
                    <a:pt x="52" y="42"/>
                    <a:pt x="53" y="41"/>
                  </a:cubicBezTo>
                  <a:cubicBezTo>
                    <a:pt x="55" y="41"/>
                    <a:pt x="56" y="41"/>
                    <a:pt x="57" y="42"/>
                  </a:cubicBezTo>
                  <a:cubicBezTo>
                    <a:pt x="57" y="43"/>
                    <a:pt x="52" y="55"/>
                    <a:pt x="51" y="56"/>
                  </a:cubicBezTo>
                  <a:cubicBezTo>
                    <a:pt x="52" y="59"/>
                    <a:pt x="54" y="60"/>
                    <a:pt x="56" y="60"/>
                  </a:cubicBezTo>
                  <a:cubicBezTo>
                    <a:pt x="55" y="66"/>
                    <a:pt x="49" y="68"/>
                    <a:pt x="45" y="70"/>
                  </a:cubicBezTo>
                  <a:cubicBezTo>
                    <a:pt x="40" y="74"/>
                    <a:pt x="35" y="77"/>
                    <a:pt x="30" y="81"/>
                  </a:cubicBezTo>
                  <a:cubicBezTo>
                    <a:pt x="28" y="82"/>
                    <a:pt x="26" y="82"/>
                    <a:pt x="24" y="83"/>
                  </a:cubicBezTo>
                  <a:cubicBezTo>
                    <a:pt x="23" y="84"/>
                    <a:pt x="22" y="86"/>
                    <a:pt x="20" y="86"/>
                  </a:cubicBezTo>
                  <a:cubicBezTo>
                    <a:pt x="18" y="87"/>
                    <a:pt x="16" y="88"/>
                    <a:pt x="14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0" y="92"/>
                    <a:pt x="8" y="90"/>
                    <a:pt x="7" y="90"/>
                  </a:cubicBezTo>
                  <a:cubicBezTo>
                    <a:pt x="4" y="90"/>
                    <a:pt x="3" y="91"/>
                    <a:pt x="1" y="92"/>
                  </a:cubicBezTo>
                  <a:cubicBezTo>
                    <a:pt x="0" y="103"/>
                    <a:pt x="5" y="114"/>
                    <a:pt x="17" y="114"/>
                  </a:cubicBezTo>
                  <a:cubicBezTo>
                    <a:pt x="23" y="107"/>
                    <a:pt x="29" y="102"/>
                    <a:pt x="35" y="95"/>
                  </a:cubicBezTo>
                  <a:cubicBezTo>
                    <a:pt x="37" y="93"/>
                    <a:pt x="39" y="92"/>
                    <a:pt x="40" y="90"/>
                  </a:cubicBezTo>
                  <a:cubicBezTo>
                    <a:pt x="42" y="88"/>
                    <a:pt x="42" y="87"/>
                    <a:pt x="43" y="85"/>
                  </a:cubicBezTo>
                  <a:cubicBezTo>
                    <a:pt x="44" y="84"/>
                    <a:pt x="45" y="85"/>
                    <a:pt x="46" y="84"/>
                  </a:cubicBezTo>
                  <a:cubicBezTo>
                    <a:pt x="47" y="82"/>
                    <a:pt x="49" y="81"/>
                    <a:pt x="50" y="79"/>
                  </a:cubicBezTo>
                  <a:cubicBezTo>
                    <a:pt x="52" y="78"/>
                    <a:pt x="53" y="78"/>
                    <a:pt x="54" y="76"/>
                  </a:cubicBezTo>
                  <a:cubicBezTo>
                    <a:pt x="55" y="76"/>
                    <a:pt x="55" y="76"/>
                    <a:pt x="56" y="77"/>
                  </a:cubicBezTo>
                  <a:cubicBezTo>
                    <a:pt x="57" y="78"/>
                    <a:pt x="57" y="81"/>
                    <a:pt x="58" y="82"/>
                  </a:cubicBezTo>
                  <a:cubicBezTo>
                    <a:pt x="58" y="86"/>
                    <a:pt x="58" y="91"/>
                    <a:pt x="56" y="92"/>
                  </a:cubicBezTo>
                  <a:cubicBezTo>
                    <a:pt x="54" y="92"/>
                    <a:pt x="53" y="93"/>
                    <a:pt x="52" y="93"/>
                  </a:cubicBezTo>
                  <a:cubicBezTo>
                    <a:pt x="51" y="94"/>
                    <a:pt x="50" y="95"/>
                    <a:pt x="49" y="96"/>
                  </a:cubicBezTo>
                  <a:cubicBezTo>
                    <a:pt x="49" y="97"/>
                    <a:pt x="49" y="98"/>
                    <a:pt x="49" y="99"/>
                  </a:cubicBezTo>
                  <a:cubicBezTo>
                    <a:pt x="49" y="100"/>
                    <a:pt x="57" y="102"/>
                    <a:pt x="58" y="103"/>
                  </a:cubicBezTo>
                  <a:cubicBezTo>
                    <a:pt x="59" y="103"/>
                    <a:pt x="61" y="106"/>
                    <a:pt x="61" y="107"/>
                  </a:cubicBezTo>
                  <a:cubicBezTo>
                    <a:pt x="61" y="108"/>
                    <a:pt x="61" y="109"/>
                    <a:pt x="61" y="111"/>
                  </a:cubicBezTo>
                  <a:cubicBezTo>
                    <a:pt x="62" y="112"/>
                    <a:pt x="64" y="113"/>
                    <a:pt x="65" y="115"/>
                  </a:cubicBezTo>
                  <a:cubicBezTo>
                    <a:pt x="66" y="115"/>
                    <a:pt x="69" y="116"/>
                    <a:pt x="71" y="115"/>
                  </a:cubicBezTo>
                  <a:cubicBezTo>
                    <a:pt x="71" y="115"/>
                    <a:pt x="71" y="114"/>
                    <a:pt x="72" y="114"/>
                  </a:cubicBezTo>
                  <a:cubicBezTo>
                    <a:pt x="72" y="101"/>
                    <a:pt x="71" y="89"/>
                    <a:pt x="67" y="78"/>
                  </a:cubicBezTo>
                  <a:cubicBezTo>
                    <a:pt x="66" y="75"/>
                    <a:pt x="61" y="69"/>
                    <a:pt x="64" y="64"/>
                  </a:cubicBezTo>
                  <a:cubicBezTo>
                    <a:pt x="64" y="57"/>
                    <a:pt x="68" y="59"/>
                    <a:pt x="72" y="57"/>
                  </a:cubicBezTo>
                  <a:cubicBezTo>
                    <a:pt x="78" y="54"/>
                    <a:pt x="83" y="51"/>
                    <a:pt x="89" y="47"/>
                  </a:cubicBezTo>
                  <a:cubicBezTo>
                    <a:pt x="90" y="45"/>
                    <a:pt x="91" y="43"/>
                    <a:pt x="93" y="41"/>
                  </a:cubicBezTo>
                  <a:cubicBezTo>
                    <a:pt x="93" y="39"/>
                    <a:pt x="92" y="38"/>
                    <a:pt x="91" y="36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  <p:sp>
          <p:nvSpPr>
            <p:cNvPr id="43" name="Freeform 55">
              <a:extLst>
                <a:ext uri="{FF2B5EF4-FFF2-40B4-BE49-F238E27FC236}">
                  <a16:creationId xmlns:a16="http://schemas.microsoft.com/office/drawing/2014/main" id="{0C7A70AF-979F-3CC3-83E4-5615F134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7037" y="2375674"/>
              <a:ext cx="172055" cy="211441"/>
            </a:xfrm>
            <a:custGeom>
              <a:avLst/>
              <a:gdLst>
                <a:gd name="T0" fmla="*/ 27 w 32"/>
                <a:gd name="T1" fmla="*/ 12 h 39"/>
                <a:gd name="T2" fmla="*/ 6 w 32"/>
                <a:gd name="T3" fmla="*/ 0 h 39"/>
                <a:gd name="T4" fmla="*/ 2 w 32"/>
                <a:gd name="T5" fmla="*/ 0 h 39"/>
                <a:gd name="T6" fmla="*/ 5 w 32"/>
                <a:gd name="T7" fmla="*/ 23 h 39"/>
                <a:gd name="T8" fmla="*/ 8 w 32"/>
                <a:gd name="T9" fmla="*/ 27 h 39"/>
                <a:gd name="T10" fmla="*/ 17 w 32"/>
                <a:gd name="T11" fmla="*/ 36 h 39"/>
                <a:gd name="T12" fmla="*/ 30 w 32"/>
                <a:gd name="T13" fmla="*/ 31 h 39"/>
                <a:gd name="T14" fmla="*/ 31 w 32"/>
                <a:gd name="T15" fmla="*/ 18 h 39"/>
                <a:gd name="T16" fmla="*/ 27 w 32"/>
                <a:gd name="T1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9">
                  <a:moveTo>
                    <a:pt x="27" y="12"/>
                  </a:moveTo>
                  <a:cubicBezTo>
                    <a:pt x="22" y="5"/>
                    <a:pt x="1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9"/>
                    <a:pt x="0" y="17"/>
                    <a:pt x="5" y="23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11" y="30"/>
                    <a:pt x="12" y="34"/>
                    <a:pt x="17" y="36"/>
                  </a:cubicBezTo>
                  <a:cubicBezTo>
                    <a:pt x="22" y="39"/>
                    <a:pt x="27" y="33"/>
                    <a:pt x="30" y="31"/>
                  </a:cubicBezTo>
                  <a:cubicBezTo>
                    <a:pt x="30" y="29"/>
                    <a:pt x="32" y="21"/>
                    <a:pt x="31" y="18"/>
                  </a:cubicBezTo>
                  <a:cubicBezTo>
                    <a:pt x="31" y="15"/>
                    <a:pt x="28" y="14"/>
                    <a:pt x="27" y="12"/>
                  </a:cubicBezTo>
                  <a:close/>
                </a:path>
              </a:pathLst>
            </a:custGeom>
            <a:solidFill>
              <a:srgbClr val="9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0" tIns="91421" rIns="182840" bIns="91421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7197"/>
            </a:p>
          </p:txBody>
        </p:sp>
      </p:grpSp>
      <p:sp>
        <p:nvSpPr>
          <p:cNvPr id="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A79D8E9F-649E-714C-D0B8-146EB3B6741C}"/>
              </a:ext>
            </a:extLst>
          </p:cNvPr>
          <p:cNvSpPr txBox="1"/>
          <p:nvPr/>
        </p:nvSpPr>
        <p:spPr>
          <a:xfrm>
            <a:off x="528320" y="2662410"/>
            <a:ext cx="111353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000" b="1" spc="300">
                <a:solidFill>
                  <a:schemeClr val="bg1"/>
                </a:solidFill>
                <a:cs typeface="+mn-ea"/>
                <a:sym typeface="+mn-lt"/>
              </a:rPr>
              <a:t>感谢倾听！欢迎批评指正！</a:t>
            </a:r>
            <a:endParaRPr lang="zh-CN" altLang="en-US" sz="6000" b="1" spc="3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6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BB535ED5-A167-6F87-BB4E-B7D5FD5BCE3F}"/>
              </a:ext>
            </a:extLst>
          </p:cNvPr>
          <p:cNvSpPr txBox="1"/>
          <p:nvPr/>
        </p:nvSpPr>
        <p:spPr>
          <a:xfrm>
            <a:off x="2565806" y="3733058"/>
            <a:ext cx="7060388" cy="461641"/>
          </a:xfrm>
          <a:prstGeom prst="rect">
            <a:avLst/>
          </a:prstGeom>
          <a:noFill/>
        </p:spPr>
        <p:txBody>
          <a:bodyPr wrap="square" lIns="91416" tIns="45708" rIns="91416" bIns="45708" rtlCol="0">
            <a:spAutoFit/>
          </a:bodyPr>
          <a:lstStyle>
            <a:defPPr>
              <a:defRPr lang="zh-CN"/>
            </a:defPPr>
            <a:lvl1pPr>
              <a:defRPr sz="20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algn="ctr"/>
            <a:r>
              <a:rPr lang="en-GB" altLang="zh-CN" sz="2400" b="1" spc="300">
                <a:latin typeface="+mn-lt"/>
                <a:ea typeface="+mn-ea"/>
                <a:cs typeface="+mn-ea"/>
                <a:sym typeface="+mn-lt"/>
              </a:rPr>
              <a:t>T</a:t>
            </a:r>
            <a:r>
              <a:rPr lang="en-US" altLang="zh-CN" sz="2400" b="1" spc="300">
                <a:latin typeface="+mn-lt"/>
                <a:ea typeface="+mn-ea"/>
                <a:cs typeface="+mn-ea"/>
                <a:sym typeface="+mn-lt"/>
              </a:rPr>
              <a:t>hanks for your listening!</a:t>
            </a:r>
            <a:endParaRPr lang="en-US" altLang="zh-CN" sz="2400" b="1" spc="3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2" name="powerpoint template design by DAJU_PPT正版来源小红书大橘PPT微信DAJU_PPT请勿抄袭搬运！盗版必究！-1">
            <a:extLst>
              <a:ext uri="{FF2B5EF4-FFF2-40B4-BE49-F238E27FC236}">
                <a16:creationId xmlns:a16="http://schemas.microsoft.com/office/drawing/2014/main" id="{5ADF331A-DD68-65D6-72B9-D8F5CA0E465B}"/>
              </a:ext>
            </a:extLst>
          </p:cNvPr>
          <p:cNvSpPr txBox="1"/>
          <p:nvPr/>
        </p:nvSpPr>
        <p:spPr>
          <a:xfrm>
            <a:off x="5233975" y="5129203"/>
            <a:ext cx="1979981" cy="400085"/>
          </a:xfrm>
          <a:prstGeom prst="rect">
            <a:avLst/>
          </a:prstGeom>
          <a:noFill/>
        </p:spPr>
        <p:txBody>
          <a:bodyPr wrap="none" lIns="91416" tIns="45708" rIns="91416" bIns="45708" rtlCol="0">
            <a:spAutoFit/>
          </a:bodyPr>
          <a:lstStyle>
            <a:defPPr>
              <a:defRPr lang="zh-CN"/>
            </a:defPPr>
            <a:lvl1pPr>
              <a:defRPr sz="2000">
                <a:solidFill>
                  <a:schemeClr val="accent2"/>
                </a:solidFill>
                <a:latin typeface="+mn-ea"/>
                <a:ea typeface="+mn-ea"/>
              </a:defRPr>
            </a:lvl1pPr>
          </a:lstStyle>
          <a:p>
            <a:r>
              <a:rPr lang="zh-CN" altLang="en-US" b="1" dirty="0">
                <a:solidFill>
                  <a:srgbClr val="404040"/>
                </a:solidFill>
                <a:latin typeface="+mn-lt"/>
                <a:cs typeface="+mn-ea"/>
                <a:sym typeface="+mn-lt"/>
              </a:rPr>
              <a:t>分享人</a:t>
            </a:r>
            <a:r>
              <a:rPr lang="zh-CN" altLang="en-US" dirty="0">
                <a:solidFill>
                  <a:srgbClr val="404040"/>
                </a:solidFill>
                <a:latin typeface="+mn-lt"/>
                <a:cs typeface="+mn-ea"/>
                <a:sym typeface="+mn-lt"/>
              </a:rPr>
              <a:t>：王众伯</a:t>
            </a:r>
          </a:p>
        </p:txBody>
      </p:sp>
      <p:sp>
        <p:nvSpPr>
          <p:cNvPr id="15" name="powerpoint template design by DAJU_PPT正版来源小红书大橘PPT微信DAJU_PPT请勿抄袭搬运！盗版必究！">
            <a:extLst>
              <a:ext uri="{FF2B5EF4-FFF2-40B4-BE49-F238E27FC236}">
                <a16:creationId xmlns:a16="http://schemas.microsoft.com/office/drawing/2014/main" id="{27379EF1-6415-5073-AE7E-7847C3AE910F}"/>
              </a:ext>
            </a:extLst>
          </p:cNvPr>
          <p:cNvSpPr txBox="1"/>
          <p:nvPr/>
        </p:nvSpPr>
        <p:spPr>
          <a:xfrm>
            <a:off x="3472543" y="6059653"/>
            <a:ext cx="52469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cs typeface="+mn-ea"/>
                <a:sym typeface="+mn-lt"/>
              </a:rPr>
              <a:t>分享时间：</a:t>
            </a:r>
            <a:r>
              <a:rPr lang="en-US" altLang="zh-CN" dirty="0">
                <a:cs typeface="+mn-ea"/>
                <a:sym typeface="+mn-lt"/>
              </a:rPr>
              <a:t>2025</a:t>
            </a:r>
            <a:r>
              <a:rPr lang="zh-CN" altLang="en-US" dirty="0">
                <a:cs typeface="+mn-ea"/>
                <a:sym typeface="+mn-lt"/>
              </a:rPr>
              <a:t>年</a:t>
            </a:r>
            <a:r>
              <a:rPr lang="en-US" altLang="zh-CN" dirty="0">
                <a:cs typeface="+mn-ea"/>
                <a:sym typeface="+mn-lt"/>
              </a:rPr>
              <a:t>12</a:t>
            </a:r>
            <a:r>
              <a:rPr lang="zh-CN" altLang="en-US" dirty="0">
                <a:cs typeface="+mn-ea"/>
                <a:sym typeface="+mn-lt"/>
              </a:rPr>
              <a:t>月</a:t>
            </a:r>
            <a:r>
              <a:rPr lang="en-US" altLang="zh-CN" dirty="0">
                <a:cs typeface="+mn-ea"/>
                <a:sym typeface="+mn-lt"/>
              </a:rPr>
              <a:t>16</a:t>
            </a:r>
            <a:r>
              <a:rPr lang="zh-CN" altLang="en-US" dirty="0">
                <a:cs typeface="+mn-ea"/>
                <a:sym typeface="+mn-lt"/>
              </a:rPr>
              <a:t>日</a:t>
            </a:r>
          </a:p>
        </p:txBody>
      </p:sp>
    </p:spTree>
    <p:extLst>
      <p:ext uri="{BB962C8B-B14F-4D97-AF65-F5344CB8AC3E}">
        <p14:creationId xmlns:p14="http://schemas.microsoft.com/office/powerpoint/2010/main" val="2958581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8F71E22A-A127-440C-9009-65AE8CB2A96D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内容列表"/>
  <p:tag name="ISPRINGCLOUDFOLDERID" val="0"/>
  <p:tag name="ISPRINGCLOUDFOLDERPATH" val="资源库"/>
  <p:tag name="ISPRING_PLAYERS_CUSTOMIZATION" val="UEsDBBQAAgAIAMK7pkoOaiROYgQAAAURAAAdAAAAdW5pdmVyc2FsL2NvbW1vbl9tZXNzYWdlcy5sbmetWG1v2zYQ/l6g/4EQUGADtrQd0KIYEge0xNhEZMmV6DjZMAiMxNhEKDHVi9vs037Nfth+yY6UncR9gaQkgG2YlO+54909d0cfHn/JFdqIspK6OHLeHrxxkChSnclideQs2MmvHxxU1bzIuNKFOHIK7aDj0csXh4oXq4avBHx/+QKhw1xUFSyrkVndr5HMjpz5OHHD2RwHF4kfTsJkTCfOyNX5DS9uka9X+qff3n/48vbd+58PX2/l+sDEM+z7+0DIIr170wMoYFHoJ4BG/CQg58wZmc9hcuGC+TQgzmj7ZZj0PCJnzsh8dsotoogELIl96pGExkkQMusLnzDiOaML3aA13whUa7SR4jOq1wLiWMtSoErJzD5INWwUjehS5oUzTIMkIjGLqMtoGDijWJfl7S8Wljf1WpegrkKZrPilEpnVCRljn9+UogLVvIaMQvCq1xJ+qXMui4NO1RFe0mCSsDD044QE3m7HGZEiQ17JjZqBKBGOSQQAJa9E+QjZxGaZFUdYqWEIUzqZ+vBmxoSpXK0VvOuhdswJxGAuii4pyBESQXbF8TKMPOM0UIU4uuFV9VmX2V5+PAxUFzAN3BBS0GUPwJnB2AFDjCXUjbIUad0FNiNxjCckGYfnkMjAu3CIRHgKdDsdInFBYqAIibtkAnxGJ9gkvKHYLv93/Eq5SWd1i3iagpxx30bqpoId41JggWVadTBMTUw+LiBsFPs/oHGLCt61q5XcCLCjzETZqQgqi0s8k0UfF/SP5ARTn3gJpJUXLhNmS57RmPNbVOga8WzDi1SgS5HyBnL9Fp5lMrPPTJyt/k+N/BvxeltVXm0LUuCR81dD7dmrYd8xq6nAproW+U3dpdo4bGv+Y6wwOf1DE/oc/XH6Y5cEOKLh80Smknmj2qr75PjcWTY0Rp1GPNFT/aP13JbEbW0dUyhYY6n7SxDopqZ/QANU/aVocAKK5m2JhhpOi6sBOoNwCxBo9FiMM3DVngln4MIB8ksyjimD2WgpLitZd44dlo1tgL4f2hTmPCVqcU/GS3GlYcJRgm/a6QO6kI10Z0AfDDd7rYJR5oPJAQCu2uQBSCVzsD/rgbmYkZ0H2gK/d5KlblRmyavktS3y4NsmF9+OTVelzu2u4tUuedsmc/wUK9rDRa3S+YD2f8e/3vF5QL/HRykmOHKniYsDl5hB33BV9RQCChhX+CxOfDw24sCFnNfpGprplW6KrCdQO6t75AQD2PbMseBluv7vn397YnxlSbuLtru/DwIBYpsqSO7A/gx0Laq/ukAYHu/L2UUfqe3dZifX86rDKGThs9wheNtacp3D1kG3XkjybdAwY9idzoAHsU173ZQwug1BmOHoFGqZncKd0YyX11AImdZqEIp1tUnAepj2++tlUytZiCGyT2sl5sCMzhPsefauDeRTMr1ue2YGN4p0e+lWcOnuC+ZOcQB19is8kcl6IKBtTbsqBERv1/c033zbqe5Wlf3D4vD1g/8v/gdQSwMEFAACAAgAwrumSgh+CyMpAwAAhgwAACcAAAB1bml2ZXJzYWwvZmxhc2hfcHVibGlzaGluZ19zZXR0aW5ncy54bWzVV91u2jAUvucpLE+9LGk7unYooaoKaNVaQIVt7VVlYkOsOnYW21B6tafZg+1JdhwDBbXr0h+kTQgRn5/v/J+Y8Og2FWjCcs2VjPBudQcjJmNFuRxH+MugvX2IkTZEUiKUZBGWCqOjRiXM7FBwnfSZMSCqEcBIXc9MhBNjsnoQTKfTKtdZ7rhKWAP4uhqrNMhyppk0LA8yQWbwY2YZ03iOUAIAvqmSc7VGpYJQ6JHOFbWCIU7Bc8ldUES0BdEJDrzYkMQ341xZSU+UUDnKx8MIvzs8dp+FjIdq8pRJlxPdAKIjmzqhlDsviOjzO4YSxscJuHtQw2jKqUkivFdzKCAdPEQpsH3oxKGcKMiBNHP4lBlCiSH+6O0Zdmv0guBJdCZJyuMBcJCLP8LNwfWnq17r4uy08/l60O2eDU573olCJ1jHCYN1QyE4pGwes6WdkBhD4gT8Bp0REZqFwSppITZScs05d0ZDJSD3hRa0UTpktENStlKN/g2XbZDcxWgEgYhZhI9zTgRG3BDB46WytkNtuCmq3l6VRIAF7cnQeR/fm/fZiROSa7bq1oKjXc7jxjdlBUUzZZHgNwwZhSB+m8JTwtBqcdAoV2lBhfYxSAsOFiecTRk9KnI6B/yToSswkVrQhF7NBDPewnfL79CQjVQOuIxMoLOBzrXHrz4LOCNa34OShY9b/bPTZuv6tNNsXW65AAmdEBk/ExwKztLMbASfzJBUZqEH6YiJ1awoCuW04JWJrfryMmieWuHL/NbFWIHeYEk2Y+U5hfmrB6XNJmRSDKIbrgIaRpBDSTwmMGJYF1xaVhYwJhIpKWaIxLDWtBvrCVdWA8UPsIfWL/fQ6yMui9MYVhtYzCnLS0Hu7O69r+1/ODj8WK8Gv3783H5Sab7we4I4c37jnzy58pdr/+E2DAO3pR9f2ia3/+bO7l20vpbJa6d1OShV0la/FFy3jFT3cxmpC/+S6a28YEq5AEtp7IcM1pLgKTeMvmWLvaBNXvVu9z22mTbZYMyvGY3/JmR/Wl4T1+6FYfDoxdVxUi55ColwK3F5223s13bgpvkoq1IBtPX/Do3Kb1BLAwQUAAIACADCu6ZKa+E74LwCAABaCgAAIQAAAHVuaXZlcnNhbC9mbGFzaF9za2luX3NldHRpbmdzLnhtbJVWbU/bMBD+vl9Rdd8Jey2TTCUonYTEBhqI705yTaw6dmQ7Zf338yux26TNckLCd8/jO98bILklbPlhNkMFp1w8g1KEVdJogm5Gyut53inF2UXBmQKmLhgXDabz5cef9kOZRZ5j8R2IqZwNLqB3s7DfFIr38W1hZIxQ8KbFbP/AK36R42JbCd6x8mxo9b4FQQnbauTlj8VqPeqAEqnuFTRJTOsrI9MorQApwYT0fW3kLIviHGjwdGm/iZze1enXH9B2RBJlaTefjIzRWlxBmuSrGyPjeKZvT6uyMHKaoOCv0tAvn42MQineg0gvv/tqZJTB2679nx5pBa9MQlPO6SK+cyjHpR4/E9WlkbME8yDj6GwVfHrsW+8ikP81nntkxlVw+mTyerAQTNFzCkslOkBZODmbrPnbY6f0fMByg6nUgFjVg5500E+4k+GaVNfj/sAbYWUE8ooe8cpp18DKxRsBU32PX61u7aqI43vXRQEK2HllFGGv7JG/dVqPkJGyRz5TUsIjo/sj+KHFcUKJb7Ev5unsayswrI8hX+EUrMbTgxlcGbn2ioBpeAlLsw70ssaKcPZCGjDFQ5k1uciyo9AQwztSWcYvg8v39k0SZQcG33DD7YUUURSGus6Gqnd1HLk5pj3pa5o2pfvT0D/RnWdKb/LrOVYKF3WjXyvnM8/To6KdzLNhhk8OiHu24RHH+h4jNVhsQbxwTqe6YVyBnHo9dwM2BkdZlAOUDScZ+UuGss+6Jgex1kUjEJon1TlcTaqa6h/1SuANymD0ZRmxOqqq9X0Mk/fmjBS+BQCLog4N4A7O0nRUEQo7CAsgUtgXjz0NSd2jY+12ox5go+I94TUHHRkBopb0+6JvlRiXGgYIrzquYYazTGh7hXNpn5bMf1jF/RglyznsNNN8sXun8M2U3KztxznUSvM/5T9QSwMEFAACAAgAwrumSiqWD2f+AgAAlwsAACYAAAB1bml2ZXJzYWwvaHRtbF9wdWJsaXNoaW5nX3NldHRpbmdzLnhtbM2Wb08aMRjA3/Mpmi6+lFPnpiN3GCMYiU6IsE1fmXItXGOvvbU98Hy1T7MPtk+yp1dAiI6dRpaFEOjTPr/nX/u04dF9KtCEacOVjPBufQcjJmNFuRxH+MvgdPsQI2OJpEQoySIsFUZHzVqY5UPBTdJn1sJSgwAjTSOzEU6szRpBMJ1O69xk2s0qkVvgm3qs0iDTzDBpmQ4yQQr4sUXGDJ4RKgDgmyo5U2vWagiFnvRZ0VwwxCl4LrkLiogzmwoc+FVDEt+NtcolPVFCaaTHwwi/Ozx2n/kaT2rxlEmXEtMEoRPbBqGUOyeI6PMHhhLGxwl4e7CP0ZRTm0R4b99RYHXwlFKyfeTEUU4UpEDaGT5lllBiiR96e5bdWzMXeBEtJEl5PIAZ5MKPcGtwe3bTa19ddC7Pbwfd7sWg0/NOlDrBKicMVg2F4JDKdcwWdkJiLYkT8Bt0RkQYFgbLovmykZIrzrkxGioBqS+1MBqBp6KI8LHmRGDELRE8XsxaosfMnnIBMTjd3fpIWvwI9PHGCdGGLRuazxiXxbj5TeWCokLlSPA7hqxCEFGewr+EoeV0o5FWaSkVxFhkBKcMTTibMnpUZmkG/JOhGzCR5qAJmy8TzHoL33P+gIZspDRwGZnAVgU5N55ffxE4I8Y8Qsncx63+RafVvu1cttrXWy5AQidExi+EQwlZmtmN8EmBpLJzPUhHTHLDyqJQTsu5KrHVX18Gw9Nc+DK/dTGW0BssyWasvKQwf/WgstmETMqD6A5XiYYjyKEkngkTMRx3LnNWFRgTiZQUBSIxNCrjjvWEq9yAxB9gjzav99DrIy7L0RhuDrCoKdOVkDu7e+/3P3w8OPzUqAe/fvzcXqs0a+E9QZw538NP1jbxRSN/2g3DwPXO59uw1fm/6sK9q/bXKpm6bF8PKhWp3a+E61ZZ1T2vsurKXxu9pSujkgvQZsb+2ECjETzlltG33DSvKPz6+9dvizcq/AajWLt9/98g/Gjx3Fp5X4XBsw/AGshXH9PN2m9QSwMEFAACAAgAwrumSjv7U0+dAQAAJAYAAB8AAAB1bml2ZXJzYWwvaHRtbF9za2luX3NldHRpbmdzLmpzjZRNb4MwDIbv/RUou05V99ltt2rtpEk9TFpv0w6BuhQ1xFEIrKzqfx9OvwiEtfGFvDx6HRviTS+oFotY8BJs7LPdf7h7qwFpRudw7eqiQ09JZ0pDBtJwk6CcJSmIRAJrkMXB4ShvT4TPn0nrHZafIplDVvNjSG8WXGR1XHkstEfLPFrh0X482tqX+NepbF/VrqJat8PcGJT9CKWpWtWXqFNuGXb1Zle9wAaMBegz6IJH4JgO7eoiT44PQ4o6F2GquCynGGM/5NEq1pjLeVf+ZalAVx98tQMGz8PXiWMnksy8G0ibiSdPFN0k/VQZ7PM+Tii8sOAhiJrvwK5/UMe4XVCDLpIsMQd6dENRpxWPodWlpxGFi8nKq9XNIUWbM7A2O+LulsIhBC9Bt6zG9xQOiCpXF3xApTGmjrTQds+PqEA+T2S8Tz2g8HJ0WLLt6t6pUHv8MXOuEDau0NJ3+9KuyXHBtTfem5s10k59aYVPlD4RPYmVDyyOonMc0xwktP8KGDeGR8u0mg/VbKz6wPUK9AxRVOf/PjNam6l62z9QSwMEFAACAAgAwrumSj08L9HBAAAA5QEAABoAAAB1bml2ZXJzYWwvaTE4bl9wcmVzZXRzLnhtbJ2RsQrCMBCG9z5FuN3EbqUkdRPcHHSWmqYaaS8ll1of35SKdJGAQyD/8X0/JCd3r75jT+PJOlSQ8y0wg9o1Fm8Kzqf9pgBGocam7hwaBeiA7apM2rzAozdkArFYgaTgHsJQCjFNE7c0+NhArhtDLCauXS/i6R2K2RTDosLilvYv+zODKssYk9fRduGAVbzHtCCMvFYwOxeN3GLrQPwCGpMATKrBUAJofQJ4DAnAjytAiu+b56RHCvGjYpBitZ4qewNQSwMEFAACAAgAwrumSg4UM7x8AAAAfQAAABwAAAB1bml2ZXJzYWwvbG9jYWxfc2V0dGluZ3MueG1ss7GvyM1RKEstKs7Mz7NVMtQzUFJIzUvOT8nMS7dVCg1x07VQUiguScxLSczJz0u1VcrLV1Kwt+OyyclPTswJTi0pASosVijISaxMLQpJzQUySlL9EnOBKp/tmfJ8ya5n09qfr9ivoJGcX1CpqaCr4As0Oi0zNUVJ344LAFBLAwQUAAIACABElFdHI7RO+/sCAACwCAAAFAAAAHVuaXZlcnNhbC9wbGF5ZXIueG1srVXfT9swEH4u0v6HyO/YLR0DqgTEkNAexoTUse2tMombeE3izHYI5a/f2c7vpWxIe2iVnO/77nz33cW/es5S74lJxUUeoAWeI4/loYh4Hgfo4evt8Tm6unx35Bcp3TPp8ShAZc4NgKbIi5gKJS80gO+pTgLUM2BgRl4huZBc74H7FLjbSCdL9O5oBi65ClCidbEipKoqzBUg8liJtDQkCociI4VkiuWaSeLSQF6DXem/o+GXiZzofcFUD1notweuSVqOZ8UHJNUSCxmTk/l8QX7cfV6HCcvoMc+VpnnIkAeVnNlSPtJwdyeiMmXK2Ga+S3LNtDZJWNvM1yu+OM89JcMAOYdNxpSiMVM4zWNEHJZMgP1tSlVS86gBreFVO17zWr+Ned80brZzpHMuyseUqwSO+pDOOgn0yTCqn9nrWgU9NAq6NUzIk+xXySWL7Ou3VozzBXIBW8XZPLGqQjiAp1saaiH3NwADFdUdxG3TsGsatqCWA7fR1x0Fam67ZVSXkjWlmvlPPGLiC5WSGllcalkyn4yMNZYMwT5xV66b1DXET3SWnv5Db4zfqDU/1WudsYD/0ZhPQNTWhOcRe77l4KNZBjXVDIptbFgXKTYxu5xU+Zj1dD0wuRzrpsBFPE1lzGAMI6op6ezkEJRJqsAlLOUI2zs4CE54nKTw05MM49ODNBmVu0mG3sFBcCrC3QS0NbdlJOM6jsTUKsgnE+vED0ulRcZfrDwHe0avrA5fG7nm6Lrg7cHZ/I9RHMRoBnOLJlaXeertq+bw3sypVp3PpnCWgVphHpguC+fVzEJZjHwitqVlqm/6OTX7sAcd5Tw1HdNc30HvolrzF+ZVPDJfusXS1CRhRjMB+nC+7DFAP2G7DMJb06GIW5E3dcCY2Df3byvabPm6da7rhzrsQw2fOKscxs3UR1BHLEWZR6Me4qL7iKgUdtq1ZNRL2RZutDgBkYoiQO/hob7zxelFd+WzxUWDtXndu8Aulzes9DrhTkGk1nV7Eb/eDfD4G1BLAwQUAAIACADCu6ZKrQ33vhkJAAALJQAAKQAAAHVuaXZlcnNhbC9za2luX2N1c3RvbWl6YXRpb25fc2V0dGluZ3MueG1stVrrbuO4Ff7fpyAcLLAFivgiXwuPCl3oRBhH9lqaZKZFYSg2EwuRRVeiPZOFf/RfX6DoExSL/mkfYFGg71Kgu32MHlKSLSmyI81MzUkwOuR3zuG5knKG4ZPra9uQ0bX7vcNc6luEMdd/DOVfIDRcUI8G04CEhAlCloR8Z03e1P7z9x/++48fG80aCpnjL51g+ab24HghqUWQBIRcmLjfMkb9ywX1GfHZpU+DtePV0M7xtsBqJD61+utAuiNBBdiDsyB5YT2dj1dRGUkDjY9CzIKuN47/PKaP9PLeWTw9BnTrLw9Iqc1HIXL1vCGB5/pPZTbkuSEzGFkXKCf1+CiB2oD7QnLUrYv5OA/0nHvilTZ7DpYXWB65c0OXpZBqm49C5MZ5JEWWPyMMHAYyiryF+TiDYeQTO6zGKh/Fqz3nmQRV1aKb7aZiEG0C+sitXARrDfg4D/Oos4S8P2D6Gh/nMXxzXFyZPWUMprf4SNYN66miIupOPV94IkZ3rr+kHw3/gcbApOBofDaUGyhSAPV7Sl/vwxPESgv12riF+0jHHQ3mBpI+kDSY01tNbVjPsYj4BmQBRaaY67CemX0JMPyQBMzwl+STLGVXp6eyO7gKwPywLpS7bT72idS93uYDtZudXgfvW4okSV2kdfSm3tj3eoOe0kS40e40pL3ab0ktCTU7neagu2/2Wh0JnkaDLnBp40EXtXvtdkvft3AL0EhRVL2l7XvSoNlUQBruD7T9aKT2Gg3UbDaltr7vdKWR2kCwWgIeitTnBpR0SZW6e0VVmn0JjbSROmrvsY67Wgf1W7jbaOzbqio1GkfjHneXNteRWno7iTlfYVjogsLZY7Rlg2u42AYBLLbJGqKcEXTvhMQU/e6nf/7557/++NNf/vTz3/6Fvl3QzfMvo0gGDG+kCeTQMTPUQ2rw5ikX8BrWxUwmg9JNuWRLlS+i+Il3VwYpinsFXLqpyhc98SkLi2VBTMM4BzrRVsuoeeyr8kVj0NPwWUEFjVW+wH0+ysOSRidfRD21FDLVWkFR8amAO4p83SInmqt8oTT5OAfNd1f5oq/wcR6Ta6+gY4+P10GiXcgXEi8BrbPLXzRY+SIqmWdR+Q5bxnpFLbaMo1/0WNCwwUcp0KHJlvFSbDaxfz23MH7M15LhGqSAc9PFJSYJllN1rk1upor5YT6eXE3mqnFVk7UoKxFPy29b3f6nZqcLlSvGleRk3SjjcZYXEsw6jXK8THs2Gc+BIR7PTfzersn8d2Xo5J09Nkxck+P/VGYwneHbmsx/l4G+m82wac+tsaHjuWHNzYkt7DLGNtZr8ge6RStnRxCjaOeSj4itCILy7AYEhZ67FBO8ZLv+lpSQp09uFMOcz7BlzwzNNiZmTbZoEDz/SnB2tmwFwbNyQrR0Q+feI0shFkJEzPPyAtLF3RDBP7ZyYSVdO65/WUb6TLkzzKu5PZmMrTk29YRSk7G/RHrgcEnVGc0UC8+ARwBtOfg8+FxEn+CAFM+rzOTauLoew4/NFbl2H1ce/LDP0GaKwSVT4pcAQuDgGUSdZd1NZjq3IQhEDto4YfiRBstM0KRdV4K3YWoTCE3NTvG3OZuENzje9RcQOmTBSvC7wZalXOG5OnkPMQ65OakImryFlHxbEfQBW5BD2CoBM5Vb40rhGcHTMEmQJAcXDo937xk5iwXguDV3Lt2GQOEWhjQR2RheVpZk4e/egSMNZXwi2yPGYGzx9OjuCKgSLKHNlZAFZUjDOo+u794Zv52PFGOM9TmEmz65m9uiSnKha+cZ+ZQhZ7lz/AWcb8nC2UImPMPc0l2KOe55ocIftu73yGFx/fkmLl2mjt9/8xkqZQpegWZwXgZhcEzZsNekc7PFO/hMRXisn9SijAE+WwVLw6YyMyZfx0Whu956UZX+Go46KFfVWa/q8eX2Ku+2/4MyVlSCVQMqmurSSiAMnZi3HGieXiWgYY5A3DSq51Dw+S21EgNzEvMwKfoCNrdguYwit2DRaizusGoZNhy27sg9v32UAItcjbxW7G9+R/QIXNIPqXpPHiiclzzi7KKDDPQu4f4yXk4dlTKtxTbsMShuAs/HKKiAq+eu+R2qHNt3NzgxRdQNMvu5o1tvKbLbc59ERwA7b9fk5TnsIaBrQfWcMInrqCn95gsVibY4i+ROqx0gDgla2lep/Pwij1lYmWnXc00xNcxvFDyfvfI4yA5uk7FtzceKyjlAmqwdtlhBF37g97zyvKIbgY5HCvCLN28RJ1is/v3HH8qzyekTUVFM/XVVPpD8vGriA7/fmZSR8Pcl+NiKmoWKh5LA+EKVQMvfr2wDAvSrXFmcqC2t6Zq/4iolGlIgdqNi24p2fQNZYomkoNsAzoIVmdwos7dQ+MRZvybfOMETFE6bUq8qI2F5Hpussg7HK+6Wea5PKsK/uBPxzdvGdK7ourj7Q4567uIpar9LuMDEr/mQRx+r8NOuFROqc44lWbqsOk/R3JKqBSUhej4WhF1hrzsQji9UPAdqOMu8n/FZQL0pf7P18lUuLOAv4iCMZRbwK33ylF4RrujH2Hey+HJ1WE+T8kunoMOUHxZjlllafvWM584yzTem5BfeUg/6ghZtJ8U6S8+jNE0Vb37TAg60F5rDNSueSql+JObXm+QTe7E+Rcyvt3hPmcC97qVO+ak0NHkdpzpBml7Gd7CG+KJKxWuSp+warsGYv5YNUxuJCdmVa7oksuiNtrsmcTpzWlrh+gmNh/7h+HLDMffPYtsh/9ohM3EM3/r5+B0yl3nkdHCLfUAKpk0tnosyIF5TlALR1wd5Y0RUxJ435E0NLiLOYsUrfVhDMY83NW7O43eSRbhNUs94OUshoz9jOAtdi3ouynklkT6v4tVE0SjZz4OG9Rd2GtbPeWgYsz3tQH+7vicBhhhwocrFHsoS08tXyauwW3EizeFOzKYZsBXw9uGOlGRCipAJLHGsSrIlekjPw9mSuR7ZkaRUpQgp45zf/zCE7Dgf3AobkweWDu+YUjkL4lp3jMVsDUzRT6LEjSwtJDdTMemYcx+K3RdUq6T5HHUsaEdJmebhnq7QlOW8Xi8QBWtPWX9YT7dZqFEvvmXN0wAK/E7+vdP/AFBLAwQUAAIACADCu6ZKiMVOUf4OAADYGQAAFwAAAHVuaXZlcnNhbC91bml2ZXJzYWwucG5n7VlpV1NX245atbVV2lpAgZAqWhxBUURAiANDtQJGQlGGpDhUiYQIGIZgiLaPRURIFSsFxCh5gQwYBkMCgRALD6YWgcbkJEAMqSgICSEgGQjJgefg8/6A99v7xQ/7OmufddZ9XWvve1/3fdbOOxYeunKF0woYDLby8LdBx2GwxQA0vv94GfSmuDgbDj0WpR0PPQjj9LiMQZOPzh0IOwCD1VM/tSUsheafXPz2ZBoM5rBxYSw6fHzDJAy2Fn846AA6E6NTEfJPD4PiFEQk4ordk5alBOPdgwQ06vOYh9ccVlQMfm5/58XSfocDyhfH7W25D67fWH/juMONGsqvnG0OgoOb8Qpkt97cPdGISWu9ffidb395CRmeuXOXu7uvb8mbN+Vbz3n5bPtGKpoz1nY2p711QFBsU0Mddsi4e75pkHxONuLy5B8Nt5CgQdp57VNHD8V05dgRNAU0KrqWhjhC2l3QV+NXxkt/Y3AkY5J2GOzJCe9LYV0Mziut5CA0I9Eoc5ZKBuf1oZBPoa9zW14NdeZ3rIbBrnS/PEYz7fRbBIP13WQsg1359QN8gA/wAT7AB/gAH+ADfID/T/h7JTbHMjzUfg1qXJ8UJs+MlBEc5i29FKh3hefhYLCP/w+gcwEIbZaRIcOYNH854vLFFLMqA+ErmgVqHSICLW+GaimgdnJ2CSxJm+/ZdsIGRcekP2UgCwVY25BjlxbDGg5R7j2uBG3TvVhf/WgD9WfBRCOcjj+q+wqwZ9O3ktD4tOpFsDWWN0URDubBbH2ddyEbJ5DwTFsYVM3XGg4uG9cSomxhP6ILJo7Rt2bcAdgNEt7/TLRO97yyManIucypxzRw3H+aMl2m3pYsNMorBTUxyYLPpjWEaUfs5am/bKJ5UL88xxHMIo1Zsom0NWCP1qZrmHtXLIorEeFUkWX3KDQz31fdyXKvdYrKHP4tmjdggV/THtPfBooAFzc//BlmiLiHhkTGIeqwANJ4wiUghNrSMQjU3lJJLIUtzR0kLSOQ4zN+L/cqen/Uncv6bLXz/UBjNRJMZNKii1OkYT7b34qmnjp3PWGNjhUnYIix6svT3dHJ07NtOXbEGNBjokXfNmwLdc06kzgxHRH1MvwtcFZGZntUtzdvf5ysKrs3j1OpTRYPeZW/iH4RvkUT+pZ2KICpKLKeFz7JkeX3FznJhus61o2scdnLwokCB0bir2vg6Hvo3XgnwN5XCmP9w3ySiIwelaWCXs/ZOedAPEbNr6tRJ5Zht8RoLxSM8PYPDtvYso9Tl05eygm+iPwpbiq2ixObQcaaabM5gKX2KajDteZH0TvpRJ/QV353yEiLfJPtPX1LEF08dDjlBLp3iqNG7VEktFeQlm+P2VOgkVx/g+6kMgZr9/ykzEl249mXS9WofGkgK8OXgqyNPrDP71+vnzoT9k2m5Y9FaTl6KwNDnMvB9IshsnFnHPcMd2JkU1zugOJmjw9fIrhqgYs7MHziCTTtzS3N8SXr0lxi3FlLyoKIneH5DVFbSFt+2dITUr2LukKV+Dsvi75pohjerTTZhGPvug2BUebyBpwKbDgLWKxZVoEoT/NdCCpef8Q2qxC5lnq0MCGCLOAVxl1ntzqUY2Z45OqUPuvehw8o4eQXO9V/JYsWs3bAl2ou9Uta8b1q2cP97JA8Mxywtv43GvjiO8/tIVLE3GSuftt/A8L5Ef7K3xhtZ4o6rPLmH1FCHLfql3+sFrsAw99Xp3WamGDjpsulKyb8TOmqhMXPq5P16S6pTP0FTPCEoS5vNovkcpk0V7XKOupZHW3ODczc2nbBEqVNRvqwe7BqxTuIGc4jMMTpncMLiX72mNxMH5Y3l6JU+mJSWjDxS9lZbvIPgXqheXCyPuPLPA1hI+XjnO4Kkl+jxRgkj0CQDZL3MqA1/M5/gshqr+7BPpSGrLZ+ETwSTW+xb7EvqZxrqlv6o3CGqY7aHomNrZPrmcIdA8M2N+Isq+6Rdf81Qnz4tTQydlrxqEUOFJZBe8hOocTyCQxHsaNHXJON0bY7jC64e9K+ofslKv4hZeR5yatE74KR3i+AtHFFiHbZSMoLpO409GO+1bL7cxR877YjW5K2XAmpBmyByaWShufVQ48XNxkoTxSrnjEsxsYCr+gmk6gY34ts8Gj6rnxQLqH61cYs5GqjaXrUFv16jodTH4s4SiOb+odDDaemevz129zSnP6uFZoG3hlu6KPoTWkhRMQsaEsXVk2X+VYIqgTwqi78aWitXA8HyV+TWRSF0EQAExt7N5P/regFvYQDYr5e+U463Qj2VZm+APD+Vh1OIYwXjeElbCkta6Rk2AzqotWKVj+8Snen1fkEzeQlgK9yY109WTPgIzvdVOU3flr1Z++lDS05nPIfKfc3sJTfZjLL8f6fVVblNJvSrH6/BREf8blMTFJNS5h87SPnPyvLH+NwCX2mPCnTlGVf3nhUee5m1UAu4J/kDZr4ooC6iT1XJKGj37zXcyF2oFWeiR9kKSuq/IT3l+BYOlyxhFe/1MLarBPHC1DoJY/X6Jxnr9Toq6t9jEFepbjdfNMn+OYNLDtlFt/IpSkVzHi6QD03l/eDgvzyvGr/j4YZldyQomq/6HRbZyAlqEyfNCZ1X0CarSJM56Uw0B+DRw4sH60yrQW8G//E2gOgpWrAi6jkKlMv9Q1+U9xYMCtMsqodgr135EvaHqbPeAOMSQMXo0TxEoGPJwLpJACirCBxtxOVMl2D7vrxXTE+v5a8lgbiSnnfIQlfUbbfjk1ydQAqTQiwrVEXGvs74TQNFa+ovzbngYq3/lk6YLorCSQWdQ3IebRl61mKvdmm8Xe/ywaRc1PUVw0Xhc4654HwiTpxSjnGX8W7PB8k8eeghEey2RmOdOKSkvihFFaV3x16ez33kHfVupPYsoG3gAxzhs+4H96YFBvhzD2fe4XbsT69v3Z8F0vJQ4/X3tCMycIJs8rTwKcF6Sfp0nRi31zOEbRdq1Eem0+bt73NR4CjofktEwLtFSVBRE7RyDanrFx9GE0tdLvnERkegzbj3lTe3xDqtsNtQYK0OsIOQVCuCWucT6TqckR9pwTtLdRXPM8a8kGy2pB7qxHDOjvwEJGruxDdfw6tMBvX03lEv/Xqu2P8+qMdzcIdzETg28uituYk6/L8CtLQlBiBfWrosEO22oYjAkx9p7v+4TQFZky8nPT6h7R7wId7606UW28kXnzS/x/JmPWmhldEQPJrI63XNaQGPP2o9BD2e3h+ILQRWdPdPrlUPl7G5cTPzrBvjTnIgTX4kgEEwMWheYn1A6vAE2b+Vu24P+uCEsfSxkYq1aaumheCuh4lL2O3k+jZWfyFskX961n+xPHndpSZjrN7zesC3nVh51LXKkJqXt1eSIpJvN/4s4dwn+jIzpnzJRtYWgEX9atDHV5TfOF/Zb3AXJHJ2gWqHPpwqHZZqtG3ky5+WYWLUXhIZy6oIuv7MMcIToCO/q1SJvpa/bSNLphvroIch1d9LVNbW4pD+Mab6qAU8UCw3Vme7L0cydtQyPj276uNzP1ZhuybUarnnu48Zq4sxuZkWW7c17OU5wx9fTIW+ZBynVwR5W8rVedOsE4vLmLc17jxaOp0k9TS3VYhMCiYqmTvgrtw6KwCFJlzwMieKKkgfW0nNnucv+iaA0Bn2unS+0LDdK0tTU4old29o3TSbmBMlz4K+R3pJmmXID6DCJlzMvgMEYzGfp9LthmgviF8L9I6/jjfEZOZMGaGfP2qVBNuAvUUStZnJqte1Ltz0iCN8Jxoer1qGS7Xh5SUhAPaHrpuxbNu/T7bjBS6Tut0vaVQliGFPufQxaSdKOkoN2ravBaotNPuKbjr/Mj591BhWgDpJb7iFEGVsEYX/3jMVqoYUeTUg/u84ZcY4IluAuVNUz45yHjeX9lqan8A7jtezddb8VCRPlsaxdd6pIPRw4ptLOVKL2HCrDNbViCjEaJzg4nwv3bCKzkPJn4e1/HVmKcZoud4voo3o9LnZPzgW8gRzBf+dBsMJjLFKYgedhXxQPxIoaZBk8dQexpNcIAYG1YtSYXOxXT/xg1UNsSfQuzD1/d452vYujoGhzL2UpxacIRaMQ5EYwPq4gqSFQjvwrvDo0yrftOmfgK6WGAbq3+OZ1nKbjaMu7H4jb0M16XEMPpZKHNG0uZslnIqKjB51afPtBtZ2sxZiYlwBI2FWpUFw+jYlA0aFXbb3FlUR5RwAMojplEWS+n+ZqfqnoExQSgePN+/UNO7pxK/Fl9ltBn4AcaDOC5Y9iVQDCA2m2izqNysVutEizqvwY8noGoQ8zPiLnfhWKpLWAWpkW0P5BW5Aso10PKrXWjxZFmeRjefPXSd0VZTONw2P2e1+ygNvvhFLpGcGkQhWf6wy6nL1DCrV/3LObSYgdleoIFaZMJMX5k0AZFy6SvOIbBzZvRy2hF1xUd7oqljRTlr/jS6Asb2RK5KuaBo653Z662Ju5FT/17ddejAXwbuctfMH1K6tvM/e11AP4yuvRtCPIxUE8vD1KX+KxQP27MvzTXL8nMlpKsgI+Lnvc8SyAGhxIBz4++mstxiQ4mzlgLFwYDPQ5ReUTSYF/wRpnKVPfNQiMbOUbuL4+saCBqkw+fi3sUbxT/RxZ17cPPHaHpfkss3mp1x4j2Fcl8ipFj3wGzcwO1CboClultmNB2BBz0s1/+g15i0uXjrHl6hJvUlpt7FtKLGF/Jxrzta0cbCgwImdZB9SxhZHb7Sczknw9jz9730tcFr4sNPFWuP+WslZ3VbQDenr9O+fJ1a1PEsXOP+8DnIUYejhLW3HpAZjjDlvrX3/TOSfU+BRTTbGQvTlXxUMWoIML98bIse6YWekzbYk2dRbnL3jTu2MnzI9RjP8Yi/0hXpMtNN3q76SLRPGrX9OV6BKvc7+qCieUgQiKtlosZX6JwkruV2sL0WXF2yDC7uPq+U+25WCrv8qWXXK5xgsM8BaKxegC8XQJAwNS+lzFvVr/IWLhagQoH0DDZGY8necTAY7ETtMkYxCoTOeu95bxgsiekkiCFBVRWwc/TEuHh8tnBToYt7f1ORHAlfcUoGETxl/cYuEZU75M8vCVwMHO0N/uUcFAl2ODg8iHPwh5/+A1BLAwQUAAIACADCu6ZK5sSYNVwAAABqAAAAGwAAAHVuaXZlcnNhbC91bml2ZXJzYWwucG5nLnhtbC2MSwqAIBQA90F3kHcA84NpoHmZJIV+WKjdPpFmN7MYbcu+oeTiHc7DAMUE7Nx3+oouBZdRqY1iSRqA3qaj+DWH5fEGJKGYcSmVqM27sPrHgGACT0xxrhQMdfkBUEsBAgAAFAACAAgAwrumSg5qJE5iBAAABREAAB0AAAAAAAAAAQAAAAAAAAAAAHVuaXZlcnNhbC9jb21tb25fbWVzc2FnZXMubG5nUEsBAgAAFAACAAgAwrumSgh+CyMpAwAAhgwAACcAAAAAAAAAAQAAAAAAnQQAAHVuaXZlcnNhbC9mbGFzaF9wdWJsaXNoaW5nX3NldHRpbmdzLnhtbFBLAQIAABQAAgAIAMK7pkpr4TvgvAIAAFoKAAAhAAAAAAAAAAEAAAAAAAsIAAB1bml2ZXJzYWwvZmxhc2hfc2tpbl9zZXR0aW5ncy54bWxQSwECAAAUAAIACADCu6ZKKpYPZ/4CAACXCwAAJgAAAAAAAAABAAAAAAAGCwAAdW5pdmVyc2FsL2h0bWxfcHVibGlzaGluZ19zZXR0aW5ncy54bWxQSwECAAAUAAIACADCu6ZKO/tTT50BAAAkBgAAHwAAAAAAAAABAAAAAABIDgAAdW5pdmVyc2FsL2h0bWxfc2tpbl9zZXR0aW5ncy5qc1BLAQIAABQAAgAIAMK7pko9PC/RwQAAAOUBAAAaAAAAAAAAAAEAAAAAACIQAAB1bml2ZXJzYWwvaTE4bl9wcmVzZXRzLnhtbFBLAQIAABQAAgAIAMK7pkoOFDO8fAAAAH0AAAAcAAAAAAAAAAEAAAAAABsRAAB1bml2ZXJzYWwvbG9jYWxfc2V0dGluZ3MueG1sUEsBAgAAFAACAAgARJRXRyO0Tvv7AgAAsAgAABQAAAAAAAAAAQAAAAAA0REAAHVuaXZlcnNhbC9wbGF5ZXIueG1sUEsBAgAAFAACAAgAwrumSq0N974ZCQAACyUAACkAAAAAAAAAAQAAAAAA/hQAAHVuaXZlcnNhbC9za2luX2N1c3RvbWl6YXRpb25fc2V0dGluZ3MueG1sUEsBAgAAFAACAAgAwrumSojFTlH+DgAA2BkAABcAAAAAAAAAAAAAAAAAXh4AAHVuaXZlcnNhbC91bml2ZXJzYWwucG5nUEsBAgAAFAACAAgAwrumSubEmDVcAAAAagAAABsAAAAAAAAAAQAAAAAAkS0AAHVuaXZlcnNhbC91bml2ZXJzYWwucG5nLnhtbFBLBQYAAAAACwALAEkDAAAmLgAAAAA="/>
  <p:tag name="ISPRING_PRESENTATION_TITLE" val="蓝色简约毕业论文答辩PPT模板"/>
</p:tagLst>
</file>

<file path=ppt/theme/theme1.xml><?xml version="1.0" encoding="utf-8"?>
<a:theme xmlns:a="http://schemas.openxmlformats.org/drawingml/2006/main" name="Office 主题​​">
  <a:themeElements>
    <a:clrScheme name="00-北京大学红色">
      <a:dk1>
        <a:srgbClr val="262626"/>
      </a:dk1>
      <a:lt1>
        <a:srgbClr val="FFFFFF"/>
      </a:lt1>
      <a:dk2>
        <a:srgbClr val="262626"/>
      </a:dk2>
      <a:lt2>
        <a:srgbClr val="F0F0F0"/>
      </a:lt2>
      <a:accent1>
        <a:srgbClr val="9E0000"/>
      </a:accent1>
      <a:accent2>
        <a:srgbClr val="CFAF6A"/>
      </a:accent2>
      <a:accent3>
        <a:srgbClr val="9E0000"/>
      </a:accent3>
      <a:accent4>
        <a:srgbClr val="CFAF6A"/>
      </a:accent4>
      <a:accent5>
        <a:srgbClr val="9E0000"/>
      </a:accent5>
      <a:accent6>
        <a:srgbClr val="CFAF6A"/>
      </a:accent6>
      <a:hlink>
        <a:srgbClr val="0F73EE"/>
      </a:hlink>
      <a:folHlink>
        <a:srgbClr val="BFBFBF"/>
      </a:folHlink>
    </a:clrScheme>
    <a:fontScheme name="bvvqntrs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693</TotalTime>
  <Words>5681</Words>
  <Application>Microsoft Office PowerPoint</Application>
  <PresentationFormat>宽屏</PresentationFormat>
  <Paragraphs>496</Paragraphs>
  <Slides>45</Slides>
  <Notes>45</Notes>
  <HiddenSlides>0</HiddenSlides>
  <MMClips>0</MMClips>
  <ScaleCrop>false</ScaleCrop>
  <HeadingPairs>
    <vt:vector size="6" baseType="variant">
      <vt:variant>
        <vt:lpstr>已用的字体</vt:lpstr>
      </vt:variant>
      <vt:variant>
        <vt:i4>4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45</vt:i4>
      </vt:variant>
    </vt:vector>
  </HeadingPairs>
  <TitlesOfParts>
    <vt:vector size="50" baseType="lpstr">
      <vt:lpstr>-apple-system</vt:lpstr>
      <vt:lpstr>等线</vt:lpstr>
      <vt:lpstr>Arial</vt:lpstr>
      <vt:lpstr>Wingdings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蓝色简约毕业论文答辩PPT模板</dc:title>
  <dc:creator>邓亮</dc:creator>
  <cp:lastModifiedBy>众伯 王</cp:lastModifiedBy>
  <cp:revision>44</cp:revision>
  <dcterms:created xsi:type="dcterms:W3CDTF">2016-11-24T09:20:00Z</dcterms:created>
  <dcterms:modified xsi:type="dcterms:W3CDTF">2025-12-16T03:07:24Z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0AF0247132CD4552A14117744478384B</vt:lpwstr>
  </property>
  <property fmtid="{D5CDD505-2E9C-101B-9397-08002B2CF9AE}" pid="3" name="KSOProductBuildVer">
    <vt:lpwstr>2052-11.1.0.11636</vt:lpwstr>
  </property>
</Properties>
</file>