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4"/>
  </p:notesMasterIdLst>
  <p:sldIdLst>
    <p:sldId id="618" r:id="rId5"/>
    <p:sldId id="648" r:id="rId6"/>
    <p:sldId id="649" r:id="rId7"/>
    <p:sldId id="647" r:id="rId8"/>
    <p:sldId id="650" r:id="rId9"/>
    <p:sldId id="680" r:id="rId10"/>
    <p:sldId id="662" r:id="rId11"/>
    <p:sldId id="656" r:id="rId12"/>
    <p:sldId id="646" r:id="rId13"/>
    <p:sldId id="663" r:id="rId14"/>
    <p:sldId id="666" r:id="rId15"/>
    <p:sldId id="664" r:id="rId16"/>
    <p:sldId id="667" r:id="rId17"/>
    <p:sldId id="682" r:id="rId18"/>
    <p:sldId id="668" r:id="rId19"/>
    <p:sldId id="671" r:id="rId20"/>
    <p:sldId id="670" r:id="rId21"/>
    <p:sldId id="681" r:id="rId22"/>
    <p:sldId id="62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30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1041" autoAdjust="0"/>
  </p:normalViewPr>
  <p:slideViewPr>
    <p:cSldViewPr snapToGrid="0">
      <p:cViewPr varScale="1">
        <p:scale>
          <a:sx n="57" d="100"/>
          <a:sy n="57" d="100"/>
        </p:scale>
        <p:origin x="8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AC38A-5563-4D76-9C7D-9955CB2CCA9D}" type="datetimeFigureOut">
              <a:rPr lang="zh-CN" altLang="en-US" smtClean="0"/>
              <a:t>2025/12/9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656BF6-A3EA-41ED-92D1-947684106A6A}" type="slidenum">
              <a:rPr lang="zh-CN" altLang="en-US" smtClean="0"/>
              <a:t>‹#›</a:t>
            </a:fld>
            <a:endParaRPr lang="zh-CN" altLang="en-US"/>
          </a:p>
        </p:txBody>
      </p:sp>
    </p:spTree>
    <p:extLst>
      <p:ext uri="{BB962C8B-B14F-4D97-AF65-F5344CB8AC3E}">
        <p14:creationId xmlns:p14="http://schemas.microsoft.com/office/powerpoint/2010/main" val="3519208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21857-788C-2E8A-BDB7-EFB48B2B8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59CEEA-94B1-950C-2CD0-BD5305F271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203A09-B39F-AFC3-A25C-4C2E558FEF4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564623-D430-BC35-E133-D211DAD67E18}"/>
              </a:ext>
            </a:extLst>
          </p:cNvPr>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718499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6656BF6-A3EA-41ED-92D1-947684106A6A}" type="slidenum">
              <a:rPr lang="zh-CN" altLang="en-US" smtClean="0"/>
              <a:t>3</a:t>
            </a:fld>
            <a:endParaRPr lang="zh-CN" altLang="en-US"/>
          </a:p>
        </p:txBody>
      </p:sp>
    </p:spTree>
    <p:extLst>
      <p:ext uri="{BB962C8B-B14F-4D97-AF65-F5344CB8AC3E}">
        <p14:creationId xmlns:p14="http://schemas.microsoft.com/office/powerpoint/2010/main" val="2473345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6656BF6-A3EA-41ED-92D1-947684106A6A}" type="slidenum">
              <a:rPr lang="zh-CN" altLang="en-US" smtClean="0"/>
              <a:t>4</a:t>
            </a:fld>
            <a:endParaRPr lang="zh-CN" altLang="en-US"/>
          </a:p>
        </p:txBody>
      </p:sp>
    </p:spTree>
    <p:extLst>
      <p:ext uri="{BB962C8B-B14F-4D97-AF65-F5344CB8AC3E}">
        <p14:creationId xmlns:p14="http://schemas.microsoft.com/office/powerpoint/2010/main" val="1773237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6656BF6-A3EA-41ED-92D1-947684106A6A}" type="slidenum">
              <a:rPr lang="zh-CN" altLang="en-US" smtClean="0"/>
              <a:t>5</a:t>
            </a:fld>
            <a:endParaRPr lang="zh-CN" altLang="en-US"/>
          </a:p>
        </p:txBody>
      </p:sp>
    </p:spTree>
    <p:extLst>
      <p:ext uri="{BB962C8B-B14F-4D97-AF65-F5344CB8AC3E}">
        <p14:creationId xmlns:p14="http://schemas.microsoft.com/office/powerpoint/2010/main" val="656328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278B8-C280-9C35-DD06-12AF8103F4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260F2F-4E01-69D3-FE86-7ACACF5425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113553-09BE-AE6B-E589-938E260A10B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76FDD30-3C7F-72DD-2C96-F87D93E68411}"/>
              </a:ext>
            </a:extLst>
          </p:cNvPr>
          <p:cNvSpPr>
            <a:spLocks noGrp="1"/>
          </p:cNvSpPr>
          <p:nvPr>
            <p:ph type="sldNum" sz="quarter" idx="5"/>
          </p:nvPr>
        </p:nvSpPr>
        <p:spPr/>
        <p:txBody>
          <a:bodyPr/>
          <a:lstStyle/>
          <a:p>
            <a:fld id="{C6656BF6-A3EA-41ED-92D1-947684106A6A}" type="slidenum">
              <a:rPr lang="zh-CN" altLang="en-US" smtClean="0"/>
              <a:t>6</a:t>
            </a:fld>
            <a:endParaRPr lang="zh-CN" altLang="en-US"/>
          </a:p>
        </p:txBody>
      </p:sp>
    </p:spTree>
    <p:extLst>
      <p:ext uri="{BB962C8B-B14F-4D97-AF65-F5344CB8AC3E}">
        <p14:creationId xmlns:p14="http://schemas.microsoft.com/office/powerpoint/2010/main" val="3383326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6656BF6-A3EA-41ED-92D1-947684106A6A}" type="slidenum">
              <a:rPr lang="zh-CN" altLang="en-US" smtClean="0"/>
              <a:t>7</a:t>
            </a:fld>
            <a:endParaRPr lang="zh-CN" altLang="en-US"/>
          </a:p>
        </p:txBody>
      </p:sp>
    </p:spTree>
    <p:extLst>
      <p:ext uri="{BB962C8B-B14F-4D97-AF65-F5344CB8AC3E}">
        <p14:creationId xmlns:p14="http://schemas.microsoft.com/office/powerpoint/2010/main" val="1044251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6656BF6-A3EA-41ED-92D1-947684106A6A}" type="slidenum">
              <a:rPr lang="zh-CN" altLang="en-US" smtClean="0"/>
              <a:t>11</a:t>
            </a:fld>
            <a:endParaRPr lang="zh-CN" altLang="en-US"/>
          </a:p>
        </p:txBody>
      </p:sp>
    </p:spTree>
    <p:extLst>
      <p:ext uri="{BB962C8B-B14F-4D97-AF65-F5344CB8AC3E}">
        <p14:creationId xmlns:p14="http://schemas.microsoft.com/office/powerpoint/2010/main" val="357585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28C1B355-5FA8-40B7-9211-7F0422F9B09F}" type="datetimeFigureOut">
              <a:rPr lang="zh-CN" altLang="en-US" smtClean="0"/>
              <a:t>2025/12/9</a:t>
            </a:fld>
            <a:endParaRPr lang="zh-CN" alt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zh-CN" altLang="en-US"/>
          </a:p>
        </p:txBody>
      </p:sp>
      <p:sp>
        <p:nvSpPr>
          <p:cNvPr id="6" name="Slide Number Placeholder 5"/>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696510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8C1B355-5FA8-40B7-9211-7F0422F9B09F}" type="datetimeFigureOut">
              <a:rPr lang="zh-CN" altLang="en-US" smtClean="0"/>
              <a:t>2025/12/9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1075601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2025/12/9</a:t>
            </a:fld>
            <a:endParaRPr lang="zh-CN" alt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zh-CN" altLang="en-US"/>
          </a:p>
        </p:txBody>
      </p:sp>
      <p:sp>
        <p:nvSpPr>
          <p:cNvPr id="6" name="Slide Number Placeholder 5"/>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2292285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2025/12/9</a:t>
            </a:fld>
            <a:endParaRPr lang="zh-CN" altLang="en-US"/>
          </a:p>
        </p:txBody>
      </p:sp>
      <p:sp>
        <p:nvSpPr>
          <p:cNvPr id="6" name="Footer Placeholder 5"/>
          <p:cNvSpPr>
            <a:spLocks noGrp="1"/>
          </p:cNvSpPr>
          <p:nvPr>
            <p:ph type="ftr" sz="quarter" idx="11"/>
          </p:nvPr>
        </p:nvSpPr>
        <p:spPr>
          <a:xfrm>
            <a:off x="804672" y="6227064"/>
            <a:ext cx="10588752" cy="320040"/>
          </a:xfrm>
        </p:spPr>
        <p:txBody>
          <a:bodyPr/>
          <a:lstStyle/>
          <a:p>
            <a:endParaRPr lang="zh-CN" altLang="en-US"/>
          </a:p>
        </p:txBody>
      </p:sp>
      <p:sp>
        <p:nvSpPr>
          <p:cNvPr id="7" name="Slide Number Placeholder 6"/>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1642886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125305" y="1488985"/>
            <a:ext cx="6264350" cy="169685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118447" y="4351687"/>
            <a:ext cx="6265588" cy="17040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2025/12/9</a:t>
            </a:fld>
            <a:endParaRPr lang="zh-CN" altLang="en-US"/>
          </a:p>
        </p:txBody>
      </p:sp>
      <p:sp>
        <p:nvSpPr>
          <p:cNvPr id="8" name="Footer Placeholder 7"/>
          <p:cNvSpPr>
            <a:spLocks noGrp="1"/>
          </p:cNvSpPr>
          <p:nvPr>
            <p:ph type="ftr" sz="quarter" idx="11"/>
          </p:nvPr>
        </p:nvSpPr>
        <p:spPr>
          <a:xfrm>
            <a:off x="804672" y="6227064"/>
            <a:ext cx="10588752" cy="320040"/>
          </a:xfrm>
        </p:spPr>
        <p:txBody>
          <a:bodyPr/>
          <a:lstStyle/>
          <a:p>
            <a:endParaRPr lang="zh-CN" altLang="en-US"/>
          </a:p>
        </p:txBody>
      </p:sp>
      <p:sp>
        <p:nvSpPr>
          <p:cNvPr id="9" name="Slide Number Placeholder 8"/>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025178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C1B355-5FA8-40B7-9211-7F0422F9B09F}" type="datetimeFigureOut">
              <a:rPr lang="zh-CN" altLang="en-US" smtClean="0"/>
              <a:t>2025/12/9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20811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2025/12/9</a:t>
            </a:fld>
            <a:endParaRPr lang="zh-CN" altLang="en-US"/>
          </a:p>
        </p:txBody>
      </p:sp>
      <p:sp>
        <p:nvSpPr>
          <p:cNvPr id="3" name="Footer Placeholder 2"/>
          <p:cNvSpPr>
            <a:spLocks noGrp="1"/>
          </p:cNvSpPr>
          <p:nvPr>
            <p:ph type="ftr" sz="quarter" idx="11"/>
          </p:nvPr>
        </p:nvSpPr>
        <p:spPr>
          <a:xfrm>
            <a:off x="804672" y="6227064"/>
            <a:ext cx="10588752" cy="320040"/>
          </a:xfrm>
        </p:spPr>
        <p:txBody>
          <a:bodyPr/>
          <a:lstStyle/>
          <a:p>
            <a:endParaRPr lang="zh-CN" altLang="en-US"/>
          </a:p>
        </p:txBody>
      </p:sp>
      <p:sp>
        <p:nvSpPr>
          <p:cNvPr id="4" name="Slide Number Placeholder 3"/>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262577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8C1B355-5FA8-40B7-9211-7F0422F9B09F}" type="datetimeFigureOut">
              <a:rPr lang="zh-CN" altLang="en-US" smtClean="0"/>
              <a:t>2025/12/9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147205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2025/12/9</a:t>
            </a:fld>
            <a:endParaRPr lang="zh-CN" altLang="en-US"/>
          </a:p>
        </p:txBody>
      </p:sp>
      <p:sp>
        <p:nvSpPr>
          <p:cNvPr id="6" name="Footer Placeholder 5"/>
          <p:cNvSpPr>
            <a:spLocks noGrp="1"/>
          </p:cNvSpPr>
          <p:nvPr>
            <p:ph type="ftr" sz="quarter" idx="11"/>
          </p:nvPr>
        </p:nvSpPr>
        <p:spPr>
          <a:xfrm>
            <a:off x="804672" y="6227064"/>
            <a:ext cx="5942203" cy="320040"/>
          </a:xfrm>
        </p:spPr>
        <p:txBody>
          <a:bodyPr/>
          <a:lstStyle/>
          <a:p>
            <a:endParaRPr lang="zh-CN" altLang="en-US"/>
          </a:p>
        </p:txBody>
      </p:sp>
      <p:sp>
        <p:nvSpPr>
          <p:cNvPr id="7" name="Slide Number Placeholder 6"/>
          <p:cNvSpPr>
            <a:spLocks noGrp="1"/>
          </p:cNvSpPr>
          <p:nvPr>
            <p:ph type="sldNum" sz="quarter" idx="12"/>
          </p:nvPr>
        </p:nvSpPr>
        <p:spPr>
          <a:xfrm>
            <a:off x="5828377"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296445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8C1B355-5FA8-40B7-9211-7F0422F9B09F}" type="datetimeFigureOut">
              <a:rPr lang="zh-CN" altLang="en-US" smtClean="0"/>
              <a:t>2025/12/9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60752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2025/12/9</a:t>
            </a:fld>
            <a:endParaRPr lang="zh-CN" altLang="en-US"/>
          </a:p>
        </p:txBody>
      </p:sp>
      <p:sp>
        <p:nvSpPr>
          <p:cNvPr id="5" name="Footer Placeholder 4"/>
          <p:cNvSpPr>
            <a:spLocks noGrp="1"/>
          </p:cNvSpPr>
          <p:nvPr>
            <p:ph type="ftr" sz="quarter" idx="11"/>
          </p:nvPr>
        </p:nvSpPr>
        <p:spPr>
          <a:xfrm>
            <a:off x="804672" y="6227064"/>
            <a:ext cx="10588752" cy="320040"/>
          </a:xfrm>
        </p:spPr>
        <p:txBody>
          <a:bodyPr/>
          <a:lstStyle/>
          <a:p>
            <a:endParaRPr lang="zh-CN" altLang="en-US"/>
          </a:p>
        </p:txBody>
      </p:sp>
      <p:sp>
        <p:nvSpPr>
          <p:cNvPr id="6" name="Slide Number Placeholder 5"/>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123000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873806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28C1B355-5FA8-40B7-9211-7F0422F9B09F}" type="datetimeFigureOut">
              <a:rPr lang="zh-CN" altLang="en-US" smtClean="0"/>
              <a:t>2025/12/9</a:t>
            </a:fld>
            <a:endParaRPr lang="zh-CN" alt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21483698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 name="组合 90"/>
          <p:cNvGrpSpPr/>
          <p:nvPr/>
        </p:nvGrpSpPr>
        <p:grpSpPr>
          <a:xfrm>
            <a:off x="2859464" y="200010"/>
            <a:ext cx="6473072" cy="6457980"/>
            <a:chOff x="2105799" y="20055838"/>
            <a:chExt cx="6748090" cy="6732363"/>
          </a:xfrm>
          <a:solidFill>
            <a:schemeClr val="bg1">
              <a:lumMod val="85000"/>
              <a:alpha val="20000"/>
            </a:schemeClr>
          </a:solidFill>
        </p:grpSpPr>
        <p:sp>
          <p:nvSpPr>
            <p:cNvPr id="96"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9" name="组合 118"/>
          <p:cNvGrpSpPr/>
          <p:nvPr/>
        </p:nvGrpSpPr>
        <p:grpSpPr>
          <a:xfrm>
            <a:off x="5371741" y="690499"/>
            <a:ext cx="1448518" cy="1445140"/>
            <a:chOff x="2105799" y="20055838"/>
            <a:chExt cx="6748090" cy="6732363"/>
          </a:xfrm>
          <a:solidFill>
            <a:schemeClr val="accent1"/>
          </a:solidFill>
        </p:grpSpPr>
        <p:sp>
          <p:nvSpPr>
            <p:cNvPr id="120"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43" name="矩形 142"/>
          <p:cNvSpPr/>
          <p:nvPr/>
        </p:nvSpPr>
        <p:spPr>
          <a:xfrm>
            <a:off x="987777" y="2529649"/>
            <a:ext cx="10267093" cy="2001702"/>
          </a:xfrm>
          <a:prstGeom prst="rect">
            <a:avLst/>
          </a:prstGeom>
          <a:effectLst>
            <a:outerShdw blurRad="63500" sx="102000" sy="102000" algn="ctr" rotWithShape="0">
              <a:prstClr val="black">
                <a:alpha val="40000"/>
              </a:prstClr>
            </a:outerShdw>
          </a:effectLst>
        </p:spPr>
        <p:txBody>
          <a:bodyPr wrap="square">
            <a:spAutoFit/>
          </a:bodyPr>
          <a:lstStyle/>
          <a:p>
            <a:pPr lvl="0" algn="ctr">
              <a:lnSpc>
                <a:spcPct val="120000"/>
              </a:lnSpc>
              <a:defRPr/>
            </a:pPr>
            <a:r>
              <a:rPr lang="zh-CN" altLang="en-US" sz="5400" b="1" spc="3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深度伪造视频检测</a:t>
            </a:r>
            <a:endParaRPr lang="en-US" altLang="zh-CN" sz="5400" b="1" spc="3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lvl="0" algn="ctr">
              <a:lnSpc>
                <a:spcPct val="120000"/>
              </a:lnSpc>
              <a:defRPr/>
            </a:pPr>
            <a:r>
              <a:rPr lang="zh-CN" altLang="en-US" sz="5400" b="1" spc="3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论文分享</a:t>
            </a:r>
          </a:p>
        </p:txBody>
      </p:sp>
      <p:sp>
        <p:nvSpPr>
          <p:cNvPr id="145" name="文本框 144"/>
          <p:cNvSpPr txBox="1"/>
          <p:nvPr/>
        </p:nvSpPr>
        <p:spPr>
          <a:xfrm>
            <a:off x="4782616" y="5037501"/>
            <a:ext cx="263751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汇报</a:t>
            </a:r>
            <a:r>
              <a:rPr kumimoji="0" lang="zh-CN" altLang="en-US" sz="2000" b="0"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人：石仲玉</a:t>
            </a:r>
          </a:p>
        </p:txBody>
      </p:sp>
      <p:sp>
        <p:nvSpPr>
          <p:cNvPr id="147" name="文本框 146"/>
          <p:cNvSpPr txBox="1"/>
          <p:nvPr/>
        </p:nvSpPr>
        <p:spPr>
          <a:xfrm>
            <a:off x="4771207" y="5499494"/>
            <a:ext cx="263751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20</a:t>
            </a:r>
            <a:r>
              <a:rPr lang="en-US" altLang="zh-CN" sz="20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25/12/09</a:t>
            </a:r>
            <a:endParaRPr kumimoji="0" lang="zh-CN" altLang="en-US" sz="2000" b="0"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510A-D5F1-6C1F-B3EB-9E1ED452EB9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A0C92DE-9907-0E83-F68D-84C10BD13341}"/>
              </a:ext>
            </a:extLst>
          </p:cNvPr>
          <p:cNvGrpSpPr/>
          <p:nvPr/>
        </p:nvGrpSpPr>
        <p:grpSpPr>
          <a:xfrm>
            <a:off x="-2183584" y="-241003"/>
            <a:ext cx="7357162" cy="7340006"/>
            <a:chOff x="2105799" y="20055838"/>
            <a:chExt cx="6748090" cy="6732363"/>
          </a:xfrm>
          <a:solidFill>
            <a:schemeClr val="accent1">
              <a:alpha val="10000"/>
            </a:schemeClr>
          </a:solidFill>
        </p:grpSpPr>
        <p:sp>
          <p:nvSpPr>
            <p:cNvPr id="3" name="Freeform 8">
              <a:extLst>
                <a:ext uri="{FF2B5EF4-FFF2-40B4-BE49-F238E27FC236}">
                  <a16:creationId xmlns:a16="http://schemas.microsoft.com/office/drawing/2014/main" id="{4CA2E7CD-999C-CDF4-3A73-D3C33C1DB84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42">
              <a:extLst>
                <a:ext uri="{FF2B5EF4-FFF2-40B4-BE49-F238E27FC236}">
                  <a16:creationId xmlns:a16="http://schemas.microsoft.com/office/drawing/2014/main" id="{C8784547-BADB-BB36-7673-91222665303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3">
              <a:extLst>
                <a:ext uri="{FF2B5EF4-FFF2-40B4-BE49-F238E27FC236}">
                  <a16:creationId xmlns:a16="http://schemas.microsoft.com/office/drawing/2014/main" id="{3DF6A732-DBF9-8F32-42FE-9E74181CF81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4">
              <a:extLst>
                <a:ext uri="{FF2B5EF4-FFF2-40B4-BE49-F238E27FC236}">
                  <a16:creationId xmlns:a16="http://schemas.microsoft.com/office/drawing/2014/main" id="{147675F8-025F-F7F9-38AB-48F6520CE73F}"/>
                </a:ext>
              </a:extLst>
            </p:cNvPr>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45">
              <a:extLst>
                <a:ext uri="{FF2B5EF4-FFF2-40B4-BE49-F238E27FC236}">
                  <a16:creationId xmlns:a16="http://schemas.microsoft.com/office/drawing/2014/main" id="{4E819AB1-CCD5-84AC-E07E-6715577D9E28}"/>
                </a:ext>
              </a:extLst>
            </p:cNvPr>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46">
              <a:extLst>
                <a:ext uri="{FF2B5EF4-FFF2-40B4-BE49-F238E27FC236}">
                  <a16:creationId xmlns:a16="http://schemas.microsoft.com/office/drawing/2014/main" id="{69AB90DA-ED63-B17B-F59B-244BDA570775}"/>
                </a:ext>
              </a:extLst>
            </p:cNvPr>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7">
              <a:extLst>
                <a:ext uri="{FF2B5EF4-FFF2-40B4-BE49-F238E27FC236}">
                  <a16:creationId xmlns:a16="http://schemas.microsoft.com/office/drawing/2014/main" id="{FF7780E3-EAA4-F670-4B6D-FD585F28D3C8}"/>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48">
              <a:extLst>
                <a:ext uri="{FF2B5EF4-FFF2-40B4-BE49-F238E27FC236}">
                  <a16:creationId xmlns:a16="http://schemas.microsoft.com/office/drawing/2014/main" id="{543A6E61-18DA-2796-7F1F-DBFFD082F524}"/>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49">
              <a:extLst>
                <a:ext uri="{FF2B5EF4-FFF2-40B4-BE49-F238E27FC236}">
                  <a16:creationId xmlns:a16="http://schemas.microsoft.com/office/drawing/2014/main" id="{78EF610E-F388-E43C-5583-4FA52FE7B086}"/>
                </a:ext>
              </a:extLst>
            </p:cNvPr>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50">
              <a:extLst>
                <a:ext uri="{FF2B5EF4-FFF2-40B4-BE49-F238E27FC236}">
                  <a16:creationId xmlns:a16="http://schemas.microsoft.com/office/drawing/2014/main" id="{E9E6CDAD-98B6-7191-C164-D4C211579487}"/>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51">
              <a:extLst>
                <a:ext uri="{FF2B5EF4-FFF2-40B4-BE49-F238E27FC236}">
                  <a16:creationId xmlns:a16="http://schemas.microsoft.com/office/drawing/2014/main" id="{601D97E2-8BBA-0111-2AF2-B18C5EE23EBA}"/>
                </a:ext>
              </a:extLst>
            </p:cNvPr>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52">
              <a:extLst>
                <a:ext uri="{FF2B5EF4-FFF2-40B4-BE49-F238E27FC236}">
                  <a16:creationId xmlns:a16="http://schemas.microsoft.com/office/drawing/2014/main" id="{2BD73EF2-09BC-6E95-7F72-03D40D777FBA}"/>
                </a:ext>
              </a:extLst>
            </p:cNvPr>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53">
              <a:extLst>
                <a:ext uri="{FF2B5EF4-FFF2-40B4-BE49-F238E27FC236}">
                  <a16:creationId xmlns:a16="http://schemas.microsoft.com/office/drawing/2014/main" id="{10A98B8D-A6EC-D16E-4BB9-C69E07BCEF48}"/>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54">
              <a:extLst>
                <a:ext uri="{FF2B5EF4-FFF2-40B4-BE49-F238E27FC236}">
                  <a16:creationId xmlns:a16="http://schemas.microsoft.com/office/drawing/2014/main" id="{570D7ACD-EBDF-951C-A701-AFAE9EEEFB5C}"/>
                </a:ext>
              </a:extLst>
            </p:cNvPr>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55">
              <a:extLst>
                <a:ext uri="{FF2B5EF4-FFF2-40B4-BE49-F238E27FC236}">
                  <a16:creationId xmlns:a16="http://schemas.microsoft.com/office/drawing/2014/main" id="{33632872-BD55-B901-1B3B-9A1DD533CAC2}"/>
                </a:ext>
              </a:extLst>
            </p:cNvPr>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a:extLst>
                <a:ext uri="{FF2B5EF4-FFF2-40B4-BE49-F238E27FC236}">
                  <a16:creationId xmlns:a16="http://schemas.microsoft.com/office/drawing/2014/main" id="{B9AEB7F3-16A3-833F-D169-8BB0C44721D1}"/>
                </a:ext>
              </a:extLst>
            </p:cNvPr>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7">
              <a:extLst>
                <a:ext uri="{FF2B5EF4-FFF2-40B4-BE49-F238E27FC236}">
                  <a16:creationId xmlns:a16="http://schemas.microsoft.com/office/drawing/2014/main" id="{E639FD97-DD97-A97C-B371-F29F293EA77E}"/>
                </a:ext>
              </a:extLst>
            </p:cNvPr>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8">
              <a:extLst>
                <a:ext uri="{FF2B5EF4-FFF2-40B4-BE49-F238E27FC236}">
                  <a16:creationId xmlns:a16="http://schemas.microsoft.com/office/drawing/2014/main" id="{1644187D-60DB-D383-438C-C0F6D0242D15}"/>
                </a:ext>
              </a:extLst>
            </p:cNvPr>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9">
              <a:extLst>
                <a:ext uri="{FF2B5EF4-FFF2-40B4-BE49-F238E27FC236}">
                  <a16:creationId xmlns:a16="http://schemas.microsoft.com/office/drawing/2014/main" id="{20CEDB5E-57AA-651C-8358-72BD826E8F7D}"/>
                </a:ext>
              </a:extLst>
            </p:cNvPr>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60">
              <a:extLst>
                <a:ext uri="{FF2B5EF4-FFF2-40B4-BE49-F238E27FC236}">
                  <a16:creationId xmlns:a16="http://schemas.microsoft.com/office/drawing/2014/main" id="{688D9BB3-DEC0-5E66-EF3A-4A02CBE48632}"/>
                </a:ext>
              </a:extLst>
            </p:cNvPr>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61">
              <a:extLst>
                <a:ext uri="{FF2B5EF4-FFF2-40B4-BE49-F238E27FC236}">
                  <a16:creationId xmlns:a16="http://schemas.microsoft.com/office/drawing/2014/main" id="{2C9E49D1-D25C-E17F-7B8F-A979DB89F36C}"/>
                </a:ext>
              </a:extLst>
            </p:cNvPr>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a:extLst>
                <a:ext uri="{FF2B5EF4-FFF2-40B4-BE49-F238E27FC236}">
                  <a16:creationId xmlns:a16="http://schemas.microsoft.com/office/drawing/2014/main" id="{DC52D545-F231-20DB-8A5E-17BA68F8B290}"/>
                </a:ext>
              </a:extLst>
            </p:cNvPr>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71">
              <a:extLst>
                <a:ext uri="{FF2B5EF4-FFF2-40B4-BE49-F238E27FC236}">
                  <a16:creationId xmlns:a16="http://schemas.microsoft.com/office/drawing/2014/main" id="{99B92C99-9B43-215B-3793-57611235A2DF}"/>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0" name="文本框 29">
            <a:extLst>
              <a:ext uri="{FF2B5EF4-FFF2-40B4-BE49-F238E27FC236}">
                <a16:creationId xmlns:a16="http://schemas.microsoft.com/office/drawing/2014/main" id="{5948B86C-E9E9-9656-F42C-5206D345DE93}"/>
              </a:ext>
            </a:extLst>
          </p:cNvPr>
          <p:cNvSpPr txBox="1"/>
          <p:nvPr/>
        </p:nvSpPr>
        <p:spPr>
          <a:xfrm>
            <a:off x="5300903" y="1754028"/>
            <a:ext cx="24490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PART 01</a:t>
            </a:r>
            <a:endParaRPr kumimoji="0" lang="zh-CN" altLang="en-US"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矩形 31">
            <a:extLst>
              <a:ext uri="{FF2B5EF4-FFF2-40B4-BE49-F238E27FC236}">
                <a16:creationId xmlns:a16="http://schemas.microsoft.com/office/drawing/2014/main" id="{42F0BE6A-A03E-3007-8D42-7C5A90103BA7}"/>
              </a:ext>
            </a:extLst>
          </p:cNvPr>
          <p:cNvSpPr/>
          <p:nvPr/>
        </p:nvSpPr>
        <p:spPr>
          <a:xfrm>
            <a:off x="5389085" y="2593396"/>
            <a:ext cx="665278" cy="45720"/>
          </a:xfrm>
          <a:prstGeom prst="rect">
            <a:avLst/>
          </a:prstGeom>
          <a:solidFill>
            <a:schemeClr val="accent1"/>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矩形 32">
            <a:extLst>
              <a:ext uri="{FF2B5EF4-FFF2-40B4-BE49-F238E27FC236}">
                <a16:creationId xmlns:a16="http://schemas.microsoft.com/office/drawing/2014/main" id="{03675C36-EB5D-ECC6-A8FA-A79E2DA68369}"/>
              </a:ext>
            </a:extLst>
          </p:cNvPr>
          <p:cNvSpPr/>
          <p:nvPr/>
        </p:nvSpPr>
        <p:spPr>
          <a:xfrm>
            <a:off x="5019232" y="2930474"/>
            <a:ext cx="7236356" cy="2246769"/>
          </a:xfrm>
          <a:prstGeom prst="rect">
            <a:avLst/>
          </a:prstGeom>
        </p:spPr>
        <p:txBody>
          <a:bodyPr wrap="square">
            <a:spAutoFit/>
          </a:bodyPr>
          <a:lstStyle/>
          <a:p>
            <a:pPr>
              <a:defRPr/>
            </a:pPr>
            <a:r>
              <a:rPr lang="en-US" altLang="zh-CN" sz="2800" b="1" dirty="0">
                <a:latin typeface="Arial" panose="020B0604020202020204" pitchFamily="34" charset="0"/>
                <a:ea typeface="微软雅黑" panose="020B0503020204020204" pitchFamily="34" charset="-122"/>
                <a:cs typeface="+mn-ea"/>
              </a:rPr>
              <a:t>Generalizing Deepfake Video Detection with Plug-and-Play: Video-Level Blending and Spatiotemporal Adapter Tuning</a:t>
            </a:r>
          </a:p>
          <a:p>
            <a:pPr>
              <a:defRPr/>
            </a:pPr>
            <a:r>
              <a:rPr lang="zh-CN" altLang="en-US" sz="2800" dirty="0">
                <a:latin typeface="Arial" panose="020B0604020202020204" pitchFamily="34" charset="0"/>
                <a:ea typeface="微软雅黑" panose="020B0503020204020204" pitchFamily="34" charset="-122"/>
                <a:cs typeface="+mn-ea"/>
              </a:rPr>
              <a:t>通过即插即用式方法实现深度伪造视频检测的泛化：视频级混合与时空适配器微调</a:t>
            </a:r>
            <a:endParaRPr lang="en-US" altLang="zh-CN" sz="2800" dirty="0">
              <a:latin typeface="Arial" panose="020B0604020202020204" pitchFamily="34" charset="0"/>
              <a:ea typeface="微软雅黑" panose="020B0503020204020204" pitchFamily="34" charset="-122"/>
              <a:cs typeface="+mn-ea"/>
            </a:endParaRPr>
          </a:p>
        </p:txBody>
      </p:sp>
      <p:sp>
        <p:nvSpPr>
          <p:cNvPr id="28" name="文本框 27">
            <a:extLst>
              <a:ext uri="{FF2B5EF4-FFF2-40B4-BE49-F238E27FC236}">
                <a16:creationId xmlns:a16="http://schemas.microsoft.com/office/drawing/2014/main" id="{D8F9A6C9-22E7-D4F2-CA4C-CA58F265C88F}"/>
              </a:ext>
            </a:extLst>
          </p:cNvPr>
          <p:cNvSpPr txBox="1"/>
          <p:nvPr/>
        </p:nvSpPr>
        <p:spPr>
          <a:xfrm>
            <a:off x="8419171" y="5729715"/>
            <a:ext cx="3574831" cy="646331"/>
          </a:xfrm>
          <a:prstGeom prst="rect">
            <a:avLst/>
          </a:prstGeom>
          <a:noFill/>
        </p:spPr>
        <p:txBody>
          <a:bodyPr wrap="square">
            <a:spAutoFit/>
          </a:bodyPr>
          <a:lstStyle/>
          <a:p>
            <a:r>
              <a:rPr lang="en-US" altLang="zh-CN" dirty="0">
                <a:solidFill>
                  <a:srgbClr val="333333"/>
                </a:solidFill>
                <a:latin typeface="Helvetica Neue"/>
              </a:rPr>
              <a:t>2025, Computer Vision and Pattern Recognition (CVPR)</a:t>
            </a:r>
            <a:endParaRPr lang="zh-CN" altLang="en-US" dirty="0">
              <a:solidFill>
                <a:srgbClr val="333333"/>
              </a:solidFill>
              <a:latin typeface="Helvetica Neue"/>
            </a:endParaRPr>
          </a:p>
        </p:txBody>
      </p:sp>
      <p:sp>
        <p:nvSpPr>
          <p:cNvPr id="27" name="文本框 26">
            <a:extLst>
              <a:ext uri="{FF2B5EF4-FFF2-40B4-BE49-F238E27FC236}">
                <a16:creationId xmlns:a16="http://schemas.microsoft.com/office/drawing/2014/main" id="{8BCC2744-5D29-958F-90EA-6B4C2A926824}"/>
              </a:ext>
            </a:extLst>
          </p:cNvPr>
          <p:cNvSpPr txBox="1"/>
          <p:nvPr/>
        </p:nvSpPr>
        <p:spPr>
          <a:xfrm>
            <a:off x="1412823" y="3105835"/>
            <a:ext cx="7187782" cy="646331"/>
          </a:xfrm>
          <a:prstGeom prst="rect">
            <a:avLst/>
          </a:prstGeom>
          <a:noFill/>
        </p:spPr>
        <p:txBody>
          <a:bodyPr wrap="square">
            <a:spAutoFit/>
          </a:bodyPr>
          <a:lstStyle/>
          <a:p>
            <a:br>
              <a:rPr lang="zh-CN" altLang="en-US" dirty="0"/>
            </a:br>
            <a:endParaRPr lang="zh-CN" altLang="en-US" dirty="0"/>
          </a:p>
        </p:txBody>
      </p:sp>
      <p:sp>
        <p:nvSpPr>
          <p:cNvPr id="31" name="文本框 30">
            <a:extLst>
              <a:ext uri="{FF2B5EF4-FFF2-40B4-BE49-F238E27FC236}">
                <a16:creationId xmlns:a16="http://schemas.microsoft.com/office/drawing/2014/main" id="{457AFB94-4918-5B14-6A27-5FF76099171D}"/>
              </a:ext>
            </a:extLst>
          </p:cNvPr>
          <p:cNvSpPr txBox="1"/>
          <p:nvPr/>
        </p:nvSpPr>
        <p:spPr>
          <a:xfrm>
            <a:off x="1412823" y="3105835"/>
            <a:ext cx="7187782" cy="646331"/>
          </a:xfrm>
          <a:prstGeom prst="rect">
            <a:avLst/>
          </a:prstGeom>
          <a:noFill/>
        </p:spPr>
        <p:txBody>
          <a:bodyPr wrap="square">
            <a:spAutoFit/>
          </a:bodyPr>
          <a:lstStyle/>
          <a:p>
            <a:br>
              <a:rPr lang="zh-CN" altLang="en-US" dirty="0"/>
            </a:br>
            <a:endParaRPr lang="zh-CN" altLang="en-US" dirty="0"/>
          </a:p>
        </p:txBody>
      </p:sp>
      <p:sp>
        <p:nvSpPr>
          <p:cNvPr id="35" name="文本框 34">
            <a:extLst>
              <a:ext uri="{FF2B5EF4-FFF2-40B4-BE49-F238E27FC236}">
                <a16:creationId xmlns:a16="http://schemas.microsoft.com/office/drawing/2014/main" id="{7B6F9246-40E7-FB0A-09A9-87F39F286B19}"/>
              </a:ext>
            </a:extLst>
          </p:cNvPr>
          <p:cNvSpPr txBox="1"/>
          <p:nvPr/>
        </p:nvSpPr>
        <p:spPr>
          <a:xfrm>
            <a:off x="1412823" y="3105835"/>
            <a:ext cx="7187782" cy="646331"/>
          </a:xfrm>
          <a:prstGeom prst="rect">
            <a:avLst/>
          </a:prstGeom>
          <a:noFill/>
        </p:spPr>
        <p:txBody>
          <a:bodyPr wrap="square">
            <a:spAutoFit/>
          </a:bodyPr>
          <a:lstStyle/>
          <a:p>
            <a:br>
              <a:rPr lang="zh-CN" altLang="en-US" dirty="0"/>
            </a:br>
            <a:endParaRPr lang="zh-CN" altLang="en-US" dirty="0"/>
          </a:p>
        </p:txBody>
      </p:sp>
    </p:spTree>
    <p:extLst>
      <p:ext uri="{BB962C8B-B14F-4D97-AF65-F5344CB8AC3E}">
        <p14:creationId xmlns:p14="http://schemas.microsoft.com/office/powerpoint/2010/main" val="3433649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BF3A1-8755-54EE-3DE4-CA31C806BC4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9FA4F9B-47AA-EE8B-A8C8-596948A95FA6}"/>
              </a:ext>
            </a:extLst>
          </p:cNvPr>
          <p:cNvSpPr>
            <a:spLocks noGrp="1"/>
          </p:cNvSpPr>
          <p:nvPr>
            <p:ph type="sldNum" sz="quarter" idx="4"/>
          </p:nvPr>
        </p:nvSpPr>
        <p:spPr/>
        <p:txBody>
          <a:bodyPr/>
          <a:lstStyle/>
          <a:p>
            <a:r>
              <a:rPr lang="en-US" altLang="zh-CN"/>
              <a:t>&lt; </a:t>
            </a:r>
            <a:fld id="{A548B57D-AE10-4CF7-A9DF-59FEFA91B28E}" type="slidenum">
              <a:rPr lang="zh-CN" altLang="en-US" smtClean="0"/>
              <a:t>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C3E4ECF-7302-F4AD-8C07-A415176A6F3D}"/>
              </a:ext>
            </a:extLst>
          </p:cNvPr>
          <p:cNvSpPr>
            <a:spLocks noGrp="1"/>
          </p:cNvSpPr>
          <p:nvPr>
            <p:ph type="title"/>
          </p:nvPr>
        </p:nvSpPr>
        <p:spPr/>
        <p:txBody>
          <a:bodyPr>
            <a:noAutofit/>
          </a:bodyPr>
          <a:lstStyle/>
          <a:p>
            <a:r>
              <a:rPr lang="zh-CN" altLang="en-US" spc="0" dirty="0"/>
              <a:t>研究背景</a:t>
            </a:r>
          </a:p>
        </p:txBody>
      </p:sp>
      <p:sp>
        <p:nvSpPr>
          <p:cNvPr id="4" name="文本占位符 3">
            <a:extLst>
              <a:ext uri="{FF2B5EF4-FFF2-40B4-BE49-F238E27FC236}">
                <a16:creationId xmlns:a16="http://schemas.microsoft.com/office/drawing/2014/main" id="{FDB99ED8-BE5B-E1A7-696A-88B9CDE74C32}"/>
              </a:ext>
            </a:extLst>
          </p:cNvPr>
          <p:cNvSpPr>
            <a:spLocks noGrp="1"/>
          </p:cNvSpPr>
          <p:nvPr>
            <p:ph type="body" sz="quarter" idx="10"/>
          </p:nvPr>
        </p:nvSpPr>
        <p:spPr>
          <a:xfrm>
            <a:off x="646082" y="980237"/>
            <a:ext cx="11374933" cy="4375358"/>
          </a:xfrm>
        </p:spPr>
        <p:txBody>
          <a:bodyPr>
            <a:normAutofit lnSpcReduction="10000"/>
          </a:body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深度伪造技术现状：</a:t>
            </a:r>
            <a:endParaRPr lang="en-US" altLang="zh-CN" sz="1800" dirty="0">
              <a:latin typeface="微软雅黑" panose="020B0503020204020204" pitchFamily="34" charset="-122"/>
              <a:ea typeface="微软雅黑" panose="020B0503020204020204" pitchFamily="34" charset="-122"/>
            </a:endParaRPr>
          </a:p>
          <a:p>
            <a:pPr>
              <a:lnSpc>
                <a:spcPct val="150000"/>
              </a:lnSpc>
            </a:pPr>
            <a:r>
              <a:rPr lang="zh-CN" altLang="en-US" sz="1800" b="0" dirty="0">
                <a:latin typeface="微软雅黑" panose="020B0503020204020204" pitchFamily="34" charset="-122"/>
                <a:ea typeface="微软雅黑" panose="020B0503020204020204" pitchFamily="34" charset="-122"/>
              </a:rPr>
              <a:t>随着 </a:t>
            </a:r>
            <a:r>
              <a:rPr lang="en-US" altLang="zh-CN" sz="1800" b="0" dirty="0">
                <a:latin typeface="微软雅黑" panose="020B0503020204020204" pitchFamily="34" charset="-122"/>
                <a:ea typeface="微软雅黑" panose="020B0503020204020204" pitchFamily="34" charset="-122"/>
              </a:rPr>
              <a:t>AIGC </a:t>
            </a:r>
            <a:r>
              <a:rPr lang="zh-CN" altLang="en-US" sz="1800" b="0" dirty="0">
                <a:latin typeface="微软雅黑" panose="020B0503020204020204" pitchFamily="34" charset="-122"/>
                <a:ea typeface="微软雅黑" panose="020B0503020204020204" pitchFamily="34" charset="-122"/>
              </a:rPr>
              <a:t>技术的迅速发展，深度伪造视频在娱乐、内容生产等领域得到广泛应用，但同时也带来了隐私侵犯、虚假信息传播等风险。</a:t>
            </a:r>
            <a:endParaRPr lang="en-US" altLang="zh-CN" sz="1800" b="0" dirty="0">
              <a:latin typeface="微软雅黑" panose="020B0503020204020204" pitchFamily="34" charset="-122"/>
              <a:ea typeface="微软雅黑" panose="020B0503020204020204" pitchFamily="34" charset="-122"/>
            </a:endParaRPr>
          </a:p>
          <a:p>
            <a:pPr marL="0" indent="0">
              <a:lnSpc>
                <a:spcPct val="150000"/>
              </a:lnSpc>
              <a:buNone/>
            </a:pPr>
            <a:r>
              <a:rPr lang="zh-CN" altLang="en-US" sz="1800" dirty="0">
                <a:latin typeface="微软雅黑" panose="020B0503020204020204" pitchFamily="34" charset="-122"/>
                <a:ea typeface="微软雅黑" panose="020B0503020204020204" pitchFamily="34" charset="-122"/>
              </a:rPr>
              <a:t>核心挑战：</a:t>
            </a:r>
            <a:endParaRPr lang="en-US" altLang="zh-CN" sz="1800" dirty="0">
              <a:latin typeface="微软雅黑" panose="020B0503020204020204" pitchFamily="34" charset="-122"/>
              <a:ea typeface="微软雅黑" panose="020B0503020204020204" pitchFamily="34" charset="-122"/>
            </a:endParaRPr>
          </a:p>
          <a:p>
            <a:pPr>
              <a:lnSpc>
                <a:spcPct val="150000"/>
              </a:lnSpc>
            </a:pPr>
            <a:r>
              <a:rPr lang="zh-CN" altLang="en-US" sz="1800" dirty="0">
                <a:latin typeface="微软雅黑" panose="020B0503020204020204" pitchFamily="34" charset="-122"/>
                <a:ea typeface="微软雅黑" panose="020B0503020204020204" pitchFamily="34" charset="-122"/>
              </a:rPr>
              <a:t>时序伪造特征复杂：</a:t>
            </a:r>
            <a:r>
              <a:rPr lang="zh-CN" altLang="en-US" sz="1800" b="0" dirty="0">
                <a:latin typeface="微软雅黑" panose="020B0503020204020204" pitchFamily="34" charset="-122"/>
                <a:ea typeface="微软雅黑" panose="020B0503020204020204" pitchFamily="34" charset="-122"/>
              </a:rPr>
              <a:t>相比空间（图像）伪造特征，时序伪造特征更加微弱，难以像图像伪造那样直观建模</a:t>
            </a:r>
            <a:endParaRPr lang="en-US" altLang="zh-CN" sz="1800" b="0" dirty="0">
              <a:latin typeface="微软雅黑" panose="020B0503020204020204" pitchFamily="34" charset="-122"/>
              <a:ea typeface="微软雅黑" panose="020B0503020204020204" pitchFamily="34" charset="-122"/>
            </a:endParaRPr>
          </a:p>
          <a:p>
            <a:pPr>
              <a:lnSpc>
                <a:spcPct val="150000"/>
              </a:lnSpc>
            </a:pPr>
            <a:r>
              <a:rPr lang="zh-CN" altLang="en-US" sz="1800" dirty="0">
                <a:latin typeface="微软雅黑" panose="020B0503020204020204" pitchFamily="34" charset="-122"/>
                <a:ea typeface="微软雅黑" panose="020B0503020204020204" pitchFamily="34" charset="-122"/>
              </a:rPr>
              <a:t>视频计算量较大：</a:t>
            </a:r>
            <a:r>
              <a:rPr lang="zh-CN" altLang="en-US" sz="1800" b="0" dirty="0">
                <a:latin typeface="微软雅黑" panose="020B0503020204020204" pitchFamily="34" charset="-122"/>
                <a:ea typeface="微软雅黑" panose="020B0503020204020204" pitchFamily="34" charset="-122"/>
              </a:rPr>
              <a:t>需要处理多帧输入，训练和推理成本远高于图像模型。这使得利用 </a:t>
            </a:r>
            <a:r>
              <a:rPr lang="en-US" altLang="zh-CN" sz="1800" b="0" dirty="0">
                <a:latin typeface="微软雅黑" panose="020B0503020204020204" pitchFamily="34" charset="-122"/>
                <a:ea typeface="微软雅黑" panose="020B0503020204020204" pitchFamily="34" charset="-122"/>
              </a:rPr>
              <a:t>CLIP</a:t>
            </a:r>
            <a:r>
              <a:rPr lang="zh-CN" altLang="en-US" sz="1800" b="0" dirty="0">
                <a:latin typeface="微软雅黑" panose="020B0503020204020204" pitchFamily="34" charset="-122"/>
                <a:ea typeface="微软雅黑" panose="020B0503020204020204" pitchFamily="34" charset="-122"/>
              </a:rPr>
              <a:t>、</a:t>
            </a:r>
            <a:r>
              <a:rPr lang="en-US" altLang="zh-CN" sz="1800" b="0" dirty="0" err="1">
                <a:latin typeface="微软雅黑" panose="020B0503020204020204" pitchFamily="34" charset="-122"/>
                <a:ea typeface="微软雅黑" panose="020B0503020204020204" pitchFamily="34" charset="-122"/>
              </a:rPr>
              <a:t>ViT</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等强大的图像 </a:t>
            </a:r>
            <a:r>
              <a:rPr lang="en-US" altLang="zh-CN" sz="1800" b="0" dirty="0">
                <a:latin typeface="微软雅黑" panose="020B0503020204020204" pitchFamily="34" charset="-122"/>
                <a:ea typeface="微软雅黑" panose="020B0503020204020204" pitchFamily="34" charset="-122"/>
              </a:rPr>
              <a:t>backbone </a:t>
            </a:r>
            <a:r>
              <a:rPr lang="zh-CN" altLang="en-US" sz="1800" b="0" dirty="0">
                <a:latin typeface="微软雅黑" panose="020B0503020204020204" pitchFamily="34" charset="-122"/>
                <a:ea typeface="微软雅黑" panose="020B0503020204020204" pitchFamily="34" charset="-122"/>
              </a:rPr>
              <a:t>变得困难，也限制了模型在大规模数据上的训练效率。</a:t>
            </a:r>
            <a:endParaRPr lang="en-US" altLang="zh-CN" sz="1800" b="0" dirty="0">
              <a:latin typeface="微软雅黑" panose="020B0503020204020204" pitchFamily="34" charset="-122"/>
              <a:ea typeface="微软雅黑" panose="020B0503020204020204" pitchFamily="34" charset="-122"/>
            </a:endParaRPr>
          </a:p>
          <a:p>
            <a:pPr>
              <a:lnSpc>
                <a:spcPct val="150000"/>
              </a:lnSpc>
            </a:pPr>
            <a:r>
              <a:rPr lang="zh-CN" altLang="en-US" sz="1800" dirty="0">
                <a:latin typeface="微软雅黑" panose="020B0503020204020204" pitchFamily="34" charset="-122"/>
                <a:ea typeface="微软雅黑" panose="020B0503020204020204" pitchFamily="34" charset="-122"/>
              </a:rPr>
              <a:t>时空特征难以兼顾：</a:t>
            </a:r>
            <a:r>
              <a:rPr lang="zh-CN" altLang="en-US" sz="1800" b="0" dirty="0">
                <a:latin typeface="微软雅黑" panose="020B0503020204020204" pitchFamily="34" charset="-122"/>
                <a:ea typeface="微软雅黑" panose="020B0503020204020204" pitchFamily="34" charset="-122"/>
              </a:rPr>
              <a:t>现有方法在学习过程中常出现偏向性，要么只关注空间纹理、忽略帧间一致性，要么过度依赖时间线索、错过关键空间伪造细节</a:t>
            </a:r>
          </a:p>
        </p:txBody>
      </p:sp>
      <p:sp>
        <p:nvSpPr>
          <p:cNvPr id="5" name="LimitationBoxContent">
            <a:extLst>
              <a:ext uri="{FF2B5EF4-FFF2-40B4-BE49-F238E27FC236}">
                <a16:creationId xmlns:a16="http://schemas.microsoft.com/office/drawing/2014/main" id="{AD34FCC1-C717-0B2C-FAB7-23AA8B73E4AA}"/>
              </a:ext>
            </a:extLst>
          </p:cNvPr>
          <p:cNvSpPr/>
          <p:nvPr/>
        </p:nvSpPr>
        <p:spPr>
          <a:xfrm>
            <a:off x="2362465" y="5439602"/>
            <a:ext cx="7942166" cy="1246947"/>
          </a:xfrm>
          <a:prstGeom prst="rect">
            <a:avLst/>
          </a:prstGeom>
          <a:solidFill>
            <a:srgbClr val="E74C3C">
              <a:alpha val="10000"/>
            </a:srgbClr>
          </a:solidFill>
          <a:ln w="0">
            <a:noFill/>
          </a:ln>
        </p:spPr>
        <p:style>
          <a:lnRef idx="0">
            <a:scrgbClr r="0" g="0" b="0"/>
          </a:lnRef>
          <a:fillRef idx="0">
            <a:scrgbClr r="0" g="0" b="0"/>
          </a:fillRef>
          <a:effectRef idx="0">
            <a:scrgbClr r="0" g="0" b="0"/>
          </a:effectRef>
          <a:fontRef idx="minor"/>
        </p:style>
        <p:txBody>
          <a:bodyPr lIns="171360" tIns="171360" rIns="171360" bIns="17136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研究目标：</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提出一种能够同时兼顾空间与时间特征学习、以低计算成本实现高效时空建模、具有强泛化能力的深度伪造视频检测方法。</a:t>
            </a:r>
            <a:endParaRPr lang="en-US"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4152338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96E5F7-669D-ACE6-F789-5D5142C1DB2A}"/>
              </a:ext>
            </a:extLst>
          </p:cNvPr>
          <p:cNvSpPr>
            <a:spLocks noGrp="1"/>
          </p:cNvSpPr>
          <p:nvPr>
            <p:ph type="sldNum" sz="quarter" idx="4"/>
          </p:nvPr>
        </p:nvSpPr>
        <p:spPr/>
        <p:txBody>
          <a:bodyPr/>
          <a:lstStyle/>
          <a:p>
            <a:r>
              <a:rPr lang="en-US" altLang="zh-CN"/>
              <a:t>&lt; </a:t>
            </a:r>
            <a:fld id="{A548B57D-AE10-4CF7-A9DF-59FEFA91B28E}" type="slidenum">
              <a:rPr lang="zh-CN" altLang="en-US" smtClean="0"/>
              <a:t>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07DF923-EB0D-3855-8ECF-B8614A7B8056}"/>
              </a:ext>
            </a:extLst>
          </p:cNvPr>
          <p:cNvSpPr>
            <a:spLocks noGrp="1"/>
          </p:cNvSpPr>
          <p:nvPr>
            <p:ph type="title"/>
          </p:nvPr>
        </p:nvSpPr>
        <p:spPr/>
        <p:txBody>
          <a:bodyPr>
            <a:noAutofit/>
          </a:bodyPr>
          <a:lstStyle/>
          <a:p>
            <a:r>
              <a:rPr lang="zh-CN" altLang="en-US" spc="0" dirty="0"/>
              <a:t>核心思路</a:t>
            </a:r>
            <a:endParaRPr lang="zh-CN" altLang="en-US" dirty="0"/>
          </a:p>
        </p:txBody>
      </p:sp>
      <p:sp>
        <p:nvSpPr>
          <p:cNvPr id="10" name="LimitationBoxContent">
            <a:extLst>
              <a:ext uri="{FF2B5EF4-FFF2-40B4-BE49-F238E27FC236}">
                <a16:creationId xmlns:a16="http://schemas.microsoft.com/office/drawing/2014/main" id="{44D6A687-3930-E494-DC0F-B5201088E78A}"/>
              </a:ext>
            </a:extLst>
          </p:cNvPr>
          <p:cNvSpPr/>
          <p:nvPr/>
        </p:nvSpPr>
        <p:spPr>
          <a:xfrm>
            <a:off x="311677" y="4473861"/>
            <a:ext cx="11620128" cy="1799540"/>
          </a:xfrm>
          <a:prstGeom prst="rect">
            <a:avLst/>
          </a:prstGeom>
          <a:solidFill>
            <a:srgbClr val="E74C3C">
              <a:alpha val="10000"/>
            </a:srgbClr>
          </a:solidFill>
          <a:ln w="0">
            <a:noFill/>
          </a:ln>
        </p:spPr>
        <p:style>
          <a:lnRef idx="0">
            <a:scrgbClr r="0" g="0" b="0"/>
          </a:lnRef>
          <a:fillRef idx="0">
            <a:scrgbClr r="0" g="0" b="0"/>
          </a:fillRef>
          <a:effectRef idx="0">
            <a:scrgbClr r="0" g="0" b="0"/>
          </a:effectRef>
          <a:fontRef idx="minor"/>
        </p:style>
        <p:txBody>
          <a:bodyPr lIns="171360" tIns="171360" rIns="171360" bIns="17136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457200">
              <a:lnSpc>
                <a:spcPts val="3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在无需依赖高成本视频模型的情况下，通过构造能够真实模拟深度伪造视频中常见时序伪迹的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Video-level Blending</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VB</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），再现普遍存在的“面部特征漂移”，从数据层面增强模型对跨帧不一致性的敏感度；同时提出轻量化的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Spatiotemporal Adapter</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20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StA</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），将其插入到已有的强大图像</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backbone</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（如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CLIP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）中，使这些模型以极低额外成本获得时空建模能力，实现时空平衡学习。</a:t>
            </a:r>
            <a:endParaRPr lang="en-US"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pic>
        <p:nvPicPr>
          <p:cNvPr id="6" name="图片 5">
            <a:extLst>
              <a:ext uri="{FF2B5EF4-FFF2-40B4-BE49-F238E27FC236}">
                <a16:creationId xmlns:a16="http://schemas.microsoft.com/office/drawing/2014/main" id="{C67F1A83-CF5A-085A-8E8C-4AC28BFC5D16}"/>
              </a:ext>
            </a:extLst>
          </p:cNvPr>
          <p:cNvPicPr>
            <a:picLocks noChangeAspect="1"/>
          </p:cNvPicPr>
          <p:nvPr/>
        </p:nvPicPr>
        <p:blipFill>
          <a:blip r:embed="rId3"/>
          <a:stretch>
            <a:fillRect/>
          </a:stretch>
        </p:blipFill>
        <p:spPr>
          <a:xfrm>
            <a:off x="311677" y="1044861"/>
            <a:ext cx="5606771" cy="3429000"/>
          </a:xfrm>
          <a:prstGeom prst="rect">
            <a:avLst/>
          </a:prstGeom>
        </p:spPr>
      </p:pic>
      <p:pic>
        <p:nvPicPr>
          <p:cNvPr id="8" name="图片 7">
            <a:extLst>
              <a:ext uri="{FF2B5EF4-FFF2-40B4-BE49-F238E27FC236}">
                <a16:creationId xmlns:a16="http://schemas.microsoft.com/office/drawing/2014/main" id="{C04A4906-42B1-462D-EDD5-D2C94514A88F}"/>
              </a:ext>
            </a:extLst>
          </p:cNvPr>
          <p:cNvPicPr>
            <a:picLocks noChangeAspect="1"/>
          </p:cNvPicPr>
          <p:nvPr/>
        </p:nvPicPr>
        <p:blipFill>
          <a:blip r:embed="rId4"/>
          <a:srcRect l="44097" r="959"/>
          <a:stretch>
            <a:fillRect/>
          </a:stretch>
        </p:blipFill>
        <p:spPr>
          <a:xfrm>
            <a:off x="6032965" y="1109202"/>
            <a:ext cx="5784323" cy="3116544"/>
          </a:xfrm>
          <a:prstGeom prst="rect">
            <a:avLst/>
          </a:prstGeom>
        </p:spPr>
      </p:pic>
    </p:spTree>
    <p:extLst>
      <p:ext uri="{BB962C8B-B14F-4D97-AF65-F5344CB8AC3E}">
        <p14:creationId xmlns:p14="http://schemas.microsoft.com/office/powerpoint/2010/main" val="191829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F52A-68CF-A1B5-5B56-0D2B2DD6379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EFB6272-B75D-30A8-E2C2-ECACC8D69C20}"/>
              </a:ext>
            </a:extLst>
          </p:cNvPr>
          <p:cNvSpPr>
            <a:spLocks noGrp="1"/>
          </p:cNvSpPr>
          <p:nvPr>
            <p:ph type="sldNum" sz="quarter" idx="4"/>
          </p:nvPr>
        </p:nvSpPr>
        <p:spPr/>
        <p:txBody>
          <a:bodyPr/>
          <a:lstStyle/>
          <a:p>
            <a:r>
              <a:rPr lang="en-US" altLang="zh-CN"/>
              <a:t>&lt; </a:t>
            </a:r>
            <a:fld id="{A548B57D-AE10-4CF7-A9DF-59FEFA91B28E}" type="slidenum">
              <a:rPr lang="zh-CN" altLang="en-US" smtClean="0"/>
              <a:t>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48CECEE-F725-BCFD-0725-2A6479028604}"/>
              </a:ext>
            </a:extLst>
          </p:cNvPr>
          <p:cNvSpPr>
            <a:spLocks noGrp="1"/>
          </p:cNvSpPr>
          <p:nvPr>
            <p:ph type="title"/>
          </p:nvPr>
        </p:nvSpPr>
        <p:spPr/>
        <p:txBody>
          <a:bodyPr>
            <a:noAutofit/>
          </a:bodyPr>
          <a:lstStyle/>
          <a:p>
            <a:r>
              <a:rPr lang="sq-AL" altLang="zh-CN" spc="0" dirty="0"/>
              <a:t>Video-level Blending</a:t>
            </a:r>
            <a:r>
              <a:rPr lang="zh-CN" altLang="sq-AL" spc="0" dirty="0"/>
              <a:t>（</a:t>
            </a:r>
            <a:r>
              <a:rPr lang="sq-AL" altLang="zh-CN" spc="0" dirty="0"/>
              <a:t>VB</a:t>
            </a:r>
            <a:r>
              <a:rPr lang="zh-CN" altLang="sq-AL" spc="0" dirty="0"/>
              <a:t>）</a:t>
            </a:r>
            <a:r>
              <a:rPr lang="zh-CN" altLang="en-US" dirty="0"/>
              <a:t>视频级混合</a:t>
            </a:r>
            <a:endParaRPr lang="zh-CN" altLang="en-US" spc="0" dirty="0"/>
          </a:p>
        </p:txBody>
      </p:sp>
      <p:sp>
        <p:nvSpPr>
          <p:cNvPr id="17" name="文本占位符 3">
            <a:extLst>
              <a:ext uri="{FF2B5EF4-FFF2-40B4-BE49-F238E27FC236}">
                <a16:creationId xmlns:a16="http://schemas.microsoft.com/office/drawing/2014/main" id="{144BE46A-2DE8-6290-1A11-661702982407}"/>
              </a:ext>
            </a:extLst>
          </p:cNvPr>
          <p:cNvSpPr>
            <a:spLocks noGrp="1"/>
          </p:cNvSpPr>
          <p:nvPr>
            <p:ph type="body" sz="quarter" idx="10"/>
          </p:nvPr>
        </p:nvSpPr>
        <p:spPr>
          <a:xfrm>
            <a:off x="442913" y="3633326"/>
            <a:ext cx="11615460" cy="2692604"/>
          </a:xfrm>
        </p:spPr>
        <p:txBody>
          <a:bodyPr>
            <a:normAutofit/>
          </a:bodyPr>
          <a:lstStyle/>
          <a:p>
            <a:pPr defTabSz="457200">
              <a:lnSpc>
                <a:spcPct val="150000"/>
              </a:lnSpc>
            </a:pPr>
            <a:r>
              <a:rPr lang="zh-CN" altLang="en-US" sz="1800" dirty="0">
                <a:latin typeface="微软雅黑" panose="020B0503020204020204" pitchFamily="34" charset="-122"/>
                <a:ea typeface="微软雅黑" panose="020B0503020204020204" pitchFamily="34" charset="-122"/>
              </a:rPr>
              <a:t>逐帧检测并扰动关键点：</a:t>
            </a:r>
            <a:r>
              <a:rPr lang="zh-CN" altLang="en-US" sz="1800" b="0" dirty="0">
                <a:latin typeface="微软雅黑" panose="020B0503020204020204" pitchFamily="34" charset="-122"/>
                <a:ea typeface="微软雅黑" panose="020B0503020204020204" pitchFamily="34" charset="-122"/>
              </a:rPr>
              <a:t>从原视频中依次提取每一帧，对每一帧检测人脸关键点，并对眼、眉、鼻、口等区域施加轻微旋转、缩放、平移扰动。</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生成形变图像：</a:t>
            </a:r>
            <a:r>
              <a:rPr lang="zh-CN" altLang="en-US" sz="1800" b="0" dirty="0">
                <a:latin typeface="微软雅黑" panose="020B0503020204020204" pitchFamily="34" charset="-122"/>
                <a:ea typeface="微软雅黑" panose="020B0503020204020204" pitchFamily="34" charset="-122"/>
              </a:rPr>
              <a:t>根据扰动后的关键点对人脸进行仿射变形，得到带有细微结构偏移的图像。</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构建掩码并融合图像：</a:t>
            </a:r>
            <a:r>
              <a:rPr lang="zh-CN" altLang="en-US" sz="1800" b="0" dirty="0">
                <a:latin typeface="微软雅黑" panose="020B0503020204020204" pitchFamily="34" charset="-122"/>
                <a:ea typeface="微软雅黑" panose="020B0503020204020204" pitchFamily="34" charset="-122"/>
              </a:rPr>
              <a:t>基于各器官的关键点位置生成平滑的区域掩码，将形变结果与原图在器官区域做局部融合。</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按帧处理得到合成视频：</a:t>
            </a:r>
            <a:r>
              <a:rPr lang="zh-CN" altLang="en-US" sz="1800" b="0" dirty="0">
                <a:latin typeface="微软雅黑" panose="020B0503020204020204" pitchFamily="34" charset="-122"/>
                <a:ea typeface="微软雅黑" panose="020B0503020204020204" pitchFamily="34" charset="-122"/>
              </a:rPr>
              <a:t>对所有帧重复上述步骤，最终得到具有“面部特征漂移”的伪造视频。</a:t>
            </a:r>
          </a:p>
        </p:txBody>
      </p:sp>
      <p:pic>
        <p:nvPicPr>
          <p:cNvPr id="8" name="图片 7">
            <a:extLst>
              <a:ext uri="{FF2B5EF4-FFF2-40B4-BE49-F238E27FC236}">
                <a16:creationId xmlns:a16="http://schemas.microsoft.com/office/drawing/2014/main" id="{D210F992-59DC-69E4-ADC8-1DC9C32EA283}"/>
              </a:ext>
            </a:extLst>
          </p:cNvPr>
          <p:cNvPicPr>
            <a:picLocks noChangeAspect="1"/>
          </p:cNvPicPr>
          <p:nvPr/>
        </p:nvPicPr>
        <p:blipFill>
          <a:blip r:embed="rId3"/>
          <a:stretch>
            <a:fillRect/>
          </a:stretch>
        </p:blipFill>
        <p:spPr>
          <a:xfrm>
            <a:off x="368569" y="928178"/>
            <a:ext cx="7565320" cy="2692604"/>
          </a:xfrm>
          <a:prstGeom prst="rect">
            <a:avLst/>
          </a:prstGeom>
        </p:spPr>
      </p:pic>
      <p:pic>
        <p:nvPicPr>
          <p:cNvPr id="10" name="图片 9">
            <a:extLst>
              <a:ext uri="{FF2B5EF4-FFF2-40B4-BE49-F238E27FC236}">
                <a16:creationId xmlns:a16="http://schemas.microsoft.com/office/drawing/2014/main" id="{CDA7453D-C3A2-00ED-E7ED-8CADD52D13AE}"/>
              </a:ext>
            </a:extLst>
          </p:cNvPr>
          <p:cNvPicPr>
            <a:picLocks noChangeAspect="1"/>
          </p:cNvPicPr>
          <p:nvPr/>
        </p:nvPicPr>
        <p:blipFill>
          <a:blip r:embed="rId4"/>
          <a:stretch>
            <a:fillRect/>
          </a:stretch>
        </p:blipFill>
        <p:spPr>
          <a:xfrm>
            <a:off x="7933889" y="861087"/>
            <a:ext cx="3949384" cy="1400850"/>
          </a:xfrm>
          <a:prstGeom prst="rect">
            <a:avLst/>
          </a:prstGeom>
        </p:spPr>
      </p:pic>
      <p:pic>
        <p:nvPicPr>
          <p:cNvPr id="12" name="图片 11">
            <a:extLst>
              <a:ext uri="{FF2B5EF4-FFF2-40B4-BE49-F238E27FC236}">
                <a16:creationId xmlns:a16="http://schemas.microsoft.com/office/drawing/2014/main" id="{15329A7F-A1B4-9D59-FEFE-F35BCA0195F3}"/>
              </a:ext>
            </a:extLst>
          </p:cNvPr>
          <p:cNvPicPr>
            <a:picLocks noChangeAspect="1"/>
          </p:cNvPicPr>
          <p:nvPr/>
        </p:nvPicPr>
        <p:blipFill>
          <a:blip r:embed="rId5"/>
          <a:stretch>
            <a:fillRect/>
          </a:stretch>
        </p:blipFill>
        <p:spPr>
          <a:xfrm>
            <a:off x="7967852" y="2221264"/>
            <a:ext cx="3915421" cy="1400850"/>
          </a:xfrm>
          <a:prstGeom prst="rect">
            <a:avLst/>
          </a:prstGeom>
        </p:spPr>
      </p:pic>
    </p:spTree>
    <p:extLst>
      <p:ext uri="{BB962C8B-B14F-4D97-AF65-F5344CB8AC3E}">
        <p14:creationId xmlns:p14="http://schemas.microsoft.com/office/powerpoint/2010/main" val="1430998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53BC-B9D2-1DFF-FB4D-75252D46E03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E72496-5477-4305-56E7-2BF87C7D81A6}"/>
              </a:ext>
            </a:extLst>
          </p:cNvPr>
          <p:cNvSpPr>
            <a:spLocks noGrp="1"/>
          </p:cNvSpPr>
          <p:nvPr>
            <p:ph type="sldNum" sz="quarter" idx="4"/>
          </p:nvPr>
        </p:nvSpPr>
        <p:spPr/>
        <p:txBody>
          <a:bodyPr/>
          <a:lstStyle/>
          <a:p>
            <a:r>
              <a:rPr lang="en-US" altLang="zh-CN"/>
              <a:t>&lt; </a:t>
            </a:r>
            <a:fld id="{A548B57D-AE10-4CF7-A9DF-59FEFA91B28E}" type="slidenum">
              <a:rPr lang="zh-CN" altLang="en-US" smtClean="0"/>
              <a:t>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57C54BEF-0910-622F-6ED4-824394FDB82F}"/>
              </a:ext>
            </a:extLst>
          </p:cNvPr>
          <p:cNvSpPr>
            <a:spLocks noGrp="1"/>
          </p:cNvSpPr>
          <p:nvPr>
            <p:ph type="title"/>
          </p:nvPr>
        </p:nvSpPr>
        <p:spPr/>
        <p:txBody>
          <a:bodyPr>
            <a:noAutofit/>
          </a:bodyPr>
          <a:lstStyle/>
          <a:p>
            <a:r>
              <a:rPr lang="sq-AL" altLang="zh-CN" spc="0" dirty="0"/>
              <a:t>Spatiotemporal Adapter</a:t>
            </a:r>
            <a:r>
              <a:rPr lang="zh-CN" altLang="sq-AL" spc="0" dirty="0"/>
              <a:t>（</a:t>
            </a:r>
            <a:r>
              <a:rPr lang="sq-AL" altLang="zh-CN" spc="0" dirty="0"/>
              <a:t>StA</a:t>
            </a:r>
            <a:r>
              <a:rPr lang="zh-CN" altLang="sq-AL" spc="0" dirty="0"/>
              <a:t>）</a:t>
            </a:r>
            <a:r>
              <a:rPr lang="zh-CN" altLang="en-US" dirty="0"/>
              <a:t>时空适配器</a:t>
            </a:r>
            <a:endParaRPr lang="zh-CN" altLang="en-US" spc="0" dirty="0"/>
          </a:p>
        </p:txBody>
      </p:sp>
      <mc:AlternateContent xmlns:mc="http://schemas.openxmlformats.org/markup-compatibility/2006" xmlns:a14="http://schemas.microsoft.com/office/drawing/2010/main">
        <mc:Choice Requires="a14">
          <p:sp>
            <p:nvSpPr>
              <p:cNvPr id="17" name="文本占位符 3">
                <a:extLst>
                  <a:ext uri="{FF2B5EF4-FFF2-40B4-BE49-F238E27FC236}">
                    <a16:creationId xmlns:a16="http://schemas.microsoft.com/office/drawing/2014/main" id="{B718374A-7962-40A6-4480-6119F2FE7A7E}"/>
                  </a:ext>
                </a:extLst>
              </p:cNvPr>
              <p:cNvSpPr>
                <a:spLocks noGrp="1"/>
              </p:cNvSpPr>
              <p:nvPr>
                <p:ph type="body" sz="quarter" idx="10"/>
              </p:nvPr>
            </p:nvSpPr>
            <p:spPr>
              <a:xfrm>
                <a:off x="442913" y="3633326"/>
                <a:ext cx="11615460" cy="2692604"/>
              </a:xfrm>
            </p:spPr>
            <p:txBody>
              <a:bodyPr>
                <a:noAutofit/>
              </a:bodyPr>
              <a:lstStyle/>
              <a:p>
                <a:pPr defTabSz="457200">
                  <a:lnSpc>
                    <a:spcPct val="150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特征降维：</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从预训练图像模型获得视频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Clip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的逐帧特征 </a:t>
                </a:r>
                <a14:m>
                  <m:oMath xmlns:m="http://schemas.openxmlformats.org/officeDocument/2006/math">
                    <m:sSubSup>
                      <m:sSubSupPr>
                        <m:ctrlPr>
                          <a:rPr lang="zh-CN" altLang="en-US" sz="1600" b="0" i="1" dirty="0">
                            <a:latin typeface="Cambria Math" panose="02040503050406030204" pitchFamily="18" charset="0"/>
                          </a:rPr>
                        </m:ctrlPr>
                      </m:sSubSupPr>
                      <m:e>
                        <m:r>
                          <a:rPr lang="zh-CN" altLang="en-US" sz="1600" b="0" i="1" dirty="0">
                            <a:latin typeface="Cambria Math" panose="02040503050406030204" pitchFamily="18" charset="0"/>
                          </a:rPr>
                          <m:t>𝑥</m:t>
                        </m:r>
                      </m:e>
                      <m:sub>
                        <m:r>
                          <a:rPr lang="zh-CN" altLang="en-US" sz="1600" b="0" i="1" dirty="0">
                            <a:latin typeface="Cambria Math" panose="02040503050406030204" pitchFamily="18" charset="0"/>
                          </a:rPr>
                          <m:t>𝑘</m:t>
                        </m:r>
                      </m:sub>
                      <m:sup>
                        <m:r>
                          <a:rPr lang="zh-CN" altLang="en-US" sz="1600" b="0" i="1" dirty="0">
                            <a:latin typeface="Cambria Math" panose="02040503050406030204" pitchFamily="18" charset="0"/>
                          </a:rPr>
                          <m:t>𝑖𝑛</m:t>
                        </m:r>
                      </m:sup>
                    </m:sSubSup>
                    <m:r>
                      <a:rPr lang="zh-CN" altLang="en-US" sz="1600" b="0" dirty="0">
                        <a:latin typeface="Cambria Math" panose="02040503050406030204" pitchFamily="18" charset="0"/>
                      </a:rPr>
                      <m:t>∈</m:t>
                    </m:r>
                    <m:sSup>
                      <m:sSupPr>
                        <m:ctrlPr>
                          <a:rPr lang="zh-CN" altLang="en-US" sz="1600" b="0" i="1" dirty="0">
                            <a:latin typeface="Cambria Math" panose="02040503050406030204" pitchFamily="18" charset="0"/>
                          </a:rPr>
                        </m:ctrlPr>
                      </m:sSupPr>
                      <m:e>
                        <m:r>
                          <a:rPr lang="en-US" altLang="zh-CN" sz="1600" b="0" dirty="0">
                            <a:latin typeface="Cambria Math" panose="02040503050406030204" pitchFamily="18" charset="0"/>
                          </a:rPr>
                          <m:t>ℝ</m:t>
                        </m:r>
                      </m:e>
                      <m:sup>
                        <m:r>
                          <a:rPr lang="zh-CN" altLang="en-US" sz="1600" b="0" i="1" dirty="0">
                            <a:latin typeface="Cambria Math" panose="02040503050406030204" pitchFamily="18" charset="0"/>
                          </a:rPr>
                          <m:t>𝑇</m:t>
                        </m:r>
                        <m:r>
                          <a:rPr lang="en-US" altLang="zh-CN" sz="1600" b="0" dirty="0">
                            <a:latin typeface="Cambria Math" panose="02040503050406030204" pitchFamily="18" charset="0"/>
                          </a:rPr>
                          <m:t>×</m:t>
                        </m:r>
                        <m:r>
                          <a:rPr lang="zh-CN" altLang="en-US" sz="1600" b="0" i="1" dirty="0">
                            <a:latin typeface="Cambria Math" panose="02040503050406030204" pitchFamily="18" charset="0"/>
                          </a:rPr>
                          <m:t>𝐻</m:t>
                        </m:r>
                        <m:r>
                          <a:rPr lang="en-US" altLang="zh-CN" sz="1600" b="0" dirty="0">
                            <a:latin typeface="Cambria Math" panose="02040503050406030204" pitchFamily="18" charset="0"/>
                          </a:rPr>
                          <m:t>×</m:t>
                        </m:r>
                        <m:r>
                          <a:rPr lang="zh-CN" altLang="en-US" sz="1600" b="0" i="1" dirty="0">
                            <a:latin typeface="Cambria Math" panose="02040503050406030204" pitchFamily="18" charset="0"/>
                          </a:rPr>
                          <m:t>𝑊</m:t>
                        </m:r>
                        <m:r>
                          <a:rPr lang="en-US" altLang="zh-CN" sz="1600" b="0" dirty="0">
                            <a:latin typeface="Cambria Math" panose="02040503050406030204" pitchFamily="18" charset="0"/>
                          </a:rPr>
                          <m:t>×</m:t>
                        </m:r>
                        <m:r>
                          <a:rPr lang="zh-CN" altLang="en-US" sz="1600" b="0" i="1" dirty="0">
                            <a:latin typeface="Cambria Math" panose="02040503050406030204" pitchFamily="18" charset="0"/>
                          </a:rPr>
                          <m:t>𝐶</m:t>
                        </m:r>
                      </m:sup>
                    </m:sSup>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后，通过线性映射 </a:t>
                </a:r>
                <a14:m>
                  <m:oMath xmlns:m="http://schemas.openxmlformats.org/officeDocument/2006/math">
                    <m:sSub>
                      <m:sSubPr>
                        <m:ctrlPr>
                          <a:rPr lang="zh-CN" altLang="en-US" sz="1600" b="0" i="1" dirty="0">
                            <a:latin typeface="Cambria Math" panose="02040503050406030204" pitchFamily="18" charset="0"/>
                          </a:rPr>
                        </m:ctrlPr>
                      </m:sSubPr>
                      <m:e>
                        <m:r>
                          <a:rPr lang="zh-CN" altLang="en-US" sz="1600" b="0" i="1" dirty="0">
                            <a:latin typeface="Cambria Math" panose="02040503050406030204" pitchFamily="18" charset="0"/>
                          </a:rPr>
                          <m:t>𝑊</m:t>
                        </m:r>
                      </m:e>
                      <m:sub>
                        <m:r>
                          <a:rPr lang="zh-CN" altLang="en-US" sz="1600" b="0" i="1" dirty="0">
                            <a:latin typeface="Cambria Math" panose="02040503050406030204" pitchFamily="18" charset="0"/>
                          </a:rPr>
                          <m:t>𝑑𝑜𝑤𝑛</m:t>
                        </m:r>
                      </m:sub>
                    </m:sSub>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对通道维度进行压缩，</a:t>
                </a:r>
                <a14:m>
                  <m:oMath xmlns:m="http://schemas.openxmlformats.org/officeDocument/2006/math">
                    <m:sSubSup>
                      <m:sSubSupPr>
                        <m:ctrlPr>
                          <a:rPr lang="zh-CN" altLang="en-US" sz="1600" b="0" i="1" dirty="0">
                            <a:latin typeface="Cambria Math" panose="02040503050406030204" pitchFamily="18" charset="0"/>
                          </a:rPr>
                        </m:ctrlPr>
                      </m:sSubSupPr>
                      <m:e>
                        <m:r>
                          <a:rPr lang="zh-CN" altLang="en-US" sz="1600" b="0" i="1" dirty="0">
                            <a:latin typeface="Cambria Math" panose="02040503050406030204" pitchFamily="18" charset="0"/>
                          </a:rPr>
                          <m:t>𝑥</m:t>
                        </m:r>
                      </m:e>
                      <m:sub>
                        <m:r>
                          <a:rPr lang="zh-CN" altLang="en-US" sz="1600" b="0" i="1" dirty="0">
                            <a:latin typeface="Cambria Math" panose="02040503050406030204" pitchFamily="18" charset="0"/>
                          </a:rPr>
                          <m:t>𝑘</m:t>
                        </m:r>
                      </m:sub>
                      <m:sup>
                        <m:r>
                          <a:rPr lang="en-US" altLang="zh-CN" sz="1600" b="0" dirty="0">
                            <a:latin typeface="Cambria Math" panose="02040503050406030204" pitchFamily="18" charset="0"/>
                          </a:rPr>
                          <m:t>′</m:t>
                        </m:r>
                      </m:sup>
                    </m:sSubSup>
                    <m:r>
                      <a:rPr lang="en-US" altLang="zh-CN" sz="1600" b="0" dirty="0">
                        <a:latin typeface="Cambria Math" panose="02040503050406030204" pitchFamily="18" charset="0"/>
                      </a:rPr>
                      <m:t>=</m:t>
                    </m:r>
                    <m:sSub>
                      <m:sSubPr>
                        <m:ctrlPr>
                          <a:rPr lang="zh-CN" altLang="en-US" sz="1600" b="0" i="1" dirty="0">
                            <a:latin typeface="Cambria Math" panose="02040503050406030204" pitchFamily="18" charset="0"/>
                          </a:rPr>
                        </m:ctrlPr>
                      </m:sSubPr>
                      <m:e>
                        <m:r>
                          <a:rPr lang="zh-CN" altLang="en-US" sz="1600" b="0" i="1" dirty="0">
                            <a:latin typeface="Cambria Math" panose="02040503050406030204" pitchFamily="18" charset="0"/>
                          </a:rPr>
                          <m:t>𝑊</m:t>
                        </m:r>
                      </m:e>
                      <m:sub>
                        <m:r>
                          <a:rPr lang="zh-CN" altLang="en-US" sz="1600" b="0" i="1" dirty="0">
                            <a:latin typeface="Cambria Math" panose="02040503050406030204" pitchFamily="18" charset="0"/>
                          </a:rPr>
                          <m:t>𝑑𝑜𝑤𝑛</m:t>
                        </m:r>
                      </m:sub>
                    </m:sSub>
                    <m:r>
                      <a:rPr lang="zh-CN" altLang="en-US" sz="1600" b="0" dirty="0">
                        <a:latin typeface="Cambria Math" panose="02040503050406030204" pitchFamily="18" charset="0"/>
                      </a:rPr>
                      <m:t>⋅</m:t>
                    </m:r>
                    <m:sSubSup>
                      <m:sSubSupPr>
                        <m:ctrlPr>
                          <a:rPr lang="zh-CN" altLang="en-US" sz="1600" b="0" i="1" dirty="0">
                            <a:latin typeface="Cambria Math" panose="02040503050406030204" pitchFamily="18" charset="0"/>
                          </a:rPr>
                        </m:ctrlPr>
                      </m:sSubSupPr>
                      <m:e>
                        <m:r>
                          <a:rPr lang="zh-CN" altLang="en-US" sz="1600" b="0" i="1" dirty="0">
                            <a:latin typeface="Cambria Math" panose="02040503050406030204" pitchFamily="18" charset="0"/>
                          </a:rPr>
                          <m:t>𝑥</m:t>
                        </m:r>
                      </m:e>
                      <m:sub>
                        <m:r>
                          <a:rPr lang="zh-CN" altLang="en-US" sz="1600" b="0" i="1" dirty="0">
                            <a:latin typeface="Cambria Math" panose="02040503050406030204" pitchFamily="18" charset="0"/>
                          </a:rPr>
                          <m:t>𝑘</m:t>
                        </m:r>
                      </m:sub>
                      <m:sup>
                        <m:r>
                          <a:rPr lang="zh-CN" altLang="en-US" sz="1600" b="0" i="1" dirty="0">
                            <a:latin typeface="Cambria Math" panose="02040503050406030204" pitchFamily="18" charset="0"/>
                          </a:rPr>
                          <m:t>𝑖𝑛</m:t>
                        </m:r>
                      </m:sup>
                    </m:sSubSup>
                    <m:r>
                      <a:rPr lang="en-US" altLang="zh-CN" sz="1600" b="0" dirty="0">
                        <a:latin typeface="Cambria Math" panose="02040503050406030204" pitchFamily="18" charset="0"/>
                      </a:rPr>
                      <m:t>.</m:t>
                    </m:r>
                  </m:oMath>
                </a14:m>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时空特征提取：</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将降维后的特征 </a:t>
                </a:r>
                <a14:m>
                  <m:oMath xmlns:m="http://schemas.openxmlformats.org/officeDocument/2006/math">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𝑥</m:t>
                        </m:r>
                      </m:e>
                      <m:sub>
                        <m:r>
                          <a:rPr lang="zh-CN" altLang="ar-AE" sz="1600" b="0" i="1" dirty="0">
                            <a:latin typeface="Cambria Math" panose="02040503050406030204" pitchFamily="18" charset="0"/>
                          </a:rPr>
                          <m:t>𝑘</m:t>
                        </m:r>
                      </m:sub>
                      <m:sup>
                        <m:r>
                          <a:rPr lang="ar-AE" altLang="zh-CN" sz="1600" b="0" dirty="0">
                            <a:latin typeface="Cambria Math" panose="02040503050406030204" pitchFamily="18" charset="0"/>
                          </a:rPr>
                          <m:t>′</m:t>
                        </m:r>
                      </m:sup>
                    </m:sSubSup>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分别输入核为 </a:t>
                </a:r>
                <a14:m>
                  <m:oMath xmlns:m="http://schemas.openxmlformats.org/officeDocument/2006/math">
                    <m:d>
                      <m:dPr>
                        <m:sepChr m:val=","/>
                        <m:ctrlPr>
                          <a:rPr lang="ar-AE" altLang="zh-CN" sz="1600" b="0" i="1" dirty="0">
                            <a:latin typeface="Cambria Math" panose="02040503050406030204" pitchFamily="18" charset="0"/>
                          </a:rPr>
                        </m:ctrlPr>
                      </m:dPr>
                      <m:e>
                        <m:r>
                          <a:rPr lang="ar-AE" altLang="zh-CN" sz="1600" b="0" dirty="0">
                            <a:latin typeface="Cambria Math" panose="02040503050406030204" pitchFamily="18" charset="0"/>
                          </a:rPr>
                          <m:t>1</m:t>
                        </m:r>
                      </m:e>
                      <m:e>
                        <m:r>
                          <a:rPr lang="zh-CN" altLang="ar-AE" sz="1600" b="0" i="1" dirty="0">
                            <a:latin typeface="Cambria Math" panose="02040503050406030204" pitchFamily="18" charset="0"/>
                          </a:rPr>
                          <m:t>𝑁</m:t>
                        </m:r>
                      </m:e>
                      <m:e>
                        <m:r>
                          <a:rPr lang="zh-CN" altLang="ar-AE" sz="1600" b="0" i="1" dirty="0">
                            <a:latin typeface="Cambria Math" panose="02040503050406030204" pitchFamily="18" charset="0"/>
                          </a:rPr>
                          <m:t>𝑁</m:t>
                        </m:r>
                      </m:e>
                    </m:d>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的空间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3</a:t>
                </a:r>
                <a:r>
                  <a:rPr lang="sq-AL" altLang="zh-CN" sz="1600" b="0" dirty="0">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卷积与 </a:t>
                </a:r>
                <a14:m>
                  <m:oMath xmlns:m="http://schemas.openxmlformats.org/officeDocument/2006/math">
                    <m:d>
                      <m:dPr>
                        <m:sepChr m:val=","/>
                        <m:ctrlPr>
                          <a:rPr lang="ar-AE" altLang="zh-CN" sz="1600" b="0" i="1" dirty="0">
                            <a:latin typeface="Cambria Math" panose="02040503050406030204" pitchFamily="18" charset="0"/>
                          </a:rPr>
                        </m:ctrlPr>
                      </m:dPr>
                      <m:e>
                        <m:r>
                          <a:rPr lang="zh-CN" altLang="ar-AE" sz="1600" b="0" i="1" dirty="0">
                            <a:latin typeface="Cambria Math" panose="02040503050406030204" pitchFamily="18" charset="0"/>
                          </a:rPr>
                          <m:t>𝑁</m:t>
                        </m:r>
                      </m:e>
                      <m:e>
                        <m:r>
                          <a:rPr lang="ar-AE" altLang="zh-CN" sz="1600" b="0" dirty="0">
                            <a:latin typeface="Cambria Math" panose="02040503050406030204" pitchFamily="18" charset="0"/>
                          </a:rPr>
                          <m:t>1</m:t>
                        </m:r>
                      </m:e>
                      <m:e>
                        <m:r>
                          <a:rPr lang="ar-AE" altLang="zh-CN" sz="1600" b="0" dirty="0">
                            <a:latin typeface="Cambria Math" panose="02040503050406030204" pitchFamily="18" charset="0"/>
                          </a:rPr>
                          <m:t>1</m:t>
                        </m:r>
                      </m:e>
                    </m:d>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的时间 </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3</a:t>
                </a:r>
                <a:r>
                  <a:rPr lang="sq-AL" altLang="zh-CN" sz="1600" b="0" dirty="0">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卷积，得到空间特征 </a:t>
                </a:r>
                <a14:m>
                  <m:oMath xmlns:m="http://schemas.openxmlformats.org/officeDocument/2006/math">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𝑒</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𝑠</m:t>
                        </m:r>
                      </m:sup>
                    </m:sSubSup>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与时间特征 </a:t>
                </a:r>
                <a14:m>
                  <m:oMath xmlns:m="http://schemas.openxmlformats.org/officeDocument/2006/math">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𝑒</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𝑡</m:t>
                        </m:r>
                      </m:sup>
                    </m:sSubSup>
                  </m:oMath>
                </a14:m>
                <a:r>
                  <a:rPr lang="zh-CN" altLang="ar-AE" sz="1600" b="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𝑒</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𝑠</m:t>
                        </m:r>
                      </m:sup>
                    </m:sSubSup>
                    <m:r>
                      <a:rPr lang="ar-AE" altLang="zh-CN" sz="1600" b="0" dirty="0">
                        <a:latin typeface="Cambria Math" panose="02040503050406030204" pitchFamily="18" charset="0"/>
                      </a:rPr>
                      <m:t>=</m:t>
                    </m:r>
                    <m:sSub>
                      <m:sSubPr>
                        <m:ctrlPr>
                          <a:rPr lang="ar-AE" altLang="zh-CN" sz="1600" b="0" i="1" dirty="0">
                            <a:latin typeface="Cambria Math" panose="02040503050406030204" pitchFamily="18" charset="0"/>
                          </a:rPr>
                        </m:ctrlPr>
                      </m:sSubPr>
                      <m:e>
                        <m:r>
                          <m:rPr>
                            <m:nor/>
                          </m:rPr>
                          <a:rPr lang="ar-AE" altLang="zh-CN" sz="1600" b="0" i="1" dirty="0">
                            <a:latin typeface="Times New Roman" panose="02020603050405020304" pitchFamily="18" charset="0"/>
                            <a:ea typeface="微软雅黑" panose="020B0503020204020204" pitchFamily="34" charset="-122"/>
                            <a:cs typeface="Times New Roman" panose="02020603050405020304" pitchFamily="18" charset="0"/>
                          </a:rPr>
                          <m:t>3</m:t>
                        </m:r>
                        <m:r>
                          <m:rPr>
                            <m:nor/>
                          </m:rPr>
                          <a:rPr lang="sq-AL" altLang="zh-CN" sz="1600" b="0" i="1" dirty="0">
                            <a:latin typeface="Times New Roman" panose="02020603050405020304" pitchFamily="18" charset="0"/>
                            <a:ea typeface="微软雅黑" panose="020B0503020204020204" pitchFamily="34" charset="-122"/>
                            <a:cs typeface="Times New Roman" panose="02020603050405020304" pitchFamily="18" charset="0"/>
                          </a:rPr>
                          <m:t>DConv</m:t>
                        </m:r>
                      </m:e>
                      <m:sub>
                        <m:r>
                          <a:rPr lang="zh-CN" altLang="ar-AE" sz="1600" b="0" i="1" dirty="0">
                            <a:latin typeface="Cambria Math" panose="02040503050406030204" pitchFamily="18" charset="0"/>
                          </a:rPr>
                          <m:t>𝑠</m:t>
                        </m:r>
                      </m:sub>
                    </m:sSub>
                    <m:d>
                      <m:dPr>
                        <m:ctrlPr>
                          <a:rPr lang="ar-AE" altLang="zh-CN" sz="1600" b="0" i="1" dirty="0">
                            <a:latin typeface="Cambria Math" panose="02040503050406030204" pitchFamily="18" charset="0"/>
                          </a:rPr>
                        </m:ctrlPr>
                      </m:dPr>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𝑥</m:t>
                            </m:r>
                          </m:e>
                          <m:sub>
                            <m:r>
                              <a:rPr lang="zh-CN" altLang="ar-AE" sz="1600" b="0" i="1" dirty="0">
                                <a:latin typeface="Cambria Math" panose="02040503050406030204" pitchFamily="18" charset="0"/>
                              </a:rPr>
                              <m:t>𝑘</m:t>
                            </m:r>
                          </m:sub>
                          <m:sup>
                            <m:r>
                              <a:rPr lang="ar-AE" altLang="zh-CN" sz="1600" b="0" dirty="0">
                                <a:latin typeface="Cambria Math" panose="02040503050406030204" pitchFamily="18" charset="0"/>
                              </a:rPr>
                              <m:t>′</m:t>
                            </m:r>
                          </m:sup>
                        </m:sSubSup>
                      </m:e>
                    </m:d>
                    <m:r>
                      <a:rPr lang="ar-AE" altLang="zh-CN" sz="1600" b="0" dirty="0">
                        <a:latin typeface="Cambria Math" panose="02040503050406030204" pitchFamily="18" charset="0"/>
                      </a:rPr>
                      <m:t>, </m:t>
                    </m:r>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𝑒</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𝑡</m:t>
                        </m:r>
                      </m:sup>
                    </m:sSubSup>
                    <m:r>
                      <a:rPr lang="ar-AE" altLang="zh-CN" sz="1600" b="0" dirty="0">
                        <a:latin typeface="Cambria Math" panose="02040503050406030204" pitchFamily="18" charset="0"/>
                      </a:rPr>
                      <m:t>=</m:t>
                    </m:r>
                    <m:sSub>
                      <m:sSubPr>
                        <m:ctrlPr>
                          <a:rPr lang="ar-AE" altLang="zh-CN" sz="1600" b="0" i="1" dirty="0">
                            <a:latin typeface="Cambria Math" panose="02040503050406030204" pitchFamily="18" charset="0"/>
                          </a:rPr>
                        </m:ctrlPr>
                      </m:sSubPr>
                      <m:e>
                        <m:r>
                          <m:rPr>
                            <m:nor/>
                          </m:rPr>
                          <a:rPr lang="ar-AE" altLang="zh-CN" sz="1600" b="0" i="1" dirty="0">
                            <a:latin typeface="Times New Roman" panose="02020603050405020304" pitchFamily="18" charset="0"/>
                            <a:ea typeface="微软雅黑" panose="020B0503020204020204" pitchFamily="34" charset="-122"/>
                            <a:cs typeface="Times New Roman" panose="02020603050405020304" pitchFamily="18" charset="0"/>
                          </a:rPr>
                          <m:t>3</m:t>
                        </m:r>
                        <m:r>
                          <m:rPr>
                            <m:nor/>
                          </m:rPr>
                          <a:rPr lang="sq-AL" altLang="zh-CN" sz="1600" b="0" i="1" dirty="0">
                            <a:latin typeface="Times New Roman" panose="02020603050405020304" pitchFamily="18" charset="0"/>
                            <a:ea typeface="微软雅黑" panose="020B0503020204020204" pitchFamily="34" charset="-122"/>
                            <a:cs typeface="Times New Roman" panose="02020603050405020304" pitchFamily="18" charset="0"/>
                          </a:rPr>
                          <m:t>DConv</m:t>
                        </m:r>
                      </m:e>
                      <m:sub>
                        <m:r>
                          <a:rPr lang="zh-CN" altLang="ar-AE" sz="1600" b="0" i="1" dirty="0">
                            <a:latin typeface="Cambria Math" panose="02040503050406030204" pitchFamily="18" charset="0"/>
                          </a:rPr>
                          <m:t>𝑡</m:t>
                        </m:r>
                      </m:sub>
                    </m:sSub>
                    <m:d>
                      <m:dPr>
                        <m:ctrlPr>
                          <a:rPr lang="ar-AE" altLang="zh-CN" sz="1600" b="0" i="1" dirty="0">
                            <a:latin typeface="Cambria Math" panose="02040503050406030204" pitchFamily="18" charset="0"/>
                          </a:rPr>
                        </m:ctrlPr>
                      </m:dPr>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𝑥</m:t>
                            </m:r>
                          </m:e>
                          <m:sub>
                            <m:r>
                              <a:rPr lang="zh-CN" altLang="ar-AE" sz="1600" b="0" i="1" dirty="0">
                                <a:latin typeface="Cambria Math" panose="02040503050406030204" pitchFamily="18" charset="0"/>
                              </a:rPr>
                              <m:t>𝑘</m:t>
                            </m:r>
                          </m:sub>
                          <m:sup>
                            <m:r>
                              <a:rPr lang="ar-AE" altLang="zh-CN" sz="1600" b="0" dirty="0">
                                <a:latin typeface="Cambria Math" panose="02040503050406030204" pitchFamily="18" charset="0"/>
                              </a:rPr>
                              <m:t>′</m:t>
                            </m:r>
                          </m:sup>
                        </m:sSubSup>
                      </m:e>
                    </m:d>
                    <m:r>
                      <a:rPr lang="ar-AE" altLang="zh-CN" sz="1600" b="0" dirty="0">
                        <a:latin typeface="Cambria Math" panose="02040503050406030204" pitchFamily="18" charset="0"/>
                      </a:rPr>
                      <m:t>.</m:t>
                    </m:r>
                  </m:oMath>
                </a14:m>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跨注意力融合：</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将两路特征展平并重排列成 </a:t>
                </a:r>
                <a14:m>
                  <m:oMath xmlns:m="http://schemas.openxmlformats.org/officeDocument/2006/math">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𝑠</m:t>
                        </m:r>
                      </m:sup>
                    </m:sSubSup>
                  </m:oMath>
                </a14:m>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与 </a:t>
                </a:r>
                <a14:m>
                  <m:oMath xmlns:m="http://schemas.openxmlformats.org/officeDocument/2006/math">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𝑡</m:t>
                        </m:r>
                      </m:sup>
                    </m:sSubSup>
                  </m:oMath>
                </a14:m>
                <a:r>
                  <a:rPr lang="zh-CN" altLang="ar-AE" sz="16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计算双向 </a:t>
                </a:r>
                <a:r>
                  <a:rPr lang="sq-AL" altLang="zh-CN" sz="1600" b="0" dirty="0">
                    <a:latin typeface="Times New Roman" panose="02020603050405020304" pitchFamily="18" charset="0"/>
                    <a:ea typeface="微软雅黑" panose="020B0503020204020204" pitchFamily="34" charset="-122"/>
                    <a:cs typeface="Times New Roman" panose="02020603050405020304" pitchFamily="18" charset="0"/>
                  </a:rPr>
                  <a:t>cross-attention</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zh-CN" altLang="en-US" sz="1600" b="0" i="1" dirty="0">
                        <a:latin typeface="Cambria Math" panose="02040503050406030204" pitchFamily="18" charset="0"/>
                      </a:rPr>
                      <m:t>𝑆</m:t>
                    </m:r>
                    <m:r>
                      <a:rPr lang="en-US" altLang="zh-CN" sz="1600" b="0" dirty="0">
                        <a:latin typeface="Cambria Math" panose="02040503050406030204" pitchFamily="18" charset="0"/>
                      </a:rPr>
                      <m:t>2</m:t>
                    </m:r>
                    <m:r>
                      <a:rPr lang="zh-CN" altLang="en-US" sz="1600" b="0" i="1" dirty="0">
                        <a:latin typeface="Cambria Math" panose="02040503050406030204" pitchFamily="18" charset="0"/>
                      </a:rPr>
                      <m:t>𝑇</m:t>
                    </m:r>
                    <m:r>
                      <a:rPr lang="en-US" altLang="zh-CN" sz="1600" b="0" dirty="0">
                        <a:latin typeface="Cambria Math" panose="02040503050406030204" pitchFamily="18" charset="0"/>
                      </a:rPr>
                      <m:t>=</m:t>
                    </m:r>
                    <m:r>
                      <m:rPr>
                        <m:nor/>
                      </m:rPr>
                      <a:rPr lang="sq-AL" altLang="zh-CN" sz="1600" b="0" i="1" dirty="0">
                        <a:latin typeface="Times New Roman" panose="02020603050405020304" pitchFamily="18" charset="0"/>
                        <a:ea typeface="微软雅黑" panose="020B0503020204020204" pitchFamily="34" charset="-122"/>
                        <a:cs typeface="Times New Roman" panose="02020603050405020304" pitchFamily="18" charset="0"/>
                      </a:rPr>
                      <m:t>MHA</m:t>
                    </m:r>
                    <m:d>
                      <m:dPr>
                        <m:sepChr m:val=","/>
                        <m:ctrlPr>
                          <a:rPr lang="ar-AE" altLang="zh-CN" sz="1600" b="0" i="1" dirty="0">
                            <a:latin typeface="Cambria Math" panose="02040503050406030204" pitchFamily="18" charset="0"/>
                          </a:rPr>
                        </m:ctrlPr>
                      </m:dPr>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𝑡</m:t>
                            </m:r>
                          </m:sup>
                        </m:sSubSup>
                      </m:e>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𝑠</m:t>
                            </m:r>
                          </m:sup>
                        </m:sSubSup>
                      </m:e>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𝑠</m:t>
                            </m:r>
                          </m:sup>
                        </m:sSubSup>
                      </m:e>
                    </m:d>
                    <m:r>
                      <a:rPr lang="ar-AE" altLang="zh-CN" sz="1600" b="0" dirty="0">
                        <a:latin typeface="Cambria Math" panose="02040503050406030204" pitchFamily="18" charset="0"/>
                      </a:rPr>
                      <m:t>, </m:t>
                    </m:r>
                    <m:r>
                      <a:rPr lang="zh-CN" altLang="ar-AE" sz="1600" b="0" i="1" dirty="0">
                        <a:latin typeface="Cambria Math" panose="02040503050406030204" pitchFamily="18" charset="0"/>
                      </a:rPr>
                      <m:t>𝑇</m:t>
                    </m:r>
                    <m:r>
                      <a:rPr lang="ar-AE" altLang="zh-CN" sz="1600" b="0" dirty="0">
                        <a:latin typeface="Cambria Math" panose="02040503050406030204" pitchFamily="18" charset="0"/>
                      </a:rPr>
                      <m:t>2</m:t>
                    </m:r>
                    <m:r>
                      <a:rPr lang="zh-CN" altLang="ar-AE" sz="1600" b="0" i="1" dirty="0">
                        <a:latin typeface="Cambria Math" panose="02040503050406030204" pitchFamily="18" charset="0"/>
                      </a:rPr>
                      <m:t>𝑆</m:t>
                    </m:r>
                    <m:r>
                      <a:rPr lang="ar-AE" altLang="zh-CN" sz="1600" b="0" dirty="0">
                        <a:latin typeface="Cambria Math" panose="02040503050406030204" pitchFamily="18" charset="0"/>
                      </a:rPr>
                      <m:t>=</m:t>
                    </m:r>
                    <m:r>
                      <m:rPr>
                        <m:nor/>
                      </m:rPr>
                      <a:rPr lang="sq-AL" altLang="zh-CN" sz="1600" b="0" i="1" dirty="0">
                        <a:latin typeface="Times New Roman" panose="02020603050405020304" pitchFamily="18" charset="0"/>
                        <a:ea typeface="微软雅黑" panose="020B0503020204020204" pitchFamily="34" charset="-122"/>
                        <a:cs typeface="Times New Roman" panose="02020603050405020304" pitchFamily="18" charset="0"/>
                      </a:rPr>
                      <m:t>MHA</m:t>
                    </m:r>
                    <m:d>
                      <m:dPr>
                        <m:sepChr m:val=","/>
                        <m:ctrlPr>
                          <a:rPr lang="ar-AE" altLang="zh-CN" sz="1600" b="0" i="1" dirty="0">
                            <a:latin typeface="Cambria Math" panose="02040503050406030204" pitchFamily="18" charset="0"/>
                          </a:rPr>
                        </m:ctrlPr>
                      </m:dPr>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𝑠</m:t>
                            </m:r>
                          </m:sup>
                        </m:sSubSup>
                      </m:e>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𝑡</m:t>
                            </m:r>
                          </m:sup>
                        </m:sSubSup>
                      </m:e>
                      <m:e>
                        <m:sSubSup>
                          <m:sSubSupPr>
                            <m:ctrlPr>
                              <a:rPr lang="ar-AE" altLang="zh-CN" sz="1600" b="0" i="1" dirty="0">
                                <a:latin typeface="Cambria Math" panose="02040503050406030204" pitchFamily="18" charset="0"/>
                              </a:rPr>
                            </m:ctrlPr>
                          </m:sSubSupPr>
                          <m:e>
                            <m:r>
                              <a:rPr lang="zh-CN" altLang="ar-AE" sz="1600" b="0" i="1" dirty="0">
                                <a:latin typeface="Cambria Math" panose="02040503050406030204" pitchFamily="18" charset="0"/>
                              </a:rPr>
                              <m:t>𝑝</m:t>
                            </m:r>
                          </m:e>
                          <m:sub>
                            <m:r>
                              <a:rPr lang="zh-CN" altLang="ar-AE" sz="1600" b="0" i="1" dirty="0">
                                <a:latin typeface="Cambria Math" panose="02040503050406030204" pitchFamily="18" charset="0"/>
                              </a:rPr>
                              <m:t>𝑘</m:t>
                            </m:r>
                          </m:sub>
                          <m:sup>
                            <m:r>
                              <a:rPr lang="zh-CN" altLang="ar-AE" sz="1600" b="0" i="1" dirty="0">
                                <a:latin typeface="Cambria Math" panose="02040503050406030204" pitchFamily="18" charset="0"/>
                              </a:rPr>
                              <m:t>𝑡</m:t>
                            </m:r>
                          </m:sup>
                        </m:sSubSup>
                      </m:e>
                    </m:d>
                    <m:r>
                      <a:rPr lang="ar-AE" altLang="zh-CN" sz="1600" b="0" dirty="0">
                        <a:latin typeface="Cambria Math" panose="02040503050406030204" pitchFamily="18" charset="0"/>
                      </a:rPr>
                      <m:t>.</m:t>
                    </m:r>
                  </m:oMath>
                </a14:m>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endParaRPr>
              </a:p>
              <a:p>
                <a:pPr defTabSz="457200">
                  <a:lnSpc>
                    <a:spcPct val="150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重整形与上投影：</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将注意力输出恢复为原始特征图的形状，并通过上投影矩阵 𝑊𝑢𝑝</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还原通道维度，输出时空融合特征</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7" name="文本占位符 3">
                <a:extLst>
                  <a:ext uri="{FF2B5EF4-FFF2-40B4-BE49-F238E27FC236}">
                    <a16:creationId xmlns:a16="http://schemas.microsoft.com/office/drawing/2014/main" id="{B718374A-7962-40A6-4480-6119F2FE7A7E}"/>
                  </a:ext>
                </a:extLst>
              </p:cNvPr>
              <p:cNvSpPr>
                <a:spLocks noGrp="1" noRot="1" noChangeAspect="1" noMove="1" noResize="1" noEditPoints="1" noAdjustHandles="1" noChangeArrowheads="1" noChangeShapeType="1" noTextEdit="1"/>
              </p:cNvSpPr>
              <p:nvPr>
                <p:ph type="body" sz="quarter" idx="10"/>
              </p:nvPr>
            </p:nvSpPr>
            <p:spPr>
              <a:xfrm>
                <a:off x="442913" y="3633326"/>
                <a:ext cx="11615460" cy="2692604"/>
              </a:xfrm>
              <a:blipFill>
                <a:blip r:embed="rId3"/>
                <a:stretch>
                  <a:fillRect l="-31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06F54F8A-C67A-30EB-2782-DF2DCF9B2EC1}"/>
              </a:ext>
            </a:extLst>
          </p:cNvPr>
          <p:cNvPicPr>
            <a:picLocks noChangeAspect="1"/>
          </p:cNvPicPr>
          <p:nvPr/>
        </p:nvPicPr>
        <p:blipFill>
          <a:blip r:embed="rId4"/>
          <a:srcRect t="3266" b="1214"/>
          <a:stretch>
            <a:fillRect/>
          </a:stretch>
        </p:blipFill>
        <p:spPr>
          <a:xfrm>
            <a:off x="1451038" y="929510"/>
            <a:ext cx="9289924" cy="2727222"/>
          </a:xfrm>
          <a:prstGeom prst="rect">
            <a:avLst/>
          </a:prstGeom>
        </p:spPr>
      </p:pic>
    </p:spTree>
    <p:extLst>
      <p:ext uri="{BB962C8B-B14F-4D97-AF65-F5344CB8AC3E}">
        <p14:creationId xmlns:p14="http://schemas.microsoft.com/office/powerpoint/2010/main" val="98530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4798-D2A9-E818-C78F-25FB2487764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281EDA2-7886-EEEB-B841-2D2181C35277}"/>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40544655-1E80-C276-10BE-8BD8F79C382C}"/>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对比实验</a:t>
            </a:r>
          </a:p>
        </p:txBody>
      </p:sp>
      <p:pic>
        <p:nvPicPr>
          <p:cNvPr id="6" name="图片 5">
            <a:extLst>
              <a:ext uri="{FF2B5EF4-FFF2-40B4-BE49-F238E27FC236}">
                <a16:creationId xmlns:a16="http://schemas.microsoft.com/office/drawing/2014/main" id="{2646A66E-2969-925B-2D1F-45037E2203A9}"/>
              </a:ext>
            </a:extLst>
          </p:cNvPr>
          <p:cNvPicPr>
            <a:picLocks noChangeAspect="1"/>
          </p:cNvPicPr>
          <p:nvPr/>
        </p:nvPicPr>
        <p:blipFill>
          <a:blip r:embed="rId3"/>
          <a:stretch>
            <a:fillRect/>
          </a:stretch>
        </p:blipFill>
        <p:spPr>
          <a:xfrm>
            <a:off x="52039" y="973432"/>
            <a:ext cx="7183955" cy="3424609"/>
          </a:xfrm>
          <a:prstGeom prst="rect">
            <a:avLst/>
          </a:prstGeom>
        </p:spPr>
      </p:pic>
      <p:pic>
        <p:nvPicPr>
          <p:cNvPr id="11" name="图片 10">
            <a:extLst>
              <a:ext uri="{FF2B5EF4-FFF2-40B4-BE49-F238E27FC236}">
                <a16:creationId xmlns:a16="http://schemas.microsoft.com/office/drawing/2014/main" id="{C97DC921-6E5D-AE34-04E4-3CBB2577DACF}"/>
              </a:ext>
            </a:extLst>
          </p:cNvPr>
          <p:cNvPicPr>
            <a:picLocks noChangeAspect="1"/>
          </p:cNvPicPr>
          <p:nvPr/>
        </p:nvPicPr>
        <p:blipFill>
          <a:blip r:embed="rId4"/>
          <a:stretch>
            <a:fillRect/>
          </a:stretch>
        </p:blipFill>
        <p:spPr>
          <a:xfrm>
            <a:off x="7339628" y="973432"/>
            <a:ext cx="4852372" cy="958288"/>
          </a:xfrm>
          <a:prstGeom prst="rect">
            <a:avLst/>
          </a:prstGeom>
        </p:spPr>
      </p:pic>
      <p:pic>
        <p:nvPicPr>
          <p:cNvPr id="13" name="图片 12">
            <a:extLst>
              <a:ext uri="{FF2B5EF4-FFF2-40B4-BE49-F238E27FC236}">
                <a16:creationId xmlns:a16="http://schemas.microsoft.com/office/drawing/2014/main" id="{5B5C8258-53E5-4035-C80F-FC98C3D574D4}"/>
              </a:ext>
            </a:extLst>
          </p:cNvPr>
          <p:cNvPicPr>
            <a:picLocks noChangeAspect="1"/>
          </p:cNvPicPr>
          <p:nvPr/>
        </p:nvPicPr>
        <p:blipFill>
          <a:blip r:embed="rId5"/>
          <a:stretch>
            <a:fillRect/>
          </a:stretch>
        </p:blipFill>
        <p:spPr>
          <a:xfrm>
            <a:off x="8035571" y="1931720"/>
            <a:ext cx="3691474" cy="2466321"/>
          </a:xfrm>
          <a:prstGeom prst="rect">
            <a:avLst/>
          </a:prstGeom>
        </p:spPr>
      </p:pic>
      <p:sp>
        <p:nvSpPr>
          <p:cNvPr id="15" name="文本框 14">
            <a:extLst>
              <a:ext uri="{FF2B5EF4-FFF2-40B4-BE49-F238E27FC236}">
                <a16:creationId xmlns:a16="http://schemas.microsoft.com/office/drawing/2014/main" id="{5C4A65C9-8F02-894E-2342-5D427691511D}"/>
              </a:ext>
            </a:extLst>
          </p:cNvPr>
          <p:cNvSpPr txBox="1"/>
          <p:nvPr/>
        </p:nvSpPr>
        <p:spPr>
          <a:xfrm>
            <a:off x="1233247" y="4644852"/>
            <a:ext cx="9725506" cy="1422954"/>
          </a:xfrm>
          <a:prstGeom prst="rect">
            <a:avLst/>
          </a:prstGeom>
          <a:noFill/>
        </p:spPr>
        <p:txBody>
          <a:bodyPr wrap="square">
            <a:spAutoFit/>
          </a:bodyPr>
          <a:lstStyle/>
          <a:p>
            <a:pPr algn="just">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本方法在跨数据集测试中取得高于现有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SOTA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的结果，在跨篡改方法测试中，对未见过的伪造方式依然保持领先；在与现有视频级检测器的比较中，本方法在轻量结构下全面超越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SOTA</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973088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D7CB2-6306-B3FB-A9A0-369789C94D8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7F82CBC-FACA-1B1E-2EBA-748D94FC7540}"/>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FC7812A-A6F7-E112-BE7E-85A105E4D78D}"/>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消融实验</a:t>
            </a:r>
          </a:p>
        </p:txBody>
      </p:sp>
      <p:sp>
        <p:nvSpPr>
          <p:cNvPr id="17" name="文本占位符 3">
            <a:extLst>
              <a:ext uri="{FF2B5EF4-FFF2-40B4-BE49-F238E27FC236}">
                <a16:creationId xmlns:a16="http://schemas.microsoft.com/office/drawing/2014/main" id="{57AE7F1B-6A73-6BA5-CAF3-F4A4ACA9CC54}"/>
              </a:ext>
            </a:extLst>
          </p:cNvPr>
          <p:cNvSpPr>
            <a:spLocks noGrp="1"/>
          </p:cNvSpPr>
          <p:nvPr>
            <p:ph type="body" sz="quarter" idx="10"/>
          </p:nvPr>
        </p:nvSpPr>
        <p:spPr>
          <a:xfrm>
            <a:off x="1227928" y="4968031"/>
            <a:ext cx="9736144" cy="1825317"/>
          </a:xfrm>
        </p:spPr>
        <p:txBody>
          <a:bodyPr>
            <a:normAutofit/>
          </a:bodyPr>
          <a:lstStyle/>
          <a:p>
            <a:pPr marL="0" indent="0" algn="just" defTabSz="457200">
              <a:lnSpc>
                <a:spcPct val="150000"/>
              </a:lnSpc>
              <a:buNone/>
            </a:pPr>
            <a:r>
              <a:rPr lang="zh-CN" altLang="en-US" b="0" dirty="0">
                <a:latin typeface="微软雅黑" panose="020B0503020204020204" pitchFamily="34" charset="-122"/>
                <a:ea typeface="微软雅黑" panose="020B0503020204020204" pitchFamily="34" charset="-122"/>
              </a:rPr>
              <a:t>本文方法在加入各类图像 </a:t>
            </a:r>
            <a:r>
              <a:rPr lang="en-US" altLang="zh-CN" b="0" dirty="0">
                <a:latin typeface="微软雅黑" panose="020B0503020204020204" pitchFamily="34" charset="-122"/>
                <a:ea typeface="微软雅黑" panose="020B0503020204020204" pitchFamily="34" charset="-122"/>
              </a:rPr>
              <a:t>backbone </a:t>
            </a:r>
            <a:r>
              <a:rPr lang="zh-CN" altLang="en-US" b="0" dirty="0">
                <a:latin typeface="微软雅黑" panose="020B0503020204020204" pitchFamily="34" charset="-122"/>
                <a:ea typeface="微软雅黑" panose="020B0503020204020204" pitchFamily="34" charset="-122"/>
              </a:rPr>
              <a:t>后均带来显著增益，并整体超越多种视频 </a:t>
            </a:r>
            <a:r>
              <a:rPr lang="en-US" altLang="zh-CN" b="0" dirty="0">
                <a:latin typeface="微软雅黑" panose="020B0503020204020204" pitchFamily="34" charset="-122"/>
                <a:ea typeface="微软雅黑" panose="020B0503020204020204" pitchFamily="34" charset="-122"/>
              </a:rPr>
              <a:t>SOTA</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StA</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与 </a:t>
            </a:r>
            <a:r>
              <a:rPr lang="en-US" altLang="zh-CN" b="0" dirty="0">
                <a:latin typeface="微软雅黑" panose="020B0503020204020204" pitchFamily="34" charset="-122"/>
                <a:ea typeface="微软雅黑" panose="020B0503020204020204" pitchFamily="34" charset="-122"/>
              </a:rPr>
              <a:t>VB </a:t>
            </a:r>
            <a:r>
              <a:rPr lang="zh-CN" altLang="en-US" b="0" dirty="0">
                <a:latin typeface="微软雅黑" panose="020B0503020204020204" pitchFamily="34" charset="-122"/>
                <a:ea typeface="微软雅黑" panose="020B0503020204020204" pitchFamily="34" charset="-122"/>
              </a:rPr>
              <a:t>均能提升性能，二者结合效果最佳；在未见伪造方法上测试同样性能突出</a:t>
            </a:r>
            <a:endParaRPr lang="en-US" altLang="zh-CN" b="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9BD88CA1-F130-31FD-14FE-D6B1707DAB65}"/>
              </a:ext>
            </a:extLst>
          </p:cNvPr>
          <p:cNvPicPr>
            <a:picLocks noChangeAspect="1"/>
          </p:cNvPicPr>
          <p:nvPr/>
        </p:nvPicPr>
        <p:blipFill>
          <a:blip r:embed="rId2"/>
          <a:srcRect t="19307" b="40934"/>
          <a:stretch>
            <a:fillRect/>
          </a:stretch>
        </p:blipFill>
        <p:spPr>
          <a:xfrm>
            <a:off x="1360978" y="3980985"/>
            <a:ext cx="4570445" cy="1353432"/>
          </a:xfrm>
          <a:prstGeom prst="rect">
            <a:avLst/>
          </a:prstGeom>
        </p:spPr>
      </p:pic>
      <p:pic>
        <p:nvPicPr>
          <p:cNvPr id="11" name="图片 10">
            <a:extLst>
              <a:ext uri="{FF2B5EF4-FFF2-40B4-BE49-F238E27FC236}">
                <a16:creationId xmlns:a16="http://schemas.microsoft.com/office/drawing/2014/main" id="{9568D7BB-790C-DC86-C305-C8797BF84309}"/>
              </a:ext>
            </a:extLst>
          </p:cNvPr>
          <p:cNvPicPr>
            <a:picLocks noChangeAspect="1"/>
          </p:cNvPicPr>
          <p:nvPr/>
        </p:nvPicPr>
        <p:blipFill>
          <a:blip r:embed="rId3"/>
          <a:srcRect t="4262" b="3627"/>
          <a:stretch>
            <a:fillRect/>
          </a:stretch>
        </p:blipFill>
        <p:spPr>
          <a:xfrm>
            <a:off x="1066643" y="901558"/>
            <a:ext cx="5176526" cy="3079427"/>
          </a:xfrm>
          <a:prstGeom prst="rect">
            <a:avLst/>
          </a:prstGeom>
        </p:spPr>
      </p:pic>
      <p:pic>
        <p:nvPicPr>
          <p:cNvPr id="5" name="图片 4">
            <a:extLst>
              <a:ext uri="{FF2B5EF4-FFF2-40B4-BE49-F238E27FC236}">
                <a16:creationId xmlns:a16="http://schemas.microsoft.com/office/drawing/2014/main" id="{7C06DC5C-79DE-43B2-81A3-EA9DB85F0C93}"/>
              </a:ext>
            </a:extLst>
          </p:cNvPr>
          <p:cNvPicPr>
            <a:picLocks noChangeAspect="1"/>
          </p:cNvPicPr>
          <p:nvPr/>
        </p:nvPicPr>
        <p:blipFill>
          <a:blip r:embed="rId4"/>
          <a:stretch>
            <a:fillRect/>
          </a:stretch>
        </p:blipFill>
        <p:spPr>
          <a:xfrm>
            <a:off x="7181264" y="909895"/>
            <a:ext cx="3401243" cy="4424522"/>
          </a:xfrm>
          <a:prstGeom prst="rect">
            <a:avLst/>
          </a:prstGeom>
        </p:spPr>
      </p:pic>
    </p:spTree>
    <p:extLst>
      <p:ext uri="{BB962C8B-B14F-4D97-AF65-F5344CB8AC3E}">
        <p14:creationId xmlns:p14="http://schemas.microsoft.com/office/powerpoint/2010/main" val="383214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83584" y="-241003"/>
            <a:ext cx="7357162" cy="7340006"/>
            <a:chOff x="2105799" y="20055838"/>
            <a:chExt cx="6748090" cy="6732363"/>
          </a:xfrm>
          <a:solidFill>
            <a:schemeClr val="accent1">
              <a:alpha val="10000"/>
            </a:schemeClr>
          </a:solidFill>
        </p:grpSpPr>
        <p:sp>
          <p:nvSpPr>
            <p:cNvPr id="3"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0" name="文本框 29"/>
          <p:cNvSpPr txBox="1"/>
          <p:nvPr/>
        </p:nvSpPr>
        <p:spPr>
          <a:xfrm>
            <a:off x="5300903" y="1754028"/>
            <a:ext cx="24490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PART 02</a:t>
            </a:r>
            <a:endParaRPr kumimoji="0" lang="zh-CN" altLang="en-US"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矩形 31"/>
          <p:cNvSpPr/>
          <p:nvPr/>
        </p:nvSpPr>
        <p:spPr>
          <a:xfrm>
            <a:off x="5389085" y="2593396"/>
            <a:ext cx="665278" cy="45720"/>
          </a:xfrm>
          <a:prstGeom prst="rect">
            <a:avLst/>
          </a:prstGeom>
          <a:solidFill>
            <a:schemeClr val="accent1"/>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矩形 32"/>
          <p:cNvSpPr/>
          <p:nvPr/>
        </p:nvSpPr>
        <p:spPr>
          <a:xfrm>
            <a:off x="5405100" y="2870491"/>
            <a:ext cx="6561685" cy="2246769"/>
          </a:xfrm>
          <a:prstGeom prst="rect">
            <a:avLst/>
          </a:prstGeom>
        </p:spPr>
        <p:txBody>
          <a:bodyPr wrap="square">
            <a:spAutoFit/>
          </a:bodyPr>
          <a:lstStyle/>
          <a:p>
            <a:pPr>
              <a:defRPr/>
            </a:pPr>
            <a:r>
              <a:rPr lang="en-US" altLang="zh-CN" sz="2800" b="1" dirty="0">
                <a:latin typeface="Arial" panose="020B0604020202020204" pitchFamily="34" charset="0"/>
                <a:ea typeface="微软雅黑" panose="020B0503020204020204" pitchFamily="34" charset="-122"/>
                <a:cs typeface="+mn-ea"/>
              </a:rPr>
              <a:t>EDVD-</a:t>
            </a:r>
            <a:r>
              <a:rPr lang="en-US" altLang="zh-CN" sz="2800" b="1" dirty="0" err="1">
                <a:latin typeface="Arial" panose="020B0604020202020204" pitchFamily="34" charset="0"/>
                <a:ea typeface="微软雅黑" panose="020B0503020204020204" pitchFamily="34" charset="-122"/>
                <a:cs typeface="+mn-ea"/>
              </a:rPr>
              <a:t>LLaMA</a:t>
            </a:r>
            <a:r>
              <a:rPr lang="en-US" altLang="zh-CN" sz="2800" b="1" dirty="0">
                <a:latin typeface="Arial" panose="020B0604020202020204" pitchFamily="34" charset="0"/>
                <a:ea typeface="微软雅黑" panose="020B0503020204020204" pitchFamily="34" charset="-122"/>
                <a:cs typeface="+mn-ea"/>
              </a:rPr>
              <a:t>: Explainable Deepfake Video Detection via Multimodal Large Language Model Reasoning</a:t>
            </a:r>
          </a:p>
          <a:p>
            <a:pPr>
              <a:defRPr/>
            </a:pPr>
            <a:r>
              <a:rPr lang="zh-CN" altLang="en-US" sz="2800" dirty="0">
                <a:latin typeface="Arial" panose="020B0604020202020204" pitchFamily="34" charset="0"/>
                <a:ea typeface="微软雅黑" panose="020B0503020204020204" pitchFamily="34" charset="-122"/>
                <a:cs typeface="+mn-ea"/>
              </a:rPr>
              <a:t>基于多模态大型语言模型推理的可解释深度伪造视频检测</a:t>
            </a:r>
          </a:p>
        </p:txBody>
      </p:sp>
      <p:sp>
        <p:nvSpPr>
          <p:cNvPr id="28" name="文本框 27">
            <a:extLst>
              <a:ext uri="{FF2B5EF4-FFF2-40B4-BE49-F238E27FC236}">
                <a16:creationId xmlns:a16="http://schemas.microsoft.com/office/drawing/2014/main" id="{EDBC060E-2BFC-0791-59E1-8E0772789AEF}"/>
              </a:ext>
            </a:extLst>
          </p:cNvPr>
          <p:cNvSpPr txBox="1"/>
          <p:nvPr/>
        </p:nvSpPr>
        <p:spPr>
          <a:xfrm>
            <a:off x="9491515" y="5492424"/>
            <a:ext cx="4309672" cy="369332"/>
          </a:xfrm>
          <a:prstGeom prst="rect">
            <a:avLst/>
          </a:prstGeom>
          <a:noFill/>
        </p:spPr>
        <p:txBody>
          <a:bodyPr wrap="square">
            <a:spAutoFit/>
          </a:bodyPr>
          <a:lstStyle/>
          <a:p>
            <a:r>
              <a:rPr lang="en-US" altLang="zh-CN" dirty="0">
                <a:solidFill>
                  <a:srgbClr val="333333"/>
                </a:solidFill>
                <a:latin typeface="Helvetica Neue"/>
              </a:rPr>
              <a:t>arXiv:2510.16442</a:t>
            </a:r>
            <a:endParaRPr lang="zh-CN" altLang="en-US" dirty="0">
              <a:solidFill>
                <a:srgbClr val="333333"/>
              </a:solidFill>
              <a:latin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2A13-3A9A-648B-77E1-8F8AA12818C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8D02FFE-703E-8E85-5199-39CC2BA562C0}"/>
              </a:ext>
            </a:extLst>
          </p:cNvPr>
          <p:cNvSpPr>
            <a:spLocks noGrp="1"/>
          </p:cNvSpPr>
          <p:nvPr>
            <p:ph type="sldNum" sz="quarter" idx="4"/>
          </p:nvPr>
        </p:nvSpPr>
        <p:spPr/>
        <p:txBody>
          <a:bodyPr/>
          <a:lstStyle/>
          <a:p>
            <a:r>
              <a:rPr lang="en-US" altLang="zh-CN"/>
              <a:t>&lt; </a:t>
            </a:r>
            <a:fld id="{A548B57D-AE10-4CF7-A9DF-59FEFA91B28E}" type="slidenum">
              <a:rPr lang="zh-CN" altLang="en-US" smtClean="0"/>
              <a:t>10</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AD1E051-F25E-68BE-0ABC-57CDC9544742}"/>
              </a:ext>
            </a:extLst>
          </p:cNvPr>
          <p:cNvSpPr>
            <a:spLocks noGrp="1"/>
          </p:cNvSpPr>
          <p:nvPr>
            <p:ph type="title"/>
          </p:nvPr>
        </p:nvSpPr>
        <p:spPr/>
        <p:txBody>
          <a:bodyPr>
            <a:noAutofit/>
          </a:bodyPr>
          <a:lstStyle/>
          <a:p>
            <a:r>
              <a:rPr lang="zh-CN" altLang="en-US" spc="0" dirty="0"/>
              <a:t>研究背景</a:t>
            </a:r>
          </a:p>
        </p:txBody>
      </p:sp>
      <p:sp>
        <p:nvSpPr>
          <p:cNvPr id="4" name="文本占位符 3">
            <a:extLst>
              <a:ext uri="{FF2B5EF4-FFF2-40B4-BE49-F238E27FC236}">
                <a16:creationId xmlns:a16="http://schemas.microsoft.com/office/drawing/2014/main" id="{1A0D96F3-E9B6-1976-4673-AD06DB00101E}"/>
              </a:ext>
            </a:extLst>
          </p:cNvPr>
          <p:cNvSpPr>
            <a:spLocks noGrp="1"/>
          </p:cNvSpPr>
          <p:nvPr>
            <p:ph type="body" sz="quarter" idx="10"/>
          </p:nvPr>
        </p:nvSpPr>
        <p:spPr>
          <a:xfrm>
            <a:off x="646082" y="980236"/>
            <a:ext cx="10899835" cy="4886553"/>
          </a:xfrm>
        </p:spPr>
        <p:txBody>
          <a:bodyPr>
            <a:normAutofit/>
          </a:bodyPr>
          <a:lstStyle/>
          <a:p>
            <a:pPr marL="0" indent="0">
              <a:lnSpc>
                <a:spcPct val="150000"/>
              </a:lnSpc>
              <a:buNone/>
            </a:pPr>
            <a:r>
              <a:rPr lang="zh-CN" altLang="en-US" b="0" dirty="0">
                <a:latin typeface="微软雅黑" panose="020B0503020204020204" pitchFamily="34" charset="-122"/>
                <a:ea typeface="微软雅黑" panose="020B0503020204020204" pitchFamily="34" charset="-122"/>
              </a:rPr>
              <a:t>当前 </a:t>
            </a:r>
            <a:r>
              <a:rPr lang="en-US" altLang="zh-CN" b="0" dirty="0">
                <a:latin typeface="微软雅黑" panose="020B0503020204020204" pitchFamily="34" charset="-122"/>
                <a:ea typeface="微软雅黑" panose="020B0503020204020204" pitchFamily="34" charset="-122"/>
              </a:rPr>
              <a:t>AIGC </a:t>
            </a:r>
            <a:r>
              <a:rPr lang="zh-CN" altLang="en-US" b="0" dirty="0">
                <a:latin typeface="微软雅黑" panose="020B0503020204020204" pitchFamily="34" charset="-122"/>
                <a:ea typeface="微软雅黑" panose="020B0503020204020204" pitchFamily="34" charset="-122"/>
              </a:rPr>
              <a:t>的快速发展使深度伪造视频（如换脸、表情篡改、动作重演）极易生成，并在诈骗、身份冒用与舆论操控中带来严重威胁，因此对视频真伪进行准确、可靠且可解释的检测变得至关重要，而现有方法仍面临以下三大核心问题：</a:t>
            </a:r>
            <a:endParaRPr lang="en-US" altLang="zh-CN" b="0"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缺乏可解释性：</a:t>
            </a:r>
            <a:r>
              <a:rPr lang="zh-CN" altLang="en-US" b="0" dirty="0">
                <a:latin typeface="微软雅黑" panose="020B0503020204020204" pitchFamily="34" charset="-122"/>
                <a:ea typeface="微软雅黑" panose="020B0503020204020204" pitchFamily="34" charset="-122"/>
              </a:rPr>
              <a:t>多数检测模型为黑箱，只给出真假分类，没有推理依据，难以满足真实应用中的可信需求。</a:t>
            </a:r>
          </a:p>
          <a:p>
            <a:pPr>
              <a:lnSpc>
                <a:spcPct val="150000"/>
              </a:lnSpc>
            </a:pPr>
            <a:r>
              <a:rPr lang="zh-CN" altLang="en-US" dirty="0">
                <a:latin typeface="微软雅黑" panose="020B0503020204020204" pitchFamily="34" charset="-122"/>
                <a:ea typeface="微软雅黑" panose="020B0503020204020204" pitchFamily="34" charset="-122"/>
              </a:rPr>
              <a:t>时序信息利用不足：</a:t>
            </a:r>
            <a:r>
              <a:rPr lang="zh-CN" altLang="en-US" b="0" dirty="0">
                <a:latin typeface="微软雅黑" panose="020B0503020204020204" pitchFamily="34" charset="-122"/>
                <a:ea typeface="微软雅黑" panose="020B0503020204020204" pitchFamily="34" charset="-122"/>
              </a:rPr>
              <a:t>已有基于多模态大模型的工作多集中在静态图像，未充分建模跨帧的一致性、微表情和边界伪影等关键时序线索。</a:t>
            </a:r>
          </a:p>
          <a:p>
            <a:pPr>
              <a:lnSpc>
                <a:spcPct val="150000"/>
              </a:lnSpc>
            </a:pPr>
            <a:r>
              <a:rPr lang="zh-CN" altLang="en-US" dirty="0">
                <a:latin typeface="微软雅黑" panose="020B0503020204020204" pitchFamily="34" charset="-122"/>
                <a:ea typeface="微软雅黑" panose="020B0503020204020204" pitchFamily="34" charset="-122"/>
              </a:rPr>
              <a:t>大模型解释存在“幻觉”：</a:t>
            </a:r>
            <a:r>
              <a:rPr lang="zh-CN" altLang="en-US" b="0" dirty="0">
                <a:latin typeface="微软雅黑" panose="020B0503020204020204" pitchFamily="34" charset="-122"/>
                <a:ea typeface="微软雅黑" panose="020B0503020204020204" pitchFamily="34" charset="-122"/>
              </a:rPr>
              <a:t>直接让多模态大模型生成解释，容易编造并不存在的伪造细节，缺乏结构化约束，导致解释不可靠。</a:t>
            </a:r>
            <a:endParaRPr lang="en-US" altLang="zh-CN"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7085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EF19F-79B9-2E44-4124-6F4C2A91B76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0C33B53-FA09-077B-169A-22C1EA780F33}"/>
              </a:ext>
            </a:extLst>
          </p:cNvPr>
          <p:cNvSpPr>
            <a:spLocks noGrp="1"/>
          </p:cNvSpPr>
          <p:nvPr>
            <p:ph type="sldNum" sz="quarter" idx="4"/>
          </p:nvPr>
        </p:nvSpPr>
        <p:spPr/>
        <p:txBody>
          <a:bodyPr/>
          <a:lstStyle/>
          <a:p>
            <a:r>
              <a:rPr lang="en-US" altLang="zh-CN" dirty="0"/>
              <a:t>&lt; </a:t>
            </a:r>
            <a:fld id="{A548B57D-AE10-4CF7-A9DF-59FEFA91B28E}" type="slidenum">
              <a:rPr lang="zh-CN" altLang="en-US" smtClean="0"/>
              <a:t>11</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811C8866-E7D0-E91D-8E4F-EF0C4602CAAE}"/>
              </a:ext>
            </a:extLst>
          </p:cNvPr>
          <p:cNvSpPr>
            <a:spLocks noGrp="1"/>
          </p:cNvSpPr>
          <p:nvPr>
            <p:ph type="title"/>
          </p:nvPr>
        </p:nvSpPr>
        <p:spPr/>
        <p:txBody>
          <a:bodyPr>
            <a:noAutofit/>
          </a:bodyPr>
          <a:lstStyle/>
          <a:p>
            <a:r>
              <a:rPr lang="zh-CN" altLang="en-US" spc="0" dirty="0"/>
              <a:t>关键贡献 </a:t>
            </a:r>
            <a:r>
              <a:rPr lang="en-US" altLang="zh-CN" spc="0" dirty="0"/>
              <a:t>—— ER-FF++ </a:t>
            </a:r>
            <a:r>
              <a:rPr lang="zh-CN" altLang="en-US" spc="0" dirty="0"/>
              <a:t>数据集</a:t>
            </a:r>
          </a:p>
        </p:txBody>
      </p:sp>
      <p:pic>
        <p:nvPicPr>
          <p:cNvPr id="7" name="图片 6">
            <a:extLst>
              <a:ext uri="{FF2B5EF4-FFF2-40B4-BE49-F238E27FC236}">
                <a16:creationId xmlns:a16="http://schemas.microsoft.com/office/drawing/2014/main" id="{86121AA0-A66A-1FF9-0449-48A1FFB6EDD5}"/>
              </a:ext>
            </a:extLst>
          </p:cNvPr>
          <p:cNvPicPr>
            <a:picLocks noChangeAspect="1"/>
          </p:cNvPicPr>
          <p:nvPr/>
        </p:nvPicPr>
        <p:blipFill>
          <a:blip r:embed="rId3"/>
          <a:srcRect t="1944" b="12799"/>
          <a:stretch>
            <a:fillRect/>
          </a:stretch>
        </p:blipFill>
        <p:spPr>
          <a:xfrm>
            <a:off x="1746084" y="958747"/>
            <a:ext cx="8345769" cy="3352542"/>
          </a:xfrm>
          <a:prstGeom prst="rect">
            <a:avLst/>
          </a:prstGeom>
        </p:spPr>
      </p:pic>
      <p:sp>
        <p:nvSpPr>
          <p:cNvPr id="11" name="文本占位符 3">
            <a:extLst>
              <a:ext uri="{FF2B5EF4-FFF2-40B4-BE49-F238E27FC236}">
                <a16:creationId xmlns:a16="http://schemas.microsoft.com/office/drawing/2014/main" id="{2F37F6AA-B72E-64A0-D9AE-D4132FB33568}"/>
              </a:ext>
            </a:extLst>
          </p:cNvPr>
          <p:cNvSpPr>
            <a:spLocks noGrp="1"/>
          </p:cNvSpPr>
          <p:nvPr>
            <p:ph type="body" sz="quarter" idx="10"/>
          </p:nvPr>
        </p:nvSpPr>
        <p:spPr>
          <a:xfrm>
            <a:off x="487228" y="4311289"/>
            <a:ext cx="11355367" cy="2216494"/>
          </a:xfrm>
        </p:spPr>
        <p:txBody>
          <a:bodyPr>
            <a:normAutofit/>
          </a:bodyPr>
          <a:lstStyle/>
          <a:p>
            <a:pPr algn="just" defTabSz="457200">
              <a:lnSpc>
                <a:spcPct val="100000"/>
              </a:lnSpc>
            </a:pPr>
            <a:r>
              <a:rPr lang="en-US" altLang="zh-CN" sz="1700" b="0" dirty="0">
                <a:latin typeface="微软雅黑" panose="020B0503020204020204" pitchFamily="34" charset="-122"/>
                <a:ea typeface="微软雅黑" panose="020B0503020204020204" pitchFamily="34" charset="-122"/>
              </a:rPr>
              <a:t>1</a:t>
            </a:r>
            <a:r>
              <a:rPr lang="zh-CN" altLang="en-US" sz="1700" b="0" dirty="0">
                <a:latin typeface="微软雅黑" panose="020B0503020204020204" pitchFamily="34" charset="-122"/>
                <a:ea typeface="微软雅黑" panose="020B0503020204020204" pitchFamily="34" charset="-122"/>
              </a:rPr>
              <a:t>）为不同</a:t>
            </a:r>
            <a:r>
              <a:rPr lang="en-US" altLang="zh-CN" sz="1700" b="0" dirty="0">
                <a:latin typeface="微软雅黑" panose="020B0503020204020204" pitchFamily="34" charset="-122"/>
                <a:ea typeface="微软雅黑" panose="020B0503020204020204" pitchFamily="34" charset="-122"/>
              </a:rPr>
              <a:t>Deepfake</a:t>
            </a:r>
            <a:r>
              <a:rPr lang="zh-CN" altLang="en-US" sz="1700" b="0" dirty="0">
                <a:latin typeface="微软雅黑" panose="020B0503020204020204" pitchFamily="34" charset="-122"/>
                <a:ea typeface="微软雅黑" panose="020B0503020204020204" pitchFamily="34" charset="-122"/>
              </a:rPr>
              <a:t>方法设计针对性提示，引导 </a:t>
            </a:r>
            <a:r>
              <a:rPr lang="en-US" altLang="zh-CN" sz="1700" b="0" dirty="0">
                <a:latin typeface="微软雅黑" panose="020B0503020204020204" pitchFamily="34" charset="-122"/>
                <a:ea typeface="微软雅黑" panose="020B0503020204020204" pitchFamily="34" charset="-122"/>
              </a:rPr>
              <a:t>MLLM </a:t>
            </a:r>
            <a:r>
              <a:rPr lang="zh-CN" altLang="en-US" sz="1700" b="0" dirty="0">
                <a:latin typeface="微软雅黑" panose="020B0503020204020204" pitchFamily="34" charset="-122"/>
                <a:ea typeface="微软雅黑" panose="020B0503020204020204" pitchFamily="34" charset="-122"/>
              </a:rPr>
              <a:t>聚焦各方法独有的伪造特征并减少幻觉；</a:t>
            </a:r>
            <a:endParaRPr lang="en-US" altLang="zh-CN" sz="1700" b="0" dirty="0">
              <a:latin typeface="微软雅黑" panose="020B0503020204020204" pitchFamily="34" charset="-122"/>
              <a:ea typeface="微软雅黑" panose="020B0503020204020204" pitchFamily="34" charset="-122"/>
            </a:endParaRPr>
          </a:p>
          <a:p>
            <a:pPr algn="just" defTabSz="457200">
              <a:lnSpc>
                <a:spcPct val="100000"/>
              </a:lnSpc>
            </a:pPr>
            <a:r>
              <a:rPr lang="en-US" altLang="zh-CN" sz="1700" b="0" dirty="0">
                <a:latin typeface="微软雅黑" panose="020B0503020204020204" pitchFamily="34" charset="-122"/>
                <a:ea typeface="微软雅黑" panose="020B0503020204020204" pitchFamily="34" charset="-122"/>
              </a:rPr>
              <a:t>2</a:t>
            </a:r>
            <a:r>
              <a:rPr lang="zh-CN" altLang="en-US" sz="1700" b="0" dirty="0">
                <a:latin typeface="微软雅黑" panose="020B0503020204020204" pitchFamily="34" charset="-122"/>
                <a:ea typeface="微软雅黑" panose="020B0503020204020204" pitchFamily="34" charset="-122"/>
              </a:rPr>
              <a:t>）向 </a:t>
            </a:r>
            <a:r>
              <a:rPr lang="en-US" altLang="zh-CN" sz="1700" b="0" dirty="0">
                <a:latin typeface="微软雅黑" panose="020B0503020204020204" pitchFamily="34" charset="-122"/>
                <a:ea typeface="微软雅黑" panose="020B0503020204020204" pitchFamily="34" charset="-122"/>
              </a:rPr>
              <a:t>MLLM </a:t>
            </a:r>
            <a:r>
              <a:rPr lang="zh-CN" altLang="en-US" sz="1700" b="0" dirty="0">
                <a:latin typeface="微软雅黑" panose="020B0503020204020204" pitchFamily="34" charset="-122"/>
                <a:ea typeface="微软雅黑" panose="020B0503020204020204" pitchFamily="34" charset="-122"/>
              </a:rPr>
              <a:t>提供连续帧、伪造区域 </a:t>
            </a:r>
            <a:r>
              <a:rPr lang="en-US" altLang="zh-CN" sz="1700" b="0" dirty="0">
                <a:latin typeface="微软雅黑" panose="020B0503020204020204" pitchFamily="34" charset="-122"/>
                <a:ea typeface="微软雅黑" panose="020B0503020204020204" pitchFamily="34" charset="-122"/>
              </a:rPr>
              <a:t>mask </a:t>
            </a:r>
            <a:r>
              <a:rPr lang="zh-CN" altLang="en-US" sz="1700" b="0" dirty="0">
                <a:latin typeface="微软雅黑" panose="020B0503020204020204" pitchFamily="34" charset="-122"/>
                <a:ea typeface="微软雅黑" panose="020B0503020204020204" pitchFamily="34" charset="-122"/>
              </a:rPr>
              <a:t>与人脸关键点，使其生成聚焦真实被操控区域的推理说明；</a:t>
            </a:r>
            <a:endParaRPr lang="en-US" altLang="zh-CN" sz="1700" b="0" dirty="0">
              <a:latin typeface="微软雅黑" panose="020B0503020204020204" pitchFamily="34" charset="-122"/>
              <a:ea typeface="微软雅黑" panose="020B0503020204020204" pitchFamily="34" charset="-122"/>
            </a:endParaRPr>
          </a:p>
          <a:p>
            <a:pPr algn="just" defTabSz="457200">
              <a:lnSpc>
                <a:spcPct val="100000"/>
              </a:lnSpc>
            </a:pPr>
            <a:r>
              <a:rPr lang="en-US" altLang="zh-CN" sz="1700" b="0" dirty="0">
                <a:latin typeface="微软雅黑" panose="020B0503020204020204" pitchFamily="34" charset="-122"/>
                <a:ea typeface="微软雅黑" panose="020B0503020204020204" pitchFamily="34" charset="-122"/>
              </a:rPr>
              <a:t>3</a:t>
            </a:r>
            <a:r>
              <a:rPr lang="zh-CN" altLang="en-US" sz="1700" b="0" dirty="0">
                <a:latin typeface="微软雅黑" panose="020B0503020204020204" pitchFamily="34" charset="-122"/>
                <a:ea typeface="微软雅黑" panose="020B0503020204020204" pitchFamily="34" charset="-122"/>
              </a:rPr>
              <a:t>）通过真实与伪造帧比对得到伪造区域 </a:t>
            </a:r>
            <a:r>
              <a:rPr lang="en-US" altLang="zh-CN" sz="1700" b="0" dirty="0">
                <a:latin typeface="微软雅黑" panose="020B0503020204020204" pitchFamily="34" charset="-122"/>
                <a:ea typeface="微软雅黑" panose="020B0503020204020204" pitchFamily="34" charset="-122"/>
              </a:rPr>
              <a:t>mask</a:t>
            </a:r>
            <a:r>
              <a:rPr lang="zh-CN" altLang="en-US" sz="1700" b="0" dirty="0">
                <a:latin typeface="微软雅黑" panose="020B0503020204020204" pitchFamily="34" charset="-122"/>
                <a:ea typeface="微软雅黑" panose="020B0503020204020204" pitchFamily="34" charset="-122"/>
              </a:rPr>
              <a:t>，并基于人脸关键点对眼、鼻、口、脸等区域的伪造程度进行结构化量化；</a:t>
            </a:r>
            <a:endParaRPr lang="en-US" altLang="zh-CN" sz="1700" b="0" dirty="0">
              <a:latin typeface="微软雅黑" panose="020B0503020204020204" pitchFamily="34" charset="-122"/>
              <a:ea typeface="微软雅黑" panose="020B0503020204020204" pitchFamily="34" charset="-122"/>
            </a:endParaRPr>
          </a:p>
          <a:p>
            <a:pPr algn="just" defTabSz="457200">
              <a:lnSpc>
                <a:spcPct val="100000"/>
              </a:lnSpc>
            </a:pPr>
            <a:r>
              <a:rPr lang="en-US" altLang="zh-CN" sz="1700" b="0" dirty="0">
                <a:latin typeface="微软雅黑" panose="020B0503020204020204" pitchFamily="34" charset="-122"/>
                <a:ea typeface="微软雅黑" panose="020B0503020204020204" pitchFamily="34" charset="-122"/>
              </a:rPr>
              <a:t>4</a:t>
            </a:r>
            <a:r>
              <a:rPr lang="zh-CN" altLang="en-US" sz="1700" b="0" dirty="0">
                <a:latin typeface="微软雅黑" panose="020B0503020204020204" pitchFamily="34" charset="-122"/>
                <a:ea typeface="微软雅黑" panose="020B0503020204020204" pitchFamily="34" charset="-122"/>
              </a:rPr>
              <a:t>）在生成推理后进行 人工审阅与修订（</a:t>
            </a:r>
            <a:r>
              <a:rPr lang="en-US" altLang="zh-CN" sz="1700" b="0" dirty="0">
                <a:latin typeface="微软雅黑" panose="020B0503020204020204" pitchFamily="34" charset="-122"/>
                <a:ea typeface="微软雅黑" panose="020B0503020204020204" pitchFamily="34" charset="-122"/>
              </a:rPr>
              <a:t>Manual Review</a:t>
            </a:r>
            <a:r>
              <a:rPr lang="zh-CN" altLang="en-US" sz="1700" b="0" dirty="0">
                <a:latin typeface="微软雅黑" panose="020B0503020204020204" pitchFamily="34" charset="-122"/>
                <a:ea typeface="微软雅黑" panose="020B0503020204020204" pitchFamily="34" charset="-122"/>
              </a:rPr>
              <a:t>），删除幻觉与错误语义，最终形成 </a:t>
            </a:r>
            <a:r>
              <a:rPr lang="en-US" altLang="zh-CN" sz="1700" b="0" dirty="0">
                <a:latin typeface="微软雅黑" panose="020B0503020204020204" pitchFamily="34" charset="-122"/>
                <a:ea typeface="微软雅黑" panose="020B0503020204020204" pitchFamily="34" charset="-122"/>
              </a:rPr>
              <a:t>7362 </a:t>
            </a:r>
            <a:r>
              <a:rPr lang="zh-CN" altLang="en-US" sz="1700" b="0" dirty="0">
                <a:latin typeface="微软雅黑" panose="020B0503020204020204" pitchFamily="34" charset="-122"/>
                <a:ea typeface="微软雅黑" panose="020B0503020204020204" pitchFamily="34" charset="-122"/>
              </a:rPr>
              <a:t>个可解释的视频样本。</a:t>
            </a:r>
            <a:endParaRPr lang="en-US" altLang="zh-CN" sz="17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2811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E5D90-5ADF-12D6-101C-0607D5B2E63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86724E5-FF96-099A-D647-3A2220996E4F}"/>
              </a:ext>
            </a:extLst>
          </p:cNvPr>
          <p:cNvSpPr>
            <a:spLocks noGrp="1"/>
          </p:cNvSpPr>
          <p:nvPr>
            <p:ph type="sldNum" sz="quarter" idx="4"/>
          </p:nvPr>
        </p:nvSpPr>
        <p:spPr/>
        <p:txBody>
          <a:bodyPr/>
          <a:lstStyle/>
          <a:p>
            <a:r>
              <a:rPr lang="en-US" altLang="zh-CN" dirty="0"/>
              <a:t>&lt; </a:t>
            </a:r>
            <a:fld id="{A548B57D-AE10-4CF7-A9DF-59FEFA91B28E}" type="slidenum">
              <a:rPr lang="zh-CN" altLang="en-US" smtClean="0"/>
              <a:t>12</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1309A457-7E61-86ED-DEBC-48F3C4A824B1}"/>
              </a:ext>
            </a:extLst>
          </p:cNvPr>
          <p:cNvSpPr>
            <a:spLocks noGrp="1"/>
          </p:cNvSpPr>
          <p:nvPr>
            <p:ph type="title"/>
          </p:nvPr>
        </p:nvSpPr>
        <p:spPr/>
        <p:txBody>
          <a:bodyPr>
            <a:noAutofit/>
          </a:bodyPr>
          <a:lstStyle/>
          <a:p>
            <a:r>
              <a:rPr lang="zh-CN" altLang="en-US" spc="0" dirty="0"/>
              <a:t>整体框架 </a:t>
            </a:r>
            <a:r>
              <a:rPr lang="en-US" altLang="zh-CN" spc="0" dirty="0"/>
              <a:t>—— </a:t>
            </a:r>
            <a:r>
              <a:rPr lang="en-US" altLang="zh-CN" spc="0" dirty="0" err="1"/>
              <a:t>Fg-MCoT</a:t>
            </a:r>
            <a:r>
              <a:rPr lang="en-US" altLang="zh-CN" spc="0" dirty="0"/>
              <a:t> </a:t>
            </a:r>
            <a:r>
              <a:rPr lang="zh-CN" altLang="en-US" dirty="0"/>
              <a:t>细粒度多模态链式推理</a:t>
            </a:r>
            <a:endParaRPr lang="zh-CN" altLang="en-US" spc="0" dirty="0"/>
          </a:p>
        </p:txBody>
      </p:sp>
      <p:pic>
        <p:nvPicPr>
          <p:cNvPr id="5" name="图片 4">
            <a:extLst>
              <a:ext uri="{FF2B5EF4-FFF2-40B4-BE49-F238E27FC236}">
                <a16:creationId xmlns:a16="http://schemas.microsoft.com/office/drawing/2014/main" id="{FEE21CAA-947D-CB35-A692-BDC9C1991EDA}"/>
              </a:ext>
            </a:extLst>
          </p:cNvPr>
          <p:cNvPicPr>
            <a:picLocks noChangeAspect="1"/>
          </p:cNvPicPr>
          <p:nvPr/>
        </p:nvPicPr>
        <p:blipFill>
          <a:blip r:embed="rId2"/>
          <a:srcRect t="5502" b="12084"/>
          <a:stretch>
            <a:fillRect/>
          </a:stretch>
        </p:blipFill>
        <p:spPr>
          <a:xfrm>
            <a:off x="1474558" y="1020150"/>
            <a:ext cx="8970210" cy="2827698"/>
          </a:xfrm>
          <a:prstGeom prst="rect">
            <a:avLst/>
          </a:prstGeom>
        </p:spPr>
      </p:pic>
      <p:sp>
        <p:nvSpPr>
          <p:cNvPr id="4" name="文本占位符 3">
            <a:extLst>
              <a:ext uri="{FF2B5EF4-FFF2-40B4-BE49-F238E27FC236}">
                <a16:creationId xmlns:a16="http://schemas.microsoft.com/office/drawing/2014/main" id="{9406C612-FDF4-A6A8-ECE2-89B3193744C7}"/>
              </a:ext>
            </a:extLst>
          </p:cNvPr>
          <p:cNvSpPr>
            <a:spLocks noGrp="1"/>
          </p:cNvSpPr>
          <p:nvPr>
            <p:ph type="body" sz="quarter" idx="10"/>
          </p:nvPr>
        </p:nvSpPr>
        <p:spPr>
          <a:xfrm>
            <a:off x="1178894" y="3712753"/>
            <a:ext cx="10833433" cy="2827698"/>
          </a:xfrm>
        </p:spPr>
        <p:txBody>
          <a:bodyPr>
            <a:normAutofit fontScale="92500" lnSpcReduction="20000"/>
          </a:bodyPr>
          <a:lstStyle/>
          <a:p>
            <a:pPr defTabSz="457200">
              <a:lnSpc>
                <a:spcPct val="150000"/>
              </a:lnSpc>
            </a:pPr>
            <a:r>
              <a:rPr lang="zh-CN" altLang="en-US" sz="1800" dirty="0">
                <a:latin typeface="微软雅黑" panose="020B0503020204020204" pitchFamily="34" charset="-122"/>
                <a:ea typeface="微软雅黑" panose="020B0503020204020204" pitchFamily="34" charset="-122"/>
              </a:rPr>
              <a:t>引入结构化面部动态指标作为硬证据：</a:t>
            </a:r>
            <a:r>
              <a:rPr lang="zh-CN" altLang="en-US" sz="1800" b="0" dirty="0">
                <a:latin typeface="微软雅黑" panose="020B0503020204020204" pitchFamily="34" charset="-122"/>
                <a:ea typeface="微软雅黑" panose="020B0503020204020204" pitchFamily="34" charset="-122"/>
              </a:rPr>
              <a:t>从每帧人脸关键点生成的坐标、模糊度变化、颜色变化、纹理差异及边界伪影等量化指标被组织为 </a:t>
            </a:r>
            <a:r>
              <a:rPr lang="en-US" altLang="zh-CN" sz="1800" b="0" dirty="0">
                <a:latin typeface="微软雅黑" panose="020B0503020204020204" pitchFamily="34" charset="-122"/>
                <a:ea typeface="微软雅黑" panose="020B0503020204020204" pitchFamily="34" charset="-122"/>
              </a:rPr>
              <a:t>JSON</a:t>
            </a:r>
            <a:r>
              <a:rPr lang="zh-CN" altLang="en-US" sz="1800" b="0" dirty="0">
                <a:latin typeface="微软雅黑" panose="020B0503020204020204" pitchFamily="34" charset="-122"/>
                <a:ea typeface="微软雅黑" panose="020B0503020204020204" pitchFamily="34" charset="-122"/>
              </a:rPr>
              <a:t>，即 </a:t>
            </a:r>
            <a:r>
              <a:rPr lang="en-US" altLang="zh-CN" sz="1800" b="0" dirty="0" err="1">
                <a:latin typeface="微软雅黑" panose="020B0503020204020204" pitchFamily="34" charset="-122"/>
                <a:ea typeface="微软雅黑" panose="020B0503020204020204" pitchFamily="34" charset="-122"/>
              </a:rPr>
              <a:t>T_fac</a:t>
            </a:r>
            <a:r>
              <a:rPr lang="zh-CN" altLang="en-US" sz="1800" b="0" dirty="0">
                <a:latin typeface="微软雅黑" panose="020B0503020204020204" pitchFamily="34" charset="-122"/>
                <a:ea typeface="微软雅黑" panose="020B0503020204020204" pitchFamily="34" charset="-122"/>
              </a:rPr>
              <a:t>，用于约束大模型推理的依据来源</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跨模态融合视频时空特征：</a:t>
            </a:r>
            <a:r>
              <a:rPr lang="zh-CN" altLang="en-US" sz="1800" b="0" dirty="0">
                <a:latin typeface="微软雅黑" panose="020B0503020204020204" pitchFamily="34" charset="-122"/>
                <a:ea typeface="微软雅黑" panose="020B0503020204020204" pitchFamily="34" charset="-122"/>
              </a:rPr>
              <a:t>通过将 </a:t>
            </a:r>
            <a:r>
              <a:rPr lang="en-US" altLang="zh-CN" sz="1800" b="0" dirty="0">
                <a:latin typeface="微软雅黑" panose="020B0503020204020204" pitchFamily="34" charset="-122"/>
                <a:ea typeface="微软雅黑" panose="020B0503020204020204" pitchFamily="34" charset="-122"/>
              </a:rPr>
              <a:t>ST-SIT </a:t>
            </a:r>
            <a:r>
              <a:rPr lang="zh-CN" altLang="en-US" sz="1800" b="0" dirty="0">
                <a:latin typeface="微软雅黑" panose="020B0503020204020204" pitchFamily="34" charset="-122"/>
                <a:ea typeface="微软雅黑" panose="020B0503020204020204" pitchFamily="34" charset="-122"/>
              </a:rPr>
              <a:t>的时空特征 </a:t>
            </a:r>
            <a:r>
              <a:rPr lang="en-US" altLang="zh-CN" sz="1800" b="0" dirty="0" err="1">
                <a:latin typeface="微软雅黑" panose="020B0503020204020204" pitchFamily="34" charset="-122"/>
                <a:ea typeface="微软雅黑" panose="020B0503020204020204" pitchFamily="34" charset="-122"/>
              </a:rPr>
              <a:t>T_vid</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与 </a:t>
            </a:r>
            <a:r>
              <a:rPr lang="en-US" altLang="zh-CN" sz="1800" b="0" dirty="0" err="1">
                <a:latin typeface="微软雅黑" panose="020B0503020204020204" pitchFamily="34" charset="-122"/>
                <a:ea typeface="微软雅黑" panose="020B0503020204020204" pitchFamily="34" charset="-122"/>
              </a:rPr>
              <a:t>T_fac</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联合输入，使推理链同时依赖“看到的画面”与“量化的面部动态”，显著压制 </a:t>
            </a:r>
            <a:r>
              <a:rPr lang="en-US" altLang="zh-CN" sz="1800" b="0" dirty="0">
                <a:latin typeface="微软雅黑" panose="020B0503020204020204" pitchFamily="34" charset="-122"/>
                <a:ea typeface="微软雅黑" panose="020B0503020204020204" pitchFamily="34" charset="-122"/>
              </a:rPr>
              <a:t>LLM </a:t>
            </a:r>
            <a:r>
              <a:rPr lang="zh-CN" altLang="en-US" sz="1800" b="0" dirty="0">
                <a:latin typeface="微软雅黑" panose="020B0503020204020204" pitchFamily="34" charset="-122"/>
                <a:ea typeface="微软雅黑" panose="020B0503020204020204" pitchFamily="34" charset="-122"/>
              </a:rPr>
              <a:t>幻觉。</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两阶段链式推理：先生成理由，再作判断：</a:t>
            </a:r>
            <a:r>
              <a:rPr lang="zh-CN" altLang="en-US" sz="1800" b="0" dirty="0">
                <a:latin typeface="微软雅黑" panose="020B0503020204020204" pitchFamily="34" charset="-122"/>
                <a:ea typeface="微软雅黑" panose="020B0503020204020204" pitchFamily="34" charset="-122"/>
              </a:rPr>
              <a:t>在 </a:t>
            </a:r>
            <a:r>
              <a:rPr lang="en-US" altLang="zh-CN" sz="1800" b="0" dirty="0">
                <a:latin typeface="微软雅黑" panose="020B0503020204020204" pitchFamily="34" charset="-122"/>
                <a:ea typeface="微软雅黑" panose="020B0503020204020204" pitchFamily="34" charset="-122"/>
              </a:rPr>
              <a:t>Stage 1 </a:t>
            </a:r>
            <a:r>
              <a:rPr lang="zh-CN" altLang="en-US" sz="1800" b="0" dirty="0">
                <a:latin typeface="微软雅黑" panose="020B0503020204020204" pitchFamily="34" charset="-122"/>
                <a:ea typeface="微软雅黑" panose="020B0503020204020204" pitchFamily="34" charset="-122"/>
              </a:rPr>
              <a:t>中，大模型接收视频时空特征</a:t>
            </a:r>
            <a:r>
              <a:rPr lang="en-US" altLang="zh-CN" sz="1800" b="0" dirty="0" err="1">
                <a:latin typeface="微软雅黑" panose="020B0503020204020204" pitchFamily="34" charset="-122"/>
                <a:ea typeface="微软雅黑" panose="020B0503020204020204" pitchFamily="34" charset="-122"/>
              </a:rPr>
              <a:t>T_vid</a:t>
            </a:r>
            <a:r>
              <a:rPr lang="zh-CN" altLang="en-US" sz="1800" b="0" dirty="0">
                <a:latin typeface="微软雅黑" panose="020B0503020204020204" pitchFamily="34" charset="-122"/>
                <a:ea typeface="微软雅黑" panose="020B0503020204020204" pitchFamily="34" charset="-122"/>
              </a:rPr>
              <a:t>、面部指标与思维提示词 </a:t>
            </a:r>
            <a:r>
              <a:rPr lang="en-US" altLang="zh-CN" sz="1800" b="0" dirty="0" err="1">
                <a:latin typeface="微软雅黑" panose="020B0503020204020204" pitchFamily="34" charset="-122"/>
                <a:ea typeface="微软雅黑" panose="020B0503020204020204" pitchFamily="34" charset="-122"/>
              </a:rPr>
              <a:t>P_tht</a:t>
            </a:r>
            <a:r>
              <a:rPr lang="zh-CN" altLang="en-US" sz="1800" b="0" dirty="0">
                <a:latin typeface="微软雅黑" panose="020B0503020204020204" pitchFamily="34" charset="-122"/>
                <a:ea typeface="微软雅黑" panose="020B0503020204020204" pitchFamily="34" charset="-122"/>
              </a:rPr>
              <a:t>，生成带有证据引用的中间推理 </a:t>
            </a:r>
            <a:r>
              <a:rPr lang="en-US" altLang="zh-CN" sz="1800" b="0" dirty="0" err="1">
                <a:latin typeface="微软雅黑" panose="020B0503020204020204" pitchFamily="34" charset="-122"/>
                <a:ea typeface="微软雅黑" panose="020B0503020204020204" pitchFamily="34" charset="-122"/>
              </a:rPr>
              <a:t>Rc</a:t>
            </a:r>
            <a:r>
              <a:rPr lang="zh-CN" altLang="en-US" sz="1800" b="0" dirty="0">
                <a:latin typeface="微软雅黑" panose="020B0503020204020204" pitchFamily="34" charset="-122"/>
                <a:ea typeface="微软雅黑" panose="020B0503020204020204" pitchFamily="34" charset="-122"/>
              </a:rPr>
              <a:t>；在 </a:t>
            </a:r>
            <a:r>
              <a:rPr lang="en-US" altLang="zh-CN" sz="1800" b="0" dirty="0">
                <a:latin typeface="微软雅黑" panose="020B0503020204020204" pitchFamily="34" charset="-122"/>
                <a:ea typeface="微软雅黑" panose="020B0503020204020204" pitchFamily="34" charset="-122"/>
              </a:rPr>
              <a:t>Stage 2 </a:t>
            </a:r>
            <a:r>
              <a:rPr lang="zh-CN" altLang="en-US" sz="1800" b="0" dirty="0">
                <a:latin typeface="微软雅黑" panose="020B0503020204020204" pitchFamily="34" charset="-122"/>
                <a:ea typeface="微软雅黑" panose="020B0503020204020204" pitchFamily="34" charset="-122"/>
              </a:rPr>
              <a:t>中，再结合用户问题、时空特征</a:t>
            </a:r>
            <a:r>
              <a:rPr lang="en-US" altLang="zh-CN" sz="1800" b="0" dirty="0" err="1">
                <a:latin typeface="微软雅黑" panose="020B0503020204020204" pitchFamily="34" charset="-122"/>
                <a:ea typeface="微软雅黑" panose="020B0503020204020204" pitchFamily="34" charset="-122"/>
              </a:rPr>
              <a:t>T_vid</a:t>
            </a:r>
            <a:r>
              <a:rPr lang="zh-CN" altLang="en-US" sz="1800" b="0" dirty="0">
                <a:latin typeface="微软雅黑" panose="020B0503020204020204" pitchFamily="34" charset="-122"/>
                <a:ea typeface="微软雅黑" panose="020B0503020204020204" pitchFamily="34" charset="-122"/>
              </a:rPr>
              <a:t>与 </a:t>
            </a:r>
            <a:r>
              <a:rPr lang="en-US" altLang="zh-CN" sz="1800" b="0" dirty="0" err="1">
                <a:latin typeface="微软雅黑" panose="020B0503020204020204" pitchFamily="34" charset="-122"/>
                <a:ea typeface="微软雅黑" panose="020B0503020204020204" pitchFamily="34" charset="-122"/>
              </a:rPr>
              <a:t>Rc</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输出最终判定 </a:t>
            </a:r>
            <a:r>
              <a:rPr lang="en-US" altLang="zh-CN" sz="1800" b="0" dirty="0">
                <a:latin typeface="微软雅黑" panose="020B0503020204020204" pitchFamily="34" charset="-122"/>
                <a:ea typeface="微软雅黑" panose="020B0503020204020204" pitchFamily="34" charset="-122"/>
              </a:rPr>
              <a:t>A</a:t>
            </a:r>
            <a:r>
              <a:rPr lang="zh-CN" altLang="en-US" sz="1800" b="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250966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3CBC1-51E6-5A8E-3B86-384EF1BC3A4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6C3A8B-CF9D-EC4C-05E4-71CF1B0C437B}"/>
              </a:ext>
            </a:extLst>
          </p:cNvPr>
          <p:cNvSpPr>
            <a:spLocks noGrp="1"/>
          </p:cNvSpPr>
          <p:nvPr>
            <p:ph type="sldNum" sz="quarter" idx="4"/>
          </p:nvPr>
        </p:nvSpPr>
        <p:spPr/>
        <p:txBody>
          <a:bodyPr/>
          <a:lstStyle/>
          <a:p>
            <a:r>
              <a:rPr lang="en-US" altLang="zh-CN" dirty="0"/>
              <a:t>&lt; </a:t>
            </a:r>
            <a:fld id="{A548B57D-AE10-4CF7-A9DF-59FEFA91B28E}" type="slidenum">
              <a:rPr lang="zh-CN" altLang="en-US" smtClean="0"/>
              <a:t>13</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820A3D87-DCB3-DBEE-E262-188E22D9C5F0}"/>
              </a:ext>
            </a:extLst>
          </p:cNvPr>
          <p:cNvSpPr>
            <a:spLocks noGrp="1"/>
          </p:cNvSpPr>
          <p:nvPr>
            <p:ph type="title"/>
          </p:nvPr>
        </p:nvSpPr>
        <p:spPr/>
        <p:txBody>
          <a:bodyPr>
            <a:noAutofit/>
          </a:bodyPr>
          <a:lstStyle/>
          <a:p>
            <a:r>
              <a:rPr lang="zh-CN" altLang="en-US" spc="0" dirty="0"/>
              <a:t>核心思路 </a:t>
            </a:r>
            <a:r>
              <a:rPr lang="en-US" altLang="zh-CN" spc="0" dirty="0"/>
              <a:t>——</a:t>
            </a:r>
            <a:r>
              <a:rPr lang="zh-CN" altLang="en-US" spc="0" dirty="0"/>
              <a:t> </a:t>
            </a:r>
            <a:r>
              <a:rPr lang="sq-AL" altLang="zh-CN" dirty="0"/>
              <a:t>ST-SIT</a:t>
            </a:r>
            <a:r>
              <a:rPr lang="zh-CN" altLang="sq-AL" dirty="0"/>
              <a:t>（</a:t>
            </a:r>
            <a:r>
              <a:rPr lang="zh-CN" altLang="en-US" dirty="0"/>
              <a:t>时空细微信息切分）</a:t>
            </a:r>
            <a:endParaRPr lang="zh-CN" altLang="en-US" spc="0" dirty="0"/>
          </a:p>
        </p:txBody>
      </p:sp>
      <p:pic>
        <p:nvPicPr>
          <p:cNvPr id="5" name="图片 4">
            <a:extLst>
              <a:ext uri="{FF2B5EF4-FFF2-40B4-BE49-F238E27FC236}">
                <a16:creationId xmlns:a16="http://schemas.microsoft.com/office/drawing/2014/main" id="{1AC3F41A-709A-E1E9-0440-D598E5726299}"/>
              </a:ext>
            </a:extLst>
          </p:cNvPr>
          <p:cNvPicPr>
            <a:picLocks noChangeAspect="1"/>
          </p:cNvPicPr>
          <p:nvPr/>
        </p:nvPicPr>
        <p:blipFill>
          <a:blip r:embed="rId2"/>
          <a:srcRect t="2714"/>
          <a:stretch>
            <a:fillRect/>
          </a:stretch>
        </p:blipFill>
        <p:spPr>
          <a:xfrm>
            <a:off x="442913" y="1014760"/>
            <a:ext cx="5855670" cy="5296829"/>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D7369F2-57B8-5DE1-1DAE-E18D7962C156}"/>
                  </a:ext>
                </a:extLst>
              </p:cNvPr>
              <p:cNvSpPr txBox="1"/>
              <p:nvPr/>
            </p:nvSpPr>
            <p:spPr>
              <a:xfrm>
                <a:off x="6096000" y="823917"/>
                <a:ext cx="6096000" cy="5570436"/>
              </a:xfrm>
              <a:prstGeom prst="rect">
                <a:avLst/>
              </a:prstGeom>
              <a:noFill/>
            </p:spPr>
            <p:txBody>
              <a:bodyPr wrap="square" rtlCol="0">
                <a:spAutoFit/>
              </a:bodyPr>
              <a:lstStyle/>
              <a:p>
                <a:pPr algn="just">
                  <a:lnSpc>
                    <a:spcPts val="33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）统一视频采样：将输入视频按时间划分为</a:t>
                </a:r>
                <a14:m>
                  <m:oMath xmlns:m="http://schemas.openxmlformats.org/officeDocument/2006/math">
                    <m:r>
                      <a:rPr lang="zh-CN" altLang="en-US" sz="2000" i="1" dirty="0">
                        <a:latin typeface="Cambria Math" panose="02040503050406030204" pitchFamily="18" charset="0"/>
                      </a:rPr>
                      <m:t>𝑁</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个片段，每段包含</a:t>
                </a:r>
                <a14:m>
                  <m:oMath xmlns:m="http://schemas.openxmlformats.org/officeDocument/2006/math">
                    <m:r>
                      <a:rPr lang="zh-CN" altLang="en-US" sz="2000" i="1" dirty="0">
                        <a:latin typeface="Cambria Math" panose="02040503050406030204" pitchFamily="18" charset="0"/>
                      </a:rPr>
                      <m:t>𝑑</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帧（如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8×9</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），形成标准化的视频片段集合 </a:t>
                </a:r>
                <a14:m>
                  <m:oMath xmlns:m="http://schemas.openxmlformats.org/officeDocument/2006/math">
                    <m:sSub>
                      <m:sSubPr>
                        <m:ctrlPr>
                          <a:rPr lang="zh-CN" altLang="en-US" sz="2000" i="1" dirty="0">
                            <a:latin typeface="Cambria Math" panose="02040503050406030204" pitchFamily="18" charset="0"/>
                          </a:rPr>
                        </m:ctrlPr>
                      </m:sSubPr>
                      <m:e>
                        <m:r>
                          <a:rPr lang="zh-CN" altLang="en-US" sz="2000" i="1" dirty="0">
                            <a:latin typeface="Cambria Math" panose="02040503050406030204" pitchFamily="18" charset="0"/>
                          </a:rPr>
                          <m:t>𝑉</m:t>
                        </m:r>
                      </m:e>
                      <m:sub>
                        <m:r>
                          <m:rPr>
                            <m:nor/>
                          </m:rP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m:t>clip</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ts val="33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）双分支特征提取：</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ts val="33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局部分支：将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9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帧构成 </a:t>
                </a:r>
                <a14:m>
                  <m:oMath xmlns:m="http://schemas.openxmlformats.org/officeDocument/2006/math">
                    <m:r>
                      <a:rPr lang="en-US" altLang="zh-CN" sz="2000" i="1" dirty="0">
                        <a:latin typeface="Cambria Math" panose="02040503050406030204" pitchFamily="18" charset="0"/>
                      </a:rPr>
                      <m:t>3</m:t>
                    </m:r>
                    <m:r>
                      <a:rPr lang="en-US" altLang="zh-CN" sz="2000" dirty="0">
                        <a:latin typeface="Cambria Math" panose="02040503050406030204" pitchFamily="18" charset="0"/>
                      </a:rPr>
                      <m:t>×</m:t>
                    </m:r>
                    <m:r>
                      <a:rPr lang="en-US" altLang="zh-CN" sz="2000" i="1" dirty="0">
                        <a:latin typeface="Cambria Math" panose="02040503050406030204" pitchFamily="18" charset="0"/>
                      </a:rPr>
                      <m:t>3</m:t>
                    </m:r>
                    <m:r>
                      <a:rPr lang="en-US" altLang="zh-CN" sz="2000" b="0" i="1" dirty="0" smtClean="0">
                        <a:latin typeface="Cambria Math" panose="02040503050406030204" pitchFamily="18" charset="0"/>
                      </a:rPr>
                      <m:t> </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网格，通过滑窗与层次自注意力提取局部伪影与跨帧细粒度变化；</a:t>
                </a:r>
                <a:b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b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全局分支：对每帧提取全局语义特征，并利用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卷  积与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RegStage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进行时空压缩和补全，获得紧凑的全局视频表示。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ts val="33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）特征融合与投影：通过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Cross-Attention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融合两分支特征，结合局部深伪敏感线索与全局语义一致性，得到融合特征并投射为最终视觉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token </a:t>
                </a:r>
                <a14:m>
                  <m:oMath xmlns:m="http://schemas.openxmlformats.org/officeDocument/2006/math">
                    <m:sSub>
                      <m:sSubPr>
                        <m:ctrlPr>
                          <a:rPr lang="zh-CN" altLang="en-US" sz="2000" i="1" dirty="0">
                            <a:latin typeface="Cambria Math" panose="02040503050406030204" pitchFamily="18" charset="0"/>
                          </a:rPr>
                        </m:ctrlPr>
                      </m:sSubPr>
                      <m:e>
                        <m:r>
                          <a:rPr lang="zh-CN" altLang="en-US" sz="2000" i="1" dirty="0">
                            <a:latin typeface="Cambria Math" panose="02040503050406030204" pitchFamily="18" charset="0"/>
                          </a:rPr>
                          <m:t>𝑇</m:t>
                        </m:r>
                      </m:e>
                      <m:sub>
                        <m:r>
                          <m:rPr>
                            <m:nor/>
                          </m:rP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m:t>vid</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，供后续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Fg-MCoT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推理使用。</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3D7369F2-57B8-5DE1-1DAE-E18D7962C156}"/>
                  </a:ext>
                </a:extLst>
              </p:cNvPr>
              <p:cNvSpPr txBox="1">
                <a:spLocks noRot="1" noChangeAspect="1" noMove="1" noResize="1" noEditPoints="1" noAdjustHandles="1" noChangeArrowheads="1" noChangeShapeType="1" noTextEdit="1"/>
              </p:cNvSpPr>
              <p:nvPr/>
            </p:nvSpPr>
            <p:spPr>
              <a:xfrm>
                <a:off x="6096000" y="823917"/>
                <a:ext cx="6096000" cy="5570436"/>
              </a:xfrm>
              <a:prstGeom prst="rect">
                <a:avLst/>
              </a:prstGeom>
              <a:blipFill>
                <a:blip r:embed="rId3"/>
                <a:stretch>
                  <a:fillRect l="-1000" r="-5100" b="-6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292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32F30-A03D-D17A-BFD6-7D9E1E0602C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640276-C52F-E40E-EC76-B19574BF5C83}"/>
              </a:ext>
            </a:extLst>
          </p:cNvPr>
          <p:cNvSpPr>
            <a:spLocks noGrp="1"/>
          </p:cNvSpPr>
          <p:nvPr>
            <p:ph type="sldNum" sz="quarter" idx="4"/>
          </p:nvPr>
        </p:nvSpPr>
        <p:spPr/>
        <p:txBody>
          <a:bodyPr/>
          <a:lstStyle/>
          <a:p>
            <a:r>
              <a:rPr lang="en-US" altLang="zh-CN" dirty="0"/>
              <a:t>&lt; </a:t>
            </a:r>
            <a:fld id="{A548B57D-AE10-4CF7-A9DF-59FEFA91B28E}" type="slidenum">
              <a:rPr lang="zh-CN" altLang="en-US" smtClean="0"/>
              <a:t>14</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A6B6030F-6D2A-04EA-AA01-5D619DA4AB1A}"/>
              </a:ext>
            </a:extLst>
          </p:cNvPr>
          <p:cNvSpPr>
            <a:spLocks noGrp="1"/>
          </p:cNvSpPr>
          <p:nvPr>
            <p:ph type="title"/>
          </p:nvPr>
        </p:nvSpPr>
        <p:spPr/>
        <p:txBody>
          <a:bodyPr>
            <a:noAutofit/>
          </a:bodyPr>
          <a:lstStyle/>
          <a:p>
            <a:r>
              <a:rPr lang="zh-CN" altLang="en-US" spc="0" dirty="0"/>
              <a:t>核心思路 </a:t>
            </a:r>
            <a:r>
              <a:rPr lang="en-US" altLang="zh-CN" spc="0" dirty="0"/>
              <a:t>—— </a:t>
            </a:r>
            <a:r>
              <a:rPr lang="zh-CN" altLang="en-US" dirty="0"/>
              <a:t>结构化面部指标</a:t>
            </a:r>
            <a:endParaRPr lang="zh-CN" altLang="en-US" spc="0" dirty="0"/>
          </a:p>
        </p:txBody>
      </p:sp>
      <p:sp>
        <p:nvSpPr>
          <p:cNvPr id="12" name="文本框 11">
            <a:extLst>
              <a:ext uri="{FF2B5EF4-FFF2-40B4-BE49-F238E27FC236}">
                <a16:creationId xmlns:a16="http://schemas.microsoft.com/office/drawing/2014/main" id="{9B5A8E41-1F5D-F84B-9D9F-D8194971C9E7}"/>
              </a:ext>
            </a:extLst>
          </p:cNvPr>
          <p:cNvSpPr txBox="1"/>
          <p:nvPr/>
        </p:nvSpPr>
        <p:spPr>
          <a:xfrm>
            <a:off x="6007100" y="823917"/>
            <a:ext cx="5880100" cy="6038641"/>
          </a:xfrm>
          <a:prstGeom prst="rect">
            <a:avLst/>
          </a:prstGeom>
          <a:noFill/>
        </p:spPr>
        <p:txBody>
          <a:bodyPr wrap="square" rtlCol="0">
            <a:spAutoFit/>
          </a:bodyPr>
          <a:lstStyle/>
          <a:p>
            <a:pPr algn="just">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）面部关键点定位：首先，模型通过提取面部关键点坐标（如眼睛、嘴巴、鼻子等）准确定位面部区域。</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）结构化面部指标提取：基于面部关键点坐标，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ST-SIT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模块提取多个面部特征，包括模糊度变化、颜色分布、纹理对比度、频谱变化和混合伪造痕迹。</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）传递推理模块：提取的结构化面部指标被送入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Fg-MCoT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模块。该模块结合时空特征和结构化面部指标进行推理，生成详细的推理过程。</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）整体作用：结构化面部指标通过提供细粒度的面部区域信息，使得模型能够更加精准地检测伪造视频，增强了推理过程的可解释性</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72E49AEE-67C3-FBC3-4355-D89FA4AA6F85}"/>
              </a:ext>
            </a:extLst>
          </p:cNvPr>
          <p:cNvPicPr>
            <a:picLocks noChangeAspect="1"/>
          </p:cNvPicPr>
          <p:nvPr/>
        </p:nvPicPr>
        <p:blipFill>
          <a:blip r:embed="rId2"/>
          <a:srcRect l="2160"/>
          <a:stretch>
            <a:fillRect/>
          </a:stretch>
        </p:blipFill>
        <p:spPr>
          <a:xfrm>
            <a:off x="442913" y="1058391"/>
            <a:ext cx="5436293" cy="5178779"/>
          </a:xfrm>
          <a:prstGeom prst="rect">
            <a:avLst/>
          </a:prstGeom>
        </p:spPr>
      </p:pic>
    </p:spTree>
    <p:extLst>
      <p:ext uri="{BB962C8B-B14F-4D97-AF65-F5344CB8AC3E}">
        <p14:creationId xmlns:p14="http://schemas.microsoft.com/office/powerpoint/2010/main" val="3543546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5ADE-6C71-2FE3-F56B-443CA24C16E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BBB9B4F-7933-CAD9-7A67-14C87D2BD3E5}"/>
              </a:ext>
            </a:extLst>
          </p:cNvPr>
          <p:cNvSpPr>
            <a:spLocks noGrp="1"/>
          </p:cNvSpPr>
          <p:nvPr>
            <p:ph type="sldNum" sz="quarter" idx="4"/>
          </p:nvPr>
        </p:nvSpPr>
        <p:spPr/>
        <p:txBody>
          <a:bodyPr/>
          <a:lstStyle/>
          <a:p>
            <a:r>
              <a:rPr lang="en-US" altLang="zh-CN" dirty="0"/>
              <a:t>&lt; </a:t>
            </a:r>
            <a:fld id="{A548B57D-AE10-4CF7-A9DF-59FEFA91B28E}" type="slidenum">
              <a:rPr lang="zh-CN" altLang="en-US" smtClean="0"/>
              <a:t>15</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C88D932A-9FA4-EB4D-55D5-FFA5A0CC35D1}"/>
              </a:ext>
            </a:extLst>
          </p:cNvPr>
          <p:cNvSpPr>
            <a:spLocks noGrp="1"/>
          </p:cNvSpPr>
          <p:nvPr>
            <p:ph type="title"/>
          </p:nvPr>
        </p:nvSpPr>
        <p:spPr/>
        <p:txBody>
          <a:bodyPr>
            <a:noAutofit/>
          </a:bodyPr>
          <a:lstStyle/>
          <a:p>
            <a:r>
              <a:rPr lang="zh-CN" altLang="en-US" spc="0" dirty="0"/>
              <a:t>核心思路 </a:t>
            </a:r>
            <a:r>
              <a:rPr lang="en-US" altLang="zh-CN" spc="0" dirty="0"/>
              <a:t>—— </a:t>
            </a:r>
            <a:r>
              <a:rPr lang="zh-CN" altLang="en-US" spc="0" dirty="0"/>
              <a:t>两阶段训练策略</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D60345A-5FC5-B641-EC6A-E6C6F6CDD3D7}"/>
                  </a:ext>
                </a:extLst>
              </p:cNvPr>
              <p:cNvSpPr txBox="1"/>
              <p:nvPr/>
            </p:nvSpPr>
            <p:spPr>
              <a:xfrm>
                <a:off x="802300" y="845874"/>
                <a:ext cx="10946691" cy="6067943"/>
              </a:xfrm>
              <a:prstGeom prst="rect">
                <a:avLst/>
              </a:prstGeom>
              <a:noFill/>
            </p:spPr>
            <p:txBody>
              <a:bodyPr wrap="square" rtlCol="0">
                <a:spAutoFit/>
              </a:bodyPr>
              <a:lstStyle/>
              <a:p>
                <a:pPr>
                  <a:lnSpc>
                    <a:spcPts val="2500"/>
                  </a:lnSpc>
                  <a:spcAft>
                    <a:spcPts val="1600"/>
                  </a:spcAft>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）阶段一，理由生成（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LLM(1)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sq-AL" altLang="zh-CN" dirty="0">
                    <a:latin typeface="Times New Roman" panose="02020603050405020304" pitchFamily="18" charset="0"/>
                    <a:ea typeface="微软雅黑" panose="020B0503020204020204" pitchFamily="34" charset="-122"/>
                    <a:cs typeface="Times New Roman" panose="02020603050405020304" pitchFamily="18" charset="0"/>
                  </a:rPr>
                  <a:t>LLM(1)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接收 </a:t>
                </a:r>
                <a:r>
                  <a:rPr lang="sq-AL" altLang="zh-CN" dirty="0">
                    <a:latin typeface="Times New Roman" panose="02020603050405020304" pitchFamily="18" charset="0"/>
                    <a:ea typeface="微软雅黑" panose="020B0503020204020204" pitchFamily="34" charset="-122"/>
                    <a:cs typeface="Times New Roman" panose="02020603050405020304" pitchFamily="18" charset="0"/>
                  </a:rPr>
                  <a:t>ST-SIT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输出的时空特征 </a:t>
                </a:r>
                <a14:m>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𝑣𝑖𝑑</m:t>
                        </m:r>
                      </m:sub>
                    </m:sSub>
                  </m:oMath>
                </a14:m>
                <a:r>
                  <a:rPr lang="zh-CN" altLang="ar-AE"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结构化面部指标 </a:t>
                </a:r>
                <a14:m>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𝑓𝑎𝑐</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以及推理提示词 </a:t>
                </a:r>
                <a14:m>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𝑃</m:t>
                        </m:r>
                      </m:e>
                      <m:sub>
                        <m:r>
                          <a:rPr lang="zh-CN" altLang="ar-AE" i="1" dirty="0">
                            <a:latin typeface="Cambria Math" panose="02040503050406030204" pitchFamily="18" charset="0"/>
                          </a:rPr>
                          <m:t>𝑡</m:t>
                        </m:r>
                        <m:r>
                          <a:rPr lang="ar-AE" altLang="zh-CN" i="1" dirty="0">
                            <a:latin typeface="Cambria Math" panose="02040503050406030204" pitchFamily="18" charset="0"/>
                          </a:rPr>
                          <m:t>h</m:t>
                        </m:r>
                        <m:r>
                          <a:rPr lang="zh-CN" altLang="ar-AE" i="1" dirty="0">
                            <a:latin typeface="Cambria Math" panose="02040503050406030204" pitchFamily="18" charset="0"/>
                          </a:rPr>
                          <m:t>𝑡</m:t>
                        </m:r>
                      </m:sub>
                    </m:sSub>
                  </m:oMath>
                </a14:m>
                <a:r>
                  <a:rPr lang="zh-CN" altLang="ar-AE"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生成推理结果 </a:t>
                </a:r>
                <a14:m>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𝑅</m:t>
                        </m:r>
                      </m:e>
                      <m:sub>
                        <m:r>
                          <a:rPr lang="zh-CN" altLang="ar-AE" i="1" dirty="0">
                            <a:latin typeface="Cambria Math" panose="02040503050406030204" pitchFamily="18" charset="0"/>
                          </a:rPr>
                          <m:t>𝑐</m:t>
                        </m:r>
                      </m:sub>
                    </m:sSub>
                  </m:oMath>
                </a14:m>
                <a:r>
                  <a:rPr lang="zh-CN" altLang="ar-AE"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其训练目标是最小化理由序列的负对数似然：</a:t>
                </a:r>
                <a:r>
                  <a:rPr lang="sq-AL"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000"/>
                  </a:lnSpc>
                  <a:spcBef>
                    <a:spcPts val="1200"/>
                  </a:spcBef>
                </a:pPr>
                <a14:m>
                  <m:oMathPara xmlns:m="http://schemas.openxmlformats.org/officeDocument/2006/math">
                    <m:oMathParaPr>
                      <m:jc m:val="centerGroup"/>
                    </m:oMathParaPr>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𝐿</m:t>
                          </m:r>
                        </m:e>
                        <m:sub>
                          <m:r>
                            <a:rPr lang="zh-CN" altLang="ar-AE" i="1" dirty="0">
                              <a:latin typeface="Cambria Math" panose="02040503050406030204" pitchFamily="18" charset="0"/>
                            </a:rPr>
                            <m:t>𝑟𝑙𝑒</m:t>
                          </m:r>
                        </m:sub>
                      </m:sSub>
                      <m:r>
                        <a:rPr lang="ar-AE" altLang="zh-CN" dirty="0">
                          <a:latin typeface="Cambria Math" panose="02040503050406030204" pitchFamily="18" charset="0"/>
                        </a:rPr>
                        <m:t>=−</m:t>
                      </m:r>
                      <m:func>
                        <m:funcPr>
                          <m:ctrlPr>
                            <a:rPr lang="ar-AE" altLang="zh-CN" i="1" dirty="0">
                              <a:latin typeface="Cambria Math" panose="02040503050406030204" pitchFamily="18" charset="0"/>
                            </a:rPr>
                          </m:ctrlPr>
                        </m:funcPr>
                        <m:fName>
                          <m:nary>
                            <m:naryPr>
                              <m:chr m:val="∑"/>
                              <m:grow m:val="on"/>
                              <m:subHide m:val="on"/>
                              <m:supHide m:val="on"/>
                              <m:ctrlPr>
                                <a:rPr lang="ar-AE" altLang="zh-CN" i="1" dirty="0">
                                  <a:latin typeface="Cambria Math" panose="02040503050406030204" pitchFamily="18" charset="0"/>
                                </a:rPr>
                              </m:ctrlPr>
                            </m:naryPr>
                            <m:sub/>
                            <m:sup/>
                            <m:e>
                              <m:r>
                                <m:rPr>
                                  <m:sty m:val="p"/>
                                </m:rPr>
                                <a:rPr lang="sq-AL" altLang="zh-CN" dirty="0">
                                  <a:latin typeface="Cambria Math" panose="02040503050406030204" pitchFamily="18" charset="0"/>
                                </a:rPr>
                                <m:t>log</m:t>
                              </m:r>
                            </m:e>
                          </m:nary>
                        </m:fName>
                        <m:e>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𝑝</m:t>
                              </m:r>
                            </m:e>
                            <m:sub>
                              <m:r>
                                <a:rPr lang="zh-CN" altLang="ar-AE" i="1" dirty="0">
                                  <a:latin typeface="Cambria Math" panose="02040503050406030204" pitchFamily="18" charset="0"/>
                                </a:rPr>
                                <m:t>𝑎𝑠𝑠𝑡</m:t>
                              </m:r>
                            </m:sub>
                          </m:sSub>
                        </m:e>
                      </m:func>
                      <m:d>
                        <m:dPr>
                          <m:sepChr m:val=","/>
                          <m:ctrlPr>
                            <a:rPr lang="ar-AE" altLang="zh-CN" i="1" dirty="0">
                              <a:latin typeface="Cambria Math" panose="02040503050406030204" pitchFamily="18" charset="0"/>
                            </a:rPr>
                          </m:ctrlPr>
                        </m:dPr>
                        <m:e>
                          <m:sSubSup>
                            <m:sSubSupPr>
                              <m:ctrlPr>
                                <a:rPr lang="ar-AE" altLang="zh-CN" i="1" dirty="0">
                                  <a:latin typeface="Cambria Math" panose="02040503050406030204" pitchFamily="18" charset="0"/>
                                </a:rPr>
                              </m:ctrlPr>
                            </m:sSubSupPr>
                            <m:e>
                              <m:r>
                                <a:rPr lang="zh-CN" altLang="ar-AE" i="1" dirty="0">
                                  <a:latin typeface="Cambria Math" panose="02040503050406030204" pitchFamily="18" charset="0"/>
                                </a:rPr>
                                <m:t>𝑟</m:t>
                              </m:r>
                            </m:e>
                            <m:sub>
                              <m:r>
                                <a:rPr lang="zh-CN" altLang="ar-AE" i="1" dirty="0">
                                  <a:latin typeface="Cambria Math" panose="02040503050406030204" pitchFamily="18" charset="0"/>
                                </a:rPr>
                                <m:t>𝑡</m:t>
                              </m:r>
                            </m:sub>
                            <m:sup>
                              <m:r>
                                <a:rPr lang="ar-AE" altLang="zh-CN" dirty="0">
                                  <a:latin typeface="Cambria Math" panose="02040503050406030204" pitchFamily="18" charset="0"/>
                                </a:rPr>
                                <m:t>∗</m:t>
                              </m:r>
                            </m:sup>
                          </m:sSubSup>
                        </m:e>
                        <m:e>
                          <m:r>
                            <a:rPr lang="ar-AE" altLang="zh-CN" dirty="0">
                              <a:latin typeface="Cambria Math" panose="02040503050406030204" pitchFamily="18" charset="0"/>
                            </a:rPr>
                            <m:t>∣</m:t>
                          </m:r>
                        </m:e>
                        <m:e>
                          <m:sSubSup>
                            <m:sSubSupPr>
                              <m:ctrlPr>
                                <a:rPr lang="ar-AE" altLang="zh-CN" i="1" dirty="0">
                                  <a:latin typeface="Cambria Math" panose="02040503050406030204" pitchFamily="18" charset="0"/>
                                </a:rPr>
                              </m:ctrlPr>
                            </m:sSubSupPr>
                            <m:e>
                              <m:r>
                                <a:rPr lang="zh-CN" altLang="ar-AE" i="1" dirty="0">
                                  <a:latin typeface="Cambria Math" panose="02040503050406030204" pitchFamily="18" charset="0"/>
                                </a:rPr>
                                <m:t>𝑟</m:t>
                              </m:r>
                            </m:e>
                            <m:sub>
                              <m:r>
                                <a:rPr lang="ar-AE" altLang="zh-CN" dirty="0">
                                  <a:latin typeface="Cambria Math" panose="02040503050406030204" pitchFamily="18" charset="0"/>
                                </a:rPr>
                                <m:t>&lt;</m:t>
                              </m:r>
                              <m:r>
                                <a:rPr lang="zh-CN" altLang="ar-AE" i="1" dirty="0">
                                  <a:latin typeface="Cambria Math" panose="02040503050406030204" pitchFamily="18" charset="0"/>
                                </a:rPr>
                                <m:t>𝑡</m:t>
                              </m:r>
                            </m:sub>
                            <m:sup>
                              <m:r>
                                <a:rPr lang="ar-AE" altLang="zh-CN" dirty="0">
                                  <a:latin typeface="Cambria Math" panose="02040503050406030204" pitchFamily="18" charset="0"/>
                                </a:rPr>
                                <m:t>∗</m:t>
                              </m:r>
                            </m:sup>
                          </m:sSubSup>
                        </m:e>
                        <m:e>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𝑣𝑖𝑑</m:t>
                              </m:r>
                            </m:sub>
                          </m:sSub>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𝑓𝑎𝑐</m:t>
                              </m:r>
                            </m:sub>
                          </m:sSub>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𝑃</m:t>
                              </m:r>
                            </m:e>
                            <m:sub>
                              <m:r>
                                <a:rPr lang="zh-CN" altLang="ar-AE" i="1" dirty="0">
                                  <a:latin typeface="Cambria Math" panose="02040503050406030204" pitchFamily="18" charset="0"/>
                                </a:rPr>
                                <m:t>𝑡</m:t>
                              </m:r>
                              <m:r>
                                <a:rPr lang="ar-AE" altLang="zh-CN" i="1" dirty="0">
                                  <a:latin typeface="Cambria Math" panose="02040503050406030204" pitchFamily="18" charset="0"/>
                                </a:rPr>
                                <m:t>h</m:t>
                              </m:r>
                              <m:r>
                                <a:rPr lang="zh-CN" altLang="ar-AE" i="1" dirty="0">
                                  <a:latin typeface="Cambria Math" panose="02040503050406030204" pitchFamily="18" charset="0"/>
                                </a:rPr>
                                <m:t>𝑡</m:t>
                              </m:r>
                            </m:sub>
                          </m:sSub>
                        </m:e>
                      </m:d>
                      <m:r>
                        <a:rPr lang="ar-AE" altLang="zh-CN" dirty="0">
                          <a:latin typeface="Cambria Math" panose="02040503050406030204" pitchFamily="18" charset="0"/>
                        </a:rPr>
                        <m:t>,</m:t>
                      </m:r>
                    </m:oMath>
                  </m:oMathPara>
                </a14:m>
                <a:endParaRPr lang="ar-AE"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从而让模型学习“基于指标的可追溯解释”。</a:t>
                </a:r>
              </a:p>
              <a:p>
                <a:pPr>
                  <a:lnSpc>
                    <a:spcPts val="25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）阶段二，最终判定（</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LLM(2)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LLM(2)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使用 </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𝑣𝑖𝑑</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、问题提示词 </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𝑃</m:t>
                        </m:r>
                      </m:e>
                      <m:sub>
                        <m:r>
                          <a:rPr lang="zh-CN" altLang="en-US" i="1" dirty="0">
                            <a:latin typeface="Cambria Math" panose="02040503050406030204" pitchFamily="18" charset="0"/>
                          </a:rPr>
                          <m:t>𝑞𝑡</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以及阶段一生成的 </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𝑅</m:t>
                        </m:r>
                      </m:e>
                      <m:sub>
                        <m:r>
                          <a:rPr lang="zh-CN" altLang="en-US" i="1" dirty="0">
                            <a:latin typeface="Cambria Math" panose="02040503050406030204" pitchFamily="18" charset="0"/>
                          </a:rPr>
                          <m:t>𝑐</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来预测真假标签 </a:t>
                </a:r>
                <a14:m>
                  <m:oMath xmlns:m="http://schemas.openxmlformats.org/officeDocument/2006/math">
                    <m:r>
                      <a:rPr lang="zh-CN" altLang="en-US" i="1" dirty="0">
                        <a:latin typeface="Cambria Math" panose="02040503050406030204" pitchFamily="18" charset="0"/>
                      </a:rPr>
                      <m:t>𝑦</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。其分类损失为：</a:t>
                </a:r>
              </a:p>
              <a:p>
                <a:pPr>
                  <a:lnSpc>
                    <a:spcPts val="2000"/>
                  </a:lnSpc>
                </a:pPr>
                <a14:m>
                  <m:oMathPara xmlns:m="http://schemas.openxmlformats.org/officeDocument/2006/math">
                    <m:oMathParaPr>
                      <m:jc m:val="centerGroup"/>
                    </m:oMathParaPr>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𝐿</m:t>
                          </m:r>
                        </m:e>
                        <m:sub>
                          <m:r>
                            <a:rPr lang="zh-CN" altLang="ar-AE" i="1" dirty="0">
                              <a:latin typeface="Cambria Math" panose="02040503050406030204" pitchFamily="18" charset="0"/>
                            </a:rPr>
                            <m:t>𝑎𝑛𝑠</m:t>
                          </m:r>
                        </m:sub>
                      </m:sSub>
                      <m:r>
                        <a:rPr lang="ar-AE" altLang="zh-CN" dirty="0">
                          <a:latin typeface="Cambria Math" panose="02040503050406030204" pitchFamily="18" charset="0"/>
                        </a:rPr>
                        <m:t>=−</m:t>
                      </m:r>
                      <m:func>
                        <m:funcPr>
                          <m:ctrlPr>
                            <a:rPr lang="ar-AE" altLang="zh-CN" i="1" dirty="0">
                              <a:latin typeface="Cambria Math" panose="02040503050406030204" pitchFamily="18" charset="0"/>
                            </a:rPr>
                          </m:ctrlPr>
                        </m:funcPr>
                        <m:fName>
                          <m:r>
                            <m:rPr>
                              <m:sty m:val="p"/>
                            </m:rPr>
                            <a:rPr lang="sq-AL" altLang="zh-CN" dirty="0">
                              <a:latin typeface="Cambria Math" panose="02040503050406030204" pitchFamily="18" charset="0"/>
                            </a:rPr>
                            <m:t>log</m:t>
                          </m:r>
                        </m:fName>
                        <m:e>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𝑝</m:t>
                              </m:r>
                            </m:e>
                            <m:sub>
                              <m:r>
                                <a:rPr lang="zh-CN" altLang="ar-AE" i="1" dirty="0">
                                  <a:latin typeface="Cambria Math" panose="02040503050406030204" pitchFamily="18" charset="0"/>
                                </a:rPr>
                                <m:t>𝑚𝑎𝑖𝑛</m:t>
                              </m:r>
                            </m:sub>
                          </m:sSub>
                        </m:e>
                      </m:func>
                      <m:d>
                        <m:dPr>
                          <m:sepChr m:val=","/>
                          <m:ctrlPr>
                            <a:rPr lang="ar-AE" altLang="zh-CN" i="1" dirty="0">
                              <a:latin typeface="Cambria Math" panose="02040503050406030204" pitchFamily="18" charset="0"/>
                            </a:rPr>
                          </m:ctrlPr>
                        </m:dPr>
                        <m:e>
                          <m:sSup>
                            <m:sSupPr>
                              <m:ctrlPr>
                                <a:rPr lang="ar-AE" altLang="zh-CN" i="1" dirty="0">
                                  <a:latin typeface="Cambria Math" panose="02040503050406030204" pitchFamily="18" charset="0"/>
                                </a:rPr>
                              </m:ctrlPr>
                            </m:sSupPr>
                            <m:e>
                              <m:r>
                                <a:rPr lang="zh-CN" altLang="ar-AE" i="1" dirty="0">
                                  <a:latin typeface="Cambria Math" panose="02040503050406030204" pitchFamily="18" charset="0"/>
                                </a:rPr>
                                <m:t>𝑦</m:t>
                              </m:r>
                            </m:e>
                            <m:sup>
                              <m:r>
                                <a:rPr lang="ar-AE" altLang="zh-CN" dirty="0">
                                  <a:latin typeface="Cambria Math" panose="02040503050406030204" pitchFamily="18" charset="0"/>
                                </a:rPr>
                                <m:t>∗</m:t>
                              </m:r>
                            </m:sup>
                          </m:sSup>
                        </m:e>
                        <m:e>
                          <m:r>
                            <a:rPr lang="ar-AE"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𝑣𝑖𝑑</m:t>
                              </m:r>
                            </m:sub>
                          </m:sSub>
                          <m:sSubSup>
                            <m:sSubSupPr>
                              <m:ctrlPr>
                                <a:rPr lang="ar-AE" altLang="zh-CN" i="1" dirty="0">
                                  <a:latin typeface="Cambria Math" panose="02040503050406030204" pitchFamily="18" charset="0"/>
                                </a:rPr>
                              </m:ctrlPr>
                            </m:sSubSupPr>
                            <m:e>
                              <m:r>
                                <a:rPr lang="zh-CN" altLang="ar-AE" i="1" dirty="0">
                                  <a:latin typeface="Cambria Math" panose="02040503050406030204" pitchFamily="18" charset="0"/>
                                </a:rPr>
                                <m:t>𝑅</m:t>
                              </m:r>
                            </m:e>
                            <m:sub>
                              <m:r>
                                <a:rPr lang="zh-CN" altLang="ar-AE" i="1" dirty="0">
                                  <a:latin typeface="Cambria Math" panose="02040503050406030204" pitchFamily="18" charset="0"/>
                                </a:rPr>
                                <m:t>𝑐</m:t>
                              </m:r>
                            </m:sub>
                            <m:sup>
                              <m:r>
                                <a:rPr lang="ar-AE" altLang="zh-CN" dirty="0">
                                  <a:latin typeface="Cambria Math" panose="02040503050406030204" pitchFamily="18" charset="0"/>
                                </a:rPr>
                                <m:t>∗</m:t>
                              </m:r>
                            </m:sup>
                          </m:sSubSup>
                        </m:e>
                      </m:d>
                      <m:r>
                        <a:rPr lang="ar-AE" altLang="zh-CN" dirty="0">
                          <a:latin typeface="Cambria Math" panose="02040503050406030204" pitchFamily="18" charset="0"/>
                        </a:rPr>
                        <m:t>,</m:t>
                      </m:r>
                    </m:oMath>
                  </m:oMathPara>
                </a14:m>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使模型能够在已给出解释的基础上进行准确判断。</a:t>
                </a:r>
              </a:p>
              <a:p>
                <a:pPr>
                  <a:lnSpc>
                    <a:spcPts val="2500"/>
                  </a:lnSpc>
                  <a:spcAft>
                    <a:spcPts val="900"/>
                  </a:spcAft>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）证据一致性约束（</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L_cons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br>
                  <a:rPr lang="zh-CN" altLang="en-US" dirty="0">
                    <a:latin typeface="Times New Roman" panose="02020603050405020304" pitchFamily="18" charset="0"/>
                    <a:ea typeface="微软雅黑" panose="020B0503020204020204" pitchFamily="34" charset="-122"/>
                    <a:cs typeface="Times New Roman" panose="02020603050405020304" pitchFamily="18" charset="0"/>
                  </a:rPr>
                </a:b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 为保证解释与最终判断依赖一致证据，论文从 </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𝑓𝑎𝑐</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中构建证据集合 </a:t>
                </a:r>
                <a14:m>
                  <m:oMath xmlns:m="http://schemas.openxmlformats.org/officeDocument/2006/math">
                    <m:r>
                      <a:rPr lang="zh-CN" altLang="en-US" i="1" dirty="0">
                        <a:latin typeface="Cambria Math" panose="02040503050406030204" pitchFamily="18" charset="0"/>
                      </a:rPr>
                      <m:t>𝐸</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，分别计算阶段一与阶段二对每项证据的注意力分布，并通过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KL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散度约束两者一致：</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14:m>
                  <m:oMathPara xmlns:m="http://schemas.openxmlformats.org/officeDocument/2006/math">
                    <m:oMathParaPr>
                      <m:jc m:val="centerGroup"/>
                    </m:oMathParaPr>
                    <m:oMath xmlns:m="http://schemas.openxmlformats.org/officeDocument/2006/math">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𝐿</m:t>
                          </m:r>
                        </m:e>
                        <m:sub>
                          <m:r>
                            <a:rPr lang="zh-CN" altLang="ar-AE" i="1" dirty="0">
                              <a:latin typeface="Cambria Math" panose="02040503050406030204" pitchFamily="18" charset="0"/>
                            </a:rPr>
                            <m:t>𝑐𝑜𝑛𝑠</m:t>
                          </m:r>
                        </m:sub>
                      </m:sSub>
                      <m:r>
                        <a:rPr lang="ar-AE" altLang="zh-CN" dirty="0">
                          <a:latin typeface="Cambria Math" panose="02040503050406030204" pitchFamily="18" charset="0"/>
                        </a:rPr>
                        <m:t>=</m:t>
                      </m:r>
                      <m:nary>
                        <m:naryPr>
                          <m:chr m:val="∑"/>
                          <m:grow m:val="on"/>
                          <m:supHide m:val="on"/>
                          <m:ctrlPr>
                            <a:rPr lang="ar-AE" altLang="zh-CN" i="1" dirty="0">
                              <a:latin typeface="Cambria Math" panose="02040503050406030204" pitchFamily="18" charset="0"/>
                            </a:rPr>
                          </m:ctrlPr>
                        </m:naryPr>
                        <m:sub>
                          <m:r>
                            <a:rPr lang="zh-CN" altLang="ar-AE" i="1" dirty="0">
                              <a:latin typeface="Cambria Math" panose="02040503050406030204" pitchFamily="18" charset="0"/>
                            </a:rPr>
                            <m:t>𝑒</m:t>
                          </m:r>
                          <m:r>
                            <a:rPr lang="ar-AE" altLang="zh-CN" dirty="0">
                              <a:latin typeface="Cambria Math" panose="02040503050406030204" pitchFamily="18" charset="0"/>
                            </a:rPr>
                            <m:t>∈</m:t>
                          </m:r>
                          <m:r>
                            <a:rPr lang="zh-CN" altLang="ar-AE" i="1" dirty="0">
                              <a:latin typeface="Cambria Math" panose="02040503050406030204" pitchFamily="18" charset="0"/>
                            </a:rPr>
                            <m:t>𝐸</m:t>
                          </m:r>
                        </m:sub>
                        <m:sup/>
                        <m:e>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𝑝</m:t>
                              </m:r>
                            </m:e>
                            <m:sub>
                              <m:r>
                                <a:rPr lang="zh-CN" altLang="ar-AE" i="1" dirty="0">
                                  <a:latin typeface="Cambria Math" panose="02040503050406030204" pitchFamily="18" charset="0"/>
                                </a:rPr>
                                <m:t>𝑎𝑠𝑠𝑡</m:t>
                              </m:r>
                            </m:sub>
                          </m:sSub>
                        </m:e>
                      </m:nary>
                      <m:d>
                        <m:dPr>
                          <m:ctrlPr>
                            <a:rPr lang="ar-AE" altLang="zh-CN" i="1" dirty="0">
                              <a:latin typeface="Cambria Math" panose="02040503050406030204" pitchFamily="18" charset="0"/>
                            </a:rPr>
                          </m:ctrlPr>
                        </m:dPr>
                        <m:e>
                          <m:r>
                            <a:rPr lang="zh-CN" altLang="ar-AE" i="1" dirty="0">
                              <a:latin typeface="Cambria Math" panose="02040503050406030204" pitchFamily="18" charset="0"/>
                            </a:rPr>
                            <m:t>𝑒</m:t>
                          </m:r>
                          <m:r>
                            <a:rPr lang="ar-AE"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𝑓𝑎𝑐</m:t>
                              </m:r>
                            </m:sub>
                          </m:sSub>
                        </m:e>
                      </m:d>
                      <m:func>
                        <m:funcPr>
                          <m:ctrlPr>
                            <a:rPr lang="ar-AE" altLang="zh-CN" i="1" dirty="0">
                              <a:latin typeface="Cambria Math" panose="02040503050406030204" pitchFamily="18" charset="0"/>
                            </a:rPr>
                          </m:ctrlPr>
                        </m:funcPr>
                        <m:fName>
                          <m:r>
                            <m:rPr>
                              <m:sty m:val="p"/>
                            </m:rPr>
                            <a:rPr lang="sq-AL" altLang="zh-CN" dirty="0">
                              <a:latin typeface="Cambria Math" panose="02040503050406030204" pitchFamily="18" charset="0"/>
                            </a:rPr>
                            <m:t>log</m:t>
                          </m:r>
                        </m:fName>
                        <m:e>
                          <m:f>
                            <m:fPr>
                              <m:ctrlPr>
                                <a:rPr lang="ar-AE" altLang="zh-CN" i="1" dirty="0">
                                  <a:latin typeface="Cambria Math" panose="02040503050406030204" pitchFamily="18" charset="0"/>
                                </a:rPr>
                              </m:ctrlPr>
                            </m:fPr>
                            <m:num>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𝑝</m:t>
                                  </m:r>
                                </m:e>
                                <m:sub>
                                  <m:r>
                                    <a:rPr lang="zh-CN" altLang="ar-AE" i="1" dirty="0">
                                      <a:latin typeface="Cambria Math" panose="02040503050406030204" pitchFamily="18" charset="0"/>
                                    </a:rPr>
                                    <m:t>𝑎𝑠𝑠𝑡</m:t>
                                  </m:r>
                                </m:sub>
                              </m:sSub>
                              <m:d>
                                <m:dPr>
                                  <m:ctrlPr>
                                    <a:rPr lang="ar-AE" altLang="zh-CN" i="1" dirty="0">
                                      <a:latin typeface="Cambria Math" panose="02040503050406030204" pitchFamily="18" charset="0"/>
                                    </a:rPr>
                                  </m:ctrlPr>
                                </m:dPr>
                                <m:e>
                                  <m:r>
                                    <a:rPr lang="zh-CN" altLang="ar-AE" i="1" dirty="0">
                                      <a:latin typeface="Cambria Math" panose="02040503050406030204" pitchFamily="18" charset="0"/>
                                    </a:rPr>
                                    <m:t>𝑒</m:t>
                                  </m:r>
                                  <m:r>
                                    <a:rPr lang="ar-AE"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𝑓𝑎𝑐</m:t>
                                      </m:r>
                                    </m:sub>
                                  </m:sSub>
                                </m:e>
                              </m:d>
                            </m:num>
                            <m:den>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𝑝</m:t>
                                  </m:r>
                                </m:e>
                                <m:sub>
                                  <m:r>
                                    <a:rPr lang="zh-CN" altLang="ar-AE" i="1" dirty="0">
                                      <a:latin typeface="Cambria Math" panose="02040503050406030204" pitchFamily="18" charset="0"/>
                                    </a:rPr>
                                    <m:t>𝑚𝑎𝑖𝑛</m:t>
                                  </m:r>
                                </m:sub>
                              </m:sSub>
                              <m:d>
                                <m:dPr>
                                  <m:sepChr m:val=","/>
                                  <m:ctrlPr>
                                    <a:rPr lang="ar-AE" altLang="zh-CN" i="1" dirty="0">
                                      <a:latin typeface="Cambria Math" panose="02040503050406030204" pitchFamily="18" charset="0"/>
                                    </a:rPr>
                                  </m:ctrlPr>
                                </m:dPr>
                                <m:e>
                                  <m:r>
                                    <a:rPr lang="zh-CN" altLang="ar-AE" i="1" dirty="0">
                                      <a:latin typeface="Cambria Math" panose="02040503050406030204" pitchFamily="18" charset="0"/>
                                    </a:rPr>
                                    <m:t>𝑒</m:t>
                                  </m:r>
                                </m:e>
                                <m:e>
                                  <m:r>
                                    <a:rPr lang="ar-AE"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𝑣𝑖𝑑</m:t>
                                      </m:r>
                                    </m:sub>
                                  </m:sSub>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𝑇</m:t>
                                      </m:r>
                                    </m:e>
                                    <m:sub>
                                      <m:r>
                                        <a:rPr lang="zh-CN" altLang="ar-AE" i="1" dirty="0">
                                          <a:latin typeface="Cambria Math" panose="02040503050406030204" pitchFamily="18" charset="0"/>
                                        </a:rPr>
                                        <m:t>𝑡𝑥𝑡</m:t>
                                      </m:r>
                                    </m:sub>
                                  </m:sSub>
                                </m:e>
                              </m:d>
                            </m:den>
                          </m:f>
                        </m:e>
                      </m:func>
                      <m:r>
                        <a:rPr lang="ar-AE" altLang="zh-CN" dirty="0">
                          <a:latin typeface="Cambria Math" panose="02040503050406030204" pitchFamily="18" charset="0"/>
                        </a:rPr>
                        <m:t>.</m:t>
                      </m:r>
                    </m:oMath>
                  </m:oMathPara>
                </a14:m>
                <a:endParaRPr lang="ar-AE"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）总损失函数</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三者加权组合为最终优化目标：</a:t>
                </a:r>
              </a:p>
              <a:p>
                <a:pPr>
                  <a:lnSpc>
                    <a:spcPts val="2500"/>
                  </a:lnSpc>
                </a:pPr>
                <a14:m>
                  <m:oMathPara xmlns:m="http://schemas.openxmlformats.org/officeDocument/2006/math">
                    <m:oMathParaPr>
                      <m:jc m:val="centerGroup"/>
                    </m:oMathParaPr>
                    <m:oMath xmlns:m="http://schemas.openxmlformats.org/officeDocument/2006/math">
                      <m:r>
                        <a:rPr lang="zh-CN" altLang="en-US" i="1" dirty="0">
                          <a:latin typeface="Cambria Math" panose="02040503050406030204" pitchFamily="18" charset="0"/>
                        </a:rPr>
                        <m:t>𝐿</m:t>
                      </m:r>
                      <m:r>
                        <a:rPr lang="en-US"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𝜆</m:t>
                          </m:r>
                        </m:e>
                        <m:sub>
                          <m:r>
                            <a:rPr lang="ar-AE" altLang="zh-CN" dirty="0">
                              <a:latin typeface="Cambria Math" panose="02040503050406030204" pitchFamily="18" charset="0"/>
                            </a:rPr>
                            <m:t>1</m:t>
                          </m:r>
                        </m:sub>
                      </m:sSub>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𝐿</m:t>
                          </m:r>
                        </m:e>
                        <m:sub>
                          <m:r>
                            <a:rPr lang="zh-CN" altLang="ar-AE" i="1" dirty="0">
                              <a:latin typeface="Cambria Math" panose="02040503050406030204" pitchFamily="18" charset="0"/>
                            </a:rPr>
                            <m:t>𝑟𝑙𝑒</m:t>
                          </m:r>
                        </m:sub>
                      </m:sSub>
                      <m:r>
                        <a:rPr lang="ar-AE"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𝜆</m:t>
                          </m:r>
                        </m:e>
                        <m:sub>
                          <m:r>
                            <a:rPr lang="ar-AE" altLang="zh-CN" dirty="0">
                              <a:latin typeface="Cambria Math" panose="02040503050406030204" pitchFamily="18" charset="0"/>
                            </a:rPr>
                            <m:t>2</m:t>
                          </m:r>
                        </m:sub>
                      </m:sSub>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𝐿</m:t>
                          </m:r>
                        </m:e>
                        <m:sub>
                          <m:r>
                            <a:rPr lang="zh-CN" altLang="ar-AE" i="1" dirty="0">
                              <a:latin typeface="Cambria Math" panose="02040503050406030204" pitchFamily="18" charset="0"/>
                            </a:rPr>
                            <m:t>𝑎𝑛𝑠</m:t>
                          </m:r>
                        </m:sub>
                      </m:sSub>
                      <m:r>
                        <a:rPr lang="ar-AE" altLang="zh-CN" dirty="0">
                          <a:latin typeface="Cambria Math" panose="02040503050406030204" pitchFamily="18" charset="0"/>
                        </a:rPr>
                        <m:t>+</m:t>
                      </m:r>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𝜆</m:t>
                          </m:r>
                        </m:e>
                        <m:sub>
                          <m:r>
                            <a:rPr lang="ar-AE" altLang="zh-CN" dirty="0">
                              <a:latin typeface="Cambria Math" panose="02040503050406030204" pitchFamily="18" charset="0"/>
                            </a:rPr>
                            <m:t>3</m:t>
                          </m:r>
                        </m:sub>
                      </m:sSub>
                      <m:sSub>
                        <m:sSubPr>
                          <m:ctrlPr>
                            <a:rPr lang="ar-AE" altLang="zh-CN" i="1" dirty="0">
                              <a:latin typeface="Cambria Math" panose="02040503050406030204" pitchFamily="18" charset="0"/>
                            </a:rPr>
                          </m:ctrlPr>
                        </m:sSubPr>
                        <m:e>
                          <m:r>
                            <a:rPr lang="zh-CN" altLang="ar-AE" i="1" dirty="0">
                              <a:latin typeface="Cambria Math" panose="02040503050406030204" pitchFamily="18" charset="0"/>
                            </a:rPr>
                            <m:t>𝐿</m:t>
                          </m:r>
                        </m:e>
                        <m:sub>
                          <m:r>
                            <a:rPr lang="zh-CN" altLang="ar-AE" i="1" dirty="0">
                              <a:latin typeface="Cambria Math" panose="02040503050406030204" pitchFamily="18" charset="0"/>
                            </a:rPr>
                            <m:t>𝑐𝑜𝑛𝑠</m:t>
                          </m:r>
                        </m:sub>
                      </m:sSub>
                      <m:r>
                        <a:rPr lang="ar-AE" altLang="zh-CN" dirty="0">
                          <a:latin typeface="Cambria Math" panose="02040503050406030204" pitchFamily="18" charset="0"/>
                        </a:rPr>
                        <m:t>.</m:t>
                      </m:r>
                    </m:oMath>
                  </m:oMathPara>
                </a14:m>
                <a:endParaRPr lang="ar-AE"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25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该策略保证了模型从结构化面部动态到最终真假判断的推理链条完整、证据一致且可解释</a:t>
                </a:r>
              </a:p>
              <a:p>
                <a:pPr>
                  <a:lnSpc>
                    <a:spcPts val="2500"/>
                  </a:lnSpc>
                </a:pPr>
                <a:endParaRPr lang="zh-CN" altLang="en-US"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CD60345A-5FC5-B641-EC6A-E6C6F6CDD3D7}"/>
                  </a:ext>
                </a:extLst>
              </p:cNvPr>
              <p:cNvSpPr txBox="1">
                <a:spLocks noRot="1" noChangeAspect="1" noMove="1" noResize="1" noEditPoints="1" noAdjustHandles="1" noChangeArrowheads="1" noChangeShapeType="1" noTextEdit="1"/>
              </p:cNvSpPr>
              <p:nvPr/>
            </p:nvSpPr>
            <p:spPr>
              <a:xfrm>
                <a:off x="802300" y="845874"/>
                <a:ext cx="10946691" cy="6067943"/>
              </a:xfrm>
              <a:prstGeom prst="rect">
                <a:avLst/>
              </a:prstGeom>
              <a:blipFill>
                <a:blip r:embed="rId2"/>
                <a:stretch>
                  <a:fillRect l="-501" t="-7236" r="-3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90489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D74D-2E40-FF9A-E51D-1D197F72E57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418889-6800-65D4-65E0-B6C65C9BDFCB}"/>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16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976457E8-9419-2ECF-99E6-F38B3661E32E}"/>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对比实验</a:t>
            </a:r>
          </a:p>
        </p:txBody>
      </p:sp>
      <p:sp>
        <p:nvSpPr>
          <p:cNvPr id="7" name="文本占位符 3">
            <a:extLst>
              <a:ext uri="{FF2B5EF4-FFF2-40B4-BE49-F238E27FC236}">
                <a16:creationId xmlns:a16="http://schemas.microsoft.com/office/drawing/2014/main" id="{201D6E48-B968-972F-6F7F-A65C99F04E7F}"/>
              </a:ext>
            </a:extLst>
          </p:cNvPr>
          <p:cNvSpPr txBox="1">
            <a:spLocks/>
          </p:cNvSpPr>
          <p:nvPr/>
        </p:nvSpPr>
        <p:spPr>
          <a:xfrm>
            <a:off x="442913" y="666005"/>
            <a:ext cx="8116296" cy="2667302"/>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lang="zh-CN" altLang="en-US" sz="2000" b="1" kern="1200" dirty="0" smtClean="0">
                <a:solidFill>
                  <a:schemeClr val="tx1">
                    <a:lumMod val="75000"/>
                    <a:lumOff val="25000"/>
                  </a:schemeClr>
                </a:solidFill>
                <a:effectLst/>
                <a:latin typeface="+mn-lt"/>
                <a:ea typeface="+mn-ea"/>
                <a:cs typeface="+mn-ea"/>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a:lnSpc>
                <a:spcPct val="10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两类对比对象：</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传统深伪检测模型</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（如 </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Xception</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DSP-FWA</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B4</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B4ATT</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MCX-API</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S-TAD</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以及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多模态大模型（</a:t>
            </a:r>
            <a:r>
              <a:rPr lang="sq-AL" altLang="zh-CN" sz="1800" dirty="0">
                <a:latin typeface="微软雅黑" panose="020B0503020204020204" pitchFamily="34" charset="-122"/>
                <a:ea typeface="微软雅黑" panose="020B0503020204020204" pitchFamily="34" charset="-122"/>
                <a:cs typeface="Times New Roman" panose="02020603050405020304" pitchFamily="18" charset="0"/>
              </a:rPr>
              <a:t>MLLM</a:t>
            </a:r>
            <a:r>
              <a:rPr lang="zh-CN" altLang="sq-AL" sz="18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包括 </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Video-LLaVA</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Video-ChatGPT</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VideoChat</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VideoLLaMA3</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0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评价指标：视频级检测任务常用的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Acc</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AUC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与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F1</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CIDEr</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ROUGE-L</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BLEU-4</a:t>
            </a:r>
            <a:r>
              <a:rPr lang="zh-CN" altLang="sq-AL" sz="1800" b="0" dirty="0">
                <a:latin typeface="微软雅黑" panose="020B0503020204020204" pitchFamily="34" charset="-122"/>
                <a:ea typeface="微软雅黑" panose="020B0503020204020204" pitchFamily="34" charset="-122"/>
                <a:cs typeface="Times New Roman" panose="02020603050405020304" pitchFamily="18" charset="0"/>
              </a:rPr>
              <a:t>、</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METEOR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和 </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CSS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等文本相似性评估指标</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0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所有方法均在同一训练集 </a:t>
            </a:r>
            <a:r>
              <a:rPr lang="sq-AL" altLang="zh-CN" sz="1800" b="0" dirty="0">
                <a:latin typeface="微软雅黑" panose="020B0503020204020204" pitchFamily="34" charset="-122"/>
                <a:ea typeface="微软雅黑" panose="020B0503020204020204" pitchFamily="34" charset="-122"/>
                <a:cs typeface="Times New Roman" panose="02020603050405020304" pitchFamily="18" charset="0"/>
              </a:rPr>
              <a:t>ER-FF++set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上重新训练，以保证公平性</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a:extLst>
              <a:ext uri="{FF2B5EF4-FFF2-40B4-BE49-F238E27FC236}">
                <a16:creationId xmlns:a16="http://schemas.microsoft.com/office/drawing/2014/main" id="{8EEA1616-D6F4-D0D5-EF87-8B6F0AA53E2F}"/>
              </a:ext>
            </a:extLst>
          </p:cNvPr>
          <p:cNvPicPr>
            <a:picLocks noChangeAspect="1"/>
          </p:cNvPicPr>
          <p:nvPr/>
        </p:nvPicPr>
        <p:blipFill>
          <a:blip r:embed="rId2"/>
          <a:srcRect t="30452" b="3881"/>
          <a:stretch>
            <a:fillRect/>
          </a:stretch>
        </p:blipFill>
        <p:spPr>
          <a:xfrm>
            <a:off x="546596" y="3143027"/>
            <a:ext cx="5549403" cy="1764039"/>
          </a:xfrm>
          <a:prstGeom prst="rect">
            <a:avLst/>
          </a:prstGeom>
        </p:spPr>
      </p:pic>
      <p:pic>
        <p:nvPicPr>
          <p:cNvPr id="14" name="图片 13">
            <a:extLst>
              <a:ext uri="{FF2B5EF4-FFF2-40B4-BE49-F238E27FC236}">
                <a16:creationId xmlns:a16="http://schemas.microsoft.com/office/drawing/2014/main" id="{8EB3DD1F-C4C8-05DF-B55B-6404DCBAE78D}"/>
              </a:ext>
            </a:extLst>
          </p:cNvPr>
          <p:cNvPicPr>
            <a:picLocks noChangeAspect="1"/>
          </p:cNvPicPr>
          <p:nvPr/>
        </p:nvPicPr>
        <p:blipFill>
          <a:blip r:embed="rId3"/>
          <a:srcRect t="9899" b="4715"/>
          <a:stretch>
            <a:fillRect/>
          </a:stretch>
        </p:blipFill>
        <p:spPr>
          <a:xfrm>
            <a:off x="546596" y="4907066"/>
            <a:ext cx="5549403" cy="1519896"/>
          </a:xfrm>
          <a:prstGeom prst="rect">
            <a:avLst/>
          </a:prstGeom>
        </p:spPr>
      </p:pic>
      <p:pic>
        <p:nvPicPr>
          <p:cNvPr id="16" name="图片 15">
            <a:extLst>
              <a:ext uri="{FF2B5EF4-FFF2-40B4-BE49-F238E27FC236}">
                <a16:creationId xmlns:a16="http://schemas.microsoft.com/office/drawing/2014/main" id="{ACDF2CAD-2D9B-AA6B-44DF-F080B563293B}"/>
              </a:ext>
            </a:extLst>
          </p:cNvPr>
          <p:cNvPicPr>
            <a:picLocks noChangeAspect="1"/>
          </p:cNvPicPr>
          <p:nvPr/>
        </p:nvPicPr>
        <p:blipFill>
          <a:blip r:embed="rId4"/>
          <a:stretch>
            <a:fillRect/>
          </a:stretch>
        </p:blipFill>
        <p:spPr>
          <a:xfrm>
            <a:off x="6683557" y="2991659"/>
            <a:ext cx="4653719" cy="3622771"/>
          </a:xfrm>
          <a:prstGeom prst="rect">
            <a:avLst/>
          </a:prstGeom>
        </p:spPr>
      </p:pic>
    </p:spTree>
    <p:extLst>
      <p:ext uri="{BB962C8B-B14F-4D97-AF65-F5344CB8AC3E}">
        <p14:creationId xmlns:p14="http://schemas.microsoft.com/office/powerpoint/2010/main" val="1476559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EC4E0-4BFF-D4B0-8BBB-46390729C36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555A594-15ED-0757-4C0B-7D99FC3117B9}"/>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17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1986BF9-1A2D-2369-E28C-968CE7F9BF17}"/>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消融实验</a:t>
            </a:r>
          </a:p>
        </p:txBody>
      </p:sp>
      <p:sp>
        <p:nvSpPr>
          <p:cNvPr id="17" name="文本占位符 3">
            <a:extLst>
              <a:ext uri="{FF2B5EF4-FFF2-40B4-BE49-F238E27FC236}">
                <a16:creationId xmlns:a16="http://schemas.microsoft.com/office/drawing/2014/main" id="{603F20FC-C467-ADBA-2DEC-EBD2C923E0AB}"/>
              </a:ext>
            </a:extLst>
          </p:cNvPr>
          <p:cNvSpPr>
            <a:spLocks noGrp="1"/>
          </p:cNvSpPr>
          <p:nvPr>
            <p:ph type="body" sz="quarter" idx="10"/>
          </p:nvPr>
        </p:nvSpPr>
        <p:spPr>
          <a:xfrm>
            <a:off x="1534623" y="3780263"/>
            <a:ext cx="9583142" cy="2646699"/>
          </a:xfrm>
        </p:spPr>
        <p:txBody>
          <a:bodyPr>
            <a:normAutofit lnSpcReduction="10000"/>
          </a:bodyPr>
          <a:lstStyle/>
          <a:p>
            <a:pPr marL="0" indent="0" defTabSz="457200">
              <a:lnSpc>
                <a:spcPct val="150000"/>
              </a:lnSpc>
              <a:buNone/>
            </a:pPr>
            <a:r>
              <a:rPr lang="sq-AL" altLang="zh-CN" sz="1800" dirty="0">
                <a:latin typeface="微软雅黑" panose="020B0503020204020204" pitchFamily="34" charset="-122"/>
                <a:ea typeface="微软雅黑" panose="020B0503020204020204" pitchFamily="34" charset="-122"/>
              </a:rPr>
              <a:t>ST-SIT </a:t>
            </a:r>
            <a:r>
              <a:rPr lang="zh-CN" altLang="en-US" sz="1800" dirty="0">
                <a:latin typeface="微软雅黑" panose="020B0503020204020204" pitchFamily="34" charset="-122"/>
                <a:ea typeface="微软雅黑" panose="020B0503020204020204" pitchFamily="34" charset="-122"/>
              </a:rPr>
              <a:t>模块消融：</a:t>
            </a:r>
            <a:r>
              <a:rPr lang="zh-CN" altLang="en-US" sz="1800" b="0" dirty="0">
                <a:latin typeface="微软雅黑" panose="020B0503020204020204" pitchFamily="34" charset="-122"/>
                <a:ea typeface="微软雅黑" panose="020B0503020204020204" pitchFamily="34" charset="-122"/>
              </a:rPr>
              <a:t>去掉 </a:t>
            </a:r>
            <a:r>
              <a:rPr lang="sq-AL" altLang="zh-CN" sz="1800" b="0" dirty="0">
                <a:latin typeface="微软雅黑" panose="020B0503020204020204" pitchFamily="34" charset="-122"/>
                <a:ea typeface="微软雅黑" panose="020B0503020204020204" pitchFamily="34" charset="-122"/>
              </a:rPr>
              <a:t>DSEncoder</a:t>
            </a:r>
            <a:r>
              <a:rPr lang="zh-CN" altLang="sq-AL" sz="1800" b="0" dirty="0">
                <a:latin typeface="微软雅黑" panose="020B0503020204020204" pitchFamily="34" charset="-122"/>
                <a:ea typeface="微软雅黑" panose="020B0503020204020204" pitchFamily="34" charset="-122"/>
              </a:rPr>
              <a:t>、</a:t>
            </a:r>
            <a:r>
              <a:rPr lang="sq-AL" altLang="zh-CN" sz="1800" b="0" dirty="0">
                <a:latin typeface="微软雅黑" panose="020B0503020204020204" pitchFamily="34" charset="-122"/>
                <a:ea typeface="微软雅黑" panose="020B0503020204020204" pitchFamily="34" charset="-122"/>
              </a:rPr>
              <a:t>CVC </a:t>
            </a:r>
            <a:r>
              <a:rPr lang="zh-CN" altLang="en-US" sz="1800" b="0" dirty="0">
                <a:latin typeface="微软雅黑" panose="020B0503020204020204" pitchFamily="34" charset="-122"/>
                <a:ea typeface="微软雅黑" panose="020B0503020204020204" pitchFamily="34" charset="-122"/>
              </a:rPr>
              <a:t>或跨注意力中的任意一项都会明显降低准确率，三者共同作用才能获得最佳时空特征提取效果。</a:t>
            </a:r>
            <a:endParaRPr lang="en-US" altLang="zh-CN" sz="18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网格大小消融：</a:t>
            </a:r>
            <a:r>
              <a:rPr lang="zh-CN" altLang="en-US" sz="1800" b="0" dirty="0">
                <a:latin typeface="微软雅黑" panose="020B0503020204020204" pitchFamily="34" charset="-122"/>
                <a:ea typeface="微软雅黑" panose="020B0503020204020204" pitchFamily="34" charset="-122"/>
              </a:rPr>
              <a:t>使用较大的帧网格（如 </a:t>
            </a:r>
            <a:r>
              <a:rPr lang="en-US" altLang="zh-CN" sz="1800" b="0" dirty="0">
                <a:latin typeface="微软雅黑" panose="020B0503020204020204" pitchFamily="34" charset="-122"/>
                <a:ea typeface="微软雅黑" panose="020B0503020204020204" pitchFamily="34" charset="-122"/>
              </a:rPr>
              <a:t>8×9</a:t>
            </a:r>
            <a:r>
              <a:rPr lang="zh-CN" altLang="en-US" sz="1800" b="0" dirty="0">
                <a:latin typeface="微软雅黑" panose="020B0503020204020204" pitchFamily="34" charset="-122"/>
                <a:ea typeface="微软雅黑" panose="020B0503020204020204" pitchFamily="34" charset="-122"/>
              </a:rPr>
              <a:t>）能捕获更完整的时序变化，因此性能最高；减少帧数或空间覆盖会导致检测能力下降。</a:t>
            </a:r>
            <a:endParaRPr lang="en-US" altLang="zh-CN" sz="1800" b="0" dirty="0">
              <a:latin typeface="微软雅黑" panose="020B0503020204020204" pitchFamily="34" charset="-122"/>
              <a:ea typeface="微软雅黑" panose="020B0503020204020204" pitchFamily="34" charset="-122"/>
            </a:endParaRPr>
          </a:p>
          <a:p>
            <a:pPr marL="0" indent="0" defTabSz="457200">
              <a:lnSpc>
                <a:spcPct val="150000"/>
              </a:lnSpc>
              <a:buNone/>
            </a:pPr>
            <a:r>
              <a:rPr lang="sq-AL" altLang="zh-CN" sz="1800" dirty="0">
                <a:latin typeface="微软雅黑" panose="020B0503020204020204" pitchFamily="34" charset="-122"/>
                <a:ea typeface="微软雅黑" panose="020B0503020204020204" pitchFamily="34" charset="-122"/>
              </a:rPr>
              <a:t>Fg-MCoT </a:t>
            </a:r>
            <a:r>
              <a:rPr lang="zh-CN" altLang="en-US" sz="1800" dirty="0">
                <a:latin typeface="微软雅黑" panose="020B0503020204020204" pitchFamily="34" charset="-122"/>
                <a:ea typeface="微软雅黑" panose="020B0503020204020204" pitchFamily="34" charset="-122"/>
              </a:rPr>
              <a:t>消融：</a:t>
            </a:r>
            <a:r>
              <a:rPr lang="zh-CN" altLang="en-US" sz="1800" b="0" dirty="0">
                <a:latin typeface="微软雅黑" panose="020B0503020204020204" pitchFamily="34" charset="-122"/>
                <a:ea typeface="微软雅黑" panose="020B0503020204020204" pitchFamily="34" charset="-122"/>
              </a:rPr>
              <a:t>去除人脸完整性特征 </a:t>
            </a:r>
            <a:r>
              <a:rPr lang="en-US" altLang="zh-CN" sz="1800" b="0" dirty="0">
                <a:latin typeface="微软雅黑" panose="020B0503020204020204" pitchFamily="34" charset="-122"/>
                <a:ea typeface="微软雅黑" panose="020B0503020204020204" pitchFamily="34" charset="-122"/>
              </a:rPr>
              <a:t>Mₑ</a:t>
            </a:r>
            <a:r>
              <a:rPr lang="zh-CN" altLang="en-US" sz="1800" b="0" dirty="0">
                <a:latin typeface="微软雅黑" panose="020B0503020204020204" pitchFamily="34" charset="-122"/>
                <a:ea typeface="微软雅黑" panose="020B0503020204020204" pitchFamily="34" charset="-122"/>
              </a:rPr>
              <a:t>、变化特征 </a:t>
            </a:r>
            <a:r>
              <a:rPr lang="en-US" altLang="zh-CN" sz="1800" b="0" dirty="0">
                <a:latin typeface="微软雅黑" panose="020B0503020204020204" pitchFamily="34" charset="-122"/>
                <a:ea typeface="微软雅黑" panose="020B0503020204020204" pitchFamily="34" charset="-122"/>
              </a:rPr>
              <a:t>M_Δ </a:t>
            </a:r>
            <a:r>
              <a:rPr lang="zh-CN" altLang="en-US" sz="1800" b="0" dirty="0">
                <a:latin typeface="微软雅黑" panose="020B0503020204020204" pitchFamily="34" charset="-122"/>
                <a:ea typeface="微软雅黑" panose="020B0503020204020204" pitchFamily="34" charset="-122"/>
              </a:rPr>
              <a:t>或整个 </a:t>
            </a:r>
            <a:r>
              <a:rPr lang="en-US" altLang="zh-CN" sz="1800" b="0" dirty="0" err="1">
                <a:latin typeface="微软雅黑" panose="020B0503020204020204" pitchFamily="34" charset="-122"/>
                <a:ea typeface="微软雅黑" panose="020B0503020204020204" pitchFamily="34" charset="-122"/>
              </a:rPr>
              <a:t>Fg-MCoT</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模块都会显著削弱表现，说明结构化人脸指标对稳定推理和减少幻觉至关重要。</a:t>
            </a:r>
            <a:endParaRPr lang="en-US" altLang="zh-CN" sz="1800" b="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86F0AB26-16B1-5EAE-6400-2269D52ABD4F}"/>
              </a:ext>
            </a:extLst>
          </p:cNvPr>
          <p:cNvPicPr>
            <a:picLocks noChangeAspect="1"/>
          </p:cNvPicPr>
          <p:nvPr/>
        </p:nvPicPr>
        <p:blipFill>
          <a:blip r:embed="rId2"/>
          <a:stretch>
            <a:fillRect/>
          </a:stretch>
        </p:blipFill>
        <p:spPr>
          <a:xfrm>
            <a:off x="442913" y="1002106"/>
            <a:ext cx="6007333" cy="2376528"/>
          </a:xfrm>
          <a:prstGeom prst="rect">
            <a:avLst/>
          </a:prstGeom>
        </p:spPr>
      </p:pic>
      <p:pic>
        <p:nvPicPr>
          <p:cNvPr id="9" name="图片 8">
            <a:extLst>
              <a:ext uri="{FF2B5EF4-FFF2-40B4-BE49-F238E27FC236}">
                <a16:creationId xmlns:a16="http://schemas.microsoft.com/office/drawing/2014/main" id="{56FEB197-0F6C-CF1C-0DB1-9C805916EC9D}"/>
              </a:ext>
            </a:extLst>
          </p:cNvPr>
          <p:cNvPicPr>
            <a:picLocks noChangeAspect="1"/>
          </p:cNvPicPr>
          <p:nvPr/>
        </p:nvPicPr>
        <p:blipFill>
          <a:blip r:embed="rId3"/>
          <a:srcRect t="7356"/>
          <a:stretch>
            <a:fillRect/>
          </a:stretch>
        </p:blipFill>
        <p:spPr>
          <a:xfrm>
            <a:off x="6706290" y="2391184"/>
            <a:ext cx="4622800" cy="1505049"/>
          </a:xfrm>
          <a:prstGeom prst="rect">
            <a:avLst/>
          </a:prstGeom>
        </p:spPr>
      </p:pic>
      <p:pic>
        <p:nvPicPr>
          <p:cNvPr id="11" name="图片 10">
            <a:extLst>
              <a:ext uri="{FF2B5EF4-FFF2-40B4-BE49-F238E27FC236}">
                <a16:creationId xmlns:a16="http://schemas.microsoft.com/office/drawing/2014/main" id="{81673A70-919C-E828-20E0-6431B8830AB3}"/>
              </a:ext>
            </a:extLst>
          </p:cNvPr>
          <p:cNvPicPr>
            <a:picLocks noChangeAspect="1"/>
          </p:cNvPicPr>
          <p:nvPr/>
        </p:nvPicPr>
        <p:blipFill>
          <a:blip r:embed="rId4"/>
          <a:stretch>
            <a:fillRect/>
          </a:stretch>
        </p:blipFill>
        <p:spPr>
          <a:xfrm>
            <a:off x="6638600" y="1002106"/>
            <a:ext cx="4690490" cy="1505048"/>
          </a:xfrm>
          <a:prstGeom prst="rect">
            <a:avLst/>
          </a:prstGeom>
        </p:spPr>
      </p:pic>
    </p:spTree>
    <p:extLst>
      <p:ext uri="{BB962C8B-B14F-4D97-AF65-F5344CB8AC3E}">
        <p14:creationId xmlns:p14="http://schemas.microsoft.com/office/powerpoint/2010/main" val="2786091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5F542-C644-28FB-74F3-9B4F8D589C0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8F2AE7B-8590-34CC-07F7-224B2C5D78DD}"/>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18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845339D6-8971-480B-4425-3C64B1399D1D}"/>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定性对比</a:t>
            </a:r>
          </a:p>
        </p:txBody>
      </p:sp>
      <p:pic>
        <p:nvPicPr>
          <p:cNvPr id="8" name="图片 7">
            <a:extLst>
              <a:ext uri="{FF2B5EF4-FFF2-40B4-BE49-F238E27FC236}">
                <a16:creationId xmlns:a16="http://schemas.microsoft.com/office/drawing/2014/main" id="{8E31DF01-CE59-D1AD-D5EE-4C45EBB5167D}"/>
              </a:ext>
            </a:extLst>
          </p:cNvPr>
          <p:cNvPicPr>
            <a:picLocks noChangeAspect="1"/>
          </p:cNvPicPr>
          <p:nvPr/>
        </p:nvPicPr>
        <p:blipFill>
          <a:blip r:embed="rId2"/>
          <a:srcRect b="1010"/>
          <a:stretch>
            <a:fillRect/>
          </a:stretch>
        </p:blipFill>
        <p:spPr>
          <a:xfrm>
            <a:off x="609262" y="903612"/>
            <a:ext cx="3705929" cy="5523350"/>
          </a:xfrm>
          <a:prstGeom prst="rect">
            <a:avLst/>
          </a:prstGeom>
        </p:spPr>
      </p:pic>
      <p:sp>
        <p:nvSpPr>
          <p:cNvPr id="12" name="文本框 11">
            <a:extLst>
              <a:ext uri="{FF2B5EF4-FFF2-40B4-BE49-F238E27FC236}">
                <a16:creationId xmlns:a16="http://schemas.microsoft.com/office/drawing/2014/main" id="{F9D62D83-FC28-AC3C-A3DA-48815DFF0D93}"/>
              </a:ext>
            </a:extLst>
          </p:cNvPr>
          <p:cNvSpPr txBox="1"/>
          <p:nvPr/>
        </p:nvSpPr>
        <p:spPr>
          <a:xfrm>
            <a:off x="5060770" y="1133622"/>
            <a:ext cx="6804128" cy="5154744"/>
          </a:xfrm>
          <a:prstGeom prst="rect">
            <a:avLst/>
          </a:prstGeom>
          <a:noFill/>
        </p:spPr>
        <p:txBody>
          <a:bodyPr wrap="square">
            <a:spAutoFit/>
          </a:bodyPr>
          <a:lstStyle/>
          <a:p>
            <a:pPr>
              <a:lnSpc>
                <a:spcPts val="4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在这段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deepfake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视频上，</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大多数 </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MLLM</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VideoLLaVA</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VideoChatGPT</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等）都误判为真实</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，因为它们只关注表面静态特征，难以感知跨帧不连续、微小时序异常等伪造特征。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VideoLLaMA3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虽然判断正确，</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但解释仍较单薄，只捕捉到部分边界漂移和亮度轻微跳变。</a:t>
            </a:r>
          </a:p>
          <a:p>
            <a:pPr>
              <a:lnSpc>
                <a:spcPts val="4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相比之下，本文方法能识别多种伪造迹象：包括皮肤纹理过度平滑、脸部尺度在帧间不自然变化、嘴部与头部运动不同步、面部噪声纹理重复，以及人脸关键点轨迹异常等。</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基于这些稳定的时空异常证据，</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DVD-</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LLaMA</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可得出准确的检测判定以及可靠的解释理由。</a:t>
            </a:r>
          </a:p>
        </p:txBody>
      </p:sp>
    </p:spTree>
    <p:extLst>
      <p:ext uri="{BB962C8B-B14F-4D97-AF65-F5344CB8AC3E}">
        <p14:creationId xmlns:p14="http://schemas.microsoft.com/office/powerpoint/2010/main" val="280539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6606576" y="-241003"/>
            <a:ext cx="7357162" cy="7340006"/>
            <a:chOff x="2105799" y="20055838"/>
            <a:chExt cx="6748090" cy="6732363"/>
          </a:xfrm>
          <a:solidFill>
            <a:schemeClr val="accent1">
              <a:alpha val="10000"/>
            </a:schemeClr>
          </a:solidFill>
        </p:grpSpPr>
        <p:sp>
          <p:nvSpPr>
            <p:cNvPr id="8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94" name="组合 293"/>
          <p:cNvGrpSpPr/>
          <p:nvPr/>
        </p:nvGrpSpPr>
        <p:grpSpPr>
          <a:xfrm>
            <a:off x="497980" y="2333324"/>
            <a:ext cx="6973756" cy="1853784"/>
            <a:chOff x="4553867" y="2753825"/>
            <a:chExt cx="6973756" cy="1853784"/>
          </a:xfrm>
        </p:grpSpPr>
        <p:sp>
          <p:nvSpPr>
            <p:cNvPr id="291" name="矩形 290"/>
            <p:cNvSpPr/>
            <p:nvPr/>
          </p:nvSpPr>
          <p:spPr>
            <a:xfrm>
              <a:off x="4553867" y="2753825"/>
              <a:ext cx="6973756"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0" i="0" u="none" strike="noStrike" kern="1200" cap="none" spc="3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敬请批评指正</a:t>
              </a:r>
            </a:p>
          </p:txBody>
        </p:sp>
        <p:sp>
          <p:nvSpPr>
            <p:cNvPr id="292" name="文本框 291"/>
            <p:cNvSpPr txBox="1"/>
            <p:nvPr/>
          </p:nvSpPr>
          <p:spPr>
            <a:xfrm>
              <a:off x="4553867" y="4154664"/>
              <a:ext cx="4933976" cy="45294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000" kern="800" spc="100"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 报告人</a:t>
              </a:r>
              <a:r>
                <a:rPr kumimoji="0" lang="zh-CN" altLang="en-US" sz="2000" b="0" i="0" u="none" strike="noStrike" kern="800" cap="none" spc="1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：石仲玉</a:t>
              </a:r>
              <a:endParaRPr kumimoji="0" lang="en-US" altLang="zh-CN" sz="2000" b="0" i="0" u="none" strike="noStrike" kern="800" cap="none" spc="1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293" name="直接连接符 292"/>
            <p:cNvCxnSpPr/>
            <p:nvPr/>
          </p:nvCxnSpPr>
          <p:spPr>
            <a:xfrm>
              <a:off x="4748323" y="3839882"/>
              <a:ext cx="557213" cy="0"/>
            </a:xfrm>
            <a:prstGeom prst="line">
              <a:avLst/>
            </a:prstGeom>
            <a:ln w="12700">
              <a:solidFill>
                <a:srgbClr val="9A000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5270786B-85FC-548B-1CEC-E4C9A6045ACF}"/>
              </a:ext>
            </a:extLst>
          </p:cNvPr>
          <p:cNvSpPr txBox="1"/>
          <p:nvPr/>
        </p:nvSpPr>
        <p:spPr>
          <a:xfrm>
            <a:off x="1395421" y="3184880"/>
            <a:ext cx="4264308" cy="461665"/>
          </a:xfrm>
          <a:prstGeom prst="rect">
            <a:avLst/>
          </a:prstGeom>
          <a:noFill/>
        </p:spPr>
        <p:txBody>
          <a:bodyPr wrap="none" rtlCol="0">
            <a:spAutoFit/>
          </a:bodyPr>
          <a:lstStyle/>
          <a:p>
            <a:pPr algn="ctr"/>
            <a:r>
              <a:rPr lang="en-US" altLang="zh-CN" sz="2400" spc="300" dirty="0">
                <a:solidFill>
                  <a:srgbClr val="9A0001"/>
                </a:solidFill>
                <a:latin typeface="Times New Roman" panose="02020603050405020304" pitchFamily="18" charset="0"/>
                <a:ea typeface="微软雅黑" panose="020B0503020204020204" pitchFamily="34" charset="-122"/>
                <a:cs typeface="Times New Roman" panose="02020603050405020304" pitchFamily="18" charset="0"/>
              </a:rPr>
              <a:t>Thanks for your listening</a:t>
            </a:r>
          </a:p>
        </p:txBody>
      </p:sp>
    </p:spTree>
  </p:cSld>
  <p:clrMapOvr>
    <a:masterClrMapping/>
  </p:clrMapOvr>
</p:sld>
</file>

<file path=ppt/theme/theme1.xml><?xml version="1.0" encoding="utf-8"?>
<a:theme xmlns:a="http://schemas.openxmlformats.org/drawingml/2006/main" name="地图集">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地图集">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地图集">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7464839-6605-4210-a411-f08119aca34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文档" ma:contentTypeID="0x0101000AFC5AB3B5A55849889BED9B52D50354" ma:contentTypeVersion="6" ma:contentTypeDescription="新建文档。" ma:contentTypeScope="" ma:versionID="cec2c659b20e531dafa26473acb38cc2">
  <xsd:schema xmlns:xsd="http://www.w3.org/2001/XMLSchema" xmlns:xs="http://www.w3.org/2001/XMLSchema" xmlns:p="http://schemas.microsoft.com/office/2006/metadata/properties" xmlns:ns3="87464839-6605-4210-a411-f08119aca34f" targetNamespace="http://schemas.microsoft.com/office/2006/metadata/properties" ma:root="true" ma:fieldsID="92cc12525dac2d2d14c53bdc5f8a00cb" ns3:_="">
    <xsd:import namespace="87464839-6605-4210-a411-f08119aca34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464839-6605-4210-a411-f08119aca34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0F662E-73CA-40D5-BBCE-0D9D14E95642}">
  <ds:schemaRefs>
    <ds:schemaRef ds:uri="http://www.w3.org/XML/1998/namespace"/>
    <ds:schemaRef ds:uri="http://purl.org/dc/terms/"/>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87464839-6605-4210-a411-f08119aca34f"/>
    <ds:schemaRef ds:uri="http://purl.org/dc/dcmitype/"/>
    <ds:schemaRef ds:uri="http://purl.org/dc/elements/1.1/"/>
  </ds:schemaRefs>
</ds:datastoreItem>
</file>

<file path=customXml/itemProps2.xml><?xml version="1.0" encoding="utf-8"?>
<ds:datastoreItem xmlns:ds="http://schemas.openxmlformats.org/officeDocument/2006/customXml" ds:itemID="{16AE17EE-5BF1-4505-9F77-AA966C5E0B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464839-6605-4210-a411-f08119aca3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01D18EF-FFE8-4B6B-A583-FE1734D186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TM16401371[[fn=地图集]]</Template>
  <TotalTime>4535</TotalTime>
  <Words>2215</Words>
  <Application>Microsoft Office PowerPoint</Application>
  <PresentationFormat>宽屏</PresentationFormat>
  <Paragraphs>116</Paragraphs>
  <Slides>19</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Helvetica Neue</vt:lpstr>
      <vt:lpstr>微软雅黑</vt:lpstr>
      <vt:lpstr>等线</vt:lpstr>
      <vt:lpstr>Arial</vt:lpstr>
      <vt:lpstr>Calibri Light</vt:lpstr>
      <vt:lpstr>Cambria Math</vt:lpstr>
      <vt:lpstr>Rockwell</vt:lpstr>
      <vt:lpstr>Times New Roman</vt:lpstr>
      <vt:lpstr>Wingdings</vt:lpstr>
      <vt:lpstr>地图集</vt:lpstr>
      <vt:lpstr>PowerPoint 演示文稿</vt:lpstr>
      <vt:lpstr>PowerPoint 演示文稿</vt:lpstr>
      <vt:lpstr>研究背景</vt:lpstr>
      <vt:lpstr>核心思路</vt:lpstr>
      <vt:lpstr>Video-level Blending（VB）视频级混合</vt:lpstr>
      <vt:lpstr>Spatiotemporal Adapter（StA）时空适配器</vt:lpstr>
      <vt:lpstr>实验结果与分析 —— 对比实验</vt:lpstr>
      <vt:lpstr>实验结果与分析 —— 消融实验</vt:lpstr>
      <vt:lpstr>PowerPoint 演示文稿</vt:lpstr>
      <vt:lpstr>研究背景</vt:lpstr>
      <vt:lpstr>关键贡献 —— ER-FF++ 数据集</vt:lpstr>
      <vt:lpstr>整体框架 —— Fg-MCoT 细粒度多模态链式推理</vt:lpstr>
      <vt:lpstr>核心思路 —— ST-SIT（时空细微信息切分）</vt:lpstr>
      <vt:lpstr>核心思路 —— 结构化面部指标</vt:lpstr>
      <vt:lpstr>核心思路 —— 两阶段训练策略</vt:lpstr>
      <vt:lpstr>实验结果与分析 —— 对比实验</vt:lpstr>
      <vt:lpstr>实验结果与分析 —— 消融实验</vt:lpstr>
      <vt:lpstr>实验结果与分析 —— 定性对比</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石仲玉</dc:creator>
  <cp:lastModifiedBy>石仲玉</cp:lastModifiedBy>
  <cp:revision>839</cp:revision>
  <dcterms:created xsi:type="dcterms:W3CDTF">2025-07-28T15:07:03Z</dcterms:created>
  <dcterms:modified xsi:type="dcterms:W3CDTF">2025-12-09T05:03:42Z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0x0101000AFC5AB3B5A55849889BED9B52D50354</vt:lpwstr>
  </property>
</Properties>
</file>