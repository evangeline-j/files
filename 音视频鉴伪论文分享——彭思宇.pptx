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7"/>
  </p:notesMasterIdLst>
  <p:sldIdLst>
    <p:sldId id="618" r:id="rId2"/>
    <p:sldId id="648" r:id="rId3"/>
    <p:sldId id="649" r:id="rId4"/>
    <p:sldId id="647" r:id="rId5"/>
    <p:sldId id="650" r:id="rId6"/>
    <p:sldId id="660" r:id="rId7"/>
    <p:sldId id="661" r:id="rId8"/>
    <p:sldId id="656" r:id="rId9"/>
    <p:sldId id="662" r:id="rId10"/>
    <p:sldId id="646" r:id="rId11"/>
    <p:sldId id="663" r:id="rId12"/>
    <p:sldId id="666" r:id="rId13"/>
    <p:sldId id="665" r:id="rId14"/>
    <p:sldId id="664" r:id="rId15"/>
    <p:sldId id="667" r:id="rId16"/>
    <p:sldId id="668" r:id="rId17"/>
    <p:sldId id="669" r:id="rId18"/>
    <p:sldId id="670" r:id="rId19"/>
    <p:sldId id="671" r:id="rId20"/>
    <p:sldId id="658" r:id="rId21"/>
    <p:sldId id="672" r:id="rId22"/>
    <p:sldId id="673" r:id="rId23"/>
    <p:sldId id="674" r:id="rId24"/>
    <p:sldId id="675" r:id="rId25"/>
    <p:sldId id="676" r:id="rId26"/>
    <p:sldId id="677" r:id="rId27"/>
    <p:sldId id="678" r:id="rId28"/>
    <p:sldId id="679" r:id="rId29"/>
    <p:sldId id="680" r:id="rId30"/>
    <p:sldId id="681" r:id="rId31"/>
    <p:sldId id="682" r:id="rId32"/>
    <p:sldId id="683" r:id="rId33"/>
    <p:sldId id="684" r:id="rId34"/>
    <p:sldId id="685" r:id="rId35"/>
    <p:sldId id="625"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300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041" autoAdjust="0"/>
  </p:normalViewPr>
  <p:slideViewPr>
    <p:cSldViewPr snapToGrid="0">
      <p:cViewPr varScale="1">
        <p:scale>
          <a:sx n="87" d="100"/>
          <a:sy n="87" d="100"/>
        </p:scale>
        <p:origin x="6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AC38A-5563-4D76-9C7D-9955CB2CCA9D}" type="datetimeFigureOut">
              <a:rPr lang="zh-CN" altLang="en-US" smtClean="0"/>
              <a:t>2025/11/10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656BF6-A3EA-41ED-92D1-947684106A6A}" type="slidenum">
              <a:rPr lang="zh-CN" altLang="en-US" smtClean="0"/>
              <a:t>‹#›</a:t>
            </a:fld>
            <a:endParaRPr lang="zh-CN" altLang="en-US"/>
          </a:p>
        </p:txBody>
      </p:sp>
    </p:spTree>
    <p:extLst>
      <p:ext uri="{BB962C8B-B14F-4D97-AF65-F5344CB8AC3E}">
        <p14:creationId xmlns:p14="http://schemas.microsoft.com/office/powerpoint/2010/main" val="3519208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21857-788C-2E8A-BDB7-EFB48B2B81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59CEEA-94B1-950C-2CD0-BD5305F271D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203A09-B39F-AFC3-A25C-4C2E558FEF4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4564623-D430-BC35-E133-D211DAD67E18}"/>
              </a:ext>
            </a:extLst>
          </p:cNvPr>
          <p:cNvSpPr>
            <a:spLocks noGrp="1"/>
          </p:cNvSpPr>
          <p:nvPr>
            <p:ph type="sldNum" sz="quarter" idx="5"/>
          </p:nvPr>
        </p:nvSpPr>
        <p:spPr/>
        <p:txBody>
          <a:bodyPr/>
          <a:lstStyle/>
          <a:p>
            <a:fld id="{C2A75D99-2AE7-49F1-BB03-59E2BF5579C1}" type="slidenum">
              <a:rPr lang="zh-CN" altLang="en-US" smtClean="0"/>
              <a:t>2</a:t>
            </a:fld>
            <a:endParaRPr lang="zh-CN" altLang="en-US"/>
          </a:p>
        </p:txBody>
      </p:sp>
    </p:spTree>
    <p:extLst>
      <p:ext uri="{BB962C8B-B14F-4D97-AF65-F5344CB8AC3E}">
        <p14:creationId xmlns:p14="http://schemas.microsoft.com/office/powerpoint/2010/main" val="718499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10</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25498-56EE-C288-C540-A2CB87EB17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7354C8-56C8-96F8-B733-9FCB8BEDB47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F1B3DF-CE1E-A0D6-7F9F-02DE39D54D9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98CD924-A031-1AFB-46BD-0BA58A6F887C}"/>
              </a:ext>
            </a:extLst>
          </p:cNvPr>
          <p:cNvSpPr>
            <a:spLocks noGrp="1"/>
          </p:cNvSpPr>
          <p:nvPr>
            <p:ph type="sldNum" sz="quarter" idx="5"/>
          </p:nvPr>
        </p:nvSpPr>
        <p:spPr/>
        <p:txBody>
          <a:bodyPr/>
          <a:lstStyle/>
          <a:p>
            <a:fld id="{C2A75D99-2AE7-49F1-BB03-59E2BF5579C1}" type="slidenum">
              <a:rPr lang="zh-CN" altLang="en-US" smtClean="0"/>
              <a:t>20</a:t>
            </a:fld>
            <a:endParaRPr lang="zh-CN" altLang="en-US"/>
          </a:p>
        </p:txBody>
      </p:sp>
    </p:spTree>
    <p:extLst>
      <p:ext uri="{BB962C8B-B14F-4D97-AF65-F5344CB8AC3E}">
        <p14:creationId xmlns:p14="http://schemas.microsoft.com/office/powerpoint/2010/main" val="2663751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ADDBD-F528-6BE1-F08C-255A92A0B4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149CC2-6FD7-3EE1-4FC1-3B8D9733B05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813353-5F55-40AD-F1D2-0111CD48A84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4C1D913-92F0-4780-DD66-0D27511C8275}"/>
              </a:ext>
            </a:extLst>
          </p:cNvPr>
          <p:cNvSpPr>
            <a:spLocks noGrp="1"/>
          </p:cNvSpPr>
          <p:nvPr>
            <p:ph type="sldNum" sz="quarter" idx="5"/>
          </p:nvPr>
        </p:nvSpPr>
        <p:spPr/>
        <p:txBody>
          <a:bodyPr/>
          <a:lstStyle/>
          <a:p>
            <a:fld id="{C2A75D99-2AE7-49F1-BB03-59E2BF5579C1}" type="slidenum">
              <a:rPr lang="zh-CN" altLang="en-US" smtClean="0"/>
              <a:t>28</a:t>
            </a:fld>
            <a:endParaRPr lang="zh-CN" altLang="en-US"/>
          </a:p>
        </p:txBody>
      </p:sp>
    </p:spTree>
    <p:extLst>
      <p:ext uri="{BB962C8B-B14F-4D97-AF65-F5344CB8AC3E}">
        <p14:creationId xmlns:p14="http://schemas.microsoft.com/office/powerpoint/2010/main" val="3153786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35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28C1B355-5FA8-40B7-9211-7F0422F9B09F}" type="datetimeFigureOut">
              <a:rPr lang="zh-CN" altLang="en-US" smtClean="0"/>
              <a:t>2025/11/10</a:t>
            </a:fld>
            <a:endParaRPr lang="zh-CN" alt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zh-CN" altLang="en-US"/>
          </a:p>
        </p:txBody>
      </p:sp>
      <p:sp>
        <p:nvSpPr>
          <p:cNvPr id="6" name="Slide Number Placeholder 5"/>
          <p:cNvSpPr>
            <a:spLocks noGrp="1"/>
          </p:cNvSpPr>
          <p:nvPr>
            <p:ph type="sldNum" sz="quarter" idx="12"/>
          </p:nvPr>
        </p:nvSpPr>
        <p:spPr>
          <a:xfrm>
            <a:off x="10469880" y="320040"/>
            <a:ext cx="914400" cy="320040"/>
          </a:xfrm>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696510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8C1B355-5FA8-40B7-9211-7F0422F9B09F}" type="datetimeFigureOut">
              <a:rPr lang="zh-CN" altLang="en-US" smtClean="0"/>
              <a:t>2025/11/10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1075601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804672" y="320040"/>
            <a:ext cx="3657600" cy="320040"/>
          </a:xfrm>
        </p:spPr>
        <p:txBody>
          <a:bodyPr/>
          <a:lstStyle/>
          <a:p>
            <a:fld id="{28C1B355-5FA8-40B7-9211-7F0422F9B09F}" type="datetimeFigureOut">
              <a:rPr lang="zh-CN" altLang="en-US" smtClean="0"/>
              <a:t>2025/11/10</a:t>
            </a:fld>
            <a:endParaRPr lang="zh-CN" alt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zh-CN" altLang="en-US"/>
          </a:p>
        </p:txBody>
      </p:sp>
      <p:sp>
        <p:nvSpPr>
          <p:cNvPr id="6" name="Slide Number Placeholder 5"/>
          <p:cNvSpPr>
            <a:spLocks noGrp="1"/>
          </p:cNvSpPr>
          <p:nvPr>
            <p:ph type="sldNum" sz="quarter" idx="12"/>
          </p:nvPr>
        </p:nvSpPr>
        <p:spPr>
          <a:xfrm>
            <a:off x="10469880" y="320040"/>
            <a:ext cx="914400" cy="320040"/>
          </a:xfrm>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2292285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zh-CN" altLang="en-US"/>
              <a:t>单击此处编辑母版标题样式</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a:xfrm>
            <a:off x="804672" y="320040"/>
            <a:ext cx="3657600" cy="320040"/>
          </a:xfrm>
        </p:spPr>
        <p:txBody>
          <a:bodyPr/>
          <a:lstStyle/>
          <a:p>
            <a:fld id="{28C1B355-5FA8-40B7-9211-7F0422F9B09F}" type="datetimeFigureOut">
              <a:rPr lang="zh-CN" altLang="en-US" smtClean="0"/>
              <a:t>2025/11/10</a:t>
            </a:fld>
            <a:endParaRPr lang="zh-CN" altLang="en-US"/>
          </a:p>
        </p:txBody>
      </p:sp>
      <p:sp>
        <p:nvSpPr>
          <p:cNvPr id="6" name="Footer Placeholder 5"/>
          <p:cNvSpPr>
            <a:spLocks noGrp="1"/>
          </p:cNvSpPr>
          <p:nvPr>
            <p:ph type="ftr" sz="quarter" idx="11"/>
          </p:nvPr>
        </p:nvSpPr>
        <p:spPr>
          <a:xfrm>
            <a:off x="804672" y="6227064"/>
            <a:ext cx="10588752" cy="320040"/>
          </a:xfrm>
        </p:spPr>
        <p:txBody>
          <a:bodyPr/>
          <a:lstStyle/>
          <a:p>
            <a:endParaRPr lang="zh-CN" altLang="en-US"/>
          </a:p>
        </p:txBody>
      </p:sp>
      <p:sp>
        <p:nvSpPr>
          <p:cNvPr id="7" name="Slide Number Placeholder 6"/>
          <p:cNvSpPr>
            <a:spLocks noGrp="1"/>
          </p:cNvSpPr>
          <p:nvPr>
            <p:ph type="sldNum" sz="quarter" idx="12"/>
          </p:nvPr>
        </p:nvSpPr>
        <p:spPr>
          <a:xfrm>
            <a:off x="10469880" y="320040"/>
            <a:ext cx="914400" cy="320040"/>
          </a:xfrm>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1642886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5125305" y="1488985"/>
            <a:ext cx="6264350" cy="169685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5118447" y="4351687"/>
            <a:ext cx="6265588" cy="17040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a:xfrm>
            <a:off x="804672" y="320040"/>
            <a:ext cx="3657600" cy="320040"/>
          </a:xfrm>
        </p:spPr>
        <p:txBody>
          <a:bodyPr/>
          <a:lstStyle/>
          <a:p>
            <a:fld id="{28C1B355-5FA8-40B7-9211-7F0422F9B09F}" type="datetimeFigureOut">
              <a:rPr lang="zh-CN" altLang="en-US" smtClean="0"/>
              <a:t>2025/11/10</a:t>
            </a:fld>
            <a:endParaRPr lang="zh-CN" altLang="en-US"/>
          </a:p>
        </p:txBody>
      </p:sp>
      <p:sp>
        <p:nvSpPr>
          <p:cNvPr id="8" name="Footer Placeholder 7"/>
          <p:cNvSpPr>
            <a:spLocks noGrp="1"/>
          </p:cNvSpPr>
          <p:nvPr>
            <p:ph type="ftr" sz="quarter" idx="11"/>
          </p:nvPr>
        </p:nvSpPr>
        <p:spPr>
          <a:xfrm>
            <a:off x="804672" y="6227064"/>
            <a:ext cx="10588752" cy="320040"/>
          </a:xfrm>
        </p:spPr>
        <p:txBody>
          <a:bodyPr/>
          <a:lstStyle/>
          <a:p>
            <a:endParaRPr lang="zh-CN" altLang="en-US"/>
          </a:p>
        </p:txBody>
      </p:sp>
      <p:sp>
        <p:nvSpPr>
          <p:cNvPr id="9" name="Slide Number Placeholder 8"/>
          <p:cNvSpPr>
            <a:spLocks noGrp="1"/>
          </p:cNvSpPr>
          <p:nvPr>
            <p:ph type="sldNum" sz="quarter" idx="12"/>
          </p:nvPr>
        </p:nvSpPr>
        <p:spPr>
          <a:xfrm>
            <a:off x="10469880" y="320040"/>
            <a:ext cx="914400" cy="320040"/>
          </a:xfrm>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3025178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8C1B355-5FA8-40B7-9211-7F0422F9B09F}" type="datetimeFigureOut">
              <a:rPr lang="zh-CN" altLang="en-US" smtClean="0"/>
              <a:t>2025/11/10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2081175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28C1B355-5FA8-40B7-9211-7F0422F9B09F}" type="datetimeFigureOut">
              <a:rPr lang="zh-CN" altLang="en-US" smtClean="0"/>
              <a:t>2025/11/10</a:t>
            </a:fld>
            <a:endParaRPr lang="zh-CN" altLang="en-US"/>
          </a:p>
        </p:txBody>
      </p:sp>
      <p:sp>
        <p:nvSpPr>
          <p:cNvPr id="3" name="Footer Placeholder 2"/>
          <p:cNvSpPr>
            <a:spLocks noGrp="1"/>
          </p:cNvSpPr>
          <p:nvPr>
            <p:ph type="ftr" sz="quarter" idx="11"/>
          </p:nvPr>
        </p:nvSpPr>
        <p:spPr>
          <a:xfrm>
            <a:off x="804672" y="6227064"/>
            <a:ext cx="10588752" cy="320040"/>
          </a:xfrm>
        </p:spPr>
        <p:txBody>
          <a:bodyPr/>
          <a:lstStyle/>
          <a:p>
            <a:endParaRPr lang="zh-CN" altLang="en-US"/>
          </a:p>
        </p:txBody>
      </p:sp>
      <p:sp>
        <p:nvSpPr>
          <p:cNvPr id="4" name="Slide Number Placeholder 3"/>
          <p:cNvSpPr>
            <a:spLocks noGrp="1"/>
          </p:cNvSpPr>
          <p:nvPr>
            <p:ph type="sldNum" sz="quarter" idx="12"/>
          </p:nvPr>
        </p:nvSpPr>
        <p:spPr>
          <a:xfrm>
            <a:off x="10469880" y="320040"/>
            <a:ext cx="914400" cy="320040"/>
          </a:xfrm>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3262577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8C1B355-5FA8-40B7-9211-7F0422F9B09F}" type="datetimeFigureOut">
              <a:rPr lang="zh-CN" altLang="en-US" smtClean="0"/>
              <a:t>2025/11/10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3147205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804672" y="320040"/>
            <a:ext cx="3657600" cy="320040"/>
          </a:xfrm>
        </p:spPr>
        <p:txBody>
          <a:bodyPr/>
          <a:lstStyle/>
          <a:p>
            <a:fld id="{28C1B355-5FA8-40B7-9211-7F0422F9B09F}" type="datetimeFigureOut">
              <a:rPr lang="zh-CN" altLang="en-US" smtClean="0"/>
              <a:t>2025/11/10</a:t>
            </a:fld>
            <a:endParaRPr lang="zh-CN" altLang="en-US"/>
          </a:p>
        </p:txBody>
      </p:sp>
      <p:sp>
        <p:nvSpPr>
          <p:cNvPr id="6" name="Footer Placeholder 5"/>
          <p:cNvSpPr>
            <a:spLocks noGrp="1"/>
          </p:cNvSpPr>
          <p:nvPr>
            <p:ph type="ftr" sz="quarter" idx="11"/>
          </p:nvPr>
        </p:nvSpPr>
        <p:spPr>
          <a:xfrm>
            <a:off x="804672" y="6227064"/>
            <a:ext cx="5942203" cy="320040"/>
          </a:xfrm>
        </p:spPr>
        <p:txBody>
          <a:bodyPr/>
          <a:lstStyle/>
          <a:p>
            <a:endParaRPr lang="zh-CN" altLang="en-US"/>
          </a:p>
        </p:txBody>
      </p:sp>
      <p:sp>
        <p:nvSpPr>
          <p:cNvPr id="7" name="Slide Number Placeholder 6"/>
          <p:cNvSpPr>
            <a:spLocks noGrp="1"/>
          </p:cNvSpPr>
          <p:nvPr>
            <p:ph type="sldNum" sz="quarter" idx="12"/>
          </p:nvPr>
        </p:nvSpPr>
        <p:spPr>
          <a:xfrm>
            <a:off x="5828377" y="320040"/>
            <a:ext cx="914400" cy="320040"/>
          </a:xfrm>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3296445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8C1B355-5FA8-40B7-9211-7F0422F9B09F}" type="datetimeFigureOut">
              <a:rPr lang="zh-CN" altLang="en-US" smtClean="0"/>
              <a:t>2025/11/10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3607526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04672" y="320040"/>
            <a:ext cx="3657600" cy="320040"/>
          </a:xfrm>
        </p:spPr>
        <p:txBody>
          <a:bodyPr/>
          <a:lstStyle/>
          <a:p>
            <a:fld id="{28C1B355-5FA8-40B7-9211-7F0422F9B09F}" type="datetimeFigureOut">
              <a:rPr lang="zh-CN" altLang="en-US" smtClean="0"/>
              <a:t>2025/11/10</a:t>
            </a:fld>
            <a:endParaRPr lang="zh-CN" altLang="en-US"/>
          </a:p>
        </p:txBody>
      </p:sp>
      <p:sp>
        <p:nvSpPr>
          <p:cNvPr id="5" name="Footer Placeholder 4"/>
          <p:cNvSpPr>
            <a:spLocks noGrp="1"/>
          </p:cNvSpPr>
          <p:nvPr>
            <p:ph type="ftr" sz="quarter" idx="11"/>
          </p:nvPr>
        </p:nvSpPr>
        <p:spPr>
          <a:xfrm>
            <a:off x="804672" y="6227064"/>
            <a:ext cx="10588752" cy="320040"/>
          </a:xfrm>
        </p:spPr>
        <p:txBody>
          <a:bodyPr/>
          <a:lstStyle/>
          <a:p>
            <a:endParaRPr lang="zh-CN" altLang="en-US"/>
          </a:p>
        </p:txBody>
      </p:sp>
      <p:sp>
        <p:nvSpPr>
          <p:cNvPr id="6" name="Slide Number Placeholder 5"/>
          <p:cNvSpPr>
            <a:spLocks noGrp="1"/>
          </p:cNvSpPr>
          <p:nvPr>
            <p:ph type="sldNum" sz="quarter" idx="12"/>
          </p:nvPr>
        </p:nvSpPr>
        <p:spPr>
          <a:xfrm>
            <a:off x="10469880" y="320040"/>
            <a:ext cx="914400" cy="320040"/>
          </a:xfrm>
        </p:spPr>
        <p:txBody>
          <a:body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123000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t>‹#›</a:t>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873806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28C1B355-5FA8-40B7-9211-7F0422F9B09F}" type="datetimeFigureOut">
              <a:rPr lang="zh-CN" altLang="en-US" smtClean="0"/>
              <a:t>2025/11/10</a:t>
            </a:fld>
            <a:endParaRPr lang="zh-CN" alt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B687B620-CCE1-4A7F-8E0C-88CD3C5DE38C}" type="slidenum">
              <a:rPr lang="zh-CN" altLang="en-US" smtClean="0"/>
              <a:t>‹#›</a:t>
            </a:fld>
            <a:endParaRPr lang="zh-CN" altLang="en-US"/>
          </a:p>
        </p:txBody>
      </p:sp>
    </p:spTree>
    <p:extLst>
      <p:ext uri="{BB962C8B-B14F-4D97-AF65-F5344CB8AC3E}">
        <p14:creationId xmlns:p14="http://schemas.microsoft.com/office/powerpoint/2010/main" val="21483698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2.xml"/><Relationship Id="rId5" Type="http://schemas.openxmlformats.org/officeDocument/2006/relationships/image" Target="../media/image40.png"/><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2.xml"/><Relationship Id="rId5" Type="http://schemas.openxmlformats.org/officeDocument/2006/relationships/image" Target="../media/image47.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2.xml"/><Relationship Id="rId4" Type="http://schemas.openxmlformats.org/officeDocument/2006/relationships/image" Target="../media/image52.png"/></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1" name="组合 90"/>
          <p:cNvGrpSpPr/>
          <p:nvPr/>
        </p:nvGrpSpPr>
        <p:grpSpPr>
          <a:xfrm>
            <a:off x="2859464" y="200010"/>
            <a:ext cx="6473072" cy="6457980"/>
            <a:chOff x="2105799" y="20055838"/>
            <a:chExt cx="6748090" cy="6732363"/>
          </a:xfrm>
          <a:solidFill>
            <a:schemeClr val="bg1">
              <a:lumMod val="85000"/>
              <a:alpha val="20000"/>
            </a:schemeClr>
          </a:solidFill>
        </p:grpSpPr>
        <p:sp>
          <p:nvSpPr>
            <p:cNvPr id="96"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0"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1"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2"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3"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4"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5"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6"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7"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8"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9"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0"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1"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2"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3"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4"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5"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6"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7"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8"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19" name="组合 118"/>
          <p:cNvGrpSpPr/>
          <p:nvPr/>
        </p:nvGrpSpPr>
        <p:grpSpPr>
          <a:xfrm>
            <a:off x="5371741" y="690499"/>
            <a:ext cx="1448518" cy="1445140"/>
            <a:chOff x="2105799" y="20055838"/>
            <a:chExt cx="6748090" cy="6732363"/>
          </a:xfrm>
          <a:solidFill>
            <a:schemeClr val="accent1"/>
          </a:solidFill>
        </p:grpSpPr>
        <p:sp>
          <p:nvSpPr>
            <p:cNvPr id="120"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1"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2"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3"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4"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5"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6"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7"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8"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9"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0"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1"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2"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4"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5"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7"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8"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0"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1"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43" name="矩形 142"/>
          <p:cNvSpPr/>
          <p:nvPr/>
        </p:nvSpPr>
        <p:spPr>
          <a:xfrm>
            <a:off x="958680" y="2749402"/>
            <a:ext cx="10267093" cy="1003608"/>
          </a:xfrm>
          <a:prstGeom prst="rect">
            <a:avLst/>
          </a:prstGeom>
          <a:effectLst>
            <a:outerShdw blurRad="63500" sx="102000" sy="102000" algn="ctr" rotWithShape="0">
              <a:prstClr val="black">
                <a:alpha val="40000"/>
              </a:prstClr>
            </a:outerShdw>
          </a:effectLst>
        </p:spPr>
        <p:txBody>
          <a:bodyPr wrap="square">
            <a:spAutoFit/>
          </a:bodyPr>
          <a:lstStyle/>
          <a:p>
            <a:pPr lvl="0" algn="ctr">
              <a:lnSpc>
                <a:spcPct val="120000"/>
              </a:lnSpc>
              <a:defRPr/>
            </a:pPr>
            <a:r>
              <a:rPr lang="zh-CN" altLang="en-US" sz="5400" b="1" spc="300"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音视频鉴伪论文分享</a:t>
            </a:r>
          </a:p>
        </p:txBody>
      </p:sp>
      <p:sp>
        <p:nvSpPr>
          <p:cNvPr id="145" name="文本框 144"/>
          <p:cNvSpPr txBox="1"/>
          <p:nvPr/>
        </p:nvSpPr>
        <p:spPr>
          <a:xfrm>
            <a:off x="4782616" y="5037501"/>
            <a:ext cx="263751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汇报</a:t>
            </a:r>
            <a:r>
              <a:rPr kumimoji="0" lang="zh-CN" altLang="en-US" sz="1800" b="0" i="0" u="none" strike="noStrike" kern="1200" cap="none" spc="0" normalizeH="0" baseline="0" noProof="0" dirty="0">
                <a:ln>
                  <a:noFill/>
                </a:ln>
                <a:solidFill>
                  <a:schemeClr val="tx1">
                    <a:lumMod val="85000"/>
                    <a:lumOff val="15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人：彭思宇</a:t>
            </a:r>
          </a:p>
        </p:txBody>
      </p:sp>
      <p:sp>
        <p:nvSpPr>
          <p:cNvPr id="147" name="文本框 146"/>
          <p:cNvSpPr txBox="1"/>
          <p:nvPr/>
        </p:nvSpPr>
        <p:spPr>
          <a:xfrm>
            <a:off x="4771207" y="5499494"/>
            <a:ext cx="263751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tx1">
                    <a:lumMod val="85000"/>
                    <a:lumOff val="15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20</a:t>
            </a:r>
            <a:r>
              <a:rPr lang="en-US" altLang="zh-CN"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25/11/09</a:t>
            </a:r>
            <a:endParaRPr kumimoji="0" lang="zh-CN" altLang="en-US" sz="1800" b="0" i="0" u="none" strike="noStrike" kern="1200" cap="none" spc="0" normalizeH="0" baseline="0" noProof="0" dirty="0">
              <a:ln>
                <a:noFill/>
              </a:ln>
              <a:solidFill>
                <a:schemeClr val="tx1">
                  <a:lumMod val="85000"/>
                  <a:lumOff val="15000"/>
                </a:scheme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B510A-D5F1-6C1F-B3EB-9E1ED452EB92}"/>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A0C92DE-9907-0E83-F68D-84C10BD13341}"/>
              </a:ext>
            </a:extLst>
          </p:cNvPr>
          <p:cNvGrpSpPr/>
          <p:nvPr/>
        </p:nvGrpSpPr>
        <p:grpSpPr>
          <a:xfrm>
            <a:off x="-2183584" y="-241003"/>
            <a:ext cx="7357162" cy="7340006"/>
            <a:chOff x="2105799" y="20055838"/>
            <a:chExt cx="6748090" cy="6732363"/>
          </a:xfrm>
          <a:solidFill>
            <a:schemeClr val="accent1">
              <a:alpha val="10000"/>
            </a:schemeClr>
          </a:solidFill>
        </p:grpSpPr>
        <p:sp>
          <p:nvSpPr>
            <p:cNvPr id="3" name="Freeform 8">
              <a:extLst>
                <a:ext uri="{FF2B5EF4-FFF2-40B4-BE49-F238E27FC236}">
                  <a16:creationId xmlns:a16="http://schemas.microsoft.com/office/drawing/2014/main" id="{4CA2E7CD-999C-CDF4-3A73-D3C33C1DB84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Freeform 42">
              <a:extLst>
                <a:ext uri="{FF2B5EF4-FFF2-40B4-BE49-F238E27FC236}">
                  <a16:creationId xmlns:a16="http://schemas.microsoft.com/office/drawing/2014/main" id="{C8784547-BADB-BB36-7673-91222665303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Freeform 43">
              <a:extLst>
                <a:ext uri="{FF2B5EF4-FFF2-40B4-BE49-F238E27FC236}">
                  <a16:creationId xmlns:a16="http://schemas.microsoft.com/office/drawing/2014/main" id="{3DF6A732-DBF9-8F32-42FE-9E74181CF81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Freeform 44">
              <a:extLst>
                <a:ext uri="{FF2B5EF4-FFF2-40B4-BE49-F238E27FC236}">
                  <a16:creationId xmlns:a16="http://schemas.microsoft.com/office/drawing/2014/main" id="{147675F8-025F-F7F9-38AB-48F6520CE73F}"/>
                </a:ext>
              </a:extLst>
            </p:cNvPr>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Freeform 45">
              <a:extLst>
                <a:ext uri="{FF2B5EF4-FFF2-40B4-BE49-F238E27FC236}">
                  <a16:creationId xmlns:a16="http://schemas.microsoft.com/office/drawing/2014/main" id="{4E819AB1-CCD5-84AC-E07E-6715577D9E28}"/>
                </a:ext>
              </a:extLst>
            </p:cNvPr>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Freeform 46">
              <a:extLst>
                <a:ext uri="{FF2B5EF4-FFF2-40B4-BE49-F238E27FC236}">
                  <a16:creationId xmlns:a16="http://schemas.microsoft.com/office/drawing/2014/main" id="{69AB90DA-ED63-B17B-F59B-244BDA570775}"/>
                </a:ext>
              </a:extLst>
            </p:cNvPr>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Freeform 47">
              <a:extLst>
                <a:ext uri="{FF2B5EF4-FFF2-40B4-BE49-F238E27FC236}">
                  <a16:creationId xmlns:a16="http://schemas.microsoft.com/office/drawing/2014/main" id="{FF7780E3-EAA4-F670-4B6D-FD585F28D3C8}"/>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48">
              <a:extLst>
                <a:ext uri="{FF2B5EF4-FFF2-40B4-BE49-F238E27FC236}">
                  <a16:creationId xmlns:a16="http://schemas.microsoft.com/office/drawing/2014/main" id="{543A6E61-18DA-2796-7F1F-DBFFD082F524}"/>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Freeform 49">
              <a:extLst>
                <a:ext uri="{FF2B5EF4-FFF2-40B4-BE49-F238E27FC236}">
                  <a16:creationId xmlns:a16="http://schemas.microsoft.com/office/drawing/2014/main" id="{78EF610E-F388-E43C-5583-4FA52FE7B086}"/>
                </a:ext>
              </a:extLst>
            </p:cNvPr>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Freeform 50">
              <a:extLst>
                <a:ext uri="{FF2B5EF4-FFF2-40B4-BE49-F238E27FC236}">
                  <a16:creationId xmlns:a16="http://schemas.microsoft.com/office/drawing/2014/main" id="{E9E6CDAD-98B6-7191-C164-D4C211579487}"/>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Freeform 51">
              <a:extLst>
                <a:ext uri="{FF2B5EF4-FFF2-40B4-BE49-F238E27FC236}">
                  <a16:creationId xmlns:a16="http://schemas.microsoft.com/office/drawing/2014/main" id="{601D97E2-8BBA-0111-2AF2-B18C5EE23EBA}"/>
                </a:ext>
              </a:extLst>
            </p:cNvPr>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52">
              <a:extLst>
                <a:ext uri="{FF2B5EF4-FFF2-40B4-BE49-F238E27FC236}">
                  <a16:creationId xmlns:a16="http://schemas.microsoft.com/office/drawing/2014/main" id="{2BD73EF2-09BC-6E95-7F72-03D40D777FBA}"/>
                </a:ext>
              </a:extLst>
            </p:cNvPr>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53">
              <a:extLst>
                <a:ext uri="{FF2B5EF4-FFF2-40B4-BE49-F238E27FC236}">
                  <a16:creationId xmlns:a16="http://schemas.microsoft.com/office/drawing/2014/main" id="{10A98B8D-A6EC-D16E-4BB9-C69E07BCEF48}"/>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54">
              <a:extLst>
                <a:ext uri="{FF2B5EF4-FFF2-40B4-BE49-F238E27FC236}">
                  <a16:creationId xmlns:a16="http://schemas.microsoft.com/office/drawing/2014/main" id="{570D7ACD-EBDF-951C-A701-AFAE9EEEFB5C}"/>
                </a:ext>
              </a:extLst>
            </p:cNvPr>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55">
              <a:extLst>
                <a:ext uri="{FF2B5EF4-FFF2-40B4-BE49-F238E27FC236}">
                  <a16:creationId xmlns:a16="http://schemas.microsoft.com/office/drawing/2014/main" id="{33632872-BD55-B901-1B3B-9A1DD533CAC2}"/>
                </a:ext>
              </a:extLst>
            </p:cNvPr>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56">
              <a:extLst>
                <a:ext uri="{FF2B5EF4-FFF2-40B4-BE49-F238E27FC236}">
                  <a16:creationId xmlns:a16="http://schemas.microsoft.com/office/drawing/2014/main" id="{B9AEB7F3-16A3-833F-D169-8BB0C44721D1}"/>
                </a:ext>
              </a:extLst>
            </p:cNvPr>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7">
              <a:extLst>
                <a:ext uri="{FF2B5EF4-FFF2-40B4-BE49-F238E27FC236}">
                  <a16:creationId xmlns:a16="http://schemas.microsoft.com/office/drawing/2014/main" id="{E639FD97-DD97-A97C-B371-F29F293EA77E}"/>
                </a:ext>
              </a:extLst>
            </p:cNvPr>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8">
              <a:extLst>
                <a:ext uri="{FF2B5EF4-FFF2-40B4-BE49-F238E27FC236}">
                  <a16:creationId xmlns:a16="http://schemas.microsoft.com/office/drawing/2014/main" id="{1644187D-60DB-D383-438C-C0F6D0242D15}"/>
                </a:ext>
              </a:extLst>
            </p:cNvPr>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9">
              <a:extLst>
                <a:ext uri="{FF2B5EF4-FFF2-40B4-BE49-F238E27FC236}">
                  <a16:creationId xmlns:a16="http://schemas.microsoft.com/office/drawing/2014/main" id="{20CEDB5E-57AA-651C-8358-72BD826E8F7D}"/>
                </a:ext>
              </a:extLst>
            </p:cNvPr>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60">
              <a:extLst>
                <a:ext uri="{FF2B5EF4-FFF2-40B4-BE49-F238E27FC236}">
                  <a16:creationId xmlns:a16="http://schemas.microsoft.com/office/drawing/2014/main" id="{688D9BB3-DEC0-5E66-EF3A-4A02CBE48632}"/>
                </a:ext>
              </a:extLst>
            </p:cNvPr>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61">
              <a:extLst>
                <a:ext uri="{FF2B5EF4-FFF2-40B4-BE49-F238E27FC236}">
                  <a16:creationId xmlns:a16="http://schemas.microsoft.com/office/drawing/2014/main" id="{2C9E49D1-D25C-E17F-7B8F-A979DB89F36C}"/>
                </a:ext>
              </a:extLst>
            </p:cNvPr>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62">
              <a:extLst>
                <a:ext uri="{FF2B5EF4-FFF2-40B4-BE49-F238E27FC236}">
                  <a16:creationId xmlns:a16="http://schemas.microsoft.com/office/drawing/2014/main" id="{DC52D545-F231-20DB-8A5E-17BA68F8B290}"/>
                </a:ext>
              </a:extLst>
            </p:cNvPr>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71">
              <a:extLst>
                <a:ext uri="{FF2B5EF4-FFF2-40B4-BE49-F238E27FC236}">
                  <a16:creationId xmlns:a16="http://schemas.microsoft.com/office/drawing/2014/main" id="{99B92C99-9B43-215B-3793-57611235A2DF}"/>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0" name="文本框 29">
            <a:extLst>
              <a:ext uri="{FF2B5EF4-FFF2-40B4-BE49-F238E27FC236}">
                <a16:creationId xmlns:a16="http://schemas.microsoft.com/office/drawing/2014/main" id="{5948B86C-E9E9-9656-F42C-5206D345DE93}"/>
              </a:ext>
            </a:extLst>
          </p:cNvPr>
          <p:cNvSpPr txBox="1"/>
          <p:nvPr/>
        </p:nvSpPr>
        <p:spPr>
          <a:xfrm>
            <a:off x="5300903" y="1754028"/>
            <a:ext cx="244904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150" normalizeH="0" baseline="0" noProof="0" dirty="0">
                <a:ln>
                  <a:noFill/>
                </a:ln>
                <a:solidFill>
                  <a:srgbClr val="595959"/>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PART 01</a:t>
            </a:r>
            <a:endParaRPr kumimoji="0" lang="zh-CN" altLang="en-US" sz="3600" b="0" i="0" u="none" strike="noStrike" kern="1200" cap="none" spc="150" normalizeH="0" baseline="0" noProof="0" dirty="0">
              <a:ln>
                <a:noFill/>
              </a:ln>
              <a:solidFill>
                <a:srgbClr val="595959"/>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矩形 31">
            <a:extLst>
              <a:ext uri="{FF2B5EF4-FFF2-40B4-BE49-F238E27FC236}">
                <a16:creationId xmlns:a16="http://schemas.microsoft.com/office/drawing/2014/main" id="{42F0BE6A-A03E-3007-8D42-7C5A90103BA7}"/>
              </a:ext>
            </a:extLst>
          </p:cNvPr>
          <p:cNvSpPr/>
          <p:nvPr/>
        </p:nvSpPr>
        <p:spPr>
          <a:xfrm>
            <a:off x="5389085" y="2593396"/>
            <a:ext cx="665278" cy="45720"/>
          </a:xfrm>
          <a:prstGeom prst="rect">
            <a:avLst/>
          </a:prstGeom>
          <a:solidFill>
            <a:schemeClr val="accent1"/>
          </a:solid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矩形 32">
            <a:extLst>
              <a:ext uri="{FF2B5EF4-FFF2-40B4-BE49-F238E27FC236}">
                <a16:creationId xmlns:a16="http://schemas.microsoft.com/office/drawing/2014/main" id="{03675C36-EB5D-ECC6-A8FA-A79E2DA68369}"/>
              </a:ext>
            </a:extLst>
          </p:cNvPr>
          <p:cNvSpPr/>
          <p:nvPr/>
        </p:nvSpPr>
        <p:spPr>
          <a:xfrm>
            <a:off x="5327921" y="2991686"/>
            <a:ext cx="6779997" cy="1384995"/>
          </a:xfrm>
          <a:prstGeom prst="rect">
            <a:avLst/>
          </a:prstGeom>
        </p:spPr>
        <p:txBody>
          <a:bodyPr wrap="square">
            <a:spAutoFit/>
          </a:bodyPr>
          <a:lstStyle/>
          <a:p>
            <a:pPr>
              <a:defRPr/>
            </a:pPr>
            <a:r>
              <a:rPr lang="en-US" altLang="zh-CN" sz="2800" b="1" dirty="0">
                <a:latin typeface="Arial" panose="020B0604020202020204" pitchFamily="34" charset="0"/>
                <a:ea typeface="微软雅黑" panose="020B0503020204020204" pitchFamily="34" charset="-122"/>
                <a:cs typeface="+mn-ea"/>
              </a:rPr>
              <a:t>Audio-Visual Person-of-Interest </a:t>
            </a:r>
            <a:r>
              <a:rPr lang="en-US" altLang="zh-CN" sz="2800" b="1" dirty="0" err="1">
                <a:latin typeface="Arial" panose="020B0604020202020204" pitchFamily="34" charset="0"/>
                <a:ea typeface="微软雅黑" panose="020B0503020204020204" pitchFamily="34" charset="-122"/>
                <a:cs typeface="+mn-ea"/>
              </a:rPr>
              <a:t>DeepFake</a:t>
            </a:r>
            <a:r>
              <a:rPr lang="en-US" altLang="zh-CN" sz="2800" b="1" dirty="0">
                <a:latin typeface="Arial" panose="020B0604020202020204" pitchFamily="34" charset="0"/>
                <a:ea typeface="微软雅黑" panose="020B0503020204020204" pitchFamily="34" charset="-122"/>
                <a:cs typeface="+mn-ea"/>
              </a:rPr>
              <a:t> Detection</a:t>
            </a:r>
          </a:p>
          <a:p>
            <a:pPr>
              <a:defRPr/>
            </a:pPr>
            <a:r>
              <a:rPr lang="zh-CN" altLang="en-US" sz="2800" dirty="0">
                <a:latin typeface="Arial" panose="020B0604020202020204" pitchFamily="34" charset="0"/>
                <a:ea typeface="微软雅黑" panose="020B0503020204020204" pitchFamily="34" charset="-122"/>
                <a:cs typeface="+mn-ea"/>
              </a:rPr>
              <a:t>音视频关键人物深度伪造检测</a:t>
            </a:r>
          </a:p>
        </p:txBody>
      </p:sp>
      <p:sp>
        <p:nvSpPr>
          <p:cNvPr id="28" name="文本框 27">
            <a:extLst>
              <a:ext uri="{FF2B5EF4-FFF2-40B4-BE49-F238E27FC236}">
                <a16:creationId xmlns:a16="http://schemas.microsoft.com/office/drawing/2014/main" id="{D8F9A6C9-22E7-D4F2-CA4C-CA58F265C88F}"/>
              </a:ext>
            </a:extLst>
          </p:cNvPr>
          <p:cNvSpPr txBox="1"/>
          <p:nvPr/>
        </p:nvSpPr>
        <p:spPr>
          <a:xfrm>
            <a:off x="7540053" y="5601886"/>
            <a:ext cx="4292182" cy="923330"/>
          </a:xfrm>
          <a:prstGeom prst="rect">
            <a:avLst/>
          </a:prstGeom>
          <a:noFill/>
        </p:spPr>
        <p:txBody>
          <a:bodyPr wrap="square">
            <a:spAutoFit/>
          </a:bodyPr>
          <a:lstStyle/>
          <a:p>
            <a:r>
              <a:rPr lang="en-US" altLang="zh-CN" dirty="0">
                <a:solidFill>
                  <a:srgbClr val="333333"/>
                </a:solidFill>
                <a:latin typeface="Helvetica Neue"/>
              </a:rPr>
              <a:t>2023 IEEE/CVF Conference on Computer Vision and Pattern Recognition Workshops (CVPRW)</a:t>
            </a:r>
            <a:endParaRPr lang="zh-CN" altLang="en-US" dirty="0">
              <a:solidFill>
                <a:srgbClr val="333333"/>
              </a:solidFill>
              <a:latin typeface="Helvetica Neue"/>
            </a:endParaRPr>
          </a:p>
        </p:txBody>
      </p:sp>
      <p:sp>
        <p:nvSpPr>
          <p:cNvPr id="27" name="文本框 26">
            <a:extLst>
              <a:ext uri="{FF2B5EF4-FFF2-40B4-BE49-F238E27FC236}">
                <a16:creationId xmlns:a16="http://schemas.microsoft.com/office/drawing/2014/main" id="{8BCC2744-5D29-958F-90EA-6B4C2A926824}"/>
              </a:ext>
            </a:extLst>
          </p:cNvPr>
          <p:cNvSpPr txBox="1"/>
          <p:nvPr/>
        </p:nvSpPr>
        <p:spPr>
          <a:xfrm>
            <a:off x="1412823" y="3105835"/>
            <a:ext cx="7187782" cy="646331"/>
          </a:xfrm>
          <a:prstGeom prst="rect">
            <a:avLst/>
          </a:prstGeom>
          <a:noFill/>
        </p:spPr>
        <p:txBody>
          <a:bodyPr wrap="square">
            <a:spAutoFit/>
          </a:bodyPr>
          <a:lstStyle/>
          <a:p>
            <a:br>
              <a:rPr lang="zh-CN" altLang="en-US" dirty="0"/>
            </a:br>
            <a:endParaRPr lang="zh-CN" altLang="en-US" dirty="0"/>
          </a:p>
        </p:txBody>
      </p:sp>
      <p:sp>
        <p:nvSpPr>
          <p:cNvPr id="31" name="文本框 30">
            <a:extLst>
              <a:ext uri="{FF2B5EF4-FFF2-40B4-BE49-F238E27FC236}">
                <a16:creationId xmlns:a16="http://schemas.microsoft.com/office/drawing/2014/main" id="{457AFB94-4918-5B14-6A27-5FF76099171D}"/>
              </a:ext>
            </a:extLst>
          </p:cNvPr>
          <p:cNvSpPr txBox="1"/>
          <p:nvPr/>
        </p:nvSpPr>
        <p:spPr>
          <a:xfrm>
            <a:off x="1412823" y="3105835"/>
            <a:ext cx="7187782" cy="646331"/>
          </a:xfrm>
          <a:prstGeom prst="rect">
            <a:avLst/>
          </a:prstGeom>
          <a:noFill/>
        </p:spPr>
        <p:txBody>
          <a:bodyPr wrap="square">
            <a:spAutoFit/>
          </a:bodyPr>
          <a:lstStyle/>
          <a:p>
            <a:br>
              <a:rPr lang="zh-CN" altLang="en-US" dirty="0"/>
            </a:br>
            <a:endParaRPr lang="zh-CN" altLang="en-US" dirty="0"/>
          </a:p>
        </p:txBody>
      </p:sp>
      <p:sp>
        <p:nvSpPr>
          <p:cNvPr id="35" name="文本框 34">
            <a:extLst>
              <a:ext uri="{FF2B5EF4-FFF2-40B4-BE49-F238E27FC236}">
                <a16:creationId xmlns:a16="http://schemas.microsoft.com/office/drawing/2014/main" id="{7B6F9246-40E7-FB0A-09A9-87F39F286B19}"/>
              </a:ext>
            </a:extLst>
          </p:cNvPr>
          <p:cNvSpPr txBox="1"/>
          <p:nvPr/>
        </p:nvSpPr>
        <p:spPr>
          <a:xfrm>
            <a:off x="1412823" y="3105835"/>
            <a:ext cx="7187782" cy="646331"/>
          </a:xfrm>
          <a:prstGeom prst="rect">
            <a:avLst/>
          </a:prstGeom>
          <a:noFill/>
        </p:spPr>
        <p:txBody>
          <a:bodyPr wrap="square">
            <a:spAutoFit/>
          </a:bodyPr>
          <a:lstStyle/>
          <a:p>
            <a:br>
              <a:rPr lang="zh-CN" altLang="en-US" dirty="0"/>
            </a:br>
            <a:endParaRPr lang="zh-CN" altLang="en-US" dirty="0"/>
          </a:p>
        </p:txBody>
      </p:sp>
    </p:spTree>
    <p:extLst>
      <p:ext uri="{BB962C8B-B14F-4D97-AF65-F5344CB8AC3E}">
        <p14:creationId xmlns:p14="http://schemas.microsoft.com/office/powerpoint/2010/main" val="3433649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BF3A1-8755-54EE-3DE4-CA31C806BC4F}"/>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9FA4F9B-47AA-EE8B-A8C8-596948A95FA6}"/>
              </a:ext>
            </a:extLst>
          </p:cNvPr>
          <p:cNvSpPr>
            <a:spLocks noGrp="1"/>
          </p:cNvSpPr>
          <p:nvPr>
            <p:ph type="sldNum" sz="quarter" idx="4"/>
          </p:nvPr>
        </p:nvSpPr>
        <p:spPr/>
        <p:txBody>
          <a:bodyPr/>
          <a:lstStyle/>
          <a:p>
            <a:r>
              <a:rPr lang="en-US" altLang="zh-CN"/>
              <a:t>&lt; </a:t>
            </a:r>
            <a:fld id="{A548B57D-AE10-4CF7-A9DF-59FEFA91B28E}" type="slidenum">
              <a:rPr lang="zh-CN" altLang="en-US" smtClean="0"/>
              <a:t>3</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CC3E4ECF-7302-F4AD-8C07-A415176A6F3D}"/>
              </a:ext>
            </a:extLst>
          </p:cNvPr>
          <p:cNvSpPr>
            <a:spLocks noGrp="1"/>
          </p:cNvSpPr>
          <p:nvPr>
            <p:ph type="title"/>
          </p:nvPr>
        </p:nvSpPr>
        <p:spPr/>
        <p:txBody>
          <a:bodyPr>
            <a:noAutofit/>
          </a:bodyPr>
          <a:lstStyle/>
          <a:p>
            <a:r>
              <a:rPr lang="zh-CN" altLang="en-US" spc="0" dirty="0"/>
              <a:t>研究背景</a:t>
            </a:r>
          </a:p>
        </p:txBody>
      </p:sp>
      <p:sp>
        <p:nvSpPr>
          <p:cNvPr id="4" name="文本占位符 3">
            <a:extLst>
              <a:ext uri="{FF2B5EF4-FFF2-40B4-BE49-F238E27FC236}">
                <a16:creationId xmlns:a16="http://schemas.microsoft.com/office/drawing/2014/main" id="{FDB99ED8-BE5B-E1A7-696A-88B9CDE74C32}"/>
              </a:ext>
            </a:extLst>
          </p:cNvPr>
          <p:cNvSpPr>
            <a:spLocks noGrp="1"/>
          </p:cNvSpPr>
          <p:nvPr>
            <p:ph type="body" sz="quarter" idx="10"/>
          </p:nvPr>
        </p:nvSpPr>
        <p:spPr>
          <a:xfrm>
            <a:off x="646082" y="980237"/>
            <a:ext cx="10899835" cy="4375358"/>
          </a:xfrm>
        </p:spPr>
        <p:txBody>
          <a:bodyPr>
            <a:normAutofit lnSpcReduction="10000"/>
          </a:bodyPr>
          <a:lstStyle/>
          <a:p>
            <a:pPr marL="0" indent="0">
              <a:lnSpc>
                <a:spcPct val="150000"/>
              </a:lnSpc>
              <a:buNone/>
            </a:pPr>
            <a:r>
              <a:rPr lang="zh-CN" altLang="en-US" sz="1800" dirty="0">
                <a:latin typeface="微软雅黑" panose="020B0503020204020204" pitchFamily="34" charset="-122"/>
                <a:ea typeface="微软雅黑" panose="020B0503020204020204" pitchFamily="34" charset="-122"/>
              </a:rPr>
              <a:t>深度伪造技术现状：</a:t>
            </a:r>
            <a:endParaRPr lang="en-US" altLang="zh-CN" sz="1800" dirty="0">
              <a:latin typeface="微软雅黑" panose="020B0503020204020204" pitchFamily="34" charset="-122"/>
              <a:ea typeface="微软雅黑" panose="020B0503020204020204" pitchFamily="34" charset="-122"/>
            </a:endParaRPr>
          </a:p>
          <a:p>
            <a:pPr>
              <a:lnSpc>
                <a:spcPct val="150000"/>
              </a:lnSpc>
            </a:pPr>
            <a:r>
              <a:rPr lang="zh-CN" altLang="en-US" sz="1800" b="0" dirty="0">
                <a:latin typeface="微软雅黑" panose="020B0503020204020204" pitchFamily="34" charset="-122"/>
                <a:ea typeface="微软雅黑" panose="020B0503020204020204" pitchFamily="34" charset="-122"/>
              </a:rPr>
              <a:t>音视频深度伪造技术快速发展，涵盖换脸、表情修改、语音合成等多种类型，引发金融欺诈、虚假信息传播等社会威胁，且篡改视频的真实感持续提升。</a:t>
            </a:r>
            <a:endParaRPr lang="en-US" altLang="zh-CN" sz="1800" b="0" dirty="0">
              <a:latin typeface="微软雅黑" panose="020B0503020204020204" pitchFamily="34" charset="-122"/>
              <a:ea typeface="微软雅黑" panose="020B0503020204020204" pitchFamily="34" charset="-122"/>
            </a:endParaRPr>
          </a:p>
          <a:p>
            <a:pPr marL="0" indent="0">
              <a:lnSpc>
                <a:spcPct val="150000"/>
              </a:lnSpc>
              <a:buNone/>
            </a:pPr>
            <a:r>
              <a:rPr lang="zh-CN" altLang="en-US" sz="1800" dirty="0">
                <a:latin typeface="微软雅黑" panose="020B0503020204020204" pitchFamily="34" charset="-122"/>
                <a:ea typeface="微软雅黑" panose="020B0503020204020204" pitchFamily="34" charset="-122"/>
              </a:rPr>
              <a:t>现有检测方法缺陷：</a:t>
            </a:r>
            <a:endParaRPr lang="en-US" altLang="zh-CN" sz="1800" dirty="0">
              <a:latin typeface="微软雅黑" panose="020B0503020204020204" pitchFamily="34" charset="-122"/>
              <a:ea typeface="微软雅黑" panose="020B0503020204020204" pitchFamily="34" charset="-122"/>
            </a:endParaRPr>
          </a:p>
          <a:p>
            <a:pPr>
              <a:lnSpc>
                <a:spcPct val="150000"/>
              </a:lnSpc>
            </a:pPr>
            <a:r>
              <a:rPr lang="zh-CN" altLang="en-US" sz="1800" dirty="0">
                <a:latin typeface="微软雅黑" panose="020B0503020204020204" pitchFamily="34" charset="-122"/>
                <a:ea typeface="微软雅黑" panose="020B0503020204020204" pitchFamily="34" charset="-122"/>
              </a:rPr>
              <a:t>泛化能力差：</a:t>
            </a:r>
            <a:r>
              <a:rPr lang="zh-CN" altLang="en-US" sz="1800" b="0" dirty="0">
                <a:latin typeface="微软雅黑" panose="020B0503020204020204" pitchFamily="34" charset="-122"/>
                <a:ea typeface="微软雅黑" panose="020B0503020204020204" pitchFamily="34" charset="-122"/>
              </a:rPr>
              <a:t>多数方法依赖带标注的真实 </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伪造视频监督训练，对未见过的篡改技术检测失效，跨数据集性能不理想（如现有 </a:t>
            </a:r>
            <a:r>
              <a:rPr lang="en-US" altLang="zh-CN" sz="1800" b="0" dirty="0">
                <a:latin typeface="微软雅黑" panose="020B0503020204020204" pitchFamily="34" charset="-122"/>
                <a:ea typeface="微软雅黑" panose="020B0503020204020204" pitchFamily="34" charset="-122"/>
              </a:rPr>
              <a:t>SOTA </a:t>
            </a:r>
            <a:r>
              <a:rPr lang="zh-CN" altLang="en-US" sz="1800" b="0" dirty="0">
                <a:latin typeface="微软雅黑" panose="020B0503020204020204" pitchFamily="34" charset="-122"/>
                <a:ea typeface="微软雅黑" panose="020B0503020204020204" pitchFamily="34" charset="-122"/>
              </a:rPr>
              <a:t>在低质量视频中性能骤降）。</a:t>
            </a:r>
          </a:p>
          <a:p>
            <a:pPr>
              <a:lnSpc>
                <a:spcPct val="150000"/>
              </a:lnSpc>
            </a:pPr>
            <a:r>
              <a:rPr lang="zh-CN" altLang="en-US" sz="1800" dirty="0">
                <a:latin typeface="微软雅黑" panose="020B0503020204020204" pitchFamily="34" charset="-122"/>
                <a:ea typeface="微软雅黑" panose="020B0503020204020204" pitchFamily="34" charset="-122"/>
              </a:rPr>
              <a:t>模态单一：</a:t>
            </a:r>
            <a:r>
              <a:rPr lang="zh-CN" altLang="en-US" sz="1800" b="0" dirty="0">
                <a:latin typeface="微软雅黑" panose="020B0503020204020204" pitchFamily="34" charset="-122"/>
                <a:ea typeface="微软雅黑" panose="020B0503020204020204" pitchFamily="34" charset="-122"/>
              </a:rPr>
              <a:t>多依赖视频低阶特征（如频率域伪影、融合痕迹），忽视音频信息，难以应对单模态（仅改音频 </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视频）或多模态联合篡改。</a:t>
            </a:r>
          </a:p>
          <a:p>
            <a:pPr>
              <a:lnSpc>
                <a:spcPct val="150000"/>
              </a:lnSpc>
            </a:pPr>
            <a:r>
              <a:rPr lang="zh-CN" altLang="en-US" sz="1800" dirty="0">
                <a:latin typeface="微软雅黑" panose="020B0503020204020204" pitchFamily="34" charset="-122"/>
                <a:ea typeface="微软雅黑" panose="020B0503020204020204" pitchFamily="34" charset="-122"/>
              </a:rPr>
              <a:t>鲁棒性不足：</a:t>
            </a:r>
            <a:r>
              <a:rPr lang="zh-CN" altLang="en-US" sz="1800" b="0" dirty="0">
                <a:latin typeface="微软雅黑" panose="020B0503020204020204" pitchFamily="34" charset="-122"/>
                <a:ea typeface="微软雅黑" panose="020B0503020204020204" pitchFamily="34" charset="-122"/>
              </a:rPr>
              <a:t>易受社交网络压缩、对抗攻击影响，低质量视频中特征丢失导致检测性能大幅下降。</a:t>
            </a:r>
          </a:p>
        </p:txBody>
      </p:sp>
      <p:sp>
        <p:nvSpPr>
          <p:cNvPr id="5" name="LimitationBoxContent">
            <a:extLst>
              <a:ext uri="{FF2B5EF4-FFF2-40B4-BE49-F238E27FC236}">
                <a16:creationId xmlns:a16="http://schemas.microsoft.com/office/drawing/2014/main" id="{AD34FCC1-C717-0B2C-FAB7-23AA8B73E4AA}"/>
              </a:ext>
            </a:extLst>
          </p:cNvPr>
          <p:cNvSpPr/>
          <p:nvPr/>
        </p:nvSpPr>
        <p:spPr>
          <a:xfrm>
            <a:off x="2896818" y="5361037"/>
            <a:ext cx="6398361" cy="1246947"/>
          </a:xfrm>
          <a:prstGeom prst="rect">
            <a:avLst/>
          </a:prstGeom>
          <a:solidFill>
            <a:srgbClr val="E74C3C">
              <a:alpha val="10000"/>
            </a:srgbClr>
          </a:solidFill>
          <a:ln w="0">
            <a:noFill/>
          </a:ln>
        </p:spPr>
        <p:style>
          <a:lnRef idx="0">
            <a:scrgbClr r="0" g="0" b="0"/>
          </a:lnRef>
          <a:fillRef idx="0">
            <a:scrgbClr r="0" g="0" b="0"/>
          </a:fillRef>
          <a:effectRef idx="0">
            <a:scrgbClr r="0" g="0" b="0"/>
          </a:effectRef>
          <a:fontRef idx="minor"/>
        </p:style>
        <p:txBody>
          <a:bodyPr lIns="171360" tIns="171360" rIns="171360" bIns="17136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lnSpc>
                <a:spcPct val="15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rPr>
              <a:t>研究目标：</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提出一种不依赖特定篡改技术、兼顾多模态检测、对低质量 </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 </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攻击鲁棒的深度伪造检测方法。</a:t>
            </a:r>
            <a:endParaRPr lang="en-US"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4152338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996E5F7-669D-ACE6-F789-5D5142C1DB2A}"/>
              </a:ext>
            </a:extLst>
          </p:cNvPr>
          <p:cNvSpPr>
            <a:spLocks noGrp="1"/>
          </p:cNvSpPr>
          <p:nvPr>
            <p:ph type="sldNum" sz="quarter" idx="4"/>
          </p:nvPr>
        </p:nvSpPr>
        <p:spPr/>
        <p:txBody>
          <a:bodyPr/>
          <a:lstStyle/>
          <a:p>
            <a:r>
              <a:rPr lang="en-US" altLang="zh-CN"/>
              <a:t>&lt; </a:t>
            </a:r>
            <a:fld id="{A548B57D-AE10-4CF7-A9DF-59FEFA91B28E}" type="slidenum">
              <a:rPr lang="zh-CN" altLang="en-US" smtClean="0"/>
              <a:t>4</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E07DF923-EB0D-3855-8ECF-B8614A7B8056}"/>
              </a:ext>
            </a:extLst>
          </p:cNvPr>
          <p:cNvSpPr>
            <a:spLocks noGrp="1"/>
          </p:cNvSpPr>
          <p:nvPr>
            <p:ph type="title"/>
          </p:nvPr>
        </p:nvSpPr>
        <p:spPr/>
        <p:txBody>
          <a:bodyPr>
            <a:noAutofit/>
          </a:bodyPr>
          <a:lstStyle/>
          <a:p>
            <a:r>
              <a:rPr lang="zh-CN" altLang="en-US" spc="0" dirty="0"/>
              <a:t>核心思路</a:t>
            </a:r>
            <a:endParaRPr lang="zh-CN" altLang="en-US" dirty="0"/>
          </a:p>
        </p:txBody>
      </p:sp>
      <p:pic>
        <p:nvPicPr>
          <p:cNvPr id="5" name="图片 4">
            <a:extLst>
              <a:ext uri="{FF2B5EF4-FFF2-40B4-BE49-F238E27FC236}">
                <a16:creationId xmlns:a16="http://schemas.microsoft.com/office/drawing/2014/main" id="{82E802D1-8EFE-B253-B7F2-FA2E2DFDFD66}"/>
              </a:ext>
            </a:extLst>
          </p:cNvPr>
          <p:cNvPicPr>
            <a:picLocks noChangeAspect="1"/>
          </p:cNvPicPr>
          <p:nvPr/>
        </p:nvPicPr>
        <p:blipFill>
          <a:blip r:embed="rId2"/>
          <a:stretch>
            <a:fillRect/>
          </a:stretch>
        </p:blipFill>
        <p:spPr>
          <a:xfrm>
            <a:off x="1094213" y="1211163"/>
            <a:ext cx="10003571" cy="3141746"/>
          </a:xfrm>
          <a:prstGeom prst="rect">
            <a:avLst/>
          </a:prstGeom>
        </p:spPr>
      </p:pic>
      <p:sp>
        <p:nvSpPr>
          <p:cNvPr id="10" name="LimitationBoxContent">
            <a:extLst>
              <a:ext uri="{FF2B5EF4-FFF2-40B4-BE49-F238E27FC236}">
                <a16:creationId xmlns:a16="http://schemas.microsoft.com/office/drawing/2014/main" id="{44D6A687-3930-E494-DC0F-B5201088E78A}"/>
              </a:ext>
            </a:extLst>
          </p:cNvPr>
          <p:cNvSpPr/>
          <p:nvPr/>
        </p:nvSpPr>
        <p:spPr>
          <a:xfrm>
            <a:off x="311677" y="4473861"/>
            <a:ext cx="11568645" cy="1799540"/>
          </a:xfrm>
          <a:prstGeom prst="rect">
            <a:avLst/>
          </a:prstGeom>
          <a:solidFill>
            <a:srgbClr val="E74C3C">
              <a:alpha val="10000"/>
            </a:srgbClr>
          </a:solidFill>
          <a:ln w="0">
            <a:noFill/>
          </a:ln>
        </p:spPr>
        <p:style>
          <a:lnRef idx="0">
            <a:scrgbClr r="0" g="0" b="0"/>
          </a:lnRef>
          <a:fillRef idx="0">
            <a:scrgbClr r="0" g="0" b="0"/>
          </a:fillRef>
          <a:effectRef idx="0">
            <a:scrgbClr r="0" g="0" b="0"/>
          </a:effectRef>
          <a:fontRef idx="minor"/>
        </p:style>
        <p:txBody>
          <a:bodyPr lIns="171360" tIns="171360" rIns="171360" bIns="17136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lnSpc>
                <a:spcPct val="150000"/>
              </a:lnSpc>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本文提出</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POI-Forensics</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，一种基于音视频</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rPr>
              <a:t>身份验证</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的深度伪造检测方法，其核心是通过</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rPr>
              <a:t>对比学习</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范式，仅在</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rPr>
              <a:t>真实说话人视频</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上训练，使同一目标人物（</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POI</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）的音视频嵌入向量相近、不同人物的向量远离；该方法无需依赖特定篡改技术，能检测单模态（仅音频 </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 </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仅视频）和多模态（音视频）攻击。</a:t>
            </a:r>
            <a:endParaRPr lang="en-US"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1918291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9F52A-68CF-A1B5-5B56-0D2B2DD63795}"/>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EFB6272-B75D-30A8-E2C2-ECACC8D69C20}"/>
              </a:ext>
            </a:extLst>
          </p:cNvPr>
          <p:cNvSpPr>
            <a:spLocks noGrp="1"/>
          </p:cNvSpPr>
          <p:nvPr>
            <p:ph type="sldNum" sz="quarter" idx="4"/>
          </p:nvPr>
        </p:nvSpPr>
        <p:spPr/>
        <p:txBody>
          <a:bodyPr/>
          <a:lstStyle/>
          <a:p>
            <a:r>
              <a:rPr lang="en-US" altLang="zh-CN"/>
              <a:t>&lt; </a:t>
            </a:r>
            <a:fld id="{A548B57D-AE10-4CF7-A9DF-59FEFA91B28E}" type="slidenum">
              <a:rPr lang="zh-CN" altLang="en-US" smtClean="0"/>
              <a:t>5</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C48CECEE-F725-BCFD-0725-2A6479028604}"/>
              </a:ext>
            </a:extLst>
          </p:cNvPr>
          <p:cNvSpPr>
            <a:spLocks noGrp="1"/>
          </p:cNvSpPr>
          <p:nvPr>
            <p:ph type="title"/>
          </p:nvPr>
        </p:nvSpPr>
        <p:spPr/>
        <p:txBody>
          <a:bodyPr>
            <a:noAutofit/>
          </a:bodyPr>
          <a:lstStyle/>
          <a:p>
            <a:r>
              <a:rPr lang="zh-CN" altLang="en-US" spc="0" dirty="0"/>
              <a:t>数据预处理</a:t>
            </a:r>
          </a:p>
        </p:txBody>
      </p:sp>
      <p:sp>
        <p:nvSpPr>
          <p:cNvPr id="17" name="文本占位符 3">
            <a:extLst>
              <a:ext uri="{FF2B5EF4-FFF2-40B4-BE49-F238E27FC236}">
                <a16:creationId xmlns:a16="http://schemas.microsoft.com/office/drawing/2014/main" id="{144BE46A-2DE8-6290-1A11-661702982407}"/>
              </a:ext>
            </a:extLst>
          </p:cNvPr>
          <p:cNvSpPr>
            <a:spLocks noGrp="1"/>
          </p:cNvSpPr>
          <p:nvPr>
            <p:ph type="body" sz="quarter" idx="10"/>
          </p:nvPr>
        </p:nvSpPr>
        <p:spPr>
          <a:xfrm>
            <a:off x="647125" y="3701749"/>
            <a:ext cx="10897750" cy="2692604"/>
          </a:xfrm>
        </p:spPr>
        <p:txBody>
          <a:bodyPr>
            <a:normAutofit/>
          </a:bodyPr>
          <a:lstStyle/>
          <a:p>
            <a:pPr defTabSz="457200">
              <a:lnSpc>
                <a:spcPct val="150000"/>
              </a:lnSpc>
            </a:pPr>
            <a:r>
              <a:rPr lang="zh-CN" altLang="en-US" dirty="0">
                <a:latin typeface="微软雅黑" panose="020B0503020204020204" pitchFamily="34" charset="-122"/>
                <a:ea typeface="微软雅黑" panose="020B0503020204020204" pitchFamily="34" charset="-122"/>
              </a:rPr>
              <a:t>切片：</a:t>
            </a:r>
            <a:r>
              <a:rPr lang="zh-CN" altLang="en-US" b="0" dirty="0">
                <a:latin typeface="微软雅黑" panose="020B0503020204020204" pitchFamily="34" charset="-122"/>
                <a:ea typeface="微软雅黑" panose="020B0503020204020204" pitchFamily="34" charset="-122"/>
              </a:rPr>
              <a:t>把视频每 </a:t>
            </a:r>
            <a:r>
              <a:rPr lang="en-US" altLang="zh-CN" b="0" dirty="0">
                <a:latin typeface="微软雅黑" panose="020B0503020204020204" pitchFamily="34" charset="-122"/>
                <a:ea typeface="微软雅黑" panose="020B0503020204020204" pitchFamily="34" charset="-122"/>
              </a:rPr>
              <a:t>3 </a:t>
            </a:r>
            <a:r>
              <a:rPr lang="zh-CN" altLang="en-US" b="0" dirty="0">
                <a:latin typeface="微软雅黑" panose="020B0503020204020204" pitchFamily="34" charset="-122"/>
                <a:ea typeface="微软雅黑" panose="020B0503020204020204" pitchFamily="34" charset="-122"/>
              </a:rPr>
              <a:t>秒切成一个小段。</a:t>
            </a:r>
            <a:endParaRPr lang="en-US" altLang="zh-CN" b="0" dirty="0">
              <a:latin typeface="微软雅黑" panose="020B0503020204020204" pitchFamily="34" charset="-122"/>
              <a:ea typeface="微软雅黑" panose="020B0503020204020204" pitchFamily="34" charset="-122"/>
            </a:endParaRPr>
          </a:p>
          <a:p>
            <a:pPr defTabSz="457200">
              <a:lnSpc>
                <a:spcPct val="150000"/>
              </a:lnSpc>
            </a:pPr>
            <a:r>
              <a:rPr lang="zh-CN" altLang="en-US" dirty="0">
                <a:latin typeface="微软雅黑" panose="020B0503020204020204" pitchFamily="34" charset="-122"/>
                <a:ea typeface="微软雅黑" panose="020B0503020204020204" pitchFamily="34" charset="-122"/>
              </a:rPr>
              <a:t>视频特征：</a:t>
            </a:r>
            <a:r>
              <a:rPr lang="zh-CN" altLang="en-US" b="0" dirty="0">
                <a:latin typeface="微软雅黑" panose="020B0503020204020204" pitchFamily="34" charset="-122"/>
                <a:ea typeface="微软雅黑" panose="020B0503020204020204" pitchFamily="34" charset="-122"/>
              </a:rPr>
              <a:t>每段取</a:t>
            </a:r>
            <a:r>
              <a:rPr lang="en-US" altLang="zh-CN" b="0" dirty="0">
                <a:latin typeface="微软雅黑" panose="020B0503020204020204" pitchFamily="34" charset="-122"/>
                <a:ea typeface="微软雅黑" panose="020B0503020204020204" pitchFamily="34" charset="-122"/>
              </a:rPr>
              <a:t>25 </a:t>
            </a:r>
            <a:r>
              <a:rPr lang="zh-CN" altLang="en-US" b="0" dirty="0">
                <a:latin typeface="微软雅黑" panose="020B0503020204020204" pitchFamily="34" charset="-122"/>
                <a:ea typeface="微软雅黑" panose="020B0503020204020204" pitchFamily="34" charset="-122"/>
              </a:rPr>
              <a:t>帧人脸（等间隔），送进</a:t>
            </a:r>
            <a:r>
              <a:rPr lang="en-US" altLang="zh-CN" b="0" dirty="0">
                <a:latin typeface="微软雅黑" panose="020B0503020204020204" pitchFamily="34" charset="-122"/>
                <a:ea typeface="微软雅黑" panose="020B0503020204020204" pitchFamily="34" charset="-122"/>
              </a:rPr>
              <a:t>ResNet-50</a:t>
            </a:r>
            <a:r>
              <a:rPr lang="zh-CN" altLang="en-US" b="0" dirty="0">
                <a:latin typeface="微软雅黑" panose="020B0503020204020204" pitchFamily="34" charset="-122"/>
                <a:ea typeface="微软雅黑" panose="020B0503020204020204" pitchFamily="34" charset="-122"/>
              </a:rPr>
              <a:t>→ 得到一个</a:t>
            </a:r>
            <a:r>
              <a:rPr lang="en-US" altLang="zh-CN" b="0" dirty="0">
                <a:latin typeface="微软雅黑" panose="020B0503020204020204" pitchFamily="34" charset="-122"/>
                <a:ea typeface="微软雅黑" panose="020B0503020204020204" pitchFamily="34" charset="-122"/>
              </a:rPr>
              <a:t>256 </a:t>
            </a:r>
            <a:r>
              <a:rPr lang="zh-CN" altLang="en-US" b="0" dirty="0">
                <a:latin typeface="微软雅黑" panose="020B0503020204020204" pitchFamily="34" charset="-122"/>
                <a:ea typeface="微软雅黑" panose="020B0503020204020204" pitchFamily="34" charset="-122"/>
              </a:rPr>
              <a:t>维视频向量。</a:t>
            </a:r>
            <a:endParaRPr lang="en-US" altLang="zh-CN" b="0" dirty="0">
              <a:latin typeface="微软雅黑" panose="020B0503020204020204" pitchFamily="34" charset="-122"/>
              <a:ea typeface="微软雅黑" panose="020B0503020204020204" pitchFamily="34" charset="-122"/>
            </a:endParaRPr>
          </a:p>
          <a:p>
            <a:pPr defTabSz="457200">
              <a:lnSpc>
                <a:spcPct val="150000"/>
              </a:lnSpc>
            </a:pPr>
            <a:r>
              <a:rPr lang="zh-CN" altLang="en-US" dirty="0">
                <a:latin typeface="微软雅黑" panose="020B0503020204020204" pitchFamily="34" charset="-122"/>
                <a:ea typeface="微软雅黑" panose="020B0503020204020204" pitchFamily="34" charset="-122"/>
              </a:rPr>
              <a:t>音频特征：</a:t>
            </a:r>
            <a:r>
              <a:rPr lang="zh-CN" altLang="en-US" b="0" dirty="0">
                <a:latin typeface="微软雅黑" panose="020B0503020204020204" pitchFamily="34" charset="-122"/>
                <a:ea typeface="微软雅黑" panose="020B0503020204020204" pitchFamily="34" charset="-122"/>
              </a:rPr>
              <a:t>把同一段音频做幅度谱图（</a:t>
            </a:r>
            <a:r>
              <a:rPr lang="en-US" altLang="zh-CN" b="0" dirty="0">
                <a:latin typeface="微软雅黑" panose="020B0503020204020204" pitchFamily="34" charset="-122"/>
                <a:ea typeface="微软雅黑" panose="020B0503020204020204" pitchFamily="34" charset="-122"/>
              </a:rPr>
              <a:t>300×257</a:t>
            </a:r>
            <a:r>
              <a:rPr lang="zh-CN" altLang="en-US" b="0" dirty="0">
                <a:latin typeface="微软雅黑" panose="020B0503020204020204" pitchFamily="34" charset="-122"/>
                <a:ea typeface="微软雅黑" panose="020B0503020204020204" pitchFamily="34" charset="-122"/>
              </a:rPr>
              <a:t>，窗长 </a:t>
            </a:r>
            <a:r>
              <a:rPr lang="en-US" altLang="zh-CN" b="0" dirty="0">
                <a:latin typeface="微软雅黑" panose="020B0503020204020204" pitchFamily="34" charset="-122"/>
                <a:ea typeface="微软雅黑" panose="020B0503020204020204" pitchFamily="34" charset="-122"/>
              </a:rPr>
              <a:t>25ms</a:t>
            </a:r>
            <a:r>
              <a:rPr lang="zh-CN" altLang="en-US" b="0" dirty="0">
                <a:latin typeface="微软雅黑" panose="020B0503020204020204" pitchFamily="34" charset="-122"/>
                <a:ea typeface="微软雅黑" panose="020B0503020204020204" pitchFamily="34" charset="-122"/>
              </a:rPr>
              <a:t>、步长 </a:t>
            </a:r>
            <a:r>
              <a:rPr lang="en-US" altLang="zh-CN" b="0" dirty="0">
                <a:latin typeface="微软雅黑" panose="020B0503020204020204" pitchFamily="34" charset="-122"/>
                <a:ea typeface="微软雅黑" panose="020B0503020204020204" pitchFamily="34" charset="-122"/>
              </a:rPr>
              <a:t>10ms</a:t>
            </a:r>
            <a:r>
              <a:rPr lang="zh-CN" altLang="en-US" b="0" dirty="0">
                <a:latin typeface="微软雅黑" panose="020B0503020204020204" pitchFamily="34" charset="-122"/>
                <a:ea typeface="微软雅黑" panose="020B0503020204020204" pitchFamily="34" charset="-122"/>
              </a:rPr>
              <a:t>），送进另一套 </a:t>
            </a:r>
            <a:r>
              <a:rPr lang="en-US" altLang="zh-CN" b="0" dirty="0">
                <a:latin typeface="微软雅黑" panose="020B0503020204020204" pitchFamily="34" charset="-122"/>
                <a:ea typeface="微软雅黑" panose="020B0503020204020204" pitchFamily="34" charset="-122"/>
              </a:rPr>
              <a:t>ResNet-50 → </a:t>
            </a:r>
            <a:r>
              <a:rPr lang="zh-CN" altLang="en-US" b="0" dirty="0">
                <a:latin typeface="微软雅黑" panose="020B0503020204020204" pitchFamily="34" charset="-122"/>
                <a:ea typeface="微软雅黑" panose="020B0503020204020204" pitchFamily="34" charset="-122"/>
              </a:rPr>
              <a:t>得到一个</a:t>
            </a:r>
            <a:r>
              <a:rPr lang="en-US" altLang="zh-CN" b="0" dirty="0">
                <a:latin typeface="微软雅黑" panose="020B0503020204020204" pitchFamily="34" charset="-122"/>
                <a:ea typeface="微软雅黑" panose="020B0503020204020204" pitchFamily="34" charset="-122"/>
              </a:rPr>
              <a:t>256 </a:t>
            </a:r>
            <a:r>
              <a:rPr lang="zh-CN" altLang="en-US" b="0" dirty="0">
                <a:latin typeface="微软雅黑" panose="020B0503020204020204" pitchFamily="34" charset="-122"/>
                <a:ea typeface="微软雅黑" panose="020B0503020204020204" pitchFamily="34" charset="-122"/>
              </a:rPr>
              <a:t>维音频向量。</a:t>
            </a:r>
          </a:p>
        </p:txBody>
      </p:sp>
      <p:pic>
        <p:nvPicPr>
          <p:cNvPr id="5" name="图片 4">
            <a:extLst>
              <a:ext uri="{FF2B5EF4-FFF2-40B4-BE49-F238E27FC236}">
                <a16:creationId xmlns:a16="http://schemas.microsoft.com/office/drawing/2014/main" id="{88112179-DAFE-A6A4-8C2C-8F10AC9D4822}"/>
              </a:ext>
            </a:extLst>
          </p:cNvPr>
          <p:cNvPicPr>
            <a:picLocks noChangeAspect="1"/>
          </p:cNvPicPr>
          <p:nvPr/>
        </p:nvPicPr>
        <p:blipFill>
          <a:blip r:embed="rId2"/>
          <a:stretch>
            <a:fillRect/>
          </a:stretch>
        </p:blipFill>
        <p:spPr>
          <a:xfrm>
            <a:off x="1784738" y="1065952"/>
            <a:ext cx="8622523" cy="3089460"/>
          </a:xfrm>
          <a:prstGeom prst="rect">
            <a:avLst/>
          </a:prstGeom>
        </p:spPr>
      </p:pic>
    </p:spTree>
    <p:extLst>
      <p:ext uri="{BB962C8B-B14F-4D97-AF65-F5344CB8AC3E}">
        <p14:creationId xmlns:p14="http://schemas.microsoft.com/office/powerpoint/2010/main" val="1430998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97ABB-1F8A-85E2-F3D5-498EAFEED555}"/>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B42F3B7-159D-1331-ED13-43E0A118CF2B}"/>
              </a:ext>
            </a:extLst>
          </p:cNvPr>
          <p:cNvSpPr>
            <a:spLocks noGrp="1"/>
          </p:cNvSpPr>
          <p:nvPr>
            <p:ph type="sldNum" sz="quarter" idx="4"/>
          </p:nvPr>
        </p:nvSpPr>
        <p:spPr/>
        <p:txBody>
          <a:bodyPr/>
          <a:lstStyle/>
          <a:p>
            <a:r>
              <a:rPr lang="en-US" altLang="zh-CN" dirty="0"/>
              <a:t>&lt; </a:t>
            </a:r>
            <a:fld id="{A548B57D-AE10-4CF7-A9DF-59FEFA91B28E}" type="slidenum">
              <a:rPr lang="zh-CN" altLang="en-US" smtClean="0"/>
              <a:t>6</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B81C4527-EC9F-45C0-B308-6F1EA92BC594}"/>
              </a:ext>
            </a:extLst>
          </p:cNvPr>
          <p:cNvSpPr>
            <a:spLocks noGrp="1"/>
          </p:cNvSpPr>
          <p:nvPr>
            <p:ph type="title"/>
          </p:nvPr>
        </p:nvSpPr>
        <p:spPr/>
        <p:txBody>
          <a:bodyPr>
            <a:noAutofit/>
          </a:bodyPr>
          <a:lstStyle/>
          <a:p>
            <a:r>
              <a:rPr lang="zh-CN" altLang="en-US" spc="0" dirty="0"/>
              <a:t>训练过程 </a:t>
            </a:r>
            <a:r>
              <a:rPr lang="en-US" altLang="zh-CN" spc="0" dirty="0"/>
              <a:t>——</a:t>
            </a:r>
            <a:r>
              <a:rPr lang="zh-CN" altLang="en-US" spc="0" dirty="0"/>
              <a:t> 对比学习</a:t>
            </a:r>
          </a:p>
        </p:txBody>
      </p:sp>
      <mc:AlternateContent xmlns:mc="http://schemas.openxmlformats.org/markup-compatibility/2006" xmlns:a14="http://schemas.microsoft.com/office/drawing/2010/main">
        <mc:Choice Requires="a14">
          <p:sp>
            <p:nvSpPr>
              <p:cNvPr id="17" name="文本占位符 3">
                <a:extLst>
                  <a:ext uri="{FF2B5EF4-FFF2-40B4-BE49-F238E27FC236}">
                    <a16:creationId xmlns:a16="http://schemas.microsoft.com/office/drawing/2014/main" id="{4E4C2C7A-C69E-CB53-CCF0-4F061FD21630}"/>
                  </a:ext>
                </a:extLst>
              </p:cNvPr>
              <p:cNvSpPr>
                <a:spLocks noGrp="1"/>
              </p:cNvSpPr>
              <p:nvPr>
                <p:ph type="body" sz="quarter" idx="10"/>
              </p:nvPr>
            </p:nvSpPr>
            <p:spPr>
              <a:xfrm>
                <a:off x="720934" y="1615005"/>
                <a:ext cx="11255876" cy="4779348"/>
              </a:xfrm>
            </p:spPr>
            <p:txBody>
              <a:bodyPr>
                <a:normAutofit/>
              </a:bodyPr>
              <a:lstStyle/>
              <a:p>
                <a:pPr marL="0" indent="0" defTabSz="457200">
                  <a:lnSpc>
                    <a:spcPct val="150000"/>
                  </a:lnSpc>
                  <a:buNone/>
                </a:pPr>
                <a:r>
                  <a:rPr lang="zh-CN" altLang="en-US" sz="1800" dirty="0">
                    <a:latin typeface="微软雅黑" panose="020B0503020204020204" pitchFamily="34" charset="-122"/>
                    <a:ea typeface="微软雅黑" panose="020B0503020204020204" pitchFamily="34" charset="-122"/>
                  </a:rPr>
                  <a:t>总损失：</a:t>
                </a:r>
                <a:endParaRPr lang="en-US" altLang="zh-CN" sz="1800" dirty="0">
                  <a:latin typeface="微软雅黑" panose="020B0503020204020204" pitchFamily="34" charset="-122"/>
                  <a:ea typeface="微软雅黑" panose="020B0503020204020204" pitchFamily="34" charset="-122"/>
                </a:endParaRPr>
              </a:p>
              <a:p>
                <a:pPr defTabSz="457200">
                  <a:lnSpc>
                    <a:spcPct val="150000"/>
                  </a:lnSpc>
                </a:pPr>
                <a14:m>
                  <m:oMath xmlns:m="http://schemas.openxmlformats.org/officeDocument/2006/math">
                    <m:sSub>
                      <m:sSubPr>
                        <m:ctrlPr>
                          <a:rPr lang="ar-AE" altLang="zh-CN" sz="1800" b="0" i="1" dirty="0">
                            <a:latin typeface="Cambria Math" panose="02040503050406030204" pitchFamily="18" charset="0"/>
                            <a:ea typeface="微软雅黑" panose="020B0503020204020204" pitchFamily="34" charset="-122"/>
                          </a:rPr>
                        </m:ctrlPr>
                      </m:sSubPr>
                      <m:e>
                        <m:r>
                          <a:rPr lang="en-US" altLang="zh-CN" sz="1800" b="0" dirty="0">
                            <a:latin typeface="Cambria Math" panose="02040503050406030204" pitchFamily="18" charset="0"/>
                            <a:ea typeface="微软雅黑" panose="020B0503020204020204" pitchFamily="34" charset="-122"/>
                          </a:rPr>
                          <m:t>    </m:t>
                        </m:r>
                        <m:r>
                          <m:rPr>
                            <m:sty m:val="p"/>
                          </m:rPr>
                          <a:rPr lang="zh-CN" altLang="ar-AE" sz="1800" b="0" i="1" dirty="0">
                            <a:latin typeface="Cambria Math" panose="02040503050406030204" pitchFamily="18" charset="0"/>
                            <a:ea typeface="微软雅黑" panose="020B0503020204020204" pitchFamily="34" charset="-122"/>
                          </a:rPr>
                          <m:t>L</m:t>
                        </m:r>
                      </m:e>
                      <m:sub>
                        <m:r>
                          <m:rPr>
                            <m:sty m:val="p"/>
                          </m:rPr>
                          <a:rPr lang="zh-CN" altLang="ar-AE" sz="1800" b="0" i="1" dirty="0">
                            <a:latin typeface="Cambria Math" panose="02040503050406030204" pitchFamily="18" charset="0"/>
                            <a:ea typeface="微软雅黑" panose="020B0503020204020204" pitchFamily="34" charset="-122"/>
                          </a:rPr>
                          <m:t>v</m:t>
                        </m:r>
                      </m:sub>
                    </m:sSub>
                  </m:oMath>
                </a14:m>
                <a:r>
                  <a:rPr lang="zh-CN" altLang="ar-AE"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只看视频；</a:t>
                </a:r>
                <a14:m>
                  <m:oMath xmlns:m="http://schemas.openxmlformats.org/officeDocument/2006/math">
                    <m:sSub>
                      <m:sSubPr>
                        <m:ctrlPr>
                          <a:rPr lang="ar-AE" altLang="zh-CN" sz="1800" b="0" i="1" dirty="0">
                            <a:latin typeface="Cambria Math" panose="02040503050406030204" pitchFamily="18" charset="0"/>
                            <a:ea typeface="微软雅黑" panose="020B0503020204020204" pitchFamily="34" charset="-122"/>
                          </a:rPr>
                        </m:ctrlPr>
                      </m:sSubPr>
                      <m:e>
                        <m:r>
                          <m:rPr>
                            <m:sty m:val="p"/>
                          </m:rPr>
                          <a:rPr lang="zh-CN" altLang="ar-AE" sz="1800" b="0" i="1" dirty="0">
                            <a:latin typeface="Cambria Math" panose="02040503050406030204" pitchFamily="18" charset="0"/>
                            <a:ea typeface="微软雅黑" panose="020B0503020204020204" pitchFamily="34" charset="-122"/>
                          </a:rPr>
                          <m:t>L</m:t>
                        </m:r>
                      </m:e>
                      <m:sub>
                        <m:r>
                          <m:rPr>
                            <m:sty m:val="p"/>
                          </m:rPr>
                          <a:rPr lang="zh-CN" altLang="ar-AE" sz="1800" b="0" i="1" dirty="0">
                            <a:latin typeface="Cambria Math" panose="02040503050406030204" pitchFamily="18" charset="0"/>
                            <a:ea typeface="微软雅黑" panose="020B0503020204020204" pitchFamily="34" charset="-122"/>
                          </a:rPr>
                          <m:t>a</m:t>
                        </m:r>
                      </m:sub>
                    </m:sSub>
                  </m:oMath>
                </a14:m>
                <a:r>
                  <a:rPr lang="zh-CN" altLang="ar-AE"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只看音频；</a:t>
                </a:r>
                <a14:m>
                  <m:oMath xmlns:m="http://schemas.openxmlformats.org/officeDocument/2006/math">
                    <m:sSub>
                      <m:sSubPr>
                        <m:ctrlPr>
                          <a:rPr lang="ar-AE" altLang="zh-CN" sz="1800" b="0" i="1" dirty="0">
                            <a:latin typeface="Cambria Math" panose="02040503050406030204" pitchFamily="18" charset="0"/>
                            <a:ea typeface="微软雅黑" panose="020B0503020204020204" pitchFamily="34" charset="-122"/>
                          </a:rPr>
                        </m:ctrlPr>
                      </m:sSubPr>
                      <m:e>
                        <m:r>
                          <m:rPr>
                            <m:sty m:val="p"/>
                          </m:rPr>
                          <a:rPr lang="zh-CN" altLang="ar-AE" sz="1800" b="0" i="1" dirty="0">
                            <a:latin typeface="Cambria Math" panose="02040503050406030204" pitchFamily="18" charset="0"/>
                            <a:ea typeface="微软雅黑" panose="020B0503020204020204" pitchFamily="34" charset="-122"/>
                          </a:rPr>
                          <m:t>L</m:t>
                        </m:r>
                      </m:e>
                      <m:sub>
                        <m:r>
                          <m:rPr>
                            <m:sty m:val="p"/>
                          </m:rPr>
                          <a:rPr lang="zh-CN" altLang="ar-AE" sz="1800" b="0" i="1" dirty="0">
                            <a:latin typeface="Cambria Math" panose="02040503050406030204" pitchFamily="18" charset="0"/>
                            <a:ea typeface="微软雅黑" panose="020B0503020204020204" pitchFamily="34" charset="-122"/>
                          </a:rPr>
                          <m:t>av</m:t>
                        </m:r>
                      </m:sub>
                    </m:sSub>
                  </m:oMath>
                </a14:m>
                <a:r>
                  <a:rPr lang="zh-CN" altLang="ar-AE"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音视联合（相似度为单模态相似度之和，弥补单一模态缺陷。 ）</a:t>
                </a:r>
                <a:endParaRPr lang="en-US" altLang="zh-CN" sz="1800" b="0" dirty="0">
                  <a:latin typeface="微软雅黑" panose="020B0503020204020204" pitchFamily="34" charset="-122"/>
                  <a:ea typeface="微软雅黑" panose="020B0503020204020204" pitchFamily="34" charset="-122"/>
                </a:endParaRPr>
              </a:p>
              <a:p>
                <a:pPr marL="0" indent="0" defTabSz="457200">
                  <a:lnSpc>
                    <a:spcPct val="150000"/>
                  </a:lnSpc>
                  <a:buNone/>
                </a:pPr>
                <a:r>
                  <a:rPr lang="zh-CN" altLang="en-US" sz="1800" dirty="0">
                    <a:latin typeface="微软雅黑" panose="020B0503020204020204" pitchFamily="34" charset="-122"/>
                    <a:ea typeface="微软雅黑" panose="020B0503020204020204" pitchFamily="34" charset="-122"/>
                  </a:rPr>
                  <a:t>相似度定义：</a:t>
                </a:r>
                <a:endParaRPr lang="en-US" altLang="zh-CN" sz="1800" dirty="0">
                  <a:latin typeface="微软雅黑" panose="020B0503020204020204" pitchFamily="34" charset="-122"/>
                  <a:ea typeface="微软雅黑" panose="020B0503020204020204" pitchFamily="34" charset="-122"/>
                </a:endParaRPr>
              </a:p>
              <a:p>
                <a:pPr marL="0" indent="0" defTabSz="457200">
                  <a:lnSpc>
                    <a:spcPct val="150000"/>
                  </a:lnSpc>
                  <a:buNone/>
                </a:pPr>
                <a:r>
                  <a:rPr lang="zh-CN" altLang="en-US" sz="1800" dirty="0">
                    <a:latin typeface="微软雅黑" panose="020B0503020204020204" pitchFamily="34" charset="-122"/>
                    <a:ea typeface="微软雅黑" panose="020B0503020204020204" pitchFamily="34" charset="-122"/>
                  </a:rPr>
                  <a:t>损失计算（多路对比）：</a:t>
                </a:r>
                <a:endParaRPr lang="en-US" altLang="zh-CN" sz="1800" dirty="0">
                  <a:latin typeface="微软雅黑" panose="020B0503020204020204" pitchFamily="34" charset="-122"/>
                  <a:ea typeface="微软雅黑" panose="020B0503020204020204" pitchFamily="34" charset="-122"/>
                </a:endParaRPr>
              </a:p>
              <a:p>
                <a:pPr defTabSz="457200">
                  <a:lnSpc>
                    <a:spcPct val="150000"/>
                  </a:lnSpc>
                </a:pPr>
                <a:r>
                  <a:rPr lang="zh-CN" altLang="en-US" sz="1800" b="0" dirty="0">
                    <a:latin typeface="微软雅黑" panose="020B0503020204020204" pitchFamily="34" charset="-122"/>
                    <a:ea typeface="微软雅黑" panose="020B0503020204020204" pitchFamily="34" charset="-122"/>
                  </a:rPr>
                  <a:t>其中 </a:t>
                </a:r>
                <a14:m>
                  <m:oMath xmlns:m="http://schemas.openxmlformats.org/officeDocument/2006/math">
                    <m:sSub>
                      <m:sSubPr>
                        <m:ctrlPr>
                          <a:rPr lang="zh-CN" altLang="en-US" sz="1800" b="0" i="1" dirty="0">
                            <a:latin typeface="Cambria Math" panose="02040503050406030204" pitchFamily="18" charset="0"/>
                            <a:ea typeface="微软雅黑" panose="020B0503020204020204" pitchFamily="34" charset="-122"/>
                          </a:rPr>
                        </m:ctrlPr>
                      </m:sSubPr>
                      <m:e>
                        <m:r>
                          <a:rPr lang="zh-CN" altLang="en-US" sz="1800" b="0" dirty="0">
                            <a:latin typeface="Cambria Math" panose="02040503050406030204" pitchFamily="18" charset="0"/>
                            <a:ea typeface="微软雅黑" panose="020B0503020204020204" pitchFamily="34" charset="-122"/>
                          </a:rPr>
                          <m:t>𝑁</m:t>
                        </m:r>
                      </m:e>
                      <m:sub>
                        <m:r>
                          <a:rPr lang="zh-CN" altLang="en-US" sz="1800" b="0" dirty="0">
                            <a:latin typeface="Cambria Math" panose="02040503050406030204" pitchFamily="18" charset="0"/>
                            <a:ea typeface="微软雅黑" panose="020B0503020204020204" pitchFamily="34" charset="-122"/>
                          </a:rPr>
                          <m:t>𝑐</m:t>
                        </m:r>
                      </m:sub>
                    </m:sSub>
                  </m:oMath>
                </a14:m>
                <a:r>
                  <a:rPr lang="zh-CN" altLang="en-US" sz="1800" b="0" dirty="0">
                    <a:latin typeface="微软雅黑" panose="020B0503020204020204" pitchFamily="34" charset="-122"/>
                    <a:ea typeface="微软雅黑" panose="020B0503020204020204" pitchFamily="34" charset="-122"/>
                  </a:rPr>
                  <a:t>是“与 </a:t>
                </a:r>
                <a:r>
                  <a:rPr lang="en-US" altLang="zh-CN" sz="1800" b="0" dirty="0">
                    <a:latin typeface="微软雅黑" panose="020B0503020204020204" pitchFamily="34" charset="-122"/>
                    <a:ea typeface="微软雅黑" panose="020B0503020204020204" pitchFamily="34" charset="-122"/>
                  </a:rPr>
                  <a:t>c </a:t>
                </a:r>
                <a:r>
                  <a:rPr lang="zh-CN" altLang="en-US" sz="1800" b="0" dirty="0">
                    <a:latin typeface="微软雅黑" panose="020B0503020204020204" pitchFamily="34" charset="-122"/>
                    <a:ea typeface="微软雅黑" panose="020B0503020204020204" pitchFamily="34" charset="-122"/>
                  </a:rPr>
                  <a:t>同一身份的片段集合” ，分母用批内所有其他片段当“负样本”。这比 </a:t>
                </a:r>
                <a:r>
                  <a:rPr lang="en-US" altLang="zh-CN" sz="1800" b="0" dirty="0">
                    <a:latin typeface="微软雅黑" panose="020B0503020204020204" pitchFamily="34" charset="-122"/>
                    <a:ea typeface="微软雅黑" panose="020B0503020204020204" pitchFamily="34" charset="-122"/>
                  </a:rPr>
                  <a:t>triplet</a:t>
                </a:r>
                <a:r>
                  <a:rPr lang="zh-CN" altLang="en-US" sz="1800" b="0" dirty="0">
                    <a:latin typeface="微软雅黑" panose="020B0503020204020204" pitchFamily="34" charset="-122"/>
                    <a:ea typeface="微软雅黑" panose="020B0503020204020204" pitchFamily="34" charset="-122"/>
                  </a:rPr>
                  <a:t>（只挑一个负样本）更稳定。</a:t>
                </a:r>
                <a:endParaRPr lang="en-US" altLang="zh-CN" sz="1800" b="0" dirty="0">
                  <a:latin typeface="微软雅黑" panose="020B0503020204020204" pitchFamily="34" charset="-122"/>
                  <a:ea typeface="微软雅黑" panose="020B0503020204020204" pitchFamily="34" charset="-122"/>
                </a:endParaRPr>
              </a:p>
              <a:p>
                <a:pPr marL="0" indent="0" defTabSz="457200">
                  <a:lnSpc>
                    <a:spcPct val="150000"/>
                  </a:lnSpc>
                  <a:buNone/>
                </a:pPr>
                <a:r>
                  <a:rPr lang="zh-CN" altLang="en-US" sz="1800" dirty="0">
                    <a:latin typeface="微软雅黑" panose="020B0503020204020204" pitchFamily="34" charset="-122"/>
                    <a:ea typeface="微软雅黑" panose="020B0503020204020204" pitchFamily="34" charset="-122"/>
                  </a:rPr>
                  <a:t>训练配置：</a:t>
                </a:r>
                <a:r>
                  <a:rPr lang="zh-CN" altLang="en-US" sz="1800" b="0" dirty="0">
                    <a:latin typeface="微软雅黑" panose="020B0503020204020204" pitchFamily="34" charset="-122"/>
                    <a:ea typeface="微软雅黑" panose="020B0503020204020204" pitchFamily="34" charset="-122"/>
                  </a:rPr>
                  <a:t>按“身份”划分训练</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验证；只用真视频训练；一个 </a:t>
                </a:r>
                <a:r>
                  <a:rPr lang="en-US" altLang="zh-CN" sz="1800" b="0" dirty="0">
                    <a:latin typeface="微软雅黑" panose="020B0503020204020204" pitchFamily="34" charset="-122"/>
                    <a:ea typeface="微软雅黑" panose="020B0503020204020204" pitchFamily="34" charset="-122"/>
                  </a:rPr>
                  <a:t>batch </a:t>
                </a:r>
                <a:r>
                  <a:rPr lang="zh-CN" altLang="en-US" sz="1800" b="0" dirty="0">
                    <a:latin typeface="微软雅黑" panose="020B0503020204020204" pitchFamily="34" charset="-122"/>
                    <a:ea typeface="微软雅黑" panose="020B0503020204020204" pitchFamily="34" charset="-122"/>
                  </a:rPr>
                  <a:t>放 </a:t>
                </a:r>
                <a:r>
                  <a:rPr lang="en-US" altLang="zh-CN" sz="1800" b="0" dirty="0">
                    <a:latin typeface="微软雅黑" panose="020B0503020204020204" pitchFamily="34" charset="-122"/>
                    <a:ea typeface="微软雅黑" panose="020B0503020204020204" pitchFamily="34" charset="-122"/>
                  </a:rPr>
                  <a:t>8 </a:t>
                </a:r>
                <a:r>
                  <a:rPr lang="zh-CN" altLang="en-US" sz="1800" b="0" dirty="0">
                    <a:latin typeface="微软雅黑" panose="020B0503020204020204" pitchFamily="34" charset="-122"/>
                    <a:ea typeface="微软雅黑" panose="020B0503020204020204" pitchFamily="34" charset="-122"/>
                  </a:rPr>
                  <a:t>个身份 </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每个 </a:t>
                </a:r>
                <a:r>
                  <a:rPr lang="en-US" altLang="zh-CN" sz="1800" b="0" dirty="0">
                    <a:latin typeface="微软雅黑" panose="020B0503020204020204" pitchFamily="34" charset="-122"/>
                    <a:ea typeface="微软雅黑" panose="020B0503020204020204" pitchFamily="34" charset="-122"/>
                  </a:rPr>
                  <a:t>8 </a:t>
                </a:r>
                <a:r>
                  <a:rPr lang="zh-CN" altLang="en-US" sz="1800" b="0" dirty="0">
                    <a:latin typeface="微软雅黑" panose="020B0503020204020204" pitchFamily="34" charset="-122"/>
                    <a:ea typeface="微软雅黑" panose="020B0503020204020204" pitchFamily="34" charset="-122"/>
                  </a:rPr>
                  <a:t>个片段；优化器 </a:t>
                </a:r>
                <a:r>
                  <a:rPr lang="en-US" altLang="zh-CN" sz="1800" b="0" dirty="0" err="1">
                    <a:latin typeface="微软雅黑" panose="020B0503020204020204" pitchFamily="34" charset="-122"/>
                    <a:ea typeface="微软雅黑" panose="020B0503020204020204" pitchFamily="34" charset="-122"/>
                  </a:rPr>
                  <a:t>AdamW</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τ=0.01</a:t>
                </a:r>
                <a:r>
                  <a:rPr lang="zh-CN" altLang="en-US" sz="1800" b="0" dirty="0">
                    <a:latin typeface="微软雅黑" panose="020B0503020204020204" pitchFamily="34" charset="-122"/>
                    <a:ea typeface="微软雅黑" panose="020B0503020204020204" pitchFamily="34" charset="-122"/>
                  </a:rPr>
                  <a:t>；做了大量增强（压缩、模糊、噪声、裁块等），提升鲁棒性。</a:t>
                </a:r>
              </a:p>
            </p:txBody>
          </p:sp>
        </mc:Choice>
        <mc:Fallback xmlns="">
          <p:sp>
            <p:nvSpPr>
              <p:cNvPr id="17" name="文本占位符 3">
                <a:extLst>
                  <a:ext uri="{FF2B5EF4-FFF2-40B4-BE49-F238E27FC236}">
                    <a16:creationId xmlns:a16="http://schemas.microsoft.com/office/drawing/2014/main" id="{4E4C2C7A-C69E-CB53-CCF0-4F061FD21630}"/>
                  </a:ext>
                </a:extLst>
              </p:cNvPr>
              <p:cNvSpPr>
                <a:spLocks noGrp="1" noRot="1" noChangeAspect="1" noMove="1" noResize="1" noEditPoints="1" noAdjustHandles="1" noChangeArrowheads="1" noChangeShapeType="1" noTextEdit="1"/>
              </p:cNvSpPr>
              <p:nvPr>
                <p:ph type="body" sz="quarter" idx="10"/>
              </p:nvPr>
            </p:nvSpPr>
            <p:spPr>
              <a:xfrm>
                <a:off x="720934" y="1615005"/>
                <a:ext cx="11255876" cy="4779348"/>
              </a:xfrm>
              <a:blipFill>
                <a:blip r:embed="rId2"/>
                <a:stretch>
                  <a:fillRect l="-433"/>
                </a:stretch>
              </a:blipFill>
            </p:spPr>
            <p:txBody>
              <a:bodyPr/>
              <a:lstStyle/>
              <a:p>
                <a:r>
                  <a:rPr lang="zh-CN" altLang="en-US">
                    <a:noFill/>
                  </a:rPr>
                  <a:t> </a:t>
                </a:r>
              </a:p>
            </p:txBody>
          </p:sp>
        </mc:Fallback>
      </mc:AlternateContent>
      <p:sp>
        <p:nvSpPr>
          <p:cNvPr id="4" name="ModelComp1Border">
            <a:extLst>
              <a:ext uri="{FF2B5EF4-FFF2-40B4-BE49-F238E27FC236}">
                <a16:creationId xmlns:a16="http://schemas.microsoft.com/office/drawing/2014/main" id="{6CC0F420-61A1-55EA-0B8C-E27DAD749862}"/>
              </a:ext>
            </a:extLst>
          </p:cNvPr>
          <p:cNvSpPr/>
          <p:nvPr/>
        </p:nvSpPr>
        <p:spPr>
          <a:xfrm>
            <a:off x="675215" y="1000117"/>
            <a:ext cx="45719" cy="719186"/>
          </a:xfrm>
          <a:prstGeom prst="rect">
            <a:avLst/>
          </a:prstGeom>
          <a:solidFill>
            <a:schemeClr val="accent1">
              <a:lumMod val="75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strike="noStrike" spc="-1">
              <a:solidFill>
                <a:srgbClr val="FFFFFF"/>
              </a:solidFill>
              <a:latin typeface="Arial"/>
            </a:endParaRPr>
          </a:p>
        </p:txBody>
      </p:sp>
      <p:sp>
        <p:nvSpPr>
          <p:cNvPr id="6" name="ModelComp1Content">
            <a:extLst>
              <a:ext uri="{FF2B5EF4-FFF2-40B4-BE49-F238E27FC236}">
                <a16:creationId xmlns:a16="http://schemas.microsoft.com/office/drawing/2014/main" id="{13DC13B1-131E-6496-B149-C872533C5771}"/>
              </a:ext>
            </a:extLst>
          </p:cNvPr>
          <p:cNvSpPr/>
          <p:nvPr/>
        </p:nvSpPr>
        <p:spPr>
          <a:xfrm>
            <a:off x="720936" y="1000117"/>
            <a:ext cx="10795849" cy="719187"/>
          </a:xfrm>
          <a:prstGeom prst="rect">
            <a:avLst/>
          </a:prstGeom>
          <a:solidFill>
            <a:schemeClr val="accent1">
              <a:lumMod val="60000"/>
              <a:lumOff val="40000"/>
              <a:alpha val="10000"/>
            </a:schemeClr>
          </a:solidFill>
          <a:ln w="0">
            <a:noFill/>
          </a:ln>
        </p:spPr>
        <p:style>
          <a:lnRef idx="0">
            <a:scrgbClr r="0" g="0" b="0"/>
          </a:lnRef>
          <a:fillRef idx="0">
            <a:scrgbClr r="0" g="0" b="0"/>
          </a:fillRef>
          <a:effectRef idx="0">
            <a:scrgbClr r="0" g="0" b="0"/>
          </a:effectRef>
          <a:fontRef idx="minor"/>
        </p:style>
        <p:txBody>
          <a:bodyPr wrap="square" lIns="171360" tIns="154440" rIns="171360" bIns="15444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lnSpc>
                <a:spcPct val="15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rPr>
              <a:t>目标：</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同一个人的片段→ 特征更近；不同人的片段→ 特征更远。</a:t>
            </a:r>
            <a:endParaRPr 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p:txBody>
      </p:sp>
      <p:pic>
        <p:nvPicPr>
          <p:cNvPr id="9" name="图片 8">
            <a:extLst>
              <a:ext uri="{FF2B5EF4-FFF2-40B4-BE49-F238E27FC236}">
                <a16:creationId xmlns:a16="http://schemas.microsoft.com/office/drawing/2014/main" id="{C5D77A05-6641-3D47-7628-21924F11EA4F}"/>
              </a:ext>
            </a:extLst>
          </p:cNvPr>
          <p:cNvPicPr>
            <a:picLocks noChangeAspect="1"/>
          </p:cNvPicPr>
          <p:nvPr/>
        </p:nvPicPr>
        <p:blipFill>
          <a:blip r:embed="rId3"/>
          <a:stretch>
            <a:fillRect/>
          </a:stretch>
        </p:blipFill>
        <p:spPr>
          <a:xfrm>
            <a:off x="1780463" y="2083522"/>
            <a:ext cx="3190875" cy="428625"/>
          </a:xfrm>
          <a:prstGeom prst="rect">
            <a:avLst/>
          </a:prstGeom>
        </p:spPr>
      </p:pic>
      <p:pic>
        <p:nvPicPr>
          <p:cNvPr id="11" name="图片 10">
            <a:extLst>
              <a:ext uri="{FF2B5EF4-FFF2-40B4-BE49-F238E27FC236}">
                <a16:creationId xmlns:a16="http://schemas.microsoft.com/office/drawing/2014/main" id="{54BF8CB5-E7E1-EB79-60D1-EB95D8215821}"/>
              </a:ext>
            </a:extLst>
          </p:cNvPr>
          <p:cNvPicPr>
            <a:picLocks noChangeAspect="1"/>
          </p:cNvPicPr>
          <p:nvPr/>
        </p:nvPicPr>
        <p:blipFill>
          <a:blip r:embed="rId4"/>
          <a:stretch>
            <a:fillRect/>
          </a:stretch>
        </p:blipFill>
        <p:spPr>
          <a:xfrm>
            <a:off x="3323536" y="3526251"/>
            <a:ext cx="4523842" cy="779106"/>
          </a:xfrm>
          <a:prstGeom prst="rect">
            <a:avLst/>
          </a:prstGeom>
        </p:spPr>
      </p:pic>
      <p:pic>
        <p:nvPicPr>
          <p:cNvPr id="13" name="图片 12">
            <a:extLst>
              <a:ext uri="{FF2B5EF4-FFF2-40B4-BE49-F238E27FC236}">
                <a16:creationId xmlns:a16="http://schemas.microsoft.com/office/drawing/2014/main" id="{C97D62AA-F919-07CE-2FDD-C7E1B0356908}"/>
              </a:ext>
            </a:extLst>
          </p:cNvPr>
          <p:cNvPicPr>
            <a:picLocks noChangeAspect="1"/>
          </p:cNvPicPr>
          <p:nvPr/>
        </p:nvPicPr>
        <p:blipFill>
          <a:blip r:embed="rId5"/>
          <a:stretch>
            <a:fillRect/>
          </a:stretch>
        </p:blipFill>
        <p:spPr>
          <a:xfrm>
            <a:off x="2087991" y="2986578"/>
            <a:ext cx="4773667" cy="662633"/>
          </a:xfrm>
          <a:prstGeom prst="rect">
            <a:avLst/>
          </a:prstGeom>
        </p:spPr>
      </p:pic>
    </p:spTree>
    <p:extLst>
      <p:ext uri="{BB962C8B-B14F-4D97-AF65-F5344CB8AC3E}">
        <p14:creationId xmlns:p14="http://schemas.microsoft.com/office/powerpoint/2010/main" val="869607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512DE-B3A6-E1D4-BF84-F92E8B57DC5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CBD1A10-7678-472F-42C1-18EE12D6D0E9}"/>
              </a:ext>
            </a:extLst>
          </p:cNvPr>
          <p:cNvSpPr>
            <a:spLocks noGrp="1"/>
          </p:cNvSpPr>
          <p:nvPr>
            <p:ph type="sldNum" sz="quarter" idx="4"/>
          </p:nvPr>
        </p:nvSpPr>
        <p:spPr/>
        <p:txBody>
          <a:bodyPr/>
          <a:lstStyle/>
          <a:p>
            <a:r>
              <a:rPr lang="en-US" altLang="zh-CN" dirty="0"/>
              <a:t>&lt; </a:t>
            </a:r>
            <a:fld id="{A548B57D-AE10-4CF7-A9DF-59FEFA91B28E}" type="slidenum">
              <a:rPr lang="zh-CN" altLang="en-US" smtClean="0"/>
              <a:t>7</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E7AF61ED-8D85-09C0-2666-C7135EECFBB3}"/>
              </a:ext>
            </a:extLst>
          </p:cNvPr>
          <p:cNvSpPr>
            <a:spLocks noGrp="1"/>
          </p:cNvSpPr>
          <p:nvPr>
            <p:ph type="title"/>
          </p:nvPr>
        </p:nvSpPr>
        <p:spPr/>
        <p:txBody>
          <a:bodyPr>
            <a:noAutofit/>
          </a:bodyPr>
          <a:lstStyle/>
          <a:p>
            <a:r>
              <a:rPr lang="zh-CN" altLang="en-US" spc="0" dirty="0"/>
              <a:t>测试过程</a:t>
            </a:r>
          </a:p>
        </p:txBody>
      </p:sp>
      <p:sp>
        <p:nvSpPr>
          <p:cNvPr id="17" name="文本占位符 3">
            <a:extLst>
              <a:ext uri="{FF2B5EF4-FFF2-40B4-BE49-F238E27FC236}">
                <a16:creationId xmlns:a16="http://schemas.microsoft.com/office/drawing/2014/main" id="{3A025D90-D55B-C5DE-654C-46A5E9B0E0E6}"/>
              </a:ext>
            </a:extLst>
          </p:cNvPr>
          <p:cNvSpPr>
            <a:spLocks noGrp="1"/>
          </p:cNvSpPr>
          <p:nvPr>
            <p:ph type="body" sz="quarter" idx="10"/>
          </p:nvPr>
        </p:nvSpPr>
        <p:spPr>
          <a:xfrm>
            <a:off x="545369" y="1441097"/>
            <a:ext cx="11255876" cy="4901184"/>
          </a:xfrm>
        </p:spPr>
        <p:txBody>
          <a:bodyPr>
            <a:normAutofit/>
          </a:bodyPr>
          <a:lstStyle/>
          <a:p>
            <a:pPr marL="0" indent="0" defTabSz="457200">
              <a:lnSpc>
                <a:spcPct val="150000"/>
              </a:lnSpc>
              <a:buNone/>
            </a:pPr>
            <a:r>
              <a:rPr lang="zh-CN" altLang="en-US" sz="1800" dirty="0">
                <a:latin typeface="微软雅黑" panose="020B0503020204020204" pitchFamily="34" charset="-122"/>
                <a:ea typeface="微软雅黑" panose="020B0503020204020204" pitchFamily="34" charset="-122"/>
              </a:rPr>
              <a:t>参考集准备</a:t>
            </a:r>
            <a:endParaRPr lang="en-US" altLang="zh-CN" sz="1800" dirty="0">
              <a:latin typeface="微软雅黑" panose="020B0503020204020204" pitchFamily="34" charset="-122"/>
              <a:ea typeface="微软雅黑" panose="020B0503020204020204" pitchFamily="34" charset="-122"/>
            </a:endParaRPr>
          </a:p>
          <a:p>
            <a:pPr defTabSz="457200">
              <a:lnSpc>
                <a:spcPct val="150000"/>
              </a:lnSpc>
            </a:pPr>
            <a:r>
              <a:rPr lang="zh-CN" altLang="en-US" sz="1800" b="0" dirty="0">
                <a:latin typeface="微软雅黑" panose="020B0503020204020204" pitchFamily="34" charset="-122"/>
                <a:ea typeface="微软雅黑" panose="020B0503020204020204" pitchFamily="34" charset="-122"/>
              </a:rPr>
              <a:t>需至少</a:t>
            </a:r>
            <a:r>
              <a:rPr lang="en-US" altLang="zh-CN" sz="1800" b="0" dirty="0">
                <a:latin typeface="微软雅黑" panose="020B0503020204020204" pitchFamily="34" charset="-122"/>
                <a:ea typeface="微软雅黑" panose="020B0503020204020204" pitchFamily="34" charset="-122"/>
              </a:rPr>
              <a:t>10 </a:t>
            </a:r>
            <a:r>
              <a:rPr lang="zh-CN" altLang="en-US" sz="1800" b="0" dirty="0">
                <a:latin typeface="微软雅黑" panose="020B0503020204020204" pitchFamily="34" charset="-122"/>
                <a:ea typeface="微软雅黑" panose="020B0503020204020204" pitchFamily="34" charset="-122"/>
              </a:rPr>
              <a:t>段 </a:t>
            </a:r>
            <a:r>
              <a:rPr lang="en-US" altLang="zh-CN" sz="1800" b="0" dirty="0">
                <a:latin typeface="微软雅黑" panose="020B0503020204020204" pitchFamily="34" charset="-122"/>
                <a:ea typeface="微软雅黑" panose="020B0503020204020204" pitchFamily="34" charset="-122"/>
              </a:rPr>
              <a:t>POI </a:t>
            </a:r>
            <a:r>
              <a:rPr lang="zh-CN" altLang="en-US" sz="1800" b="0" dirty="0">
                <a:latin typeface="微软雅黑" panose="020B0503020204020204" pitchFamily="34" charset="-122"/>
                <a:ea typeface="微软雅黑" panose="020B0503020204020204" pitchFamily="34" charset="-122"/>
              </a:rPr>
              <a:t>真实视频（每段约 </a:t>
            </a:r>
            <a:r>
              <a:rPr lang="en-US" altLang="zh-CN" sz="1800" b="0" dirty="0">
                <a:latin typeface="微软雅黑" panose="020B0503020204020204" pitchFamily="34" charset="-122"/>
                <a:ea typeface="微软雅黑" panose="020B0503020204020204" pitchFamily="34" charset="-122"/>
              </a:rPr>
              <a:t>30 </a:t>
            </a:r>
            <a:r>
              <a:rPr lang="zh-CN" altLang="en-US" sz="1800" b="0" dirty="0">
                <a:latin typeface="微软雅黑" panose="020B0503020204020204" pitchFamily="34" charset="-122"/>
                <a:ea typeface="微软雅黑" panose="020B0503020204020204" pitchFamily="34" charset="-122"/>
              </a:rPr>
              <a:t>秒），分割为 </a:t>
            </a:r>
            <a:r>
              <a:rPr lang="en-US" altLang="zh-CN" sz="1800" b="0" dirty="0">
                <a:latin typeface="微软雅黑" panose="020B0503020204020204" pitchFamily="34" charset="-122"/>
                <a:ea typeface="微软雅黑" panose="020B0503020204020204" pitchFamily="34" charset="-122"/>
              </a:rPr>
              <a:t>100 </a:t>
            </a:r>
            <a:r>
              <a:rPr lang="zh-CN" altLang="en-US" sz="1800" b="0" dirty="0">
                <a:latin typeface="微软雅黑" panose="020B0503020204020204" pitchFamily="34" charset="-122"/>
                <a:ea typeface="微软雅黑" panose="020B0503020204020204" pitchFamily="34" charset="-122"/>
              </a:rPr>
              <a:t>个不重叠的 </a:t>
            </a:r>
            <a:r>
              <a:rPr lang="en-US" altLang="zh-CN" sz="1800" b="0" dirty="0">
                <a:latin typeface="微软雅黑" panose="020B0503020204020204" pitchFamily="34" charset="-122"/>
                <a:ea typeface="微软雅黑" panose="020B0503020204020204" pitchFamily="34" charset="-122"/>
              </a:rPr>
              <a:t>3 </a:t>
            </a:r>
            <a:r>
              <a:rPr lang="zh-CN" altLang="en-US" sz="1800" b="0" dirty="0">
                <a:latin typeface="微软雅黑" panose="020B0503020204020204" pitchFamily="34" charset="-122"/>
                <a:ea typeface="微软雅黑" panose="020B0503020204020204" pitchFamily="34" charset="-122"/>
              </a:rPr>
              <a:t>秒片段，构成参考集 </a:t>
            </a:r>
            <a:r>
              <a:rPr lang="en-US" altLang="zh-CN" sz="1800" b="0" dirty="0">
                <a:latin typeface="微软雅黑" panose="020B0503020204020204" pitchFamily="34" charset="-122"/>
                <a:ea typeface="微软雅黑" panose="020B0503020204020204" pitchFamily="34" charset="-122"/>
              </a:rPr>
              <a:t>R</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marL="0" indent="0" defTabSz="457200">
              <a:lnSpc>
                <a:spcPct val="150000"/>
              </a:lnSpc>
              <a:buNone/>
            </a:pPr>
            <a:r>
              <a:rPr lang="zh-CN" altLang="en-US" sz="1800" dirty="0">
                <a:latin typeface="微软雅黑" panose="020B0503020204020204" pitchFamily="34" charset="-122"/>
                <a:ea typeface="微软雅黑" panose="020B0503020204020204" pitchFamily="34" charset="-122"/>
              </a:rPr>
              <a:t>相似度计算与决策</a:t>
            </a:r>
            <a:endParaRPr lang="en-US" altLang="zh-CN" sz="1800" dirty="0">
              <a:latin typeface="微软雅黑" panose="020B0503020204020204" pitchFamily="34" charset="-122"/>
              <a:ea typeface="微软雅黑" panose="020B0503020204020204" pitchFamily="34" charset="-122"/>
            </a:endParaRPr>
          </a:p>
          <a:p>
            <a:pPr defTabSz="457200">
              <a:lnSpc>
                <a:spcPct val="150000"/>
              </a:lnSpc>
            </a:pPr>
            <a:r>
              <a:rPr lang="zh-CN" altLang="en-US" sz="1800" dirty="0">
                <a:latin typeface="微软雅黑" panose="020B0503020204020204" pitchFamily="34" charset="-122"/>
                <a:ea typeface="微软雅黑" panose="020B0503020204020204" pitchFamily="34" charset="-122"/>
              </a:rPr>
              <a:t>相似度指标：</a:t>
            </a:r>
            <a:r>
              <a:rPr lang="zh-CN" altLang="en-US" sz="1800" b="0" dirty="0">
                <a:latin typeface="微软雅黑" panose="020B0503020204020204" pitchFamily="34" charset="-122"/>
                <a:ea typeface="微软雅黑" panose="020B0503020204020204" pitchFamily="34" charset="-122"/>
              </a:rPr>
              <a:t>对每个待检测片段 </a:t>
            </a:r>
            <a:r>
              <a:rPr lang="en-US" altLang="zh-CN" sz="1800" b="0" dirty="0">
                <a:latin typeface="微软雅黑" panose="020B0503020204020204" pitchFamily="34" charset="-122"/>
                <a:ea typeface="微软雅黑" panose="020B0503020204020204" pitchFamily="34" charset="-122"/>
              </a:rPr>
              <a:t>c</a:t>
            </a:r>
            <a:r>
              <a:rPr lang="zh-CN" altLang="en-US" sz="1800" b="0" dirty="0">
                <a:latin typeface="微软雅黑" panose="020B0503020204020204" pitchFamily="34" charset="-122"/>
                <a:ea typeface="微软雅黑" panose="020B0503020204020204" pitchFamily="34" charset="-122"/>
              </a:rPr>
              <a:t>，计算三种相似度：音频相似度、视频相似度、音视频联合相似度，均取与参考集片段的最大相似度：</a:t>
            </a:r>
            <a:endParaRPr lang="en-US" altLang="zh-CN" sz="1800" b="0" dirty="0">
              <a:latin typeface="微软雅黑" panose="020B0503020204020204" pitchFamily="34" charset="-122"/>
              <a:ea typeface="微软雅黑" panose="020B0503020204020204" pitchFamily="34" charset="-122"/>
            </a:endParaRPr>
          </a:p>
          <a:p>
            <a:pPr defTabSz="457200">
              <a:lnSpc>
                <a:spcPct val="150000"/>
              </a:lnSpc>
            </a:pPr>
            <a:r>
              <a:rPr lang="zh-CN" altLang="en-US" sz="1800" dirty="0">
                <a:latin typeface="微软雅黑" panose="020B0503020204020204" pitchFamily="34" charset="-122"/>
                <a:ea typeface="微软雅黑" panose="020B0503020204020204" pitchFamily="34" charset="-122"/>
              </a:rPr>
              <a:t>归一化：</a:t>
            </a:r>
            <a:r>
              <a:rPr lang="zh-CN" altLang="en-US" sz="1800" b="0" dirty="0">
                <a:latin typeface="微软雅黑" panose="020B0503020204020204" pitchFamily="34" charset="-122"/>
                <a:ea typeface="微软雅黑" panose="020B0503020204020204" pitchFamily="34" charset="-122"/>
              </a:rPr>
              <a:t>消除个体差异，公式为：</a:t>
            </a:r>
            <a:endParaRPr lang="en-US" altLang="zh-CN" sz="1800" b="0" dirty="0">
              <a:latin typeface="微软雅黑" panose="020B0503020204020204" pitchFamily="34" charset="-122"/>
              <a:ea typeface="微软雅黑" panose="020B0503020204020204" pitchFamily="34" charset="-122"/>
            </a:endParaRPr>
          </a:p>
          <a:p>
            <a:pPr marL="0" indent="0" defTabSz="457200">
              <a:lnSpc>
                <a:spcPct val="150000"/>
              </a:lnSpc>
              <a:buNone/>
            </a:pPr>
            <a:r>
              <a:rPr lang="zh-CN" altLang="en-US" sz="1800" b="0" dirty="0">
                <a:latin typeface="微软雅黑" panose="020B0503020204020204" pitchFamily="34" charset="-122"/>
                <a:ea typeface="微软雅黑" panose="020B0503020204020204" pitchFamily="34" charset="-122"/>
              </a:rPr>
              <a:t>    其中                        为参考集相似度的均值和标准差。</a:t>
            </a:r>
            <a:endParaRPr lang="en-US" altLang="zh-CN" sz="1800" b="0" dirty="0">
              <a:latin typeface="微软雅黑" panose="020B0503020204020204" pitchFamily="34" charset="-122"/>
              <a:ea typeface="微软雅黑" panose="020B0503020204020204" pitchFamily="34" charset="-122"/>
            </a:endParaRPr>
          </a:p>
          <a:p>
            <a:pPr defTabSz="457200">
              <a:lnSpc>
                <a:spcPct val="150000"/>
              </a:lnSpc>
            </a:pPr>
            <a:r>
              <a:rPr lang="zh-CN" altLang="en-US" sz="1800" dirty="0">
                <a:latin typeface="微软雅黑" panose="020B0503020204020204" pitchFamily="34" charset="-122"/>
                <a:ea typeface="微软雅黑" panose="020B0503020204020204" pitchFamily="34" charset="-122"/>
              </a:rPr>
              <a:t>融合与决策：</a:t>
            </a:r>
            <a:r>
              <a:rPr lang="zh-CN" altLang="en-US" sz="1800" b="0" dirty="0">
                <a:latin typeface="微软雅黑" panose="020B0503020204020204" pitchFamily="34" charset="-122"/>
                <a:ea typeface="微软雅黑" panose="020B0503020204020204" pitchFamily="34" charset="-122"/>
              </a:rPr>
              <a:t>融合相似度取三者归一化后的最小值；假设真实视频的归一化相似度服从</a:t>
            </a:r>
            <a:r>
              <a:rPr lang="en-US" altLang="zh-CN" sz="1800" b="0" dirty="0">
                <a:latin typeface="微软雅黑" panose="020B0503020204020204" pitchFamily="34" charset="-122"/>
                <a:ea typeface="微软雅黑" panose="020B0503020204020204" pitchFamily="34" charset="-122"/>
              </a:rPr>
              <a:t>N(0,1)</a:t>
            </a:r>
            <a:r>
              <a:rPr lang="zh-CN" altLang="en-US" sz="1800" b="0" dirty="0">
                <a:latin typeface="微软雅黑" panose="020B0503020204020204" pitchFamily="34" charset="-122"/>
                <a:ea typeface="微软雅黑" panose="020B0503020204020204" pitchFamily="34" charset="-122"/>
              </a:rPr>
              <a:t>分布，设定</a:t>
            </a:r>
            <a:r>
              <a:rPr lang="en-US" altLang="zh-CN" sz="1800" b="0" dirty="0">
                <a:latin typeface="微软雅黑" panose="020B0503020204020204" pitchFamily="34" charset="-122"/>
                <a:ea typeface="微软雅黑" panose="020B0503020204020204" pitchFamily="34" charset="-122"/>
              </a:rPr>
              <a:t>10% </a:t>
            </a:r>
            <a:r>
              <a:rPr lang="zh-CN" altLang="en-US" sz="1800" b="0" dirty="0">
                <a:latin typeface="微软雅黑" panose="020B0503020204020204" pitchFamily="34" charset="-122"/>
                <a:ea typeface="微软雅黑" panose="020B0503020204020204" pitchFamily="34" charset="-122"/>
              </a:rPr>
              <a:t>假阳性率对应的阈值；对整段待检测视频（如 </a:t>
            </a:r>
            <a:r>
              <a:rPr lang="en-US" altLang="zh-CN" sz="1800" b="0" dirty="0">
                <a:latin typeface="微软雅黑" panose="020B0503020204020204" pitchFamily="34" charset="-122"/>
                <a:ea typeface="微软雅黑" panose="020B0503020204020204" pitchFamily="34" charset="-122"/>
              </a:rPr>
              <a:t>30 </a:t>
            </a:r>
            <a:r>
              <a:rPr lang="zh-CN" altLang="en-US" sz="1800" b="0" dirty="0">
                <a:latin typeface="微软雅黑" panose="020B0503020204020204" pitchFamily="34" charset="-122"/>
                <a:ea typeface="微软雅黑" panose="020B0503020204020204" pitchFamily="34" charset="-122"/>
              </a:rPr>
              <a:t>秒），平均 </a:t>
            </a:r>
            <a:r>
              <a:rPr lang="en-US" altLang="zh-CN" sz="1800" b="0" dirty="0">
                <a:latin typeface="微软雅黑" panose="020B0503020204020204" pitchFamily="34" charset="-122"/>
                <a:ea typeface="微软雅黑" panose="020B0503020204020204" pitchFamily="34" charset="-122"/>
              </a:rPr>
              <a:t>10 </a:t>
            </a:r>
            <a:r>
              <a:rPr lang="zh-CN" altLang="en-US" sz="1800" b="0" dirty="0">
                <a:latin typeface="微软雅黑" panose="020B0503020204020204" pitchFamily="34" charset="-122"/>
                <a:ea typeface="微软雅黑" panose="020B0503020204020204" pitchFamily="34" charset="-122"/>
              </a:rPr>
              <a:t>个片段的相似度作为最终决策依据。</a:t>
            </a:r>
            <a:endParaRPr lang="en-US" altLang="zh-CN" sz="1800" b="0"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B2CD2C87-2704-77AE-C9AD-756D6B586182}"/>
              </a:ext>
            </a:extLst>
          </p:cNvPr>
          <p:cNvPicPr>
            <a:picLocks noChangeAspect="1"/>
          </p:cNvPicPr>
          <p:nvPr/>
        </p:nvPicPr>
        <p:blipFill>
          <a:blip r:embed="rId2"/>
          <a:stretch>
            <a:fillRect/>
          </a:stretch>
        </p:blipFill>
        <p:spPr>
          <a:xfrm>
            <a:off x="3777424" y="3717148"/>
            <a:ext cx="4384730" cy="477095"/>
          </a:xfrm>
          <a:prstGeom prst="rect">
            <a:avLst/>
          </a:prstGeom>
        </p:spPr>
      </p:pic>
      <p:pic>
        <p:nvPicPr>
          <p:cNvPr id="10" name="图片 9">
            <a:extLst>
              <a:ext uri="{FF2B5EF4-FFF2-40B4-BE49-F238E27FC236}">
                <a16:creationId xmlns:a16="http://schemas.microsoft.com/office/drawing/2014/main" id="{D0FACC1F-7DFC-E678-FA1C-F9072C7D2D29}"/>
              </a:ext>
            </a:extLst>
          </p:cNvPr>
          <p:cNvPicPr>
            <a:picLocks noChangeAspect="1"/>
          </p:cNvPicPr>
          <p:nvPr/>
        </p:nvPicPr>
        <p:blipFill>
          <a:blip r:embed="rId3"/>
          <a:stretch>
            <a:fillRect/>
          </a:stretch>
        </p:blipFill>
        <p:spPr>
          <a:xfrm>
            <a:off x="4205974" y="4194243"/>
            <a:ext cx="2662999" cy="640970"/>
          </a:xfrm>
          <a:prstGeom prst="rect">
            <a:avLst/>
          </a:prstGeom>
        </p:spPr>
      </p:pic>
      <p:pic>
        <p:nvPicPr>
          <p:cNvPr id="14" name="图片 13">
            <a:extLst>
              <a:ext uri="{FF2B5EF4-FFF2-40B4-BE49-F238E27FC236}">
                <a16:creationId xmlns:a16="http://schemas.microsoft.com/office/drawing/2014/main" id="{F3F9FED3-ADF7-EBD7-C871-C367C7C611C4}"/>
              </a:ext>
            </a:extLst>
          </p:cNvPr>
          <p:cNvPicPr>
            <a:picLocks noChangeAspect="1"/>
          </p:cNvPicPr>
          <p:nvPr/>
        </p:nvPicPr>
        <p:blipFill>
          <a:blip r:embed="rId4"/>
          <a:stretch>
            <a:fillRect/>
          </a:stretch>
        </p:blipFill>
        <p:spPr>
          <a:xfrm>
            <a:off x="1458734" y="4835213"/>
            <a:ext cx="657225" cy="371475"/>
          </a:xfrm>
          <a:prstGeom prst="rect">
            <a:avLst/>
          </a:prstGeom>
        </p:spPr>
      </p:pic>
      <p:pic>
        <p:nvPicPr>
          <p:cNvPr id="16" name="图片 15">
            <a:extLst>
              <a:ext uri="{FF2B5EF4-FFF2-40B4-BE49-F238E27FC236}">
                <a16:creationId xmlns:a16="http://schemas.microsoft.com/office/drawing/2014/main" id="{E1A78269-9837-8F51-9627-72DADAB059EC}"/>
              </a:ext>
            </a:extLst>
          </p:cNvPr>
          <p:cNvPicPr>
            <a:picLocks noChangeAspect="1"/>
          </p:cNvPicPr>
          <p:nvPr/>
        </p:nvPicPr>
        <p:blipFill>
          <a:blip r:embed="rId5"/>
          <a:stretch>
            <a:fillRect/>
          </a:stretch>
        </p:blipFill>
        <p:spPr>
          <a:xfrm>
            <a:off x="2208119" y="4835213"/>
            <a:ext cx="733425" cy="371475"/>
          </a:xfrm>
          <a:prstGeom prst="rect">
            <a:avLst/>
          </a:prstGeom>
        </p:spPr>
      </p:pic>
      <p:pic>
        <p:nvPicPr>
          <p:cNvPr id="19" name="图片 18">
            <a:extLst>
              <a:ext uri="{FF2B5EF4-FFF2-40B4-BE49-F238E27FC236}">
                <a16:creationId xmlns:a16="http://schemas.microsoft.com/office/drawing/2014/main" id="{55DEC1D9-BA78-7DA7-B9FF-C27B91AD2C46}"/>
              </a:ext>
            </a:extLst>
          </p:cNvPr>
          <p:cNvPicPr>
            <a:picLocks noChangeAspect="1"/>
          </p:cNvPicPr>
          <p:nvPr/>
        </p:nvPicPr>
        <p:blipFill>
          <a:blip r:embed="rId6"/>
          <a:stretch>
            <a:fillRect/>
          </a:stretch>
        </p:blipFill>
        <p:spPr>
          <a:xfrm>
            <a:off x="3543379" y="91209"/>
            <a:ext cx="5105242" cy="2039683"/>
          </a:xfrm>
          <a:prstGeom prst="rect">
            <a:avLst/>
          </a:prstGeom>
        </p:spPr>
      </p:pic>
    </p:spTree>
    <p:extLst>
      <p:ext uri="{BB962C8B-B14F-4D97-AF65-F5344CB8AC3E}">
        <p14:creationId xmlns:p14="http://schemas.microsoft.com/office/powerpoint/2010/main" val="3606116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D7CB2-6306-B3FB-A9A0-369789C94D8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7F82CBC-FACA-1B1E-2EBA-748D94FC7540}"/>
              </a:ext>
            </a:extLst>
          </p:cNvPr>
          <p:cNvSpPr>
            <a:spLocks noGrp="1"/>
          </p:cNvSpPr>
          <p:nvPr>
            <p:ph type="sldNum" sz="quarter" idx="4"/>
          </p:nvPr>
        </p:nvSpPr>
        <p:spPr>
          <a:xfrm>
            <a:off x="8983845" y="6426962"/>
            <a:ext cx="2743200" cy="292196"/>
          </a:xfrm>
        </p:spPr>
        <p:txBody>
          <a:bodyPr/>
          <a:lstStyle/>
          <a:p>
            <a:r>
              <a:rPr lang="en-US" altLang="zh-CN"/>
              <a:t>&lt; </a:t>
            </a:r>
            <a:fld id="{A548B57D-AE10-4CF7-A9DF-59FEFA91B28E}" type="slidenum">
              <a:rPr lang="zh-CN" altLang="en-US" smtClean="0"/>
              <a:t>8</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EFC7812A-A6F7-E112-BE7E-85A105E4D78D}"/>
              </a:ext>
            </a:extLst>
          </p:cNvPr>
          <p:cNvSpPr>
            <a:spLocks noGrp="1"/>
          </p:cNvSpPr>
          <p:nvPr>
            <p:ph type="title"/>
          </p:nvPr>
        </p:nvSpPr>
        <p:spPr/>
        <p:txBody>
          <a:bodyPr>
            <a:noAutofit/>
          </a:bodyPr>
          <a:lstStyle/>
          <a:p>
            <a:r>
              <a:rPr lang="zh-CN" altLang="en-US" spc="0" dirty="0"/>
              <a:t>实验结果与分析 </a:t>
            </a:r>
            <a:r>
              <a:rPr lang="en-US" altLang="zh-CN" spc="0" dirty="0"/>
              <a:t>—— </a:t>
            </a:r>
            <a:r>
              <a:rPr lang="zh-CN" altLang="en-US" spc="0" dirty="0"/>
              <a:t>消融实验</a:t>
            </a:r>
          </a:p>
        </p:txBody>
      </p:sp>
      <p:sp>
        <p:nvSpPr>
          <p:cNvPr id="17" name="文本占位符 3">
            <a:extLst>
              <a:ext uri="{FF2B5EF4-FFF2-40B4-BE49-F238E27FC236}">
                <a16:creationId xmlns:a16="http://schemas.microsoft.com/office/drawing/2014/main" id="{57AE7F1B-6A73-6BA5-CAF3-F4A4ACA9CC54}"/>
              </a:ext>
            </a:extLst>
          </p:cNvPr>
          <p:cNvSpPr>
            <a:spLocks noGrp="1"/>
          </p:cNvSpPr>
          <p:nvPr>
            <p:ph type="body" sz="quarter" idx="10"/>
          </p:nvPr>
        </p:nvSpPr>
        <p:spPr>
          <a:xfrm>
            <a:off x="2174616" y="4747743"/>
            <a:ext cx="7842767" cy="1825317"/>
          </a:xfrm>
        </p:spPr>
        <p:txBody>
          <a:bodyPr>
            <a:normAutofit/>
          </a:bodyPr>
          <a:lstStyle/>
          <a:p>
            <a:pPr marL="0" indent="0" algn="ctr" defTabSz="457200">
              <a:lnSpc>
                <a:spcPct val="150000"/>
              </a:lnSpc>
              <a:buNone/>
            </a:pPr>
            <a:r>
              <a:rPr lang="zh-CN" altLang="en-US" dirty="0">
                <a:latin typeface="微软雅黑" panose="020B0503020204020204" pitchFamily="34" charset="-122"/>
                <a:ea typeface="微软雅黑" panose="020B0503020204020204" pitchFamily="34" charset="-122"/>
              </a:rPr>
              <a:t>融合三者</a:t>
            </a:r>
            <a:r>
              <a:rPr lang="zh-CN" altLang="en-US" b="0" dirty="0">
                <a:latin typeface="微软雅黑" panose="020B0503020204020204" pitchFamily="34" charset="-122"/>
                <a:ea typeface="微软雅黑" panose="020B0503020204020204" pitchFamily="34" charset="-122"/>
              </a:rPr>
              <a:t>指标性能最优；</a:t>
            </a:r>
            <a:r>
              <a:rPr lang="zh-CN" altLang="en-US" dirty="0">
                <a:latin typeface="微软雅黑" panose="020B0503020204020204" pitchFamily="34" charset="-122"/>
                <a:ea typeface="微软雅黑" panose="020B0503020204020204" pitchFamily="34" charset="-122"/>
              </a:rPr>
              <a:t>加入联合损失（</a:t>
            </a:r>
            <a:r>
              <a:rPr lang="en-US" altLang="zh-CN" dirty="0">
                <a:latin typeface="微软雅黑" panose="020B0503020204020204" pitchFamily="34" charset="-122"/>
                <a:ea typeface="微软雅黑" panose="020B0503020204020204" pitchFamily="34" charset="-122"/>
              </a:rPr>
              <a:t>λ=1</a:t>
            </a:r>
            <a:r>
              <a:rPr lang="zh-CN" altLang="en-US"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可稳定提升性能。</a:t>
            </a:r>
            <a:endParaRPr lang="en-US" altLang="zh-CN" b="0" dirty="0">
              <a:latin typeface="微软雅黑" panose="020B0503020204020204" pitchFamily="34" charset="-122"/>
              <a:ea typeface="微软雅黑" panose="020B0503020204020204" pitchFamily="34" charset="-122"/>
            </a:endParaRPr>
          </a:p>
          <a:p>
            <a:pPr marL="0" indent="0" algn="ctr" defTabSz="457200">
              <a:lnSpc>
                <a:spcPct val="150000"/>
              </a:lnSpc>
              <a:buNone/>
            </a:pPr>
            <a:r>
              <a:rPr lang="zh-CN" altLang="en-US" dirty="0">
                <a:latin typeface="微软雅黑" panose="020B0503020204020204" pitchFamily="34" charset="-122"/>
                <a:ea typeface="微软雅黑" panose="020B0503020204020204" pitchFamily="34" charset="-122"/>
              </a:rPr>
              <a:t>更长测试视频 </a:t>
            </a:r>
            <a:r>
              <a:rPr lang="en-US" altLang="zh-CN" b="0" dirty="0">
                <a:latin typeface="微软雅黑" panose="020B0503020204020204" pitchFamily="34" charset="-122"/>
                <a:ea typeface="微软雅黑" panose="020B0503020204020204" pitchFamily="34" charset="-122"/>
              </a:rPr>
              <a:t>&amp; </a:t>
            </a:r>
            <a:r>
              <a:rPr lang="zh-CN" altLang="en-US" dirty="0">
                <a:latin typeface="微软雅黑" panose="020B0503020204020204" pitchFamily="34" charset="-122"/>
                <a:ea typeface="微软雅黑" panose="020B0503020204020204" pitchFamily="34" charset="-122"/>
              </a:rPr>
              <a:t>更多参考片段</a:t>
            </a:r>
            <a:r>
              <a:rPr lang="zh-CN" altLang="en-US" b="0" dirty="0">
                <a:latin typeface="微软雅黑" panose="020B0503020204020204" pitchFamily="34" charset="-122"/>
                <a:ea typeface="微软雅黑" panose="020B0503020204020204" pitchFamily="34" charset="-122"/>
              </a:rPr>
              <a:t>更好</a:t>
            </a:r>
            <a:endParaRPr lang="en-US" altLang="zh-CN" b="0"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92367E45-48CE-A970-8CC1-CF0A241E80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240" y="1062820"/>
            <a:ext cx="5732641" cy="3785960"/>
          </a:xfrm>
          <a:prstGeom prst="rect">
            <a:avLst/>
          </a:prstGeom>
        </p:spPr>
      </p:pic>
      <p:pic>
        <p:nvPicPr>
          <p:cNvPr id="10" name="图片 9">
            <a:extLst>
              <a:ext uri="{FF2B5EF4-FFF2-40B4-BE49-F238E27FC236}">
                <a16:creationId xmlns:a16="http://schemas.microsoft.com/office/drawing/2014/main" id="{11BE4060-CC2E-3EDA-90E6-43C48FFAE3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1881" y="1840494"/>
            <a:ext cx="5449519" cy="2170947"/>
          </a:xfrm>
          <a:prstGeom prst="rect">
            <a:avLst/>
          </a:prstGeom>
        </p:spPr>
      </p:pic>
    </p:spTree>
    <p:extLst>
      <p:ext uri="{BB962C8B-B14F-4D97-AF65-F5344CB8AC3E}">
        <p14:creationId xmlns:p14="http://schemas.microsoft.com/office/powerpoint/2010/main" val="3832147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64798-D2A9-E818-C78F-25FB2487764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281EDA2-7886-EEEB-B841-2D2181C35277}"/>
              </a:ext>
            </a:extLst>
          </p:cNvPr>
          <p:cNvSpPr>
            <a:spLocks noGrp="1"/>
          </p:cNvSpPr>
          <p:nvPr>
            <p:ph type="sldNum" sz="quarter" idx="4"/>
          </p:nvPr>
        </p:nvSpPr>
        <p:spPr>
          <a:xfrm>
            <a:off x="8983845" y="6426962"/>
            <a:ext cx="2743200" cy="292196"/>
          </a:xfrm>
        </p:spPr>
        <p:txBody>
          <a:bodyPr/>
          <a:lstStyle/>
          <a:p>
            <a:r>
              <a:rPr lang="en-US" altLang="zh-CN"/>
              <a:t>&lt; </a:t>
            </a:r>
            <a:fld id="{A548B57D-AE10-4CF7-A9DF-59FEFA91B28E}" type="slidenum">
              <a:rPr lang="zh-CN" altLang="en-US" smtClean="0"/>
              <a:t>9</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40544655-1E80-C276-10BE-8BD8F79C382C}"/>
              </a:ext>
            </a:extLst>
          </p:cNvPr>
          <p:cNvSpPr>
            <a:spLocks noGrp="1"/>
          </p:cNvSpPr>
          <p:nvPr>
            <p:ph type="title"/>
          </p:nvPr>
        </p:nvSpPr>
        <p:spPr/>
        <p:txBody>
          <a:bodyPr>
            <a:noAutofit/>
          </a:bodyPr>
          <a:lstStyle/>
          <a:p>
            <a:r>
              <a:rPr lang="zh-CN" altLang="en-US" spc="0" dirty="0"/>
              <a:t>实验结果与分析 </a:t>
            </a:r>
            <a:r>
              <a:rPr lang="en-US" altLang="zh-CN" spc="0" dirty="0"/>
              <a:t>—— </a:t>
            </a:r>
            <a:r>
              <a:rPr lang="zh-CN" altLang="en-US" spc="0" dirty="0"/>
              <a:t>对比实验</a:t>
            </a:r>
          </a:p>
        </p:txBody>
      </p:sp>
      <p:sp>
        <p:nvSpPr>
          <p:cNvPr id="17" name="文本占位符 3">
            <a:extLst>
              <a:ext uri="{FF2B5EF4-FFF2-40B4-BE49-F238E27FC236}">
                <a16:creationId xmlns:a16="http://schemas.microsoft.com/office/drawing/2014/main" id="{2D5BFA02-40AB-00DB-124E-B49492A296C6}"/>
              </a:ext>
            </a:extLst>
          </p:cNvPr>
          <p:cNvSpPr>
            <a:spLocks noGrp="1"/>
          </p:cNvSpPr>
          <p:nvPr>
            <p:ph type="body" sz="quarter" idx="10"/>
          </p:nvPr>
        </p:nvSpPr>
        <p:spPr>
          <a:xfrm>
            <a:off x="2727961" y="4784135"/>
            <a:ext cx="6736078" cy="1837609"/>
          </a:xfrm>
        </p:spPr>
        <p:txBody>
          <a:bodyPr>
            <a:normAutofit fontScale="92500"/>
          </a:bodyPr>
          <a:lstStyle/>
          <a:p>
            <a:pPr marL="0" indent="0" defTabSz="457200">
              <a:lnSpc>
                <a:spcPct val="150000"/>
              </a:lnSpc>
              <a:buNone/>
            </a:pPr>
            <a:r>
              <a:rPr lang="zh-CN" altLang="en-US" dirty="0">
                <a:latin typeface="微软雅黑" panose="020B0503020204020204" pitchFamily="34" charset="-122"/>
                <a:ea typeface="微软雅黑" panose="020B0503020204020204" pitchFamily="34" charset="-122"/>
              </a:rPr>
              <a:t>高质量</a:t>
            </a:r>
            <a:r>
              <a:rPr lang="zh-CN" altLang="en-US" b="0" dirty="0">
                <a:latin typeface="微软雅黑" panose="020B0503020204020204" pitchFamily="34" charset="-122"/>
                <a:ea typeface="微软雅黑" panose="020B0503020204020204" pitchFamily="34" charset="-122"/>
              </a:rPr>
              <a:t>视频中平均 </a:t>
            </a:r>
            <a:r>
              <a:rPr lang="en-US" altLang="zh-CN" b="0" dirty="0">
                <a:latin typeface="微软雅黑" panose="020B0503020204020204" pitchFamily="34" charset="-122"/>
                <a:ea typeface="微软雅黑" panose="020B0503020204020204" pitchFamily="34" charset="-122"/>
              </a:rPr>
              <a:t>AUC </a:t>
            </a:r>
            <a:r>
              <a:rPr lang="zh-CN" altLang="en-US" b="0" dirty="0">
                <a:latin typeface="微软雅黑" panose="020B0503020204020204" pitchFamily="34" charset="-122"/>
                <a:ea typeface="微软雅黑" panose="020B0503020204020204" pitchFamily="34" charset="-122"/>
              </a:rPr>
              <a:t>超 </a:t>
            </a:r>
            <a:r>
              <a:rPr lang="en-US" altLang="zh-CN" b="0" dirty="0">
                <a:latin typeface="微软雅黑" panose="020B0503020204020204" pitchFamily="34" charset="-122"/>
                <a:ea typeface="微软雅黑" panose="020B0503020204020204" pitchFamily="34" charset="-122"/>
              </a:rPr>
              <a:t>SOTA 2.3%</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pPr marL="0" indent="0" defTabSz="457200">
              <a:lnSpc>
                <a:spcPct val="150000"/>
              </a:lnSpc>
              <a:buNone/>
            </a:pPr>
            <a:r>
              <a:rPr lang="zh-CN" altLang="en-US" dirty="0">
                <a:latin typeface="微软雅黑" panose="020B0503020204020204" pitchFamily="34" charset="-122"/>
                <a:ea typeface="微软雅黑" panose="020B0503020204020204" pitchFamily="34" charset="-122"/>
              </a:rPr>
              <a:t>低质量</a:t>
            </a:r>
            <a:r>
              <a:rPr lang="zh-CN" altLang="en-US" b="0" dirty="0">
                <a:latin typeface="微软雅黑" panose="020B0503020204020204" pitchFamily="34" charset="-122"/>
                <a:ea typeface="微软雅黑" panose="020B0503020204020204" pitchFamily="34" charset="-122"/>
              </a:rPr>
              <a:t>视频中平均 </a:t>
            </a:r>
            <a:r>
              <a:rPr lang="en-US" altLang="zh-CN" b="0" dirty="0">
                <a:latin typeface="微软雅黑" panose="020B0503020204020204" pitchFamily="34" charset="-122"/>
                <a:ea typeface="微软雅黑" panose="020B0503020204020204" pitchFamily="34" charset="-122"/>
              </a:rPr>
              <a:t>AUC </a:t>
            </a:r>
            <a:r>
              <a:rPr lang="zh-CN" altLang="en-US" b="0" dirty="0">
                <a:latin typeface="微软雅黑" panose="020B0503020204020204" pitchFamily="34" charset="-122"/>
                <a:ea typeface="微软雅黑" panose="020B0503020204020204" pitchFamily="34" charset="-122"/>
              </a:rPr>
              <a:t>超第二名 </a:t>
            </a:r>
            <a:r>
              <a:rPr lang="en-US" altLang="zh-CN" b="0" dirty="0">
                <a:latin typeface="微软雅黑" panose="020B0503020204020204" pitchFamily="34" charset="-122"/>
                <a:ea typeface="微软雅黑" panose="020B0503020204020204" pitchFamily="34" charset="-122"/>
              </a:rPr>
              <a:t>11%</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a:p>
            <a:pPr marL="0" indent="0" defTabSz="457200">
              <a:lnSpc>
                <a:spcPct val="150000"/>
              </a:lnSpc>
              <a:buNone/>
            </a:pPr>
            <a:r>
              <a:rPr lang="zh-CN" altLang="en-US" b="0" dirty="0">
                <a:latin typeface="微软雅黑" panose="020B0503020204020204" pitchFamily="34" charset="-122"/>
                <a:ea typeface="微软雅黑" panose="020B0503020204020204" pitchFamily="34" charset="-122"/>
              </a:rPr>
              <a:t>在</a:t>
            </a:r>
            <a:r>
              <a:rPr lang="zh-CN" altLang="en-US" dirty="0">
                <a:latin typeface="微软雅黑" panose="020B0503020204020204" pitchFamily="34" charset="-122"/>
                <a:ea typeface="微软雅黑" panose="020B0503020204020204" pitchFamily="34" charset="-122"/>
              </a:rPr>
              <a:t>对抗攻击</a:t>
            </a:r>
            <a:r>
              <a:rPr lang="zh-CN" altLang="en-US" b="0" dirty="0">
                <a:latin typeface="微软雅黑" panose="020B0503020204020204" pitchFamily="34" charset="-122"/>
                <a:ea typeface="微软雅黑" panose="020B0503020204020204" pitchFamily="34" charset="-122"/>
              </a:rPr>
              <a:t>和</a:t>
            </a:r>
            <a:r>
              <a:rPr lang="zh-CN" altLang="en-US" dirty="0">
                <a:latin typeface="微软雅黑" panose="020B0503020204020204" pitchFamily="34" charset="-122"/>
                <a:ea typeface="微软雅黑" panose="020B0503020204020204" pitchFamily="34" charset="-122"/>
              </a:rPr>
              <a:t>强噪声</a:t>
            </a:r>
            <a:r>
              <a:rPr lang="zh-CN" altLang="en-US" b="0" dirty="0">
                <a:latin typeface="微软雅黑" panose="020B0503020204020204" pitchFamily="34" charset="-122"/>
                <a:ea typeface="微软雅黑" panose="020B0503020204020204" pitchFamily="34" charset="-122"/>
              </a:rPr>
              <a:t>下仍保持较高性能，鲁棒性优于现有方法。</a:t>
            </a:r>
            <a:endParaRPr lang="en-US" altLang="zh-CN" b="0"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288EA615-2228-A96B-D317-0F81335637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317" y="1231226"/>
            <a:ext cx="5683973" cy="3545597"/>
          </a:xfrm>
          <a:prstGeom prst="rect">
            <a:avLst/>
          </a:prstGeom>
        </p:spPr>
      </p:pic>
      <p:pic>
        <p:nvPicPr>
          <p:cNvPr id="8" name="图片 7">
            <a:extLst>
              <a:ext uri="{FF2B5EF4-FFF2-40B4-BE49-F238E27FC236}">
                <a16:creationId xmlns:a16="http://schemas.microsoft.com/office/drawing/2014/main" id="{2248B1E8-F229-DB6E-7262-E15E192740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9290" y="2482603"/>
            <a:ext cx="6304188" cy="1042842"/>
          </a:xfrm>
          <a:prstGeom prst="rect">
            <a:avLst/>
          </a:prstGeom>
        </p:spPr>
      </p:pic>
    </p:spTree>
    <p:extLst>
      <p:ext uri="{BB962C8B-B14F-4D97-AF65-F5344CB8AC3E}">
        <p14:creationId xmlns:p14="http://schemas.microsoft.com/office/powerpoint/2010/main" val="1973088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83584" y="-241003"/>
            <a:ext cx="7357162" cy="7340006"/>
            <a:chOff x="2105799" y="20055838"/>
            <a:chExt cx="6748090" cy="6732363"/>
          </a:xfrm>
          <a:solidFill>
            <a:schemeClr val="accent1">
              <a:alpha val="10000"/>
            </a:schemeClr>
          </a:solidFill>
        </p:grpSpPr>
        <p:sp>
          <p:nvSpPr>
            <p:cNvPr id="3"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0" name="文本框 29"/>
          <p:cNvSpPr txBox="1"/>
          <p:nvPr/>
        </p:nvSpPr>
        <p:spPr>
          <a:xfrm>
            <a:off x="5300903" y="1754028"/>
            <a:ext cx="244904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150" normalizeH="0" baseline="0" noProof="0" dirty="0">
                <a:ln>
                  <a:noFill/>
                </a:ln>
                <a:solidFill>
                  <a:srgbClr val="595959"/>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PART 02</a:t>
            </a:r>
            <a:endParaRPr kumimoji="0" lang="zh-CN" altLang="en-US" sz="3600" b="0" i="0" u="none" strike="noStrike" kern="1200" cap="none" spc="150" normalizeH="0" baseline="0" noProof="0" dirty="0">
              <a:ln>
                <a:noFill/>
              </a:ln>
              <a:solidFill>
                <a:srgbClr val="595959"/>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矩形 31"/>
          <p:cNvSpPr/>
          <p:nvPr/>
        </p:nvSpPr>
        <p:spPr>
          <a:xfrm>
            <a:off x="5389085" y="2593396"/>
            <a:ext cx="665278" cy="45720"/>
          </a:xfrm>
          <a:prstGeom prst="rect">
            <a:avLst/>
          </a:prstGeom>
          <a:solidFill>
            <a:schemeClr val="accent1"/>
          </a:solid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矩形 32"/>
          <p:cNvSpPr/>
          <p:nvPr/>
        </p:nvSpPr>
        <p:spPr>
          <a:xfrm>
            <a:off x="5327921" y="2991686"/>
            <a:ext cx="6779997" cy="1815882"/>
          </a:xfrm>
          <a:prstGeom prst="rect">
            <a:avLst/>
          </a:prstGeom>
        </p:spPr>
        <p:txBody>
          <a:bodyPr wrap="square">
            <a:spAutoFit/>
          </a:bodyPr>
          <a:lstStyle/>
          <a:p>
            <a:pPr>
              <a:defRPr/>
            </a:pPr>
            <a:r>
              <a:rPr lang="en-US" altLang="zh-CN" sz="2800" b="1" dirty="0">
                <a:latin typeface="Arial" panose="020B0604020202020204" pitchFamily="34" charset="0"/>
                <a:ea typeface="微软雅黑" panose="020B0503020204020204" pitchFamily="34" charset="-122"/>
                <a:cs typeface="+mn-ea"/>
              </a:rPr>
              <a:t>Identity-Driven Multimedia Forgery Detection via Reference Assistance</a:t>
            </a:r>
          </a:p>
          <a:p>
            <a:pPr>
              <a:defRPr/>
            </a:pPr>
            <a:r>
              <a:rPr lang="zh-CN" altLang="en-US" sz="2800" dirty="0">
                <a:latin typeface="Arial" panose="020B0604020202020204" pitchFamily="34" charset="0"/>
                <a:ea typeface="微软雅黑" panose="020B0503020204020204" pitchFamily="34" charset="-122"/>
                <a:cs typeface="+mn-ea"/>
              </a:rPr>
              <a:t>基于参考辅助的身份驱动多媒体伪造检测</a:t>
            </a:r>
          </a:p>
          <a:p>
            <a:pPr>
              <a:defRPr/>
            </a:pPr>
            <a:endParaRPr lang="zh-CN" altLang="en-US" sz="2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文本框 27">
            <a:extLst>
              <a:ext uri="{FF2B5EF4-FFF2-40B4-BE49-F238E27FC236}">
                <a16:creationId xmlns:a16="http://schemas.microsoft.com/office/drawing/2014/main" id="{EDBC060E-2BFC-0791-59E1-8E0772789AEF}"/>
              </a:ext>
            </a:extLst>
          </p:cNvPr>
          <p:cNvSpPr txBox="1"/>
          <p:nvPr/>
        </p:nvSpPr>
        <p:spPr>
          <a:xfrm>
            <a:off x="7540053" y="5601133"/>
            <a:ext cx="4309672" cy="369332"/>
          </a:xfrm>
          <a:prstGeom prst="rect">
            <a:avLst/>
          </a:prstGeom>
          <a:noFill/>
        </p:spPr>
        <p:txBody>
          <a:bodyPr wrap="square">
            <a:spAutoFit/>
          </a:bodyPr>
          <a:lstStyle/>
          <a:p>
            <a:r>
              <a:rPr lang="en-US" altLang="zh-CN" dirty="0">
                <a:solidFill>
                  <a:srgbClr val="333333"/>
                </a:solidFill>
                <a:latin typeface="Helvetica Neue"/>
              </a:rPr>
              <a:t>2024, ACM Multimedia (ACMMM)</a:t>
            </a:r>
            <a:endParaRPr lang="zh-CN" altLang="en-US" dirty="0">
              <a:solidFill>
                <a:srgbClr val="333333"/>
              </a:solidFill>
              <a:latin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D2A13-3A9A-648B-77E1-8F8AA12818C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8D02FFE-703E-8E85-5199-39CC2BA562C0}"/>
              </a:ext>
            </a:extLst>
          </p:cNvPr>
          <p:cNvSpPr>
            <a:spLocks noGrp="1"/>
          </p:cNvSpPr>
          <p:nvPr>
            <p:ph type="sldNum" sz="quarter" idx="4"/>
          </p:nvPr>
        </p:nvSpPr>
        <p:spPr/>
        <p:txBody>
          <a:bodyPr/>
          <a:lstStyle/>
          <a:p>
            <a:r>
              <a:rPr lang="en-US" altLang="zh-CN"/>
              <a:t>&lt; </a:t>
            </a:r>
            <a:fld id="{A548B57D-AE10-4CF7-A9DF-59FEFA91B28E}" type="slidenum">
              <a:rPr lang="zh-CN" altLang="en-US" smtClean="0"/>
              <a:t>11</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CAD1E051-F25E-68BE-0ABC-57CDC9544742}"/>
              </a:ext>
            </a:extLst>
          </p:cNvPr>
          <p:cNvSpPr>
            <a:spLocks noGrp="1"/>
          </p:cNvSpPr>
          <p:nvPr>
            <p:ph type="title"/>
          </p:nvPr>
        </p:nvSpPr>
        <p:spPr/>
        <p:txBody>
          <a:bodyPr>
            <a:noAutofit/>
          </a:bodyPr>
          <a:lstStyle/>
          <a:p>
            <a:r>
              <a:rPr lang="zh-CN" altLang="en-US" spc="0" dirty="0"/>
              <a:t>研究背景</a:t>
            </a:r>
          </a:p>
        </p:txBody>
      </p:sp>
      <p:sp>
        <p:nvSpPr>
          <p:cNvPr id="4" name="文本占位符 3">
            <a:extLst>
              <a:ext uri="{FF2B5EF4-FFF2-40B4-BE49-F238E27FC236}">
                <a16:creationId xmlns:a16="http://schemas.microsoft.com/office/drawing/2014/main" id="{1A0D96F3-E9B6-1976-4673-AD06DB00101E}"/>
              </a:ext>
            </a:extLst>
          </p:cNvPr>
          <p:cNvSpPr>
            <a:spLocks noGrp="1"/>
          </p:cNvSpPr>
          <p:nvPr>
            <p:ph type="body" sz="quarter" idx="10"/>
          </p:nvPr>
        </p:nvSpPr>
        <p:spPr>
          <a:xfrm>
            <a:off x="646082" y="980236"/>
            <a:ext cx="10899835" cy="4886553"/>
          </a:xfrm>
        </p:spPr>
        <p:txBody>
          <a:bodyPr>
            <a:normAutofit lnSpcReduction="10000"/>
          </a:bodyPr>
          <a:lstStyle/>
          <a:p>
            <a:pPr marL="0" indent="0">
              <a:lnSpc>
                <a:spcPct val="150000"/>
              </a:lnSpc>
              <a:buNone/>
            </a:pPr>
            <a:r>
              <a:rPr lang="zh-CN" altLang="en-US" b="0" dirty="0">
                <a:latin typeface="微软雅黑" panose="020B0503020204020204" pitchFamily="34" charset="-122"/>
                <a:ea typeface="微软雅黑" panose="020B0503020204020204" pitchFamily="34" charset="-122"/>
              </a:rPr>
              <a:t>当前深度伪造技术（换脸、语音克隆、</a:t>
            </a:r>
            <a:r>
              <a:rPr lang="en-US" altLang="zh-CN" b="0" dirty="0">
                <a:latin typeface="微软雅黑" panose="020B0503020204020204" pitchFamily="34" charset="-122"/>
                <a:ea typeface="微软雅黑" panose="020B0503020204020204" pitchFamily="34" charset="-122"/>
              </a:rPr>
              <a:t>LLM </a:t>
            </a:r>
            <a:r>
              <a:rPr lang="zh-CN" altLang="en-US" b="0" dirty="0">
                <a:latin typeface="微软雅黑" panose="020B0503020204020204" pitchFamily="34" charset="-122"/>
                <a:ea typeface="微软雅黑" panose="020B0503020204020204" pitchFamily="34" charset="-122"/>
              </a:rPr>
              <a:t>文本生成）可生成跨模态伪造内容，但其检测依赖高质量数据集，而现有数据集存在三大核心问题：</a:t>
            </a:r>
            <a:endParaRPr lang="en-US" altLang="zh-CN" b="0"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模态覆盖单一：</a:t>
            </a:r>
            <a:r>
              <a:rPr lang="zh-CN" altLang="en-US" b="0" dirty="0">
                <a:latin typeface="微软雅黑" panose="020B0503020204020204" pitchFamily="34" charset="-122"/>
                <a:ea typeface="微软雅黑" panose="020B0503020204020204" pitchFamily="34" charset="-122"/>
              </a:rPr>
              <a:t>多数数据集（如 </a:t>
            </a:r>
            <a:r>
              <a:rPr lang="en-US" altLang="zh-CN" b="0" dirty="0">
                <a:latin typeface="微软雅黑" panose="020B0503020204020204" pitchFamily="34" charset="-122"/>
                <a:ea typeface="微软雅黑" panose="020B0503020204020204" pitchFamily="34" charset="-122"/>
              </a:rPr>
              <a:t>FF++</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Celeb-DF</a:t>
            </a:r>
            <a:r>
              <a:rPr lang="zh-CN" altLang="en-US" b="0" dirty="0">
                <a:latin typeface="微软雅黑" panose="020B0503020204020204" pitchFamily="34" charset="-122"/>
                <a:ea typeface="微软雅黑" panose="020B0503020204020204" pitchFamily="34" charset="-122"/>
              </a:rPr>
              <a:t>）仅聚焦视觉操作（换脸、唇同步），忽视音频、文本模态的伪造，无法模拟真实场景中多模态协同伪造的情况。</a:t>
            </a:r>
          </a:p>
          <a:p>
            <a:pPr>
              <a:lnSpc>
                <a:spcPct val="150000"/>
              </a:lnSpc>
            </a:pPr>
            <a:r>
              <a:rPr lang="zh-CN" altLang="en-US" dirty="0">
                <a:latin typeface="微软雅黑" panose="020B0503020204020204" pitchFamily="34" charset="-122"/>
                <a:ea typeface="微软雅黑" panose="020B0503020204020204" pitchFamily="34" charset="-122"/>
              </a:rPr>
              <a:t>数据质量与规模不足：</a:t>
            </a:r>
            <a:r>
              <a:rPr lang="zh-CN" altLang="en-US" b="0" dirty="0">
                <a:latin typeface="微软雅黑" panose="020B0503020204020204" pitchFamily="34" charset="-122"/>
                <a:ea typeface="微软雅黑" panose="020B0503020204020204" pitchFamily="34" charset="-122"/>
              </a:rPr>
              <a:t>伪造音频常存在语调、清晰度问题（如 </a:t>
            </a:r>
            <a:r>
              <a:rPr lang="en-US" altLang="zh-CN" b="0" dirty="0" err="1">
                <a:latin typeface="微软雅黑" panose="020B0503020204020204" pitchFamily="34" charset="-122"/>
                <a:ea typeface="微软雅黑" panose="020B0503020204020204" pitchFamily="34" charset="-122"/>
              </a:rPr>
              <a:t>FakeAVCeleb</a:t>
            </a:r>
            <a:r>
              <a:rPr lang="zh-CN" altLang="en-US" b="0" dirty="0">
                <a:latin typeface="微软雅黑" panose="020B0503020204020204" pitchFamily="34" charset="-122"/>
                <a:ea typeface="微软雅黑" panose="020B0503020204020204" pitchFamily="34" charset="-122"/>
              </a:rPr>
              <a:t>），文本伪造多为单词替换（如 </a:t>
            </a:r>
            <a:r>
              <a:rPr lang="en-US" altLang="zh-CN" b="0" dirty="0">
                <a:latin typeface="微软雅黑" panose="020B0503020204020204" pitchFamily="34" charset="-122"/>
                <a:ea typeface="微软雅黑" panose="020B0503020204020204" pitchFamily="34" charset="-122"/>
              </a:rPr>
              <a:t>LAV-DF</a:t>
            </a:r>
            <a:r>
              <a:rPr lang="zh-CN" altLang="en-US" b="0" dirty="0">
                <a:latin typeface="微软雅黑" panose="020B0503020204020204" pitchFamily="34" charset="-122"/>
                <a:ea typeface="微软雅黑" panose="020B0503020204020204" pitchFamily="34" charset="-122"/>
              </a:rPr>
              <a:t>）导致上下文不一致；且多数数据集规模小（如 </a:t>
            </a:r>
            <a:r>
              <a:rPr lang="en-US" altLang="zh-CN" b="0" dirty="0">
                <a:latin typeface="微软雅黑" panose="020B0503020204020204" pitchFamily="34" charset="-122"/>
                <a:ea typeface="微软雅黑" panose="020B0503020204020204" pitchFamily="34" charset="-122"/>
              </a:rPr>
              <a:t>UADFV </a:t>
            </a:r>
            <a:r>
              <a:rPr lang="zh-CN" altLang="en-US" b="0" dirty="0">
                <a:latin typeface="微软雅黑" panose="020B0503020204020204" pitchFamily="34" charset="-122"/>
                <a:ea typeface="微软雅黑" panose="020B0503020204020204" pitchFamily="34" charset="-122"/>
              </a:rPr>
              <a:t>仅 </a:t>
            </a:r>
            <a:r>
              <a:rPr lang="en-US" altLang="zh-CN" b="0" dirty="0">
                <a:latin typeface="微软雅黑" panose="020B0503020204020204" pitchFamily="34" charset="-122"/>
                <a:ea typeface="微软雅黑" panose="020B0503020204020204" pitchFamily="34" charset="-122"/>
              </a:rPr>
              <a:t>98 </a:t>
            </a:r>
            <a:r>
              <a:rPr lang="zh-CN" altLang="en-US" b="0" dirty="0">
                <a:latin typeface="微软雅黑" panose="020B0503020204020204" pitchFamily="34" charset="-122"/>
                <a:ea typeface="微软雅黑" panose="020B0503020204020204" pitchFamily="34" charset="-122"/>
              </a:rPr>
              <a:t>个片段，</a:t>
            </a:r>
            <a:r>
              <a:rPr lang="en-US" altLang="zh-CN" b="0" dirty="0">
                <a:latin typeface="微软雅黑" panose="020B0503020204020204" pitchFamily="34" charset="-122"/>
                <a:ea typeface="微软雅黑" panose="020B0503020204020204" pitchFamily="34" charset="-122"/>
              </a:rPr>
              <a:t>DFDC </a:t>
            </a:r>
            <a:r>
              <a:rPr lang="zh-CN" altLang="en-US" b="0" dirty="0">
                <a:latin typeface="微软雅黑" panose="020B0503020204020204" pitchFamily="34" charset="-122"/>
                <a:ea typeface="微软雅黑" panose="020B0503020204020204" pitchFamily="34" charset="-122"/>
              </a:rPr>
              <a:t>共 </a:t>
            </a:r>
            <a:r>
              <a:rPr lang="en-US" altLang="zh-CN" b="0" dirty="0">
                <a:latin typeface="微软雅黑" panose="020B0503020204020204" pitchFamily="34" charset="-122"/>
                <a:ea typeface="微软雅黑" panose="020B0503020204020204" pitchFamily="34" charset="-122"/>
              </a:rPr>
              <a:t>128,154 </a:t>
            </a:r>
            <a:r>
              <a:rPr lang="zh-CN" altLang="en-US" b="0" dirty="0">
                <a:latin typeface="微软雅黑" panose="020B0503020204020204" pitchFamily="34" charset="-122"/>
                <a:ea typeface="微软雅黑" panose="020B0503020204020204" pitchFamily="34" charset="-122"/>
              </a:rPr>
              <a:t>个片段），远无法满足模型训练需求。</a:t>
            </a:r>
          </a:p>
          <a:p>
            <a:pPr>
              <a:lnSpc>
                <a:spcPct val="150000"/>
              </a:lnSpc>
            </a:pPr>
            <a:r>
              <a:rPr lang="zh-CN" altLang="en-US" dirty="0">
                <a:latin typeface="微软雅黑" panose="020B0503020204020204" pitchFamily="34" charset="-122"/>
                <a:ea typeface="微软雅黑" panose="020B0503020204020204" pitchFamily="34" charset="-122"/>
              </a:rPr>
              <a:t>身份信息缺失：</a:t>
            </a:r>
            <a:r>
              <a:rPr lang="zh-CN" altLang="en-US" b="0" dirty="0">
                <a:latin typeface="微软雅黑" panose="020B0503020204020204" pitchFamily="34" charset="-122"/>
                <a:ea typeface="微软雅黑" panose="020B0503020204020204" pitchFamily="34" charset="-122"/>
              </a:rPr>
              <a:t>现有数据集未为目标个体提供专属参考集，而现实中身份伪造（如名人 </a:t>
            </a:r>
            <a:r>
              <a:rPr lang="en-US" altLang="zh-CN" b="0" dirty="0">
                <a:latin typeface="微软雅黑" panose="020B0503020204020204" pitchFamily="34" charset="-122"/>
                <a:ea typeface="微软雅黑" panose="020B0503020204020204" pitchFamily="34" charset="-122"/>
              </a:rPr>
              <a:t>Deepfake</a:t>
            </a:r>
            <a:r>
              <a:rPr lang="zh-CN" altLang="en-US" b="0" dirty="0">
                <a:latin typeface="微软雅黑" panose="020B0503020204020204" pitchFamily="34" charset="-122"/>
                <a:ea typeface="微软雅黑" panose="020B0503020204020204" pitchFamily="34" charset="-122"/>
              </a:rPr>
              <a:t>）需依赖身份线索检测，但数据集缺乏个体足够真实样本，导致检测模型难以利用身份特征。</a:t>
            </a:r>
            <a:endParaRPr lang="en-US" altLang="zh-CN"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47085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EF19F-79B9-2E44-4124-6F4C2A91B76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0C33B53-FA09-077B-169A-22C1EA780F33}"/>
              </a:ext>
            </a:extLst>
          </p:cNvPr>
          <p:cNvSpPr>
            <a:spLocks noGrp="1"/>
          </p:cNvSpPr>
          <p:nvPr>
            <p:ph type="sldNum" sz="quarter" idx="4"/>
          </p:nvPr>
        </p:nvSpPr>
        <p:spPr/>
        <p:txBody>
          <a:bodyPr/>
          <a:lstStyle/>
          <a:p>
            <a:r>
              <a:rPr lang="en-US" altLang="zh-CN" dirty="0"/>
              <a:t>&lt; </a:t>
            </a:r>
            <a:fld id="{A548B57D-AE10-4CF7-A9DF-59FEFA91B28E}" type="slidenum">
              <a:rPr lang="zh-CN" altLang="en-US" smtClean="0"/>
              <a:t>12</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811C8866-E7D0-E91D-8E4F-EF0C4602CAAE}"/>
              </a:ext>
            </a:extLst>
          </p:cNvPr>
          <p:cNvSpPr>
            <a:spLocks noGrp="1"/>
          </p:cNvSpPr>
          <p:nvPr>
            <p:ph type="title"/>
          </p:nvPr>
        </p:nvSpPr>
        <p:spPr/>
        <p:txBody>
          <a:bodyPr>
            <a:noAutofit/>
          </a:bodyPr>
          <a:lstStyle/>
          <a:p>
            <a:r>
              <a:rPr lang="zh-CN" altLang="en-US" spc="0" dirty="0"/>
              <a:t>核心贡献一 </a:t>
            </a:r>
            <a:r>
              <a:rPr lang="en-US" altLang="zh-CN" spc="0" dirty="0"/>
              <a:t>—— </a:t>
            </a:r>
            <a:r>
              <a:rPr lang="en-US" altLang="zh-CN" spc="0" dirty="0" err="1"/>
              <a:t>IDForge</a:t>
            </a:r>
            <a:r>
              <a:rPr lang="en-US" altLang="zh-CN" spc="0" dirty="0"/>
              <a:t> </a:t>
            </a:r>
            <a:r>
              <a:rPr lang="zh-CN" altLang="en-US" spc="0" dirty="0"/>
              <a:t>数据集</a:t>
            </a:r>
          </a:p>
        </p:txBody>
      </p:sp>
      <p:sp>
        <p:nvSpPr>
          <p:cNvPr id="17" name="文本占位符 3">
            <a:extLst>
              <a:ext uri="{FF2B5EF4-FFF2-40B4-BE49-F238E27FC236}">
                <a16:creationId xmlns:a16="http://schemas.microsoft.com/office/drawing/2014/main" id="{CFC73921-8FC4-9AB9-A53C-BA573FE7F780}"/>
              </a:ext>
            </a:extLst>
          </p:cNvPr>
          <p:cNvSpPr>
            <a:spLocks noGrp="1"/>
          </p:cNvSpPr>
          <p:nvPr>
            <p:ph type="body" sz="quarter" idx="10"/>
          </p:nvPr>
        </p:nvSpPr>
        <p:spPr>
          <a:xfrm>
            <a:off x="675213" y="1615005"/>
            <a:ext cx="11255876" cy="4779348"/>
          </a:xfrm>
        </p:spPr>
        <p:txBody>
          <a:bodyPr>
            <a:normAutofit/>
          </a:bodyPr>
          <a:lstStyle/>
          <a:p>
            <a:pPr>
              <a:lnSpc>
                <a:spcPct val="160000"/>
              </a:lnSpc>
            </a:pPr>
            <a:r>
              <a:rPr lang="zh-CN" altLang="en-US" dirty="0">
                <a:latin typeface="微软雅黑" panose="020B0503020204020204" pitchFamily="34" charset="-122"/>
                <a:ea typeface="微软雅黑" panose="020B0503020204020204" pitchFamily="34" charset="-122"/>
              </a:rPr>
              <a:t>规模与对象：</a:t>
            </a:r>
            <a:r>
              <a:rPr lang="zh-CN" altLang="en-US" b="0" dirty="0">
                <a:latin typeface="微软雅黑" panose="020B0503020204020204" pitchFamily="34" charset="-122"/>
                <a:ea typeface="微软雅黑" panose="020B0503020204020204" pitchFamily="34" charset="-122"/>
              </a:rPr>
              <a:t>收集 </a:t>
            </a:r>
            <a:r>
              <a:rPr lang="en-US" altLang="zh-CN" b="0" dirty="0">
                <a:latin typeface="微软雅黑" panose="020B0503020204020204" pitchFamily="34" charset="-122"/>
                <a:ea typeface="微软雅黑" panose="020B0503020204020204" pitchFamily="34" charset="-122"/>
              </a:rPr>
              <a:t>54 </a:t>
            </a:r>
            <a:r>
              <a:rPr lang="zh-CN" altLang="en-US" b="0" dirty="0">
                <a:latin typeface="微软雅黑" panose="020B0503020204020204" pitchFamily="34" charset="-122"/>
                <a:ea typeface="微软雅黑" panose="020B0503020204020204" pitchFamily="34" charset="-122"/>
              </a:rPr>
              <a:t>位英语明星（政要</a:t>
            </a:r>
            <a:r>
              <a:rPr lang="en-US" altLang="zh-CN" b="0" dirty="0">
                <a:latin typeface="微软雅黑" panose="020B0503020204020204" pitchFamily="34" charset="-122"/>
                <a:ea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rPr>
              <a:t>演员等），从 </a:t>
            </a:r>
            <a:r>
              <a:rPr lang="en-US" altLang="zh-CN" b="0" dirty="0">
                <a:latin typeface="微软雅黑" panose="020B0503020204020204" pitchFamily="34" charset="-122"/>
                <a:ea typeface="微软雅黑" panose="020B0503020204020204" pitchFamily="34" charset="-122"/>
              </a:rPr>
              <a:t>YouTube </a:t>
            </a:r>
            <a:r>
              <a:rPr lang="zh-CN" altLang="en-US" b="0" dirty="0">
                <a:latin typeface="微软雅黑" panose="020B0503020204020204" pitchFamily="34" charset="-122"/>
                <a:ea typeface="微软雅黑" panose="020B0503020204020204" pitchFamily="34" charset="-122"/>
              </a:rPr>
              <a:t>采 </a:t>
            </a:r>
            <a:r>
              <a:rPr lang="en-US" altLang="zh-CN" b="0" dirty="0">
                <a:latin typeface="微软雅黑" panose="020B0503020204020204" pitchFamily="34" charset="-122"/>
                <a:ea typeface="微软雅黑" panose="020B0503020204020204" pitchFamily="34" charset="-122"/>
              </a:rPr>
              <a:t>324 </a:t>
            </a:r>
            <a:r>
              <a:rPr lang="zh-CN" altLang="en-US" b="0" dirty="0">
                <a:latin typeface="微软雅黑" panose="020B0503020204020204" pitchFamily="34" charset="-122"/>
                <a:ea typeface="微软雅黑" panose="020B0503020204020204" pitchFamily="34" charset="-122"/>
              </a:rPr>
              <a:t>段长视频切成</a:t>
            </a:r>
            <a:r>
              <a:rPr lang="en-US" altLang="zh-CN" b="0" dirty="0">
                <a:latin typeface="微软雅黑" panose="020B0503020204020204" pitchFamily="34" charset="-122"/>
                <a:ea typeface="微软雅黑" panose="020B0503020204020204" pitchFamily="34" charset="-122"/>
              </a:rPr>
              <a:t>249,138</a:t>
            </a:r>
            <a:r>
              <a:rPr lang="zh-CN" altLang="en-US" b="0" dirty="0">
                <a:latin typeface="微软雅黑" panose="020B0503020204020204" pitchFamily="34" charset="-122"/>
                <a:ea typeface="微软雅黑" panose="020B0503020204020204" pitchFamily="34" charset="-122"/>
              </a:rPr>
              <a:t>个可检视频片段（其中</a:t>
            </a:r>
            <a:r>
              <a:rPr lang="en-US" altLang="zh-CN" b="0" dirty="0">
                <a:latin typeface="微软雅黑" panose="020B0503020204020204" pitchFamily="34" charset="-122"/>
                <a:ea typeface="微软雅黑" panose="020B0503020204020204" pitchFamily="34" charset="-122"/>
              </a:rPr>
              <a:t>169,311</a:t>
            </a:r>
            <a:r>
              <a:rPr lang="zh-CN" altLang="en-US" b="0" dirty="0">
                <a:latin typeface="微软雅黑" panose="020B0503020204020204" pitchFamily="34" charset="-122"/>
                <a:ea typeface="微软雅黑" panose="020B0503020204020204" pitchFamily="34" charset="-122"/>
              </a:rPr>
              <a:t>个为伪造），并额外提供</a:t>
            </a:r>
            <a:r>
              <a:rPr lang="en-US" altLang="zh-CN" b="0" dirty="0">
                <a:latin typeface="微软雅黑" panose="020B0503020204020204" pitchFamily="34" charset="-122"/>
                <a:ea typeface="微软雅黑" panose="020B0503020204020204" pitchFamily="34" charset="-122"/>
              </a:rPr>
              <a:t>214,438</a:t>
            </a:r>
            <a:r>
              <a:rPr lang="zh-CN" altLang="en-US" b="0" dirty="0">
                <a:latin typeface="微软雅黑" panose="020B0503020204020204" pitchFamily="34" charset="-122"/>
                <a:ea typeface="微软雅黑" panose="020B0503020204020204" pitchFamily="34" charset="-122"/>
              </a:rPr>
              <a:t>个参考用的真实片段（</a:t>
            </a:r>
            <a:r>
              <a:rPr lang="en-US" altLang="zh-CN" b="0" dirty="0">
                <a:latin typeface="微软雅黑" panose="020B0503020204020204" pitchFamily="34" charset="-122"/>
                <a:ea typeface="微软雅黑" panose="020B0503020204020204" pitchFamily="34" charset="-122"/>
              </a:rPr>
              <a:t>Reference Set</a:t>
            </a:r>
            <a:r>
              <a:rPr lang="zh-CN" altLang="en-US" b="0" dirty="0">
                <a:latin typeface="微软雅黑" panose="020B0503020204020204" pitchFamily="34" charset="-122"/>
                <a:ea typeface="微软雅黑" panose="020B0503020204020204" pitchFamily="34" charset="-122"/>
              </a:rPr>
              <a:t>，给每位身份“立档案”）。</a:t>
            </a:r>
          </a:p>
          <a:p>
            <a:pPr>
              <a:lnSpc>
                <a:spcPct val="160000"/>
              </a:lnSpc>
            </a:pPr>
            <a:r>
              <a:rPr lang="zh-CN" altLang="en-US" dirty="0">
                <a:latin typeface="微软雅黑" panose="020B0503020204020204" pitchFamily="34" charset="-122"/>
                <a:ea typeface="微软雅黑" panose="020B0503020204020204" pitchFamily="34" charset="-122"/>
              </a:rPr>
              <a:t>多模态篡改：</a:t>
            </a:r>
            <a:r>
              <a:rPr lang="zh-CN" altLang="en-US" b="0" dirty="0">
                <a:latin typeface="微软雅黑" panose="020B0503020204020204" pitchFamily="34" charset="-122"/>
                <a:ea typeface="微软雅黑" panose="020B0503020204020204" pitchFamily="34" charset="-122"/>
              </a:rPr>
              <a:t>不仅</a:t>
            </a:r>
            <a:r>
              <a:rPr lang="zh-CN" altLang="en-US" dirty="0">
                <a:latin typeface="微软雅黑" panose="020B0503020204020204" pitchFamily="34" charset="-122"/>
                <a:ea typeface="微软雅黑" panose="020B0503020204020204" pitchFamily="34" charset="-122"/>
              </a:rPr>
              <a:t>换脸、口型同步</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Wav2Lip</a:t>
            </a:r>
            <a:r>
              <a:rPr lang="zh-CN" altLang="en-US" b="0" dirty="0">
                <a:latin typeface="微软雅黑" panose="020B0503020204020204" pitchFamily="34" charset="-122"/>
                <a:ea typeface="微软雅黑" panose="020B0503020204020204" pitchFamily="34" charset="-122"/>
              </a:rPr>
              <a:t>），还做</a:t>
            </a:r>
            <a:r>
              <a:rPr lang="zh-CN" altLang="en-US" dirty="0">
                <a:latin typeface="微软雅黑" panose="020B0503020204020204" pitchFamily="34" charset="-122"/>
                <a:ea typeface="微软雅黑" panose="020B0503020204020204" pitchFamily="34" charset="-122"/>
              </a:rPr>
              <a:t>配音</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变声</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TorToiSe</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RVC</a:t>
            </a:r>
            <a:r>
              <a:rPr lang="zh-CN" altLang="en-US" b="0" dirty="0">
                <a:latin typeface="微软雅黑" panose="020B0503020204020204" pitchFamily="34" charset="-122"/>
                <a:ea typeface="微软雅黑" panose="020B0503020204020204" pitchFamily="34" charset="-122"/>
              </a:rPr>
              <a:t>）和</a:t>
            </a:r>
            <a:r>
              <a:rPr lang="zh-CN" altLang="en-US" dirty="0">
                <a:latin typeface="微软雅黑" panose="020B0503020204020204" pitchFamily="34" charset="-122"/>
                <a:ea typeface="微软雅黑" panose="020B0503020204020204" pitchFamily="34" charset="-122"/>
              </a:rPr>
              <a:t>文本层篡改</a:t>
            </a:r>
            <a:r>
              <a:rPr lang="zh-CN" altLang="en-US" b="0" dirty="0">
                <a:latin typeface="微软雅黑" panose="020B0503020204020204" pitchFamily="34" charset="-122"/>
                <a:ea typeface="微软雅黑" panose="020B0503020204020204" pitchFamily="34" charset="-122"/>
              </a:rPr>
              <a:t>（用 </a:t>
            </a:r>
            <a:r>
              <a:rPr lang="en-US" altLang="zh-CN" b="0" dirty="0">
                <a:latin typeface="微软雅黑" panose="020B0503020204020204" pitchFamily="34" charset="-122"/>
                <a:ea typeface="微软雅黑" panose="020B0503020204020204" pitchFamily="34" charset="-122"/>
              </a:rPr>
              <a:t>LLM </a:t>
            </a:r>
            <a:r>
              <a:rPr lang="zh-CN" altLang="en-US" b="0" dirty="0">
                <a:latin typeface="微软雅黑" panose="020B0503020204020204" pitchFamily="34" charset="-122"/>
                <a:ea typeface="微软雅黑" panose="020B0503020204020204" pitchFamily="34" charset="-122"/>
              </a:rPr>
              <a:t>生成风格相近但语义不同的句子，或“文本互换”）。一共覆盖</a:t>
            </a:r>
            <a:r>
              <a:rPr lang="en-US" altLang="zh-CN" b="0" dirty="0">
                <a:latin typeface="微软雅黑" panose="020B0503020204020204" pitchFamily="34" charset="-122"/>
                <a:ea typeface="微软雅黑" panose="020B0503020204020204" pitchFamily="34" charset="-122"/>
              </a:rPr>
              <a:t>11 </a:t>
            </a:r>
            <a:r>
              <a:rPr lang="zh-CN" altLang="en-US" b="0" dirty="0">
                <a:latin typeface="微软雅黑" panose="020B0503020204020204" pitchFamily="34" charset="-122"/>
                <a:ea typeface="微软雅黑" panose="020B0503020204020204" pitchFamily="34" charset="-122"/>
              </a:rPr>
              <a:t>种多模态造假组合。</a:t>
            </a:r>
          </a:p>
          <a:p>
            <a:pPr>
              <a:lnSpc>
                <a:spcPct val="160000"/>
              </a:lnSpc>
            </a:pPr>
            <a:r>
              <a:rPr lang="zh-CN" altLang="en-US" dirty="0">
                <a:latin typeface="微软雅黑" panose="020B0503020204020204" pitchFamily="34" charset="-122"/>
                <a:ea typeface="微软雅黑" panose="020B0503020204020204" pitchFamily="34" charset="-122"/>
              </a:rPr>
              <a:t>制作细节：高清</a:t>
            </a:r>
            <a:r>
              <a:rPr lang="zh-CN" altLang="en-US" b="0" dirty="0">
                <a:latin typeface="微软雅黑" panose="020B0503020204020204" pitchFamily="34" charset="-122"/>
                <a:ea typeface="微软雅黑" panose="020B0503020204020204" pitchFamily="34" charset="-122"/>
              </a:rPr>
              <a:t> </a:t>
            </a:r>
            <a:r>
              <a:rPr lang="en-US" altLang="zh-CN" b="0" dirty="0">
                <a:latin typeface="微软雅黑" panose="020B0503020204020204" pitchFamily="34" charset="-122"/>
                <a:ea typeface="微软雅黑" panose="020B0503020204020204" pitchFamily="34" charset="-122"/>
              </a:rPr>
              <a:t>720p </a:t>
            </a:r>
            <a:r>
              <a:rPr lang="zh-CN" altLang="en-US" b="0" dirty="0">
                <a:latin typeface="微软雅黑" panose="020B0503020204020204" pitchFamily="34" charset="-122"/>
                <a:ea typeface="微软雅黑" panose="020B0503020204020204" pitchFamily="34" charset="-122"/>
              </a:rPr>
              <a:t>起步；口播段切句级短片；伪音频是为每个人</a:t>
            </a:r>
            <a:r>
              <a:rPr lang="zh-CN" altLang="en-US" dirty="0">
                <a:latin typeface="微软雅黑" panose="020B0503020204020204" pitchFamily="34" charset="-122"/>
                <a:ea typeface="微软雅黑" panose="020B0503020204020204" pitchFamily="34" charset="-122"/>
              </a:rPr>
              <a:t>单独训练</a:t>
            </a:r>
            <a:r>
              <a:rPr lang="zh-CN" altLang="en-US" b="0" dirty="0">
                <a:latin typeface="微软雅黑" panose="020B0503020204020204" pitchFamily="34" charset="-122"/>
                <a:ea typeface="微软雅黑" panose="020B0503020204020204" pitchFamily="34" charset="-122"/>
              </a:rPr>
              <a:t>的模型生成，听起来更自然；文本不是“替几个词”，而是</a:t>
            </a:r>
            <a:r>
              <a:rPr lang="zh-CN" altLang="en-US" dirty="0">
                <a:latin typeface="微软雅黑" panose="020B0503020204020204" pitchFamily="34" charset="-122"/>
                <a:ea typeface="微软雅黑" panose="020B0503020204020204" pitchFamily="34" charset="-122"/>
              </a:rPr>
              <a:t>整句改写</a:t>
            </a:r>
            <a:r>
              <a:rPr lang="zh-CN" altLang="en-US" b="0" dirty="0">
                <a:latin typeface="微软雅黑" panose="020B0503020204020204" pitchFamily="34" charset="-122"/>
                <a:ea typeface="微软雅黑" panose="020B0503020204020204" pitchFamily="34" charset="-122"/>
              </a:rPr>
              <a:t>，更像真实场景。</a:t>
            </a:r>
          </a:p>
        </p:txBody>
      </p:sp>
      <p:sp>
        <p:nvSpPr>
          <p:cNvPr id="4" name="ModelComp1Border">
            <a:extLst>
              <a:ext uri="{FF2B5EF4-FFF2-40B4-BE49-F238E27FC236}">
                <a16:creationId xmlns:a16="http://schemas.microsoft.com/office/drawing/2014/main" id="{C39A033B-ADA2-DA17-8B69-B3A03CD3792D}"/>
              </a:ext>
            </a:extLst>
          </p:cNvPr>
          <p:cNvSpPr/>
          <p:nvPr/>
        </p:nvSpPr>
        <p:spPr>
          <a:xfrm>
            <a:off x="675215" y="1000117"/>
            <a:ext cx="45719" cy="719186"/>
          </a:xfrm>
          <a:prstGeom prst="rect">
            <a:avLst/>
          </a:prstGeom>
          <a:solidFill>
            <a:schemeClr val="accent1">
              <a:lumMod val="75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strike="noStrike" spc="-1">
              <a:solidFill>
                <a:srgbClr val="FFFFFF"/>
              </a:solidFill>
              <a:latin typeface="Arial"/>
            </a:endParaRPr>
          </a:p>
        </p:txBody>
      </p:sp>
      <p:sp>
        <p:nvSpPr>
          <p:cNvPr id="6" name="ModelComp1Content">
            <a:extLst>
              <a:ext uri="{FF2B5EF4-FFF2-40B4-BE49-F238E27FC236}">
                <a16:creationId xmlns:a16="http://schemas.microsoft.com/office/drawing/2014/main" id="{89CD3419-E7DC-80A9-3391-BE4C1F1520FD}"/>
              </a:ext>
            </a:extLst>
          </p:cNvPr>
          <p:cNvSpPr/>
          <p:nvPr/>
        </p:nvSpPr>
        <p:spPr>
          <a:xfrm>
            <a:off x="720936" y="1000117"/>
            <a:ext cx="10795849" cy="719187"/>
          </a:xfrm>
          <a:prstGeom prst="rect">
            <a:avLst/>
          </a:prstGeom>
          <a:solidFill>
            <a:schemeClr val="accent1">
              <a:lumMod val="60000"/>
              <a:lumOff val="40000"/>
              <a:alpha val="10000"/>
            </a:schemeClr>
          </a:solidFill>
          <a:ln w="0">
            <a:noFill/>
          </a:ln>
        </p:spPr>
        <p:style>
          <a:lnRef idx="0">
            <a:scrgbClr r="0" g="0" b="0"/>
          </a:lnRef>
          <a:fillRef idx="0">
            <a:scrgbClr r="0" g="0" b="0"/>
          </a:fillRef>
          <a:effectRef idx="0">
            <a:scrgbClr r="0" g="0" b="0"/>
          </a:effectRef>
          <a:fontRef idx="minor"/>
        </p:style>
        <p:txBody>
          <a:bodyPr wrap="square" lIns="171360" tIns="154440" rIns="171360" bIns="15444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lnSpc>
                <a:spcPct val="15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rPr>
              <a:t>特点：</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身份驱动 </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 </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多模态 </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 </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高质量 </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 </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自带参考库</a:t>
            </a:r>
            <a:endParaRPr 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372811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840CF-E3BB-94C6-4357-4EBFE8119AC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C710DD2-5FA6-9E67-5700-198A68293BC5}"/>
              </a:ext>
            </a:extLst>
          </p:cNvPr>
          <p:cNvSpPr>
            <a:spLocks noGrp="1"/>
          </p:cNvSpPr>
          <p:nvPr>
            <p:ph type="sldNum" sz="quarter" idx="4"/>
          </p:nvPr>
        </p:nvSpPr>
        <p:spPr/>
        <p:txBody>
          <a:bodyPr/>
          <a:lstStyle/>
          <a:p>
            <a:r>
              <a:rPr lang="en-US" altLang="zh-CN" dirty="0"/>
              <a:t>&lt; </a:t>
            </a:r>
            <a:fld id="{A548B57D-AE10-4CF7-A9DF-59FEFA91B28E}" type="slidenum">
              <a:rPr lang="zh-CN" altLang="en-US" smtClean="0"/>
              <a:t>13</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00C6E22F-0402-390A-E67E-9BBB0457F158}"/>
              </a:ext>
            </a:extLst>
          </p:cNvPr>
          <p:cNvSpPr>
            <a:spLocks noGrp="1"/>
          </p:cNvSpPr>
          <p:nvPr>
            <p:ph type="title"/>
          </p:nvPr>
        </p:nvSpPr>
        <p:spPr/>
        <p:txBody>
          <a:bodyPr>
            <a:noAutofit/>
          </a:bodyPr>
          <a:lstStyle/>
          <a:p>
            <a:r>
              <a:rPr lang="zh-CN" altLang="en-US" spc="0" dirty="0"/>
              <a:t>核心贡献一 </a:t>
            </a:r>
            <a:r>
              <a:rPr lang="en-US" altLang="zh-CN" spc="0" dirty="0"/>
              <a:t>—— </a:t>
            </a:r>
            <a:r>
              <a:rPr lang="en-US" altLang="zh-CN" spc="0" dirty="0" err="1"/>
              <a:t>IDForge</a:t>
            </a:r>
            <a:r>
              <a:rPr lang="en-US" altLang="zh-CN" spc="0" dirty="0"/>
              <a:t> </a:t>
            </a:r>
            <a:r>
              <a:rPr lang="zh-CN" altLang="en-US" spc="0" dirty="0"/>
              <a:t>数据集</a:t>
            </a:r>
          </a:p>
        </p:txBody>
      </p:sp>
      <p:graphicFrame>
        <p:nvGraphicFramePr>
          <p:cNvPr id="10" name="表格 9">
            <a:extLst>
              <a:ext uri="{FF2B5EF4-FFF2-40B4-BE49-F238E27FC236}">
                <a16:creationId xmlns:a16="http://schemas.microsoft.com/office/drawing/2014/main" id="{A42DFDEE-D72E-1FB0-7A2E-A2B9CC875440}"/>
              </a:ext>
            </a:extLst>
          </p:cNvPr>
          <p:cNvGraphicFramePr>
            <a:graphicFrameLocks noGrp="1"/>
          </p:cNvGraphicFramePr>
          <p:nvPr>
            <p:extLst>
              <p:ext uri="{D42A27DB-BD31-4B8C-83A1-F6EECF244321}">
                <p14:modId xmlns:p14="http://schemas.microsoft.com/office/powerpoint/2010/main" val="2083680031"/>
              </p:ext>
            </p:extLst>
          </p:nvPr>
        </p:nvGraphicFramePr>
        <p:xfrm>
          <a:off x="212142" y="1702557"/>
          <a:ext cx="8010925" cy="3452886"/>
        </p:xfrm>
        <a:graphic>
          <a:graphicData uri="http://schemas.openxmlformats.org/drawingml/2006/table">
            <a:tbl>
              <a:tblPr>
                <a:tableStyleId>{8A107856-5554-42FB-B03E-39F5DBC370BA}</a:tableStyleId>
              </a:tblPr>
              <a:tblGrid>
                <a:gridCol w="1060618">
                  <a:extLst>
                    <a:ext uri="{9D8B030D-6E8A-4147-A177-3AD203B41FA5}">
                      <a16:colId xmlns:a16="http://schemas.microsoft.com/office/drawing/2014/main" val="2112011818"/>
                    </a:ext>
                  </a:extLst>
                </a:gridCol>
                <a:gridCol w="2316769">
                  <a:extLst>
                    <a:ext uri="{9D8B030D-6E8A-4147-A177-3AD203B41FA5}">
                      <a16:colId xmlns:a16="http://schemas.microsoft.com/office/drawing/2014/main" val="3109734471"/>
                    </a:ext>
                  </a:extLst>
                </a:gridCol>
                <a:gridCol w="2316769">
                  <a:extLst>
                    <a:ext uri="{9D8B030D-6E8A-4147-A177-3AD203B41FA5}">
                      <a16:colId xmlns:a16="http://schemas.microsoft.com/office/drawing/2014/main" val="994388461"/>
                    </a:ext>
                  </a:extLst>
                </a:gridCol>
                <a:gridCol w="2316769">
                  <a:extLst>
                    <a:ext uri="{9D8B030D-6E8A-4147-A177-3AD203B41FA5}">
                      <a16:colId xmlns:a16="http://schemas.microsoft.com/office/drawing/2014/main" val="3604079593"/>
                    </a:ext>
                  </a:extLst>
                </a:gridCol>
              </a:tblGrid>
              <a:tr h="419091">
                <a:tc>
                  <a:txBody>
                    <a:bodyPr/>
                    <a:lstStyle/>
                    <a:p>
                      <a:pPr algn="ctr">
                        <a:buNone/>
                      </a:pPr>
                      <a:r>
                        <a:rPr lang="zh-CN" altLang="en-US" sz="1600" b="1"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模态</a:t>
                      </a:r>
                    </a:p>
                  </a:txBody>
                  <a:tcPr anchor="ctr"/>
                </a:tc>
                <a:tc>
                  <a:txBody>
                    <a:bodyPr/>
                    <a:lstStyle/>
                    <a:p>
                      <a:pPr algn="ctr">
                        <a:buNone/>
                      </a:pPr>
                      <a:r>
                        <a:rPr lang="zh-CN" altLang="en-US" sz="1600" b="1"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操作方法</a:t>
                      </a:r>
                    </a:p>
                  </a:txBody>
                  <a:tcPr anchor="ctr"/>
                </a:tc>
                <a:tc>
                  <a:txBody>
                    <a:bodyPr/>
                    <a:lstStyle/>
                    <a:p>
                      <a:pPr algn="ctr">
                        <a:buNone/>
                      </a:pPr>
                      <a:r>
                        <a:rPr lang="zh-CN" altLang="en-US" sz="1600" b="1"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实现工具 </a:t>
                      </a:r>
                      <a:r>
                        <a:rPr lang="en-US" altLang="zh-CN" sz="1600" b="1"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 </a:t>
                      </a:r>
                      <a:r>
                        <a:rPr lang="zh-CN" altLang="en-US" sz="1600" b="1"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模型</a:t>
                      </a:r>
                    </a:p>
                  </a:txBody>
                  <a:tcPr anchor="ctr"/>
                </a:tc>
                <a:tc>
                  <a:txBody>
                    <a:bodyPr/>
                    <a:lstStyle/>
                    <a:p>
                      <a:pPr algn="ctr">
                        <a:buNone/>
                      </a:pPr>
                      <a:r>
                        <a:rPr lang="zh-CN" altLang="en-US" sz="1600" b="1"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目的</a:t>
                      </a:r>
                    </a:p>
                  </a:txBody>
                  <a:tcPr anchor="ctr"/>
                </a:tc>
                <a:extLst>
                  <a:ext uri="{0D108BD9-81ED-4DB2-BD59-A6C34878D82A}">
                    <a16:rowId xmlns:a16="http://schemas.microsoft.com/office/drawing/2014/main" val="2664088758"/>
                  </a:ext>
                </a:extLst>
              </a:tr>
              <a:tr h="494883">
                <a:tc rowSpan="2">
                  <a:txBody>
                    <a:bodyPr/>
                    <a:lstStyle/>
                    <a:p>
                      <a:pPr algn="ctr">
                        <a:buNone/>
                      </a:pPr>
                      <a:r>
                        <a:rPr lang="zh-CN" altLang="en-US" sz="1600" b="1"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文本</a:t>
                      </a:r>
                    </a:p>
                  </a:txBody>
                  <a:tcPr anchor="ctr"/>
                </a:tc>
                <a:tc>
                  <a:txBody>
                    <a:bodyPr/>
                    <a:lstStyle/>
                    <a:p>
                      <a:pPr algn="ctr">
                        <a:buNone/>
                      </a:pPr>
                      <a:r>
                        <a:rPr lang="en-US" altLang="zh-CN"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LLM </a:t>
                      </a:r>
                      <a:r>
                        <a:rPr lang="zh-CN"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生成虚假文本</a:t>
                      </a:r>
                    </a:p>
                  </a:txBody>
                  <a:tcPr anchor="ctr"/>
                </a:tc>
                <a:tc>
                  <a:txBody>
                    <a:bodyPr/>
                    <a:lstStyle/>
                    <a:p>
                      <a:pPr algn="ctr">
                        <a:buNone/>
                      </a:pPr>
                      <a:r>
                        <a:rPr lang="en-US"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GPT-3.5</a:t>
                      </a:r>
                    </a:p>
                  </a:txBody>
                  <a:tcPr anchor="ctr"/>
                </a:tc>
                <a:tc>
                  <a:txBody>
                    <a:bodyPr/>
                    <a:lstStyle/>
                    <a:p>
                      <a:pPr algn="ctr">
                        <a:buNone/>
                      </a:pPr>
                      <a:r>
                        <a:rPr lang="zh-CN"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模拟 </a:t>
                      </a:r>
                      <a:r>
                        <a:rPr lang="en-US" altLang="zh-CN"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LLM </a:t>
                      </a:r>
                      <a:r>
                        <a:rPr lang="zh-CN"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传播虚假信息</a:t>
                      </a:r>
                    </a:p>
                  </a:txBody>
                  <a:tcPr anchor="ctr"/>
                </a:tc>
                <a:extLst>
                  <a:ext uri="{0D108BD9-81ED-4DB2-BD59-A6C34878D82A}">
                    <a16:rowId xmlns:a16="http://schemas.microsoft.com/office/drawing/2014/main" val="2823042827"/>
                  </a:ext>
                </a:extLst>
              </a:tr>
              <a:tr h="419091">
                <a:tc vMerge="1">
                  <a:txBody>
                    <a:bodyPr/>
                    <a:lstStyle/>
                    <a:p>
                      <a:pPr>
                        <a:buNone/>
                      </a:pPr>
                      <a:endParaRPr lang="zh-CN" altLang="en-US" sz="1800" b="0" dirty="0">
                        <a:effectLst/>
                      </a:endParaRPr>
                    </a:p>
                  </a:txBody>
                  <a:tcPr anchor="ctr"/>
                </a:tc>
                <a:tc>
                  <a:txBody>
                    <a:bodyPr/>
                    <a:lstStyle/>
                    <a:p>
                      <a:pPr algn="ctr">
                        <a:buNone/>
                      </a:pPr>
                      <a:r>
                        <a:rPr lang="zh-CN"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文本洗牌</a:t>
                      </a:r>
                    </a:p>
                  </a:txBody>
                  <a:tcPr anchor="ctr"/>
                </a:tc>
                <a:tc>
                  <a:txBody>
                    <a:bodyPr/>
                    <a:lstStyle/>
                    <a:p>
                      <a:pPr algn="ctr">
                        <a:buNone/>
                      </a:pPr>
                      <a:r>
                        <a:rPr lang="zh-CN"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跨个体文本交换</a:t>
                      </a:r>
                    </a:p>
                  </a:txBody>
                  <a:tcPr anchor="ctr"/>
                </a:tc>
                <a:tc>
                  <a:txBody>
                    <a:bodyPr/>
                    <a:lstStyle/>
                    <a:p>
                      <a:pPr algn="ctr">
                        <a:buNone/>
                      </a:pPr>
                      <a:r>
                        <a:rPr lang="zh-CN"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增加数据多样性</a:t>
                      </a:r>
                    </a:p>
                  </a:txBody>
                  <a:tcPr anchor="ctr"/>
                </a:tc>
                <a:extLst>
                  <a:ext uri="{0D108BD9-81ED-4DB2-BD59-A6C34878D82A}">
                    <a16:rowId xmlns:a16="http://schemas.microsoft.com/office/drawing/2014/main" val="452315050"/>
                  </a:ext>
                </a:extLst>
              </a:tr>
              <a:tr h="598701">
                <a:tc rowSpan="2">
                  <a:txBody>
                    <a:bodyPr/>
                    <a:lstStyle/>
                    <a:p>
                      <a:pPr algn="ctr">
                        <a:buNone/>
                      </a:pPr>
                      <a:r>
                        <a:rPr lang="zh-CN" altLang="en-US" sz="1600" b="1"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音频</a:t>
                      </a:r>
                    </a:p>
                  </a:txBody>
                  <a:tcPr anchor="ctr"/>
                </a:tc>
                <a:tc>
                  <a:txBody>
                    <a:bodyPr/>
                    <a:lstStyle/>
                    <a:p>
                      <a:pPr algn="ctr">
                        <a:buNone/>
                      </a:pPr>
                      <a:r>
                        <a:rPr lang="zh-CN"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语音克隆</a:t>
                      </a:r>
                    </a:p>
                  </a:txBody>
                  <a:tcPr anchor="ctr"/>
                </a:tc>
                <a:tc>
                  <a:txBody>
                    <a:bodyPr/>
                    <a:lstStyle/>
                    <a:p>
                      <a:pPr algn="ctr">
                        <a:buNone/>
                      </a:pPr>
                      <a:r>
                        <a:rPr lang="en-US"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TorToiSe、RVC</a:t>
                      </a:r>
                    </a:p>
                  </a:txBody>
                  <a:tcPr anchor="ctr"/>
                </a:tc>
                <a:tc>
                  <a:txBody>
                    <a:bodyPr/>
                    <a:lstStyle/>
                    <a:p>
                      <a:pPr algn="ctr">
                        <a:buNone/>
                      </a:pPr>
                      <a:r>
                        <a:rPr lang="zh-CN"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生成目标个体音色的音频</a:t>
                      </a:r>
                    </a:p>
                  </a:txBody>
                  <a:tcPr anchor="ctr"/>
                </a:tc>
                <a:extLst>
                  <a:ext uri="{0D108BD9-81ED-4DB2-BD59-A6C34878D82A}">
                    <a16:rowId xmlns:a16="http://schemas.microsoft.com/office/drawing/2014/main" val="3045312362"/>
                  </a:ext>
                </a:extLst>
              </a:tr>
              <a:tr h="419091">
                <a:tc vMerge="1">
                  <a:txBody>
                    <a:bodyPr/>
                    <a:lstStyle/>
                    <a:p>
                      <a:pPr>
                        <a:buNone/>
                      </a:pPr>
                      <a:endParaRPr lang="zh-CN" altLang="en-US" sz="1800" b="0" dirty="0">
                        <a:effectLst/>
                      </a:endParaRPr>
                    </a:p>
                  </a:txBody>
                  <a:tcPr anchor="ctr"/>
                </a:tc>
                <a:tc>
                  <a:txBody>
                    <a:bodyPr/>
                    <a:lstStyle/>
                    <a:p>
                      <a:pPr algn="ctr">
                        <a:buNone/>
                      </a:pPr>
                      <a:r>
                        <a:rPr lang="zh-CN"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音频洗牌</a:t>
                      </a:r>
                    </a:p>
                  </a:txBody>
                  <a:tcPr anchor="ctr"/>
                </a:tc>
                <a:tc>
                  <a:txBody>
                    <a:bodyPr/>
                    <a:lstStyle/>
                    <a:p>
                      <a:pPr algn="ctr">
                        <a:buNone/>
                      </a:pPr>
                      <a:r>
                        <a:rPr lang="zh-CN"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同性别个体音频交换</a:t>
                      </a:r>
                    </a:p>
                  </a:txBody>
                  <a:tcPr anchor="ctr"/>
                </a:tc>
                <a:tc>
                  <a:txBody>
                    <a:bodyPr/>
                    <a:lstStyle/>
                    <a:p>
                      <a:pPr algn="ctr">
                        <a:buNone/>
                      </a:pPr>
                      <a:r>
                        <a:rPr lang="zh-CN"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模拟配音式伪造</a:t>
                      </a:r>
                    </a:p>
                  </a:txBody>
                  <a:tcPr anchor="ctr"/>
                </a:tc>
                <a:extLst>
                  <a:ext uri="{0D108BD9-81ED-4DB2-BD59-A6C34878D82A}">
                    <a16:rowId xmlns:a16="http://schemas.microsoft.com/office/drawing/2014/main" val="3254328582"/>
                  </a:ext>
                </a:extLst>
              </a:tr>
              <a:tr h="598701">
                <a:tc rowSpan="2">
                  <a:txBody>
                    <a:bodyPr/>
                    <a:lstStyle/>
                    <a:p>
                      <a:pPr algn="ctr">
                        <a:buNone/>
                      </a:pPr>
                      <a:r>
                        <a:rPr lang="zh-CN" altLang="en-US" sz="1600" b="1"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视频</a:t>
                      </a:r>
                    </a:p>
                  </a:txBody>
                  <a:tcPr anchor="ctr"/>
                </a:tc>
                <a:tc>
                  <a:txBody>
                    <a:bodyPr/>
                    <a:lstStyle/>
                    <a:p>
                      <a:pPr algn="ctr">
                        <a:buNone/>
                      </a:pPr>
                      <a:r>
                        <a:rPr lang="zh-CN"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人脸替换</a:t>
                      </a:r>
                    </a:p>
                  </a:txBody>
                  <a:tcPr anchor="ctr"/>
                </a:tc>
                <a:tc>
                  <a:txBody>
                    <a:bodyPr/>
                    <a:lstStyle/>
                    <a:p>
                      <a:pPr algn="ctr">
                        <a:buNone/>
                      </a:pPr>
                      <a:r>
                        <a:rPr lang="en-US"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InsightFace、SimSwap、InfoSwap</a:t>
                      </a:r>
                    </a:p>
                  </a:txBody>
                  <a:tcPr anchor="ctr"/>
                </a:tc>
                <a:tc>
                  <a:txBody>
                    <a:bodyPr/>
                    <a:lstStyle/>
                    <a:p>
                      <a:pPr algn="ctr">
                        <a:buNone/>
                      </a:pPr>
                      <a:r>
                        <a:rPr lang="zh-CN"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替换目标个体面部</a:t>
                      </a:r>
                    </a:p>
                  </a:txBody>
                  <a:tcPr anchor="ctr"/>
                </a:tc>
                <a:extLst>
                  <a:ext uri="{0D108BD9-81ED-4DB2-BD59-A6C34878D82A}">
                    <a16:rowId xmlns:a16="http://schemas.microsoft.com/office/drawing/2014/main" val="1753910888"/>
                  </a:ext>
                </a:extLst>
              </a:tr>
              <a:tr h="419091">
                <a:tc vMerge="1">
                  <a:txBody>
                    <a:bodyPr/>
                    <a:lstStyle/>
                    <a:p>
                      <a:pPr>
                        <a:buNone/>
                      </a:pPr>
                      <a:endParaRPr lang="zh-CN" altLang="en-US" sz="1800" b="0" dirty="0">
                        <a:effectLst/>
                      </a:endParaRPr>
                    </a:p>
                  </a:txBody>
                  <a:tcPr anchor="ctr"/>
                </a:tc>
                <a:tc>
                  <a:txBody>
                    <a:bodyPr/>
                    <a:lstStyle/>
                    <a:p>
                      <a:pPr algn="ctr">
                        <a:buNone/>
                      </a:pPr>
                      <a:r>
                        <a:rPr lang="zh-CN"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唇同步调整</a:t>
                      </a:r>
                    </a:p>
                  </a:txBody>
                  <a:tcPr anchor="ctr"/>
                </a:tc>
                <a:tc>
                  <a:txBody>
                    <a:bodyPr/>
                    <a:lstStyle/>
                    <a:p>
                      <a:pPr algn="ctr">
                        <a:buNone/>
                      </a:pPr>
                      <a:r>
                        <a:rPr lang="zh-CN"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微调版 </a:t>
                      </a:r>
                      <a:r>
                        <a:rPr lang="en-US"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Wav2Lip</a:t>
                      </a:r>
                    </a:p>
                  </a:txBody>
                  <a:tcPr anchor="ctr"/>
                </a:tc>
                <a:tc>
                  <a:txBody>
                    <a:bodyPr/>
                    <a:lstStyle/>
                    <a:p>
                      <a:pPr algn="ctr">
                        <a:buNone/>
                      </a:pPr>
                      <a:r>
                        <a:rPr lang="zh-CN" altLang="en-US" sz="1600" b="0" kern="1200" dirty="0">
                          <a:solidFill>
                            <a:schemeClr val="tx1">
                              <a:lumMod val="75000"/>
                              <a:lumOff val="25000"/>
                            </a:schemeClr>
                          </a:solidFill>
                          <a:effectLst/>
                          <a:latin typeface="微软雅黑" panose="020B0503020204020204" pitchFamily="34" charset="-122"/>
                          <a:ea typeface="微软雅黑" panose="020B0503020204020204" pitchFamily="34" charset="-122"/>
                          <a:cs typeface="+mn-ea"/>
                        </a:rPr>
                        <a:t>使唇动与伪造音频匹配</a:t>
                      </a:r>
                    </a:p>
                  </a:txBody>
                  <a:tcPr anchor="ctr"/>
                </a:tc>
                <a:extLst>
                  <a:ext uri="{0D108BD9-81ED-4DB2-BD59-A6C34878D82A}">
                    <a16:rowId xmlns:a16="http://schemas.microsoft.com/office/drawing/2014/main" val="2706566553"/>
                  </a:ext>
                </a:extLst>
              </a:tr>
            </a:tbl>
          </a:graphicData>
        </a:graphic>
      </p:graphicFrame>
      <p:pic>
        <p:nvPicPr>
          <p:cNvPr id="12" name="图片 11">
            <a:extLst>
              <a:ext uri="{FF2B5EF4-FFF2-40B4-BE49-F238E27FC236}">
                <a16:creationId xmlns:a16="http://schemas.microsoft.com/office/drawing/2014/main" id="{71265EF1-4098-DD40-4675-B324AC14B81C}"/>
              </a:ext>
            </a:extLst>
          </p:cNvPr>
          <p:cNvPicPr>
            <a:picLocks noChangeAspect="1"/>
          </p:cNvPicPr>
          <p:nvPr/>
        </p:nvPicPr>
        <p:blipFill>
          <a:blip r:embed="rId2"/>
          <a:stretch>
            <a:fillRect/>
          </a:stretch>
        </p:blipFill>
        <p:spPr>
          <a:xfrm>
            <a:off x="8282066" y="1991202"/>
            <a:ext cx="3466925" cy="2780257"/>
          </a:xfrm>
          <a:prstGeom prst="rect">
            <a:avLst/>
          </a:prstGeom>
        </p:spPr>
      </p:pic>
    </p:spTree>
    <p:extLst>
      <p:ext uri="{BB962C8B-B14F-4D97-AF65-F5344CB8AC3E}">
        <p14:creationId xmlns:p14="http://schemas.microsoft.com/office/powerpoint/2010/main" val="168248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E5D90-5ADF-12D6-101C-0607D5B2E63C}"/>
            </a:ext>
          </a:extLst>
        </p:cNvPr>
        <p:cNvGrpSpPr/>
        <p:nvPr/>
      </p:nvGrpSpPr>
      <p:grpSpPr>
        <a:xfrm>
          <a:off x="0" y="0"/>
          <a:ext cx="0" cy="0"/>
          <a:chOff x="0" y="0"/>
          <a:chExt cx="0" cy="0"/>
        </a:xfrm>
      </p:grpSpPr>
      <p:pic>
        <p:nvPicPr>
          <p:cNvPr id="10" name="图片 9">
            <a:extLst>
              <a:ext uri="{FF2B5EF4-FFF2-40B4-BE49-F238E27FC236}">
                <a16:creationId xmlns:a16="http://schemas.microsoft.com/office/drawing/2014/main" id="{5701C079-E8B6-22A8-743D-4C5BAA752507}"/>
              </a:ext>
            </a:extLst>
          </p:cNvPr>
          <p:cNvPicPr>
            <a:picLocks noChangeAspect="1"/>
          </p:cNvPicPr>
          <p:nvPr/>
        </p:nvPicPr>
        <p:blipFill>
          <a:blip r:embed="rId2"/>
          <a:stretch>
            <a:fillRect/>
          </a:stretch>
        </p:blipFill>
        <p:spPr>
          <a:xfrm>
            <a:off x="102410" y="1019222"/>
            <a:ext cx="8939174" cy="4819555"/>
          </a:xfrm>
          <a:prstGeom prst="rect">
            <a:avLst/>
          </a:prstGeom>
        </p:spPr>
      </p:pic>
      <p:sp>
        <p:nvSpPr>
          <p:cNvPr id="2" name="灯片编号占位符 1">
            <a:extLst>
              <a:ext uri="{FF2B5EF4-FFF2-40B4-BE49-F238E27FC236}">
                <a16:creationId xmlns:a16="http://schemas.microsoft.com/office/drawing/2014/main" id="{986724E5-FF96-099A-D647-3A2220996E4F}"/>
              </a:ext>
            </a:extLst>
          </p:cNvPr>
          <p:cNvSpPr>
            <a:spLocks noGrp="1"/>
          </p:cNvSpPr>
          <p:nvPr>
            <p:ph type="sldNum" sz="quarter" idx="4"/>
          </p:nvPr>
        </p:nvSpPr>
        <p:spPr/>
        <p:txBody>
          <a:bodyPr/>
          <a:lstStyle/>
          <a:p>
            <a:r>
              <a:rPr lang="en-US" altLang="zh-CN" dirty="0"/>
              <a:t>&lt; </a:t>
            </a:r>
            <a:fld id="{A548B57D-AE10-4CF7-A9DF-59FEFA91B28E}" type="slidenum">
              <a:rPr lang="zh-CN" altLang="en-US" smtClean="0"/>
              <a:t>14</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1309A457-7E61-86ED-DEBC-48F3C4A824B1}"/>
              </a:ext>
            </a:extLst>
          </p:cNvPr>
          <p:cNvSpPr>
            <a:spLocks noGrp="1"/>
          </p:cNvSpPr>
          <p:nvPr>
            <p:ph type="title"/>
          </p:nvPr>
        </p:nvSpPr>
        <p:spPr/>
        <p:txBody>
          <a:bodyPr>
            <a:noAutofit/>
          </a:bodyPr>
          <a:lstStyle/>
          <a:p>
            <a:r>
              <a:rPr lang="zh-CN" altLang="en-US" spc="0" dirty="0"/>
              <a:t>核心贡献二 </a:t>
            </a:r>
            <a:r>
              <a:rPr lang="en-US" altLang="zh-CN" spc="0" dirty="0"/>
              <a:t>—— R-MFDN </a:t>
            </a:r>
            <a:r>
              <a:rPr lang="zh-CN" altLang="en-US" spc="0" dirty="0"/>
              <a:t>检测网络</a:t>
            </a:r>
          </a:p>
        </p:txBody>
      </p:sp>
      <p:sp>
        <p:nvSpPr>
          <p:cNvPr id="6" name="ModelComp1Content">
            <a:extLst>
              <a:ext uri="{FF2B5EF4-FFF2-40B4-BE49-F238E27FC236}">
                <a16:creationId xmlns:a16="http://schemas.microsoft.com/office/drawing/2014/main" id="{8B6165E1-4BE5-EE46-4165-52EBC9960303}"/>
              </a:ext>
            </a:extLst>
          </p:cNvPr>
          <p:cNvSpPr/>
          <p:nvPr/>
        </p:nvSpPr>
        <p:spPr>
          <a:xfrm>
            <a:off x="8960568" y="1684412"/>
            <a:ext cx="2970522" cy="3489176"/>
          </a:xfrm>
          <a:prstGeom prst="rect">
            <a:avLst/>
          </a:prstGeom>
          <a:solidFill>
            <a:schemeClr val="accent1">
              <a:lumMod val="60000"/>
              <a:lumOff val="40000"/>
              <a:alpha val="10000"/>
            </a:schemeClr>
          </a:solidFill>
          <a:ln w="0">
            <a:noFill/>
          </a:ln>
        </p:spPr>
        <p:style>
          <a:lnRef idx="0">
            <a:scrgbClr r="0" g="0" b="0"/>
          </a:lnRef>
          <a:fillRef idx="0">
            <a:scrgbClr r="0" g="0" b="0"/>
          </a:fillRef>
          <a:effectRef idx="0">
            <a:scrgbClr r="0" g="0" b="0"/>
          </a:effectRef>
          <a:fontRef idx="minor"/>
        </p:style>
        <p:txBody>
          <a:bodyPr wrap="square" lIns="171360" tIns="154440" rIns="171360" bIns="15444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lnSpc>
                <a:spcPct val="15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rPr>
              <a:t>三路编码 </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 </a:t>
            </a:r>
            <a:endPar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a:p>
            <a:pPr defTabSz="457200">
              <a:lnSpc>
                <a:spcPct val="15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渐进式融合 </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 </a:t>
            </a:r>
            <a:endPar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a:p>
            <a:pPr defTabSz="457200">
              <a:lnSpc>
                <a:spcPct val="15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rPr>
              <a:t>两种对比学习</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（跨模态&amp;身份感知）→ </a:t>
            </a:r>
            <a:endPar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a:p>
            <a:pPr defTabSz="457200">
              <a:lnSpc>
                <a:spcPct val="15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rPr>
              <a:t>与参考库做轻量对齐 </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endPar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a:p>
            <a:pPr defTabSz="457200">
              <a:lnSpc>
                <a:spcPct val="15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rPr>
              <a:t>两个分类头</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（真假 + 伪造类型）</a:t>
            </a:r>
          </a:p>
        </p:txBody>
      </p:sp>
    </p:spTree>
    <p:extLst>
      <p:ext uri="{BB962C8B-B14F-4D97-AF65-F5344CB8AC3E}">
        <p14:creationId xmlns:p14="http://schemas.microsoft.com/office/powerpoint/2010/main" val="3250966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3CBC1-51E6-5A8E-3B86-384EF1BC3A4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56C3A8B-CF9D-EC4C-05E4-71CF1B0C437B}"/>
              </a:ext>
            </a:extLst>
          </p:cNvPr>
          <p:cNvSpPr>
            <a:spLocks noGrp="1"/>
          </p:cNvSpPr>
          <p:nvPr>
            <p:ph type="sldNum" sz="quarter" idx="4"/>
          </p:nvPr>
        </p:nvSpPr>
        <p:spPr/>
        <p:txBody>
          <a:bodyPr/>
          <a:lstStyle/>
          <a:p>
            <a:r>
              <a:rPr lang="en-US" altLang="zh-CN" dirty="0"/>
              <a:t>&lt; </a:t>
            </a:r>
            <a:fld id="{A548B57D-AE10-4CF7-A9DF-59FEFA91B28E}" type="slidenum">
              <a:rPr lang="zh-CN" altLang="en-US" smtClean="0"/>
              <a:t>15</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820A3D87-DCB3-DBEE-E262-188E22D9C5F0}"/>
              </a:ext>
            </a:extLst>
          </p:cNvPr>
          <p:cNvSpPr>
            <a:spLocks noGrp="1"/>
          </p:cNvSpPr>
          <p:nvPr>
            <p:ph type="title"/>
          </p:nvPr>
        </p:nvSpPr>
        <p:spPr/>
        <p:txBody>
          <a:bodyPr>
            <a:noAutofit/>
          </a:bodyPr>
          <a:lstStyle/>
          <a:p>
            <a:r>
              <a:rPr lang="en-US" altLang="zh-CN" spc="0" dirty="0"/>
              <a:t>R-MFDN </a:t>
            </a:r>
            <a:r>
              <a:rPr lang="zh-CN" altLang="en-US" spc="0" dirty="0"/>
              <a:t>检测网络 </a:t>
            </a:r>
            <a:r>
              <a:rPr lang="en-US" altLang="zh-CN" spc="0" dirty="0"/>
              <a:t>——</a:t>
            </a:r>
            <a:r>
              <a:rPr lang="zh-CN" altLang="en-US" spc="0" dirty="0"/>
              <a:t> 多模态特征学习</a:t>
            </a:r>
          </a:p>
        </p:txBody>
      </p:sp>
      <p:sp>
        <p:nvSpPr>
          <p:cNvPr id="17" name="文本占位符 3">
            <a:extLst>
              <a:ext uri="{FF2B5EF4-FFF2-40B4-BE49-F238E27FC236}">
                <a16:creationId xmlns:a16="http://schemas.microsoft.com/office/drawing/2014/main" id="{57FFC427-3890-4276-24AC-95E3EB760E7A}"/>
              </a:ext>
            </a:extLst>
          </p:cNvPr>
          <p:cNvSpPr>
            <a:spLocks noGrp="1"/>
          </p:cNvSpPr>
          <p:nvPr>
            <p:ph type="body" sz="quarter" idx="10"/>
          </p:nvPr>
        </p:nvSpPr>
        <p:spPr>
          <a:xfrm>
            <a:off x="570282" y="861087"/>
            <a:ext cx="11255876" cy="5465323"/>
          </a:xfrm>
        </p:spPr>
        <p:txBody>
          <a:bodyPr>
            <a:normAutofit/>
          </a:bodyPr>
          <a:lstStyle/>
          <a:p>
            <a:pPr marL="0" indent="0">
              <a:lnSpc>
                <a:spcPct val="160000"/>
              </a:lnSpc>
              <a:buNone/>
            </a:pPr>
            <a:r>
              <a:rPr lang="zh-CN" altLang="en-US" sz="1800" dirty="0">
                <a:latin typeface="微软雅黑" panose="020B0503020204020204" pitchFamily="34" charset="-122"/>
                <a:ea typeface="微软雅黑" panose="020B0503020204020204" pitchFamily="34" charset="-122"/>
              </a:rPr>
              <a:t>模态编码器：</a:t>
            </a:r>
            <a:r>
              <a:rPr lang="zh-CN" altLang="en-US" sz="1800" b="0" dirty="0">
                <a:latin typeface="微软雅黑" panose="020B0503020204020204" pitchFamily="34" charset="-122"/>
                <a:ea typeface="微软雅黑" panose="020B0503020204020204" pitchFamily="34" charset="-122"/>
              </a:rPr>
              <a:t>负责提取各模态特征</a:t>
            </a:r>
            <a:endParaRPr lang="en-US" altLang="zh-CN" sz="1800" b="0" dirty="0">
              <a:latin typeface="微软雅黑" panose="020B0503020204020204" pitchFamily="34" charset="-122"/>
              <a:ea typeface="微软雅黑" panose="020B0503020204020204" pitchFamily="34" charset="-122"/>
            </a:endParaRPr>
          </a:p>
          <a:p>
            <a:pPr>
              <a:lnSpc>
                <a:spcPct val="160000"/>
              </a:lnSpc>
            </a:pPr>
            <a:r>
              <a:rPr lang="zh-CN" altLang="en-US" sz="1800" dirty="0">
                <a:latin typeface="微软雅黑" panose="020B0503020204020204" pitchFamily="34" charset="-122"/>
                <a:ea typeface="微软雅黑" panose="020B0503020204020204" pitchFamily="34" charset="-122"/>
              </a:rPr>
              <a:t>视觉编码器：</a:t>
            </a:r>
            <a:r>
              <a:rPr lang="zh-CN" altLang="en-US" sz="1800" b="0" dirty="0">
                <a:latin typeface="微软雅黑" panose="020B0503020204020204" pitchFamily="34" charset="-122"/>
                <a:ea typeface="微软雅黑" panose="020B0503020204020204" pitchFamily="34" charset="-122"/>
              </a:rPr>
              <a:t>采用 “帧采样 </a:t>
            </a:r>
            <a:r>
              <a:rPr lang="en-US" altLang="zh-CN" sz="1800" b="0" dirty="0">
                <a:latin typeface="微软雅黑" panose="020B0503020204020204" pitchFamily="34" charset="-122"/>
                <a:ea typeface="微软雅黑" panose="020B0503020204020204" pitchFamily="34" charset="-122"/>
              </a:rPr>
              <a:t>+ Transformer”</a:t>
            </a:r>
            <a:r>
              <a:rPr lang="zh-CN" altLang="en-US" sz="1800" b="0" dirty="0">
                <a:latin typeface="微软雅黑" panose="020B0503020204020204" pitchFamily="34" charset="-122"/>
                <a:ea typeface="微软雅黑" panose="020B0503020204020204" pitchFamily="34" charset="-122"/>
              </a:rPr>
              <a:t>，将视频分为 </a:t>
            </a:r>
            <a:r>
              <a:rPr lang="en-US" altLang="zh-CN" sz="1800" b="0" dirty="0">
                <a:latin typeface="微软雅黑" panose="020B0503020204020204" pitchFamily="34" charset="-122"/>
                <a:ea typeface="微软雅黑" panose="020B0503020204020204" pitchFamily="34" charset="-122"/>
              </a:rPr>
              <a:t>n </a:t>
            </a:r>
            <a:r>
              <a:rPr lang="zh-CN" altLang="en-US" sz="1800" b="0" dirty="0">
                <a:latin typeface="微软雅黑" panose="020B0503020204020204" pitchFamily="34" charset="-122"/>
                <a:ea typeface="微软雅黑" panose="020B0503020204020204" pitchFamily="34" charset="-122"/>
              </a:rPr>
              <a:t>组帧，每组提取帧特征后经 </a:t>
            </a:r>
            <a:r>
              <a:rPr lang="en-US" altLang="zh-CN" sz="1800" b="0" dirty="0">
                <a:latin typeface="微软雅黑" panose="020B0503020204020204" pitchFamily="34" charset="-122"/>
                <a:ea typeface="微软雅黑" panose="020B0503020204020204" pitchFamily="34" charset="-122"/>
              </a:rPr>
              <a:t>Transformer </a:t>
            </a:r>
            <a:r>
              <a:rPr lang="zh-CN" altLang="en-US" sz="1800" b="0" dirty="0">
                <a:latin typeface="微软雅黑" panose="020B0503020204020204" pitchFamily="34" charset="-122"/>
                <a:ea typeface="微软雅黑" panose="020B0503020204020204" pitchFamily="34" charset="-122"/>
              </a:rPr>
              <a:t>得到组特征，再平均池化为片段级特征（</a:t>
            </a:r>
            <a:r>
              <a:rPr lang="en-US" altLang="zh-CN" sz="1800" b="0" dirty="0" err="1">
                <a:latin typeface="微软雅黑" panose="020B0503020204020204" pitchFamily="34" charset="-122"/>
                <a:ea typeface="微软雅黑" panose="020B0503020204020204" pitchFamily="34" charset="-122"/>
              </a:rPr>
              <a:t>fv</a:t>
            </a:r>
            <a:r>
              <a:rPr lang="zh-CN" altLang="en-US" sz="1800" b="0" dirty="0">
                <a:latin typeface="微软雅黑" panose="020B0503020204020204" pitchFamily="34" charset="-122"/>
                <a:ea typeface="微软雅黑" panose="020B0503020204020204" pitchFamily="34" charset="-122"/>
              </a:rPr>
              <a:t>）。这样能捕捉“时序不一致”导致的伪迹（比如口型节奏怪异）；</a:t>
            </a:r>
          </a:p>
          <a:p>
            <a:pPr>
              <a:lnSpc>
                <a:spcPct val="160000"/>
              </a:lnSpc>
            </a:pPr>
            <a:r>
              <a:rPr lang="zh-CN" altLang="en-US" sz="1800" dirty="0">
                <a:latin typeface="微软雅黑" panose="020B0503020204020204" pitchFamily="34" charset="-122"/>
                <a:ea typeface="微软雅黑" panose="020B0503020204020204" pitchFamily="34" charset="-122"/>
              </a:rPr>
              <a:t>音频编码器：</a:t>
            </a:r>
            <a:r>
              <a:rPr lang="zh-CN" altLang="en-US" sz="1800" b="0" dirty="0">
                <a:latin typeface="微软雅黑" panose="020B0503020204020204" pitchFamily="34" charset="-122"/>
                <a:ea typeface="微软雅黑" panose="020B0503020204020204" pitchFamily="34" charset="-122"/>
              </a:rPr>
              <a:t>基于 </a:t>
            </a:r>
            <a:r>
              <a:rPr lang="en-US" altLang="zh-CN" sz="1800" b="0" dirty="0">
                <a:latin typeface="微软雅黑" panose="020B0503020204020204" pitchFamily="34" charset="-122"/>
                <a:ea typeface="微软雅黑" panose="020B0503020204020204" pitchFamily="34" charset="-122"/>
              </a:rPr>
              <a:t>AST</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Audio Spectrogram Transformer</a:t>
            </a:r>
            <a:r>
              <a:rPr lang="zh-CN" altLang="en-US" sz="1800" b="0" dirty="0">
                <a:latin typeface="微软雅黑" panose="020B0503020204020204" pitchFamily="34" charset="-122"/>
                <a:ea typeface="微软雅黑" panose="020B0503020204020204" pitchFamily="34" charset="-122"/>
              </a:rPr>
              <a:t>），将音频转为梅尔谱图并分割为补丁，经 </a:t>
            </a:r>
            <a:r>
              <a:rPr lang="en-US" altLang="zh-CN" sz="1800" b="0" dirty="0">
                <a:latin typeface="微软雅黑" panose="020B0503020204020204" pitchFamily="34" charset="-122"/>
                <a:ea typeface="微软雅黑" panose="020B0503020204020204" pitchFamily="34" charset="-122"/>
              </a:rPr>
              <a:t>Transformer </a:t>
            </a:r>
            <a:r>
              <a:rPr lang="zh-CN" altLang="en-US" sz="1800" b="0" dirty="0">
                <a:latin typeface="微软雅黑" panose="020B0503020204020204" pitchFamily="34" charset="-122"/>
                <a:ea typeface="微软雅黑" panose="020B0503020204020204" pitchFamily="34" charset="-122"/>
              </a:rPr>
              <a:t>提取音频特征（</a:t>
            </a:r>
            <a:r>
              <a:rPr lang="en-US" altLang="zh-CN" sz="1800" b="0" dirty="0">
                <a:latin typeface="微软雅黑" panose="020B0503020204020204" pitchFamily="34" charset="-122"/>
                <a:ea typeface="微软雅黑" panose="020B0503020204020204" pitchFamily="34" charset="-122"/>
              </a:rPr>
              <a:t>fa</a:t>
            </a:r>
            <a:r>
              <a:rPr lang="zh-CN" altLang="en-US" sz="1800" b="0" dirty="0">
                <a:latin typeface="微软雅黑" panose="020B0503020204020204" pitchFamily="34" charset="-122"/>
                <a:ea typeface="微软雅黑" panose="020B0503020204020204" pitchFamily="34" charset="-122"/>
              </a:rPr>
              <a:t>）；</a:t>
            </a:r>
          </a:p>
          <a:p>
            <a:pPr>
              <a:lnSpc>
                <a:spcPct val="160000"/>
              </a:lnSpc>
            </a:pPr>
            <a:r>
              <a:rPr lang="zh-CN" altLang="en-US" sz="1800" dirty="0">
                <a:latin typeface="微软雅黑" panose="020B0503020204020204" pitchFamily="34" charset="-122"/>
                <a:ea typeface="微软雅黑" panose="020B0503020204020204" pitchFamily="34" charset="-122"/>
              </a:rPr>
              <a:t>文本编码器：</a:t>
            </a:r>
            <a:r>
              <a:rPr lang="zh-CN" altLang="en-US" sz="1800" b="0" dirty="0">
                <a:latin typeface="微软雅黑" panose="020B0503020204020204" pitchFamily="34" charset="-122"/>
                <a:ea typeface="微软雅黑" panose="020B0503020204020204" pitchFamily="34" charset="-122"/>
              </a:rPr>
              <a:t>使用 </a:t>
            </a:r>
            <a:r>
              <a:rPr lang="en-US" altLang="zh-CN" sz="1800" b="0" dirty="0">
                <a:latin typeface="微软雅黑" panose="020B0503020204020204" pitchFamily="34" charset="-122"/>
                <a:ea typeface="微软雅黑" panose="020B0503020204020204" pitchFamily="34" charset="-122"/>
              </a:rPr>
              <a:t>BERT </a:t>
            </a:r>
            <a:r>
              <a:rPr lang="zh-CN" altLang="en-US" sz="1800" b="0" dirty="0">
                <a:latin typeface="微软雅黑" panose="020B0503020204020204" pitchFamily="34" charset="-122"/>
                <a:ea typeface="微软雅黑" panose="020B0503020204020204" pitchFamily="34" charset="-122"/>
              </a:rPr>
              <a:t>模型，将 </a:t>
            </a:r>
            <a:r>
              <a:rPr lang="en-US" altLang="zh-CN" sz="1800" b="0" dirty="0">
                <a:latin typeface="微软雅黑" panose="020B0503020204020204" pitchFamily="34" charset="-122"/>
                <a:ea typeface="微软雅黑" panose="020B0503020204020204" pitchFamily="34" charset="-122"/>
              </a:rPr>
              <a:t>transcript </a:t>
            </a:r>
            <a:r>
              <a:rPr lang="zh-CN" altLang="en-US" sz="1800" b="0" dirty="0">
                <a:latin typeface="微软雅黑" panose="020B0503020204020204" pitchFamily="34" charset="-122"/>
                <a:ea typeface="微软雅黑" panose="020B0503020204020204" pitchFamily="34" charset="-122"/>
              </a:rPr>
              <a:t>转为 </a:t>
            </a:r>
            <a:r>
              <a:rPr lang="en-US" altLang="zh-CN" sz="1800" b="0" dirty="0">
                <a:latin typeface="微软雅黑" panose="020B0503020204020204" pitchFamily="34" charset="-122"/>
                <a:ea typeface="微软雅黑" panose="020B0503020204020204" pitchFamily="34" charset="-122"/>
              </a:rPr>
              <a:t>tokens </a:t>
            </a:r>
            <a:r>
              <a:rPr lang="zh-CN" altLang="en-US" sz="1800" b="0" dirty="0">
                <a:latin typeface="微软雅黑" panose="020B0503020204020204" pitchFamily="34" charset="-122"/>
                <a:ea typeface="微软雅黑" panose="020B0503020204020204" pitchFamily="34" charset="-122"/>
              </a:rPr>
              <a:t>后提取文本特征（</a:t>
            </a:r>
            <a:r>
              <a:rPr lang="en-US" altLang="zh-CN" sz="1800" b="0" dirty="0">
                <a:latin typeface="微软雅黑" panose="020B0503020204020204" pitchFamily="34" charset="-122"/>
                <a:ea typeface="微软雅黑" panose="020B0503020204020204" pitchFamily="34" charset="-122"/>
              </a:rPr>
              <a:t>ft</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marL="0" indent="0">
              <a:lnSpc>
                <a:spcPct val="160000"/>
              </a:lnSpc>
              <a:buNone/>
            </a:pPr>
            <a:r>
              <a:rPr lang="zh-CN" altLang="en-US" sz="1800" dirty="0">
                <a:latin typeface="微软雅黑" panose="020B0503020204020204" pitchFamily="34" charset="-122"/>
                <a:ea typeface="微软雅黑" panose="020B0503020204020204" pitchFamily="34" charset="-122"/>
              </a:rPr>
              <a:t>多模态特征融合：</a:t>
            </a:r>
            <a:r>
              <a:rPr lang="zh-CN" altLang="en-US" sz="1800" b="0" dirty="0">
                <a:latin typeface="微软雅黑" panose="020B0503020204020204" pitchFamily="34" charset="-122"/>
                <a:ea typeface="微软雅黑" panose="020B0503020204020204" pitchFamily="34" charset="-122"/>
              </a:rPr>
              <a:t>渐进式融合策略</a:t>
            </a:r>
            <a:endParaRPr lang="en-US" altLang="zh-CN" sz="1800" b="0" dirty="0">
              <a:latin typeface="微软雅黑" panose="020B0503020204020204" pitchFamily="34" charset="-122"/>
              <a:ea typeface="微软雅黑" panose="020B0503020204020204" pitchFamily="34" charset="-122"/>
            </a:endParaRPr>
          </a:p>
          <a:p>
            <a:pPr>
              <a:lnSpc>
                <a:spcPct val="160000"/>
              </a:lnSpc>
            </a:pPr>
            <a:r>
              <a:rPr lang="zh-CN" altLang="en-US" sz="1800" b="0" dirty="0">
                <a:latin typeface="微软雅黑" panose="020B0503020204020204" pitchFamily="34" charset="-122"/>
                <a:ea typeface="微软雅黑" panose="020B0503020204020204" pitchFamily="34" charset="-122"/>
              </a:rPr>
              <a:t>先对音频、文本特征分别进行</a:t>
            </a:r>
            <a:r>
              <a:rPr lang="zh-CN" altLang="en-US" sz="1800" dirty="0">
                <a:latin typeface="微软雅黑" panose="020B0503020204020204" pitchFamily="34" charset="-122"/>
                <a:ea typeface="微软雅黑" panose="020B0503020204020204" pitchFamily="34" charset="-122"/>
              </a:rPr>
              <a:t>自注意力（</a:t>
            </a:r>
            <a:r>
              <a:rPr lang="en-US" altLang="zh-CN" sz="1800" dirty="0">
                <a:latin typeface="微软雅黑" panose="020B0503020204020204" pitchFamily="34" charset="-122"/>
                <a:ea typeface="微软雅黑" panose="020B0503020204020204" pitchFamily="34" charset="-122"/>
              </a:rPr>
              <a:t>SA</a:t>
            </a:r>
            <a:r>
              <a:rPr lang="zh-CN" altLang="en-US" sz="180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优化：</a:t>
            </a:r>
            <a:endParaRPr lang="en-US" altLang="zh-CN" sz="1800" b="0" dirty="0">
              <a:latin typeface="微软雅黑" panose="020B0503020204020204" pitchFamily="34" charset="-122"/>
              <a:ea typeface="微软雅黑" panose="020B0503020204020204" pitchFamily="34" charset="-122"/>
            </a:endParaRPr>
          </a:p>
          <a:p>
            <a:pPr>
              <a:lnSpc>
                <a:spcPct val="160000"/>
              </a:lnSpc>
            </a:pPr>
            <a:r>
              <a:rPr lang="zh-CN" altLang="en-US" sz="1800" b="0" dirty="0">
                <a:latin typeface="微软雅黑" panose="020B0503020204020204" pitchFamily="34" charset="-122"/>
                <a:ea typeface="微软雅黑" panose="020B0503020204020204" pitchFamily="34" charset="-122"/>
              </a:rPr>
              <a:t>以文本为查询、音频为键</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值通过</a:t>
            </a:r>
            <a:r>
              <a:rPr lang="zh-CN" altLang="en-US" sz="1800" dirty="0">
                <a:latin typeface="微软雅黑" panose="020B0503020204020204" pitchFamily="34" charset="-122"/>
                <a:ea typeface="微软雅黑" panose="020B0503020204020204" pitchFamily="34" charset="-122"/>
              </a:rPr>
              <a:t>交叉注意力</a:t>
            </a:r>
            <a:r>
              <a:rPr lang="zh-CN" altLang="en-US" sz="1800" b="0" dirty="0">
                <a:latin typeface="微软雅黑" panose="020B0503020204020204" pitchFamily="34" charset="-122"/>
                <a:ea typeface="微软雅黑" panose="020B0503020204020204" pitchFamily="34" charset="-122"/>
              </a:rPr>
              <a:t>，得到“文</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音对齐后”的特征：</a:t>
            </a:r>
          </a:p>
          <a:p>
            <a:pPr>
              <a:lnSpc>
                <a:spcPct val="160000"/>
              </a:lnSpc>
            </a:pPr>
            <a:r>
              <a:rPr lang="zh-CN" altLang="en-US" sz="1800" b="0" dirty="0">
                <a:latin typeface="微软雅黑" panose="020B0503020204020204" pitchFamily="34" charset="-122"/>
                <a:ea typeface="微软雅黑" panose="020B0503020204020204" pitchFamily="34" charset="-122"/>
              </a:rPr>
              <a:t>再把该特征经过前馈层后，以它为查询、视觉为键</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值通过</a:t>
            </a:r>
            <a:r>
              <a:rPr lang="zh-CN" altLang="en-US" sz="1800" dirty="0">
                <a:latin typeface="微软雅黑" panose="020B0503020204020204" pitchFamily="34" charset="-122"/>
                <a:ea typeface="微软雅黑" panose="020B0503020204020204" pitchFamily="34" charset="-122"/>
              </a:rPr>
              <a:t>交叉注意力</a:t>
            </a:r>
            <a:r>
              <a:rPr lang="zh-CN" altLang="en-US" sz="1800" b="0" dirty="0">
                <a:latin typeface="微软雅黑" panose="020B0503020204020204" pitchFamily="34" charset="-122"/>
                <a:ea typeface="微软雅黑" panose="020B0503020204020204" pitchFamily="34" charset="-122"/>
              </a:rPr>
              <a:t>，得到最终的多模态特征。</a:t>
            </a:r>
          </a:p>
        </p:txBody>
      </p:sp>
      <p:pic>
        <p:nvPicPr>
          <p:cNvPr id="7" name="图片 6">
            <a:extLst>
              <a:ext uri="{FF2B5EF4-FFF2-40B4-BE49-F238E27FC236}">
                <a16:creationId xmlns:a16="http://schemas.microsoft.com/office/drawing/2014/main" id="{5F3FF365-CF5A-0F2C-C7B1-462C737B3E87}"/>
              </a:ext>
            </a:extLst>
          </p:cNvPr>
          <p:cNvPicPr>
            <a:picLocks noChangeAspect="1"/>
          </p:cNvPicPr>
          <p:nvPr/>
        </p:nvPicPr>
        <p:blipFill>
          <a:blip r:embed="rId2"/>
          <a:stretch>
            <a:fillRect/>
          </a:stretch>
        </p:blipFill>
        <p:spPr>
          <a:xfrm>
            <a:off x="6146501" y="4721594"/>
            <a:ext cx="4230890" cy="451041"/>
          </a:xfrm>
          <a:prstGeom prst="rect">
            <a:avLst/>
          </a:prstGeom>
        </p:spPr>
      </p:pic>
      <p:pic>
        <p:nvPicPr>
          <p:cNvPr id="9" name="图片 8">
            <a:extLst>
              <a:ext uri="{FF2B5EF4-FFF2-40B4-BE49-F238E27FC236}">
                <a16:creationId xmlns:a16="http://schemas.microsoft.com/office/drawing/2014/main" id="{1D506C71-F2FE-4759-2232-A8A7673A1CC2}"/>
              </a:ext>
            </a:extLst>
          </p:cNvPr>
          <p:cNvPicPr>
            <a:picLocks noChangeAspect="1"/>
          </p:cNvPicPr>
          <p:nvPr/>
        </p:nvPicPr>
        <p:blipFill>
          <a:blip r:embed="rId3"/>
          <a:stretch>
            <a:fillRect/>
          </a:stretch>
        </p:blipFill>
        <p:spPr>
          <a:xfrm>
            <a:off x="8656819" y="5300538"/>
            <a:ext cx="2556441" cy="423596"/>
          </a:xfrm>
          <a:prstGeom prst="rect">
            <a:avLst/>
          </a:prstGeom>
        </p:spPr>
      </p:pic>
      <p:pic>
        <p:nvPicPr>
          <p:cNvPr id="11" name="图片 10">
            <a:extLst>
              <a:ext uri="{FF2B5EF4-FFF2-40B4-BE49-F238E27FC236}">
                <a16:creationId xmlns:a16="http://schemas.microsoft.com/office/drawing/2014/main" id="{7FEB6341-A981-27C3-DAF1-9A0111E2B2F2}"/>
              </a:ext>
            </a:extLst>
          </p:cNvPr>
          <p:cNvPicPr>
            <a:picLocks noChangeAspect="1"/>
          </p:cNvPicPr>
          <p:nvPr/>
        </p:nvPicPr>
        <p:blipFill>
          <a:blip r:embed="rId4"/>
          <a:stretch>
            <a:fillRect/>
          </a:stretch>
        </p:blipFill>
        <p:spPr>
          <a:xfrm>
            <a:off x="6146501" y="6301087"/>
            <a:ext cx="3438693" cy="458493"/>
          </a:xfrm>
          <a:prstGeom prst="rect">
            <a:avLst/>
          </a:prstGeom>
        </p:spPr>
      </p:pic>
    </p:spTree>
    <p:extLst>
      <p:ext uri="{BB962C8B-B14F-4D97-AF65-F5344CB8AC3E}">
        <p14:creationId xmlns:p14="http://schemas.microsoft.com/office/powerpoint/2010/main" val="1652921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25ADE-6C71-2FE3-F56B-443CA24C16E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BBB9B4F-7933-CAD9-7A67-14C87D2BD3E5}"/>
              </a:ext>
            </a:extLst>
          </p:cNvPr>
          <p:cNvSpPr>
            <a:spLocks noGrp="1"/>
          </p:cNvSpPr>
          <p:nvPr>
            <p:ph type="sldNum" sz="quarter" idx="4"/>
          </p:nvPr>
        </p:nvSpPr>
        <p:spPr/>
        <p:txBody>
          <a:bodyPr/>
          <a:lstStyle/>
          <a:p>
            <a:r>
              <a:rPr lang="en-US" altLang="zh-CN" dirty="0"/>
              <a:t>&lt; </a:t>
            </a:r>
            <a:fld id="{A548B57D-AE10-4CF7-A9DF-59FEFA91B28E}" type="slidenum">
              <a:rPr lang="zh-CN" altLang="en-US" smtClean="0"/>
              <a:t>16</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C88D932A-9FA4-EB4D-55D5-FFA5A0CC35D1}"/>
              </a:ext>
            </a:extLst>
          </p:cNvPr>
          <p:cNvSpPr>
            <a:spLocks noGrp="1"/>
          </p:cNvSpPr>
          <p:nvPr>
            <p:ph type="title"/>
          </p:nvPr>
        </p:nvSpPr>
        <p:spPr/>
        <p:txBody>
          <a:bodyPr>
            <a:noAutofit/>
          </a:bodyPr>
          <a:lstStyle/>
          <a:p>
            <a:r>
              <a:rPr lang="en-US" altLang="zh-CN" spc="0" dirty="0"/>
              <a:t>R-MFDN </a:t>
            </a:r>
            <a:r>
              <a:rPr lang="zh-CN" altLang="en-US" spc="0" dirty="0"/>
              <a:t>检测网络 </a:t>
            </a:r>
            <a:r>
              <a:rPr lang="en-US" altLang="zh-CN" spc="0" dirty="0"/>
              <a:t>—— </a:t>
            </a:r>
            <a:r>
              <a:rPr lang="zh-CN" altLang="en-US" spc="0" dirty="0"/>
              <a:t>对比学习机制</a:t>
            </a:r>
          </a:p>
        </p:txBody>
      </p:sp>
      <p:sp>
        <p:nvSpPr>
          <p:cNvPr id="17" name="文本占位符 3">
            <a:extLst>
              <a:ext uri="{FF2B5EF4-FFF2-40B4-BE49-F238E27FC236}">
                <a16:creationId xmlns:a16="http://schemas.microsoft.com/office/drawing/2014/main" id="{9121E704-999D-4AFD-F5B9-2D2ADAF72C7F}"/>
              </a:ext>
            </a:extLst>
          </p:cNvPr>
          <p:cNvSpPr>
            <a:spLocks noGrp="1"/>
          </p:cNvSpPr>
          <p:nvPr>
            <p:ph type="body" sz="quarter" idx="10"/>
          </p:nvPr>
        </p:nvSpPr>
        <p:spPr>
          <a:xfrm>
            <a:off x="570282" y="861087"/>
            <a:ext cx="11255876" cy="5465323"/>
          </a:xfrm>
        </p:spPr>
        <p:txBody>
          <a:bodyPr>
            <a:normAutofit lnSpcReduction="10000"/>
          </a:bodyPr>
          <a:lstStyle/>
          <a:p>
            <a:pPr marL="0" indent="0">
              <a:lnSpc>
                <a:spcPct val="160000"/>
              </a:lnSpc>
              <a:buNone/>
            </a:pPr>
            <a:r>
              <a:rPr lang="zh-CN" altLang="en-US" dirty="0">
                <a:latin typeface="微软雅黑" panose="020B0503020204020204" pitchFamily="34" charset="-122"/>
                <a:ea typeface="微软雅黑" panose="020B0503020204020204" pitchFamily="34" charset="-122"/>
              </a:rPr>
              <a:t>身份感知对比学习：</a:t>
            </a:r>
            <a:r>
              <a:rPr lang="zh-CN" altLang="en-US" b="0" dirty="0">
                <a:latin typeface="微软雅黑" panose="020B0503020204020204" pitchFamily="34" charset="-122"/>
                <a:ea typeface="微软雅黑" panose="020B0503020204020204" pitchFamily="34" charset="-122"/>
              </a:rPr>
              <a:t>利用参考集身份信息</a:t>
            </a:r>
            <a:endParaRPr lang="en-US" altLang="zh-CN" b="0" dirty="0">
              <a:latin typeface="微软雅黑" panose="020B0503020204020204" pitchFamily="34" charset="-122"/>
              <a:ea typeface="微软雅黑" panose="020B0503020204020204" pitchFamily="34" charset="-122"/>
            </a:endParaRPr>
          </a:p>
          <a:p>
            <a:pPr>
              <a:lnSpc>
                <a:spcPct val="160000"/>
              </a:lnSpc>
            </a:pPr>
            <a:r>
              <a:rPr lang="zh-CN" altLang="en-US" dirty="0">
                <a:latin typeface="微软雅黑" panose="020B0503020204020204" pitchFamily="34" charset="-122"/>
                <a:ea typeface="微软雅黑" panose="020B0503020204020204" pitchFamily="34" charset="-122"/>
              </a:rPr>
              <a:t>目的：</a:t>
            </a:r>
            <a:r>
              <a:rPr lang="zh-CN" altLang="en-US" b="0" dirty="0">
                <a:latin typeface="微软雅黑" panose="020B0503020204020204" pitchFamily="34" charset="-122"/>
                <a:ea typeface="微软雅黑" panose="020B0503020204020204" pitchFamily="34" charset="-122"/>
              </a:rPr>
              <a:t>让同身份（参考集真实样本与训练集真实样本）特征距离更近，异身份 </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伪造样本特征距离更远；</a:t>
            </a:r>
            <a:endParaRPr lang="en-US" altLang="zh-CN" b="0" dirty="0">
              <a:latin typeface="微软雅黑" panose="020B0503020204020204" pitchFamily="34" charset="-122"/>
              <a:ea typeface="微软雅黑" panose="020B0503020204020204" pitchFamily="34" charset="-122"/>
            </a:endParaRPr>
          </a:p>
          <a:p>
            <a:pPr>
              <a:lnSpc>
                <a:spcPct val="160000"/>
              </a:lnSpc>
            </a:pPr>
            <a:r>
              <a:rPr lang="zh-CN" altLang="en-US" dirty="0">
                <a:latin typeface="微软雅黑" panose="020B0503020204020204" pitchFamily="34" charset="-122"/>
                <a:ea typeface="微软雅黑" panose="020B0503020204020204" pitchFamily="34" charset="-122"/>
              </a:rPr>
              <a:t>实现：</a:t>
            </a:r>
            <a:r>
              <a:rPr lang="zh-CN" altLang="en-US" b="0" dirty="0">
                <a:latin typeface="微软雅黑" panose="020B0503020204020204" pitchFamily="34" charset="-122"/>
                <a:ea typeface="微软雅黑" panose="020B0503020204020204" pitchFamily="34" charset="-122"/>
              </a:rPr>
              <a:t>采用 </a:t>
            </a:r>
            <a:r>
              <a:rPr lang="en-US" altLang="zh-CN" b="0" dirty="0" err="1">
                <a:latin typeface="微软雅黑" panose="020B0503020204020204" pitchFamily="34" charset="-122"/>
                <a:ea typeface="微软雅黑" panose="020B0503020204020204" pitchFamily="34" charset="-122"/>
              </a:rPr>
              <a:t>InfoNCE</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损失，正样本为参考集中同身份片段，负样本为参考集异身份片段或训练集伪造片段，损失公式：</a:t>
            </a:r>
          </a:p>
          <a:p>
            <a:pPr marL="0" indent="0">
              <a:lnSpc>
                <a:spcPct val="160000"/>
              </a:lnSpc>
              <a:buNone/>
            </a:pPr>
            <a:r>
              <a:rPr lang="zh-CN" altLang="en-US" dirty="0">
                <a:latin typeface="微软雅黑" panose="020B0503020204020204" pitchFamily="34" charset="-122"/>
                <a:ea typeface="微软雅黑" panose="020B0503020204020204" pitchFamily="34" charset="-122"/>
              </a:rPr>
              <a:t>跨模态对比学习：</a:t>
            </a:r>
            <a:r>
              <a:rPr lang="zh-CN" altLang="en-US" b="0" dirty="0">
                <a:latin typeface="微软雅黑" panose="020B0503020204020204" pitchFamily="34" charset="-122"/>
                <a:ea typeface="微软雅黑" panose="020B0503020204020204" pitchFamily="34" charset="-122"/>
              </a:rPr>
              <a:t>挖掘模态间不一致性</a:t>
            </a:r>
            <a:endParaRPr lang="en-US" altLang="zh-CN" b="0" dirty="0">
              <a:latin typeface="微软雅黑" panose="020B0503020204020204" pitchFamily="34" charset="-122"/>
              <a:ea typeface="微软雅黑" panose="020B0503020204020204" pitchFamily="34" charset="-122"/>
            </a:endParaRPr>
          </a:p>
          <a:p>
            <a:pPr>
              <a:lnSpc>
                <a:spcPct val="160000"/>
              </a:lnSpc>
            </a:pPr>
            <a:r>
              <a:rPr lang="zh-CN" altLang="en-US" dirty="0">
                <a:latin typeface="微软雅黑" panose="020B0503020204020204" pitchFamily="34" charset="-122"/>
                <a:ea typeface="微软雅黑" panose="020B0503020204020204" pitchFamily="34" charset="-122"/>
              </a:rPr>
              <a:t>目的：</a:t>
            </a:r>
            <a:r>
              <a:rPr lang="zh-CN" altLang="en-US" b="0" dirty="0">
                <a:latin typeface="微软雅黑" panose="020B0503020204020204" pitchFamily="34" charset="-122"/>
                <a:ea typeface="微软雅黑" panose="020B0503020204020204" pitchFamily="34" charset="-122"/>
              </a:rPr>
              <a:t>让真实样本的跨模态（如音频 </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视觉、文本 </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音频）特征距离更近，伪造样本（模态易不一致，如唇动与音频不同步）距离更远；</a:t>
            </a:r>
            <a:endParaRPr lang="en-US" altLang="zh-CN" b="0" dirty="0">
              <a:latin typeface="微软雅黑" panose="020B0503020204020204" pitchFamily="34" charset="-122"/>
              <a:ea typeface="微软雅黑" panose="020B0503020204020204" pitchFamily="34" charset="-122"/>
            </a:endParaRPr>
          </a:p>
          <a:p>
            <a:pPr>
              <a:lnSpc>
                <a:spcPct val="160000"/>
              </a:lnSpc>
            </a:pPr>
            <a:r>
              <a:rPr lang="zh-CN" altLang="en-US" dirty="0">
                <a:latin typeface="微软雅黑" panose="020B0503020204020204" pitchFamily="34" charset="-122"/>
                <a:ea typeface="微软雅黑" panose="020B0503020204020204" pitchFamily="34" charset="-122"/>
              </a:rPr>
              <a:t>实现：</a:t>
            </a:r>
            <a:r>
              <a:rPr lang="zh-CN" altLang="en-US" b="0" dirty="0">
                <a:latin typeface="微软雅黑" panose="020B0503020204020204" pitchFamily="34" charset="-122"/>
                <a:ea typeface="微软雅黑" panose="020B0503020204020204" pitchFamily="34" charset="-122"/>
              </a:rPr>
              <a:t>同样采用 </a:t>
            </a:r>
            <a:r>
              <a:rPr lang="en-US" altLang="zh-CN" b="0" dirty="0" err="1">
                <a:latin typeface="微软雅黑" panose="020B0503020204020204" pitchFamily="34" charset="-122"/>
                <a:ea typeface="微软雅黑" panose="020B0503020204020204" pitchFamily="34" charset="-122"/>
              </a:rPr>
              <a:t>InfoNCE</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损失，正样本为同真实片段的不同模态特征，负样本为不同片段 </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伪造片段的模态特征，损失公式：</a:t>
            </a:r>
            <a:endParaRPr lang="en-US" altLang="zh-CN" b="0"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E181123B-C651-BC7A-553F-D1D13D26D557}"/>
              </a:ext>
            </a:extLst>
          </p:cNvPr>
          <p:cNvPicPr>
            <a:picLocks noChangeAspect="1"/>
          </p:cNvPicPr>
          <p:nvPr/>
        </p:nvPicPr>
        <p:blipFill>
          <a:blip r:embed="rId2"/>
          <a:stretch>
            <a:fillRect/>
          </a:stretch>
        </p:blipFill>
        <p:spPr>
          <a:xfrm>
            <a:off x="4213555" y="5753015"/>
            <a:ext cx="2829686" cy="779914"/>
          </a:xfrm>
          <a:prstGeom prst="rect">
            <a:avLst/>
          </a:prstGeom>
        </p:spPr>
      </p:pic>
      <p:pic>
        <p:nvPicPr>
          <p:cNvPr id="8" name="图片 7">
            <a:extLst>
              <a:ext uri="{FF2B5EF4-FFF2-40B4-BE49-F238E27FC236}">
                <a16:creationId xmlns:a16="http://schemas.microsoft.com/office/drawing/2014/main" id="{3C7529A0-E709-4571-59AA-3CE19ECF784E}"/>
              </a:ext>
            </a:extLst>
          </p:cNvPr>
          <p:cNvPicPr>
            <a:picLocks noChangeAspect="1"/>
          </p:cNvPicPr>
          <p:nvPr/>
        </p:nvPicPr>
        <p:blipFill>
          <a:blip r:embed="rId3"/>
          <a:stretch>
            <a:fillRect/>
          </a:stretch>
        </p:blipFill>
        <p:spPr>
          <a:xfrm>
            <a:off x="3437163" y="3039042"/>
            <a:ext cx="3068350" cy="779915"/>
          </a:xfrm>
          <a:prstGeom prst="rect">
            <a:avLst/>
          </a:prstGeom>
        </p:spPr>
      </p:pic>
    </p:spTree>
    <p:extLst>
      <p:ext uri="{BB962C8B-B14F-4D97-AF65-F5344CB8AC3E}">
        <p14:creationId xmlns:p14="http://schemas.microsoft.com/office/powerpoint/2010/main" val="4290489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DCC31-6FBD-6671-8D3F-14C758B06AD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3EB6B5A-E27B-3E91-8914-3A3770B0E321}"/>
              </a:ext>
            </a:extLst>
          </p:cNvPr>
          <p:cNvSpPr>
            <a:spLocks noGrp="1"/>
          </p:cNvSpPr>
          <p:nvPr>
            <p:ph type="sldNum" sz="quarter" idx="4"/>
          </p:nvPr>
        </p:nvSpPr>
        <p:spPr/>
        <p:txBody>
          <a:bodyPr/>
          <a:lstStyle/>
          <a:p>
            <a:r>
              <a:rPr lang="en-US" altLang="zh-CN" dirty="0"/>
              <a:t>&lt; </a:t>
            </a:r>
            <a:fld id="{A548B57D-AE10-4CF7-A9DF-59FEFA91B28E}" type="slidenum">
              <a:rPr lang="zh-CN" altLang="en-US" smtClean="0"/>
              <a:t>17</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D4080AB8-D862-28E6-EC9C-2F95F17C84D8}"/>
              </a:ext>
            </a:extLst>
          </p:cNvPr>
          <p:cNvSpPr>
            <a:spLocks noGrp="1"/>
          </p:cNvSpPr>
          <p:nvPr>
            <p:ph type="title"/>
          </p:nvPr>
        </p:nvSpPr>
        <p:spPr/>
        <p:txBody>
          <a:bodyPr>
            <a:noAutofit/>
          </a:bodyPr>
          <a:lstStyle/>
          <a:p>
            <a:r>
              <a:rPr lang="en-US" altLang="zh-CN" spc="0" dirty="0"/>
              <a:t>R-MFDN </a:t>
            </a:r>
            <a:r>
              <a:rPr lang="zh-CN" altLang="en-US" spc="0" dirty="0"/>
              <a:t>检测网络 </a:t>
            </a:r>
            <a:r>
              <a:rPr lang="en-US" altLang="zh-CN" spc="0" dirty="0"/>
              <a:t>—— </a:t>
            </a:r>
            <a:r>
              <a:rPr lang="zh-CN" altLang="en-US" spc="0" dirty="0"/>
              <a:t>伪造分类</a:t>
            </a:r>
          </a:p>
        </p:txBody>
      </p:sp>
      <p:sp>
        <p:nvSpPr>
          <p:cNvPr id="17" name="文本占位符 3">
            <a:extLst>
              <a:ext uri="{FF2B5EF4-FFF2-40B4-BE49-F238E27FC236}">
                <a16:creationId xmlns:a16="http://schemas.microsoft.com/office/drawing/2014/main" id="{7C3A5A88-7A22-921D-43BC-9D462A1E9422}"/>
              </a:ext>
            </a:extLst>
          </p:cNvPr>
          <p:cNvSpPr>
            <a:spLocks noGrp="1"/>
          </p:cNvSpPr>
          <p:nvPr>
            <p:ph type="body" sz="quarter" idx="10"/>
          </p:nvPr>
        </p:nvSpPr>
        <p:spPr>
          <a:xfrm>
            <a:off x="570282" y="861087"/>
            <a:ext cx="11255876" cy="5465323"/>
          </a:xfrm>
        </p:spPr>
        <p:txBody>
          <a:bodyPr>
            <a:normAutofit/>
          </a:bodyPr>
          <a:lstStyle/>
          <a:p>
            <a:pPr marL="0" indent="0">
              <a:lnSpc>
                <a:spcPct val="160000"/>
              </a:lnSpc>
              <a:buNone/>
            </a:pPr>
            <a:r>
              <a:rPr lang="zh-CN" altLang="en-US" dirty="0">
                <a:latin typeface="微软雅黑" panose="020B0503020204020204" pitchFamily="34" charset="-122"/>
                <a:ea typeface="微软雅黑" panose="020B0503020204020204" pitchFamily="34" charset="-122"/>
              </a:rPr>
              <a:t>参考辅助的轻量对齐：</a:t>
            </a:r>
            <a:endParaRPr lang="en-US" altLang="zh-CN" dirty="0">
              <a:latin typeface="微软雅黑" panose="020B0503020204020204" pitchFamily="34" charset="-122"/>
              <a:ea typeface="微软雅黑" panose="020B0503020204020204" pitchFamily="34" charset="-122"/>
            </a:endParaRPr>
          </a:p>
          <a:p>
            <a:pPr>
              <a:lnSpc>
                <a:spcPct val="160000"/>
              </a:lnSpc>
            </a:pPr>
            <a:r>
              <a:rPr lang="zh-CN" altLang="en-US" b="0" dirty="0">
                <a:latin typeface="微软雅黑" panose="020B0503020204020204" pitchFamily="34" charset="-122"/>
                <a:ea typeface="微软雅黑" panose="020B0503020204020204" pitchFamily="34" charset="-122"/>
              </a:rPr>
              <a:t>拿到多模态融合特征后，再从</a:t>
            </a:r>
            <a:r>
              <a:rPr lang="zh-CN" altLang="en-US" dirty="0">
                <a:latin typeface="微软雅黑" panose="020B0503020204020204" pitchFamily="34" charset="-122"/>
                <a:ea typeface="微软雅黑" panose="020B0503020204020204" pitchFamily="34" charset="-122"/>
              </a:rPr>
              <a:t>同一身份</a:t>
            </a:r>
            <a:r>
              <a:rPr lang="zh-CN" altLang="en-US" b="0" dirty="0">
                <a:latin typeface="微软雅黑" panose="020B0503020204020204" pitchFamily="34" charset="-122"/>
                <a:ea typeface="微软雅黑" panose="020B0503020204020204" pitchFamily="34" charset="-122"/>
              </a:rPr>
              <a:t>的参考库抽一条对应特征，做一个很小权重 </a:t>
            </a:r>
            <a:r>
              <a:rPr lang="en-US" altLang="zh-CN" b="0" dirty="0">
                <a:latin typeface="微软雅黑" panose="020B0503020204020204" pitchFamily="34" charset="-122"/>
                <a:ea typeface="微软雅黑" panose="020B0503020204020204" pitchFamily="34" charset="-122"/>
              </a:rPr>
              <a:t>α </a:t>
            </a:r>
            <a:r>
              <a:rPr lang="zh-CN" altLang="en-US" b="0" dirty="0">
                <a:latin typeface="微软雅黑" panose="020B0503020204020204" pitchFamily="34" charset="-122"/>
                <a:ea typeface="微软雅黑" panose="020B0503020204020204" pitchFamily="34" charset="-122"/>
              </a:rPr>
              <a:t>的线性融合：</a:t>
            </a:r>
            <a:endParaRPr lang="en-US" altLang="zh-CN" b="0" dirty="0">
              <a:latin typeface="微软雅黑" panose="020B0503020204020204" pitchFamily="34" charset="-122"/>
              <a:ea typeface="微软雅黑" panose="020B0503020204020204" pitchFamily="34" charset="-122"/>
            </a:endParaRPr>
          </a:p>
          <a:p>
            <a:pPr marL="0" indent="0">
              <a:lnSpc>
                <a:spcPct val="160000"/>
              </a:lnSpc>
              <a:buNone/>
            </a:pPr>
            <a:r>
              <a:rPr lang="zh-CN" altLang="en-US" dirty="0">
                <a:latin typeface="微软雅黑" panose="020B0503020204020204" pitchFamily="34" charset="-122"/>
                <a:ea typeface="微软雅黑" panose="020B0503020204020204" pitchFamily="34" charset="-122"/>
              </a:rPr>
              <a:t>两个分类头：</a:t>
            </a:r>
          </a:p>
          <a:p>
            <a:pPr>
              <a:lnSpc>
                <a:spcPct val="160000"/>
              </a:lnSpc>
            </a:pPr>
            <a:r>
              <a:rPr lang="zh-CN" altLang="en-US" dirty="0">
                <a:latin typeface="微软雅黑" panose="020B0503020204020204" pitchFamily="34" charset="-122"/>
                <a:ea typeface="微软雅黑" panose="020B0503020204020204" pitchFamily="34" charset="-122"/>
              </a:rPr>
              <a:t>二分类头：</a:t>
            </a:r>
            <a:r>
              <a:rPr lang="zh-CN" altLang="en-US" b="0" dirty="0">
                <a:latin typeface="微软雅黑" panose="020B0503020204020204" pitchFamily="34" charset="-122"/>
                <a:ea typeface="微软雅黑" panose="020B0503020204020204" pitchFamily="34" charset="-122"/>
              </a:rPr>
              <a:t>真假，交叉熵</a:t>
            </a:r>
          </a:p>
          <a:p>
            <a:pPr>
              <a:lnSpc>
                <a:spcPct val="160000"/>
              </a:lnSpc>
            </a:pPr>
            <a:r>
              <a:rPr lang="zh-CN" altLang="en-US" dirty="0">
                <a:latin typeface="微软雅黑" panose="020B0503020204020204" pitchFamily="34" charset="-122"/>
                <a:ea typeface="微软雅黑" panose="020B0503020204020204" pitchFamily="34" charset="-122"/>
              </a:rPr>
              <a:t>多标签头：</a:t>
            </a:r>
            <a:r>
              <a:rPr lang="zh-CN" altLang="en-US" b="0" dirty="0">
                <a:latin typeface="微软雅黑" panose="020B0503020204020204" pitchFamily="34" charset="-122"/>
                <a:ea typeface="微软雅黑" panose="020B0503020204020204" pitchFamily="34" charset="-122"/>
              </a:rPr>
              <a:t>具体用了哪些伪造手段，交叉熵</a:t>
            </a:r>
            <a:endParaRPr lang="en-US" altLang="zh-CN" b="0" dirty="0">
              <a:latin typeface="微软雅黑" panose="020B0503020204020204" pitchFamily="34" charset="-122"/>
              <a:ea typeface="微软雅黑" panose="020B0503020204020204" pitchFamily="34" charset="-122"/>
            </a:endParaRPr>
          </a:p>
          <a:p>
            <a:pPr marL="0" indent="0">
              <a:lnSpc>
                <a:spcPct val="160000"/>
              </a:lnSpc>
              <a:buNone/>
            </a:pPr>
            <a:r>
              <a:rPr lang="zh-CN" altLang="en-US" dirty="0">
                <a:latin typeface="微软雅黑" panose="020B0503020204020204" pitchFamily="34" charset="-122"/>
                <a:ea typeface="微软雅黑" panose="020B0503020204020204" pitchFamily="34" charset="-122"/>
              </a:rPr>
              <a:t>总损失：</a:t>
            </a:r>
            <a:endParaRPr lang="en-US" altLang="zh-CN" dirty="0">
              <a:latin typeface="微软雅黑" panose="020B0503020204020204" pitchFamily="34" charset="-122"/>
              <a:ea typeface="微软雅黑" panose="020B0503020204020204" pitchFamily="34" charset="-122"/>
            </a:endParaRPr>
          </a:p>
          <a:p>
            <a:pPr>
              <a:lnSpc>
                <a:spcPct val="160000"/>
              </a:lnSpc>
            </a:pPr>
            <a:endParaRPr lang="en-US" altLang="zh-CN" b="0"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53F6AEBF-850F-5895-016E-B5DCC8D78B92}"/>
              </a:ext>
            </a:extLst>
          </p:cNvPr>
          <p:cNvPicPr>
            <a:picLocks noChangeAspect="1"/>
          </p:cNvPicPr>
          <p:nvPr/>
        </p:nvPicPr>
        <p:blipFill>
          <a:blip r:embed="rId2"/>
          <a:stretch>
            <a:fillRect/>
          </a:stretch>
        </p:blipFill>
        <p:spPr>
          <a:xfrm>
            <a:off x="3464620" y="1372175"/>
            <a:ext cx="3733538" cy="762483"/>
          </a:xfrm>
          <a:prstGeom prst="rect">
            <a:avLst/>
          </a:prstGeom>
        </p:spPr>
      </p:pic>
      <p:pic>
        <p:nvPicPr>
          <p:cNvPr id="9" name="图片 8">
            <a:extLst>
              <a:ext uri="{FF2B5EF4-FFF2-40B4-BE49-F238E27FC236}">
                <a16:creationId xmlns:a16="http://schemas.microsoft.com/office/drawing/2014/main" id="{EA869963-B5E3-18DA-C465-3BD3E48BCBB6}"/>
              </a:ext>
            </a:extLst>
          </p:cNvPr>
          <p:cNvPicPr>
            <a:picLocks noChangeAspect="1"/>
          </p:cNvPicPr>
          <p:nvPr/>
        </p:nvPicPr>
        <p:blipFill>
          <a:blip r:embed="rId3"/>
          <a:stretch>
            <a:fillRect/>
          </a:stretch>
        </p:blipFill>
        <p:spPr>
          <a:xfrm>
            <a:off x="1755647" y="4440137"/>
            <a:ext cx="4962103" cy="1000819"/>
          </a:xfrm>
          <a:prstGeom prst="rect">
            <a:avLst/>
          </a:prstGeom>
        </p:spPr>
      </p:pic>
      <p:pic>
        <p:nvPicPr>
          <p:cNvPr id="11" name="图片 10">
            <a:extLst>
              <a:ext uri="{FF2B5EF4-FFF2-40B4-BE49-F238E27FC236}">
                <a16:creationId xmlns:a16="http://schemas.microsoft.com/office/drawing/2014/main" id="{E30117C5-10AC-0424-11BC-D0AE6D35B791}"/>
              </a:ext>
            </a:extLst>
          </p:cNvPr>
          <p:cNvPicPr>
            <a:picLocks noChangeAspect="1"/>
          </p:cNvPicPr>
          <p:nvPr/>
        </p:nvPicPr>
        <p:blipFill>
          <a:blip r:embed="rId4"/>
          <a:stretch>
            <a:fillRect/>
          </a:stretch>
        </p:blipFill>
        <p:spPr>
          <a:xfrm>
            <a:off x="6007075" y="3268181"/>
            <a:ext cx="4171950" cy="1228725"/>
          </a:xfrm>
          <a:prstGeom prst="rect">
            <a:avLst/>
          </a:prstGeom>
        </p:spPr>
      </p:pic>
    </p:spTree>
    <p:extLst>
      <p:ext uri="{BB962C8B-B14F-4D97-AF65-F5344CB8AC3E}">
        <p14:creationId xmlns:p14="http://schemas.microsoft.com/office/powerpoint/2010/main" val="1231255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EC4E0-4BFF-D4B0-8BBB-46390729C36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555A594-15ED-0757-4C0B-7D99FC3117B9}"/>
              </a:ext>
            </a:extLst>
          </p:cNvPr>
          <p:cNvSpPr>
            <a:spLocks noGrp="1"/>
          </p:cNvSpPr>
          <p:nvPr>
            <p:ph type="sldNum" sz="quarter" idx="4"/>
          </p:nvPr>
        </p:nvSpPr>
        <p:spPr>
          <a:xfrm>
            <a:off x="8983845" y="6426962"/>
            <a:ext cx="2743200" cy="292196"/>
          </a:xfrm>
        </p:spPr>
        <p:txBody>
          <a:bodyPr/>
          <a:lstStyle/>
          <a:p>
            <a:r>
              <a:rPr lang="en-US" altLang="zh-CN"/>
              <a:t>&lt; </a:t>
            </a:r>
            <a:fld id="{A548B57D-AE10-4CF7-A9DF-59FEFA91B28E}" type="slidenum">
              <a:rPr lang="zh-CN" altLang="en-US" smtClean="0"/>
              <a:t>18</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C1986BF9-1A2D-2369-E28C-968CE7F9BF17}"/>
              </a:ext>
            </a:extLst>
          </p:cNvPr>
          <p:cNvSpPr>
            <a:spLocks noGrp="1"/>
          </p:cNvSpPr>
          <p:nvPr>
            <p:ph type="title"/>
          </p:nvPr>
        </p:nvSpPr>
        <p:spPr/>
        <p:txBody>
          <a:bodyPr>
            <a:noAutofit/>
          </a:bodyPr>
          <a:lstStyle/>
          <a:p>
            <a:r>
              <a:rPr lang="zh-CN" altLang="en-US" spc="0" dirty="0"/>
              <a:t>实验结果与分析 </a:t>
            </a:r>
            <a:r>
              <a:rPr lang="en-US" altLang="zh-CN" spc="0" dirty="0"/>
              <a:t>—— </a:t>
            </a:r>
            <a:r>
              <a:rPr lang="zh-CN" altLang="en-US" spc="0" dirty="0"/>
              <a:t>消融实验</a:t>
            </a:r>
          </a:p>
        </p:txBody>
      </p:sp>
      <p:sp>
        <p:nvSpPr>
          <p:cNvPr id="17" name="文本占位符 3">
            <a:extLst>
              <a:ext uri="{FF2B5EF4-FFF2-40B4-BE49-F238E27FC236}">
                <a16:creationId xmlns:a16="http://schemas.microsoft.com/office/drawing/2014/main" id="{603F20FC-C467-ADBA-2DEC-EBD2C923E0AB}"/>
              </a:ext>
            </a:extLst>
          </p:cNvPr>
          <p:cNvSpPr>
            <a:spLocks noGrp="1"/>
          </p:cNvSpPr>
          <p:nvPr>
            <p:ph type="body" sz="quarter" idx="10"/>
          </p:nvPr>
        </p:nvSpPr>
        <p:spPr>
          <a:xfrm>
            <a:off x="732350" y="4601645"/>
            <a:ext cx="10727300" cy="1825317"/>
          </a:xfrm>
        </p:spPr>
        <p:txBody>
          <a:bodyPr>
            <a:normAutofit fontScale="92500" lnSpcReduction="20000"/>
          </a:bodyPr>
          <a:lstStyle/>
          <a:p>
            <a:pPr marL="0" indent="0" defTabSz="457200">
              <a:lnSpc>
                <a:spcPct val="150000"/>
              </a:lnSpc>
              <a:buNone/>
            </a:pPr>
            <a:r>
              <a:rPr lang="zh-CN" altLang="en-US" sz="1900" dirty="0">
                <a:latin typeface="微软雅黑" panose="020B0503020204020204" pitchFamily="34" charset="-122"/>
                <a:ea typeface="微软雅黑" panose="020B0503020204020204" pitchFamily="34" charset="-122"/>
              </a:rPr>
              <a:t>有</a:t>
            </a:r>
            <a:r>
              <a:rPr lang="en-US" altLang="zh-CN" sz="1900" dirty="0">
                <a:latin typeface="微软雅黑" panose="020B0503020204020204" pitchFamily="34" charset="-122"/>
                <a:ea typeface="微软雅黑" panose="020B0503020204020204" pitchFamily="34" charset="-122"/>
              </a:rPr>
              <a:t>/</a:t>
            </a:r>
            <a:r>
              <a:rPr lang="zh-CN" altLang="en-US" sz="1900" dirty="0">
                <a:latin typeface="微软雅黑" panose="020B0503020204020204" pitchFamily="34" charset="-122"/>
                <a:ea typeface="微软雅黑" panose="020B0503020204020204" pitchFamily="34" charset="-122"/>
              </a:rPr>
              <a:t>无身份对比：</a:t>
            </a:r>
            <a:r>
              <a:rPr lang="zh-CN" altLang="en-US" sz="1900" b="0" dirty="0">
                <a:latin typeface="微软雅黑" panose="020B0503020204020204" pitchFamily="34" charset="-122"/>
                <a:ea typeface="微软雅黑" panose="020B0503020204020204" pitchFamily="34" charset="-122"/>
              </a:rPr>
              <a:t>加了“身份感知对比 </a:t>
            </a:r>
            <a:r>
              <a:rPr lang="en-US" altLang="zh-CN" sz="1900" b="0" dirty="0">
                <a:latin typeface="微软雅黑" panose="020B0503020204020204" pitchFamily="34" charset="-122"/>
                <a:ea typeface="微软雅黑" panose="020B0503020204020204" pitchFamily="34" charset="-122"/>
              </a:rPr>
              <a:t>+ </a:t>
            </a:r>
            <a:r>
              <a:rPr lang="zh-CN" altLang="en-US" sz="1900" b="0" dirty="0">
                <a:latin typeface="微软雅黑" panose="020B0503020204020204" pitchFamily="34" charset="-122"/>
                <a:ea typeface="微软雅黑" panose="020B0503020204020204" pitchFamily="34" charset="-122"/>
              </a:rPr>
              <a:t>参考融合”后，</a:t>
            </a:r>
            <a:r>
              <a:rPr lang="en-US" altLang="zh-CN" sz="1900" b="0" dirty="0">
                <a:latin typeface="微软雅黑" panose="020B0503020204020204" pitchFamily="34" charset="-122"/>
                <a:ea typeface="微软雅黑" panose="020B0503020204020204" pitchFamily="34" charset="-122"/>
              </a:rPr>
              <a:t>ACC </a:t>
            </a:r>
            <a:r>
              <a:rPr lang="zh-CN" altLang="en-US" sz="1900" b="0" dirty="0">
                <a:latin typeface="微软雅黑" panose="020B0503020204020204" pitchFamily="34" charset="-122"/>
                <a:ea typeface="微软雅黑" panose="020B0503020204020204" pitchFamily="34" charset="-122"/>
              </a:rPr>
              <a:t>提升 </a:t>
            </a:r>
            <a:r>
              <a:rPr lang="en-US" altLang="zh-CN" sz="1900" b="0" dirty="0">
                <a:latin typeface="微软雅黑" panose="020B0503020204020204" pitchFamily="34" charset="-122"/>
                <a:ea typeface="微软雅黑" panose="020B0503020204020204" pitchFamily="34" charset="-122"/>
              </a:rPr>
              <a:t>4.56%</a:t>
            </a:r>
            <a:r>
              <a:rPr lang="zh-CN" altLang="en-US" sz="1900" b="0" dirty="0">
                <a:latin typeface="微软雅黑" panose="020B0503020204020204" pitchFamily="34" charset="-122"/>
                <a:ea typeface="微软雅黑" panose="020B0503020204020204" pitchFamily="34" charset="-122"/>
              </a:rPr>
              <a:t>，</a:t>
            </a:r>
            <a:r>
              <a:rPr lang="en-US" altLang="zh-CN" sz="1900" b="0" dirty="0">
                <a:latin typeface="微软雅黑" panose="020B0503020204020204" pitchFamily="34" charset="-122"/>
                <a:ea typeface="微软雅黑" panose="020B0503020204020204" pitchFamily="34" charset="-122"/>
              </a:rPr>
              <a:t>AUC </a:t>
            </a:r>
            <a:r>
              <a:rPr lang="zh-CN" altLang="en-US" sz="1900" b="0" dirty="0">
                <a:latin typeface="微软雅黑" panose="020B0503020204020204" pitchFamily="34" charset="-122"/>
                <a:ea typeface="微软雅黑" panose="020B0503020204020204" pitchFamily="34" charset="-122"/>
              </a:rPr>
              <a:t>提升 </a:t>
            </a:r>
            <a:r>
              <a:rPr lang="en-US" altLang="zh-CN" sz="1900" b="0" dirty="0">
                <a:latin typeface="微软雅黑" panose="020B0503020204020204" pitchFamily="34" charset="-122"/>
                <a:ea typeface="微软雅黑" panose="020B0503020204020204" pitchFamily="34" charset="-122"/>
              </a:rPr>
              <a:t>2.92%</a:t>
            </a:r>
            <a:r>
              <a:rPr lang="zh-CN" altLang="en-US" sz="1900" b="0" dirty="0">
                <a:latin typeface="微软雅黑" panose="020B0503020204020204" pitchFamily="34" charset="-122"/>
                <a:ea typeface="微软雅黑" panose="020B0503020204020204" pitchFamily="34" charset="-122"/>
              </a:rPr>
              <a:t>。</a:t>
            </a:r>
            <a:endParaRPr lang="en-US" altLang="zh-CN" sz="1900" b="0" dirty="0">
              <a:latin typeface="微软雅黑" panose="020B0503020204020204" pitchFamily="34" charset="-122"/>
              <a:ea typeface="微软雅黑" panose="020B0503020204020204" pitchFamily="34" charset="-122"/>
            </a:endParaRPr>
          </a:p>
          <a:p>
            <a:pPr marL="0" indent="0" defTabSz="457200">
              <a:lnSpc>
                <a:spcPct val="150000"/>
              </a:lnSpc>
              <a:buNone/>
            </a:pPr>
            <a:r>
              <a:rPr lang="zh-CN" altLang="en-US" sz="1900" dirty="0">
                <a:latin typeface="微软雅黑" panose="020B0503020204020204" pitchFamily="34" charset="-122"/>
                <a:ea typeface="微软雅黑" panose="020B0503020204020204" pitchFamily="34" charset="-122"/>
              </a:rPr>
              <a:t>多模态效果：</a:t>
            </a:r>
            <a:r>
              <a:rPr lang="zh-CN" altLang="en-US" sz="1900" b="0" dirty="0">
                <a:latin typeface="微软雅黑" panose="020B0503020204020204" pitchFamily="34" charset="-122"/>
                <a:ea typeface="微软雅黑" panose="020B0503020204020204" pitchFamily="34" charset="-122"/>
              </a:rPr>
              <a:t>单模态里音频最好（</a:t>
            </a:r>
            <a:r>
              <a:rPr lang="en-US" altLang="zh-CN" sz="1900" b="0" dirty="0">
                <a:latin typeface="微软雅黑" panose="020B0503020204020204" pitchFamily="34" charset="-122"/>
                <a:ea typeface="微软雅黑" panose="020B0503020204020204" pitchFamily="34" charset="-122"/>
              </a:rPr>
              <a:t>ACC 81.31</a:t>
            </a:r>
            <a:r>
              <a:rPr lang="zh-CN" altLang="en-US" sz="1900" b="0" dirty="0">
                <a:latin typeface="微软雅黑" panose="020B0503020204020204" pitchFamily="34" charset="-122"/>
                <a:ea typeface="微软雅黑" panose="020B0503020204020204" pitchFamily="34" charset="-122"/>
              </a:rPr>
              <a:t>，</a:t>
            </a:r>
            <a:r>
              <a:rPr lang="en-US" altLang="zh-CN" sz="1900" b="0" dirty="0">
                <a:latin typeface="微软雅黑" panose="020B0503020204020204" pitchFamily="34" charset="-122"/>
                <a:ea typeface="微软雅黑" panose="020B0503020204020204" pitchFamily="34" charset="-122"/>
              </a:rPr>
              <a:t>AUC 92.31</a:t>
            </a:r>
            <a:r>
              <a:rPr lang="zh-CN" altLang="en-US" sz="1900" b="0" dirty="0">
                <a:latin typeface="微软雅黑" panose="020B0503020204020204" pitchFamily="34" charset="-122"/>
                <a:ea typeface="微软雅黑" panose="020B0503020204020204" pitchFamily="34" charset="-122"/>
              </a:rPr>
              <a:t>），视觉其次，文本最弱；但视</a:t>
            </a:r>
            <a:r>
              <a:rPr lang="en-US" altLang="zh-CN" sz="1900" b="0" dirty="0">
                <a:latin typeface="微软雅黑" panose="020B0503020204020204" pitchFamily="34" charset="-122"/>
                <a:ea typeface="微软雅黑" panose="020B0503020204020204" pitchFamily="34" charset="-122"/>
              </a:rPr>
              <a:t>+</a:t>
            </a:r>
            <a:r>
              <a:rPr lang="zh-CN" altLang="en-US" sz="1900" b="0" dirty="0">
                <a:latin typeface="微软雅黑" panose="020B0503020204020204" pitchFamily="34" charset="-122"/>
                <a:ea typeface="微软雅黑" panose="020B0503020204020204" pitchFamily="34" charset="-122"/>
              </a:rPr>
              <a:t>音明显优于各自单独；再加跨模态对比，进一步上涨。</a:t>
            </a:r>
            <a:endParaRPr lang="en-US" altLang="zh-CN" sz="1900" b="0" dirty="0">
              <a:latin typeface="微软雅黑" panose="020B0503020204020204" pitchFamily="34" charset="-122"/>
              <a:ea typeface="微软雅黑" panose="020B0503020204020204" pitchFamily="34" charset="-122"/>
            </a:endParaRPr>
          </a:p>
          <a:p>
            <a:pPr marL="0" indent="0" defTabSz="457200">
              <a:lnSpc>
                <a:spcPct val="150000"/>
              </a:lnSpc>
              <a:buNone/>
            </a:pPr>
            <a:r>
              <a:rPr lang="zh-CN" altLang="en-US" sz="1900" dirty="0">
                <a:latin typeface="微软雅黑" panose="020B0503020204020204" pitchFamily="34" charset="-122"/>
                <a:ea typeface="微软雅黑" panose="020B0503020204020204" pitchFamily="34" charset="-122"/>
              </a:rPr>
              <a:t>去掉跨模态对比：</a:t>
            </a:r>
            <a:r>
              <a:rPr lang="zh-CN" altLang="en-US" sz="1900" b="0" dirty="0">
                <a:latin typeface="微软雅黑" panose="020B0503020204020204" pitchFamily="34" charset="-122"/>
                <a:ea typeface="微软雅黑" panose="020B0503020204020204" pitchFamily="34" charset="-122"/>
              </a:rPr>
              <a:t>性能大幅跌（</a:t>
            </a:r>
            <a:r>
              <a:rPr lang="en-US" altLang="zh-CN" sz="1900" b="0" dirty="0">
                <a:latin typeface="微软雅黑" panose="020B0503020204020204" pitchFamily="34" charset="-122"/>
                <a:ea typeface="微软雅黑" panose="020B0503020204020204" pitchFamily="34" charset="-122"/>
              </a:rPr>
              <a:t>AUC </a:t>
            </a:r>
            <a:r>
              <a:rPr lang="zh-CN" altLang="en-US" sz="1900" b="0" dirty="0">
                <a:latin typeface="微软雅黑" panose="020B0503020204020204" pitchFamily="34" charset="-122"/>
                <a:ea typeface="微软雅黑" panose="020B0503020204020204" pitchFamily="34" charset="-122"/>
              </a:rPr>
              <a:t>从 </a:t>
            </a:r>
            <a:r>
              <a:rPr lang="en-US" altLang="zh-CN" sz="1900" b="0" dirty="0">
                <a:latin typeface="微软雅黑" panose="020B0503020204020204" pitchFamily="34" charset="-122"/>
                <a:ea typeface="微软雅黑" panose="020B0503020204020204" pitchFamily="34" charset="-122"/>
              </a:rPr>
              <a:t>98.40 </a:t>
            </a:r>
            <a:r>
              <a:rPr lang="zh-CN" altLang="en-US" sz="1900" b="0" dirty="0">
                <a:latin typeface="微软雅黑" panose="020B0503020204020204" pitchFamily="34" charset="-122"/>
                <a:ea typeface="微软雅黑" panose="020B0503020204020204" pitchFamily="34" charset="-122"/>
              </a:rPr>
              <a:t>掉到 </a:t>
            </a:r>
            <a:r>
              <a:rPr lang="en-US" altLang="zh-CN" sz="1900" b="0" dirty="0">
                <a:latin typeface="微软雅黑" panose="020B0503020204020204" pitchFamily="34" charset="-122"/>
                <a:ea typeface="微软雅黑" panose="020B0503020204020204" pitchFamily="34" charset="-122"/>
              </a:rPr>
              <a:t>81.49</a:t>
            </a:r>
            <a:r>
              <a:rPr lang="zh-CN" altLang="en-US" sz="1900" b="0" dirty="0">
                <a:latin typeface="微软雅黑" panose="020B0503020204020204" pitchFamily="34" charset="-122"/>
                <a:ea typeface="微软雅黑" panose="020B0503020204020204" pitchFamily="34" charset="-122"/>
              </a:rPr>
              <a:t>），证明“抓不同步”是关键信号。</a:t>
            </a:r>
            <a:endParaRPr lang="en-US" altLang="zh-CN" sz="1900" b="0"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9129D16B-0383-6D36-9243-B1051FF3C805}"/>
              </a:ext>
            </a:extLst>
          </p:cNvPr>
          <p:cNvPicPr>
            <a:picLocks noChangeAspect="1"/>
          </p:cNvPicPr>
          <p:nvPr/>
        </p:nvPicPr>
        <p:blipFill>
          <a:blip r:embed="rId2"/>
          <a:stretch>
            <a:fillRect/>
          </a:stretch>
        </p:blipFill>
        <p:spPr>
          <a:xfrm>
            <a:off x="186881" y="1513298"/>
            <a:ext cx="5416562" cy="2895059"/>
          </a:xfrm>
          <a:prstGeom prst="rect">
            <a:avLst/>
          </a:prstGeom>
        </p:spPr>
      </p:pic>
      <p:pic>
        <p:nvPicPr>
          <p:cNvPr id="8" name="图片 7">
            <a:extLst>
              <a:ext uri="{FF2B5EF4-FFF2-40B4-BE49-F238E27FC236}">
                <a16:creationId xmlns:a16="http://schemas.microsoft.com/office/drawing/2014/main" id="{107FE711-C7D4-16C8-4249-E5F0EDC0F909}"/>
              </a:ext>
            </a:extLst>
          </p:cNvPr>
          <p:cNvPicPr>
            <a:picLocks noChangeAspect="1"/>
          </p:cNvPicPr>
          <p:nvPr/>
        </p:nvPicPr>
        <p:blipFill>
          <a:blip r:embed="rId3"/>
          <a:stretch>
            <a:fillRect/>
          </a:stretch>
        </p:blipFill>
        <p:spPr>
          <a:xfrm>
            <a:off x="5907054" y="1194774"/>
            <a:ext cx="5819991" cy="3213583"/>
          </a:xfrm>
          <a:prstGeom prst="rect">
            <a:avLst/>
          </a:prstGeom>
        </p:spPr>
      </p:pic>
    </p:spTree>
    <p:extLst>
      <p:ext uri="{BB962C8B-B14F-4D97-AF65-F5344CB8AC3E}">
        <p14:creationId xmlns:p14="http://schemas.microsoft.com/office/powerpoint/2010/main" val="2786091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1D74D-2E40-FF9A-E51D-1D197F72E57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F418889-6800-65D4-65E0-B6C65C9BDFCB}"/>
              </a:ext>
            </a:extLst>
          </p:cNvPr>
          <p:cNvSpPr>
            <a:spLocks noGrp="1"/>
          </p:cNvSpPr>
          <p:nvPr>
            <p:ph type="sldNum" sz="quarter" idx="4"/>
          </p:nvPr>
        </p:nvSpPr>
        <p:spPr>
          <a:xfrm>
            <a:off x="8983845" y="6426962"/>
            <a:ext cx="2743200" cy="292196"/>
          </a:xfrm>
        </p:spPr>
        <p:txBody>
          <a:bodyPr/>
          <a:lstStyle/>
          <a:p>
            <a:r>
              <a:rPr lang="en-US" altLang="zh-CN"/>
              <a:t>&lt; </a:t>
            </a:r>
            <a:fld id="{A548B57D-AE10-4CF7-A9DF-59FEFA91B28E}" type="slidenum">
              <a:rPr lang="zh-CN" altLang="en-US" smtClean="0"/>
              <a:t>19</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976457E8-9419-2ECF-99E6-F38B3661E32E}"/>
              </a:ext>
            </a:extLst>
          </p:cNvPr>
          <p:cNvSpPr>
            <a:spLocks noGrp="1"/>
          </p:cNvSpPr>
          <p:nvPr>
            <p:ph type="title"/>
          </p:nvPr>
        </p:nvSpPr>
        <p:spPr/>
        <p:txBody>
          <a:bodyPr>
            <a:noAutofit/>
          </a:bodyPr>
          <a:lstStyle/>
          <a:p>
            <a:r>
              <a:rPr lang="zh-CN" altLang="en-US" spc="0" dirty="0"/>
              <a:t>实验结果与分析 </a:t>
            </a:r>
            <a:r>
              <a:rPr lang="en-US" altLang="zh-CN" spc="0" dirty="0"/>
              <a:t>—— </a:t>
            </a:r>
            <a:r>
              <a:rPr lang="zh-CN" altLang="en-US" spc="0" dirty="0"/>
              <a:t>对比实验</a:t>
            </a:r>
          </a:p>
        </p:txBody>
      </p:sp>
      <p:sp>
        <p:nvSpPr>
          <p:cNvPr id="17" name="文本占位符 3">
            <a:extLst>
              <a:ext uri="{FF2B5EF4-FFF2-40B4-BE49-F238E27FC236}">
                <a16:creationId xmlns:a16="http://schemas.microsoft.com/office/drawing/2014/main" id="{E8F42789-55E6-E5C4-A45E-3F842FF5ECE2}"/>
              </a:ext>
            </a:extLst>
          </p:cNvPr>
          <p:cNvSpPr>
            <a:spLocks noGrp="1"/>
          </p:cNvSpPr>
          <p:nvPr>
            <p:ph type="body" sz="quarter" idx="10"/>
          </p:nvPr>
        </p:nvSpPr>
        <p:spPr>
          <a:xfrm>
            <a:off x="1814170" y="4821985"/>
            <a:ext cx="9575596" cy="1888810"/>
          </a:xfrm>
        </p:spPr>
        <p:txBody>
          <a:bodyPr>
            <a:normAutofit lnSpcReduction="10000"/>
          </a:bodyPr>
          <a:lstStyle/>
          <a:p>
            <a:pPr marL="0" indent="0" defTabSz="457200">
              <a:lnSpc>
                <a:spcPct val="150000"/>
              </a:lnSpc>
              <a:buNone/>
            </a:pPr>
            <a:r>
              <a:rPr lang="zh-CN" altLang="en-US" dirty="0">
                <a:latin typeface="微软雅黑" panose="020B0503020204020204" pitchFamily="34" charset="-122"/>
                <a:ea typeface="微软雅黑" panose="020B0503020204020204" pitchFamily="34" charset="-122"/>
              </a:rPr>
              <a:t>在自建 </a:t>
            </a:r>
            <a:r>
              <a:rPr lang="en-US" altLang="zh-CN" dirty="0" err="1">
                <a:latin typeface="微软雅黑" panose="020B0503020204020204" pitchFamily="34" charset="-122"/>
                <a:ea typeface="微软雅黑" panose="020B0503020204020204" pitchFamily="34" charset="-122"/>
              </a:rPr>
              <a:t>IDForge</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上：</a:t>
            </a:r>
            <a:r>
              <a:rPr lang="en-US" altLang="zh-CN" b="0" dirty="0">
                <a:latin typeface="微软雅黑" panose="020B0503020204020204" pitchFamily="34" charset="-122"/>
                <a:ea typeface="微软雅黑" panose="020B0503020204020204" pitchFamily="34" charset="-122"/>
              </a:rPr>
              <a:t>R-MFDN </a:t>
            </a:r>
            <a:r>
              <a:rPr lang="zh-CN" altLang="en-US" b="0" dirty="0">
                <a:latin typeface="微软雅黑" panose="020B0503020204020204" pitchFamily="34" charset="-122"/>
                <a:ea typeface="微软雅黑" panose="020B0503020204020204" pitchFamily="34" charset="-122"/>
              </a:rPr>
              <a:t>在所有指标都最好；与强多模态基线（</a:t>
            </a:r>
            <a:r>
              <a:rPr lang="en-US" altLang="zh-CN" b="0" dirty="0" err="1">
                <a:latin typeface="微软雅黑" panose="020B0503020204020204" pitchFamily="34" charset="-122"/>
                <a:ea typeface="微软雅黑" panose="020B0503020204020204" pitchFamily="34" charset="-122"/>
              </a:rPr>
              <a:t>RealForensics</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VFD</a:t>
            </a:r>
            <a:r>
              <a:rPr lang="zh-CN" altLang="en-US" b="0" dirty="0">
                <a:latin typeface="微软雅黑" panose="020B0503020204020204" pitchFamily="34" charset="-122"/>
                <a:ea typeface="微软雅黑" panose="020B0503020204020204" pitchFamily="34" charset="-122"/>
              </a:rPr>
              <a:t>）相比，</a:t>
            </a:r>
            <a:r>
              <a:rPr lang="en-US" altLang="zh-CN" b="0" dirty="0">
                <a:latin typeface="微软雅黑" panose="020B0503020204020204" pitchFamily="34" charset="-122"/>
                <a:ea typeface="微软雅黑" panose="020B0503020204020204" pitchFamily="34" charset="-122"/>
              </a:rPr>
              <a:t>ACC </a:t>
            </a:r>
            <a:r>
              <a:rPr lang="zh-CN" altLang="en-US" b="0" dirty="0">
                <a:latin typeface="微软雅黑" panose="020B0503020204020204" pitchFamily="34" charset="-122"/>
                <a:ea typeface="微软雅黑" panose="020B0503020204020204" pitchFamily="34" charset="-122"/>
              </a:rPr>
              <a:t>高 </a:t>
            </a:r>
            <a:r>
              <a:rPr lang="en-US" altLang="zh-CN" b="0" dirty="0">
                <a:latin typeface="微软雅黑" panose="020B0503020204020204" pitchFamily="34" charset="-122"/>
                <a:ea typeface="微软雅黑" panose="020B0503020204020204" pitchFamily="34" charset="-122"/>
              </a:rPr>
              <a:t>3.72%/6.69%</a:t>
            </a:r>
            <a:r>
              <a:rPr lang="zh-CN" altLang="en-US" b="0" dirty="0">
                <a:latin typeface="微软雅黑" panose="020B0503020204020204" pitchFamily="34" charset="-122"/>
                <a:ea typeface="微软雅黑" panose="020B0503020204020204" pitchFamily="34" charset="-122"/>
              </a:rPr>
              <a:t>，对大量多模态组合更稳健。</a:t>
            </a:r>
          </a:p>
          <a:p>
            <a:pPr marL="0" indent="0" defTabSz="457200">
              <a:lnSpc>
                <a:spcPct val="150000"/>
              </a:lnSpc>
              <a:buNone/>
            </a:pPr>
            <a:r>
              <a:rPr lang="zh-CN" altLang="en-US" dirty="0">
                <a:latin typeface="微软雅黑" panose="020B0503020204020204" pitchFamily="34" charset="-122"/>
                <a:ea typeface="微软雅黑" panose="020B0503020204020204" pitchFamily="34" charset="-122"/>
              </a:rPr>
              <a:t>在 </a:t>
            </a:r>
            <a:r>
              <a:rPr lang="en-US" altLang="zh-CN" dirty="0" err="1">
                <a:latin typeface="微软雅黑" panose="020B0503020204020204" pitchFamily="34" charset="-122"/>
                <a:ea typeface="微软雅黑" panose="020B0503020204020204" pitchFamily="34" charset="-122"/>
              </a:rPr>
              <a:t>FakeAVCeleb</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上：</a:t>
            </a:r>
            <a:r>
              <a:rPr lang="en-US" altLang="zh-CN" b="0" dirty="0">
                <a:latin typeface="微软雅黑" panose="020B0503020204020204" pitchFamily="34" charset="-122"/>
                <a:ea typeface="微软雅黑" panose="020B0503020204020204" pitchFamily="34" charset="-122"/>
              </a:rPr>
              <a:t>R-MFDN ACC 96.2</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AUC 90.6</a:t>
            </a:r>
            <a:r>
              <a:rPr lang="zh-CN" altLang="en-US" b="0" dirty="0">
                <a:latin typeface="微软雅黑" panose="020B0503020204020204" pitchFamily="34" charset="-122"/>
                <a:ea typeface="微软雅黑" panose="020B0503020204020204" pitchFamily="34" charset="-122"/>
              </a:rPr>
              <a:t>，超过 </a:t>
            </a:r>
            <a:r>
              <a:rPr lang="en-US" altLang="zh-CN" b="0" dirty="0">
                <a:latin typeface="微软雅黑" panose="020B0503020204020204" pitchFamily="34" charset="-122"/>
                <a:ea typeface="微软雅黑" panose="020B0503020204020204" pitchFamily="34" charset="-122"/>
              </a:rPr>
              <a:t>POI-Forensics</a:t>
            </a:r>
            <a:r>
              <a:rPr lang="zh-CN" altLang="en-US" b="0" dirty="0">
                <a:latin typeface="微软雅黑" panose="020B0503020204020204" pitchFamily="34" charset="-122"/>
                <a:ea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rPr>
              <a:t>RealForensics</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VFD </a:t>
            </a:r>
            <a:r>
              <a:rPr lang="zh-CN" altLang="en-US" b="0" dirty="0">
                <a:latin typeface="微软雅黑" panose="020B0503020204020204" pitchFamily="34" charset="-122"/>
                <a:ea typeface="微软雅黑" panose="020B0503020204020204" pitchFamily="34" charset="-122"/>
              </a:rPr>
              <a:t>等已有方法。</a:t>
            </a:r>
            <a:endParaRPr lang="en-US" altLang="zh-CN" b="0"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60E93CEA-C6BF-F609-80C4-7572AC6E8544}"/>
              </a:ext>
            </a:extLst>
          </p:cNvPr>
          <p:cNvPicPr>
            <a:picLocks/>
          </p:cNvPicPr>
          <p:nvPr/>
        </p:nvPicPr>
        <p:blipFill>
          <a:blip r:embed="rId2"/>
          <a:srcRect l="1310" t="-1108" r="1779" b="1108"/>
          <a:stretch>
            <a:fillRect/>
          </a:stretch>
        </p:blipFill>
        <p:spPr>
          <a:xfrm>
            <a:off x="1152805" y="861087"/>
            <a:ext cx="3818533" cy="3960898"/>
          </a:xfrm>
          <a:prstGeom prst="rect">
            <a:avLst/>
          </a:prstGeom>
        </p:spPr>
      </p:pic>
      <p:pic>
        <p:nvPicPr>
          <p:cNvPr id="9" name="图片 8">
            <a:extLst>
              <a:ext uri="{FF2B5EF4-FFF2-40B4-BE49-F238E27FC236}">
                <a16:creationId xmlns:a16="http://schemas.microsoft.com/office/drawing/2014/main" id="{EEC82445-419F-8449-DAC6-F67C768455D4}"/>
              </a:ext>
            </a:extLst>
          </p:cNvPr>
          <p:cNvPicPr>
            <a:picLocks noChangeAspect="1"/>
          </p:cNvPicPr>
          <p:nvPr/>
        </p:nvPicPr>
        <p:blipFill>
          <a:blip r:embed="rId3"/>
          <a:stretch>
            <a:fillRect/>
          </a:stretch>
        </p:blipFill>
        <p:spPr>
          <a:xfrm>
            <a:off x="5813936" y="867607"/>
            <a:ext cx="4873381" cy="3858806"/>
          </a:xfrm>
          <a:prstGeom prst="rect">
            <a:avLst/>
          </a:prstGeom>
        </p:spPr>
      </p:pic>
    </p:spTree>
    <p:extLst>
      <p:ext uri="{BB962C8B-B14F-4D97-AF65-F5344CB8AC3E}">
        <p14:creationId xmlns:p14="http://schemas.microsoft.com/office/powerpoint/2010/main" val="1476559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E9EB6-01B4-ABD1-E3F3-58AD0157007D}"/>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0A96C032-2CDC-E20D-9EED-84ABCEE05AC2}"/>
              </a:ext>
            </a:extLst>
          </p:cNvPr>
          <p:cNvGrpSpPr/>
          <p:nvPr/>
        </p:nvGrpSpPr>
        <p:grpSpPr>
          <a:xfrm>
            <a:off x="-2183584" y="-241003"/>
            <a:ext cx="7357162" cy="7340006"/>
            <a:chOff x="2105799" y="20055838"/>
            <a:chExt cx="6748090" cy="6732363"/>
          </a:xfrm>
          <a:solidFill>
            <a:schemeClr val="accent1">
              <a:alpha val="10000"/>
            </a:schemeClr>
          </a:solidFill>
        </p:grpSpPr>
        <p:sp>
          <p:nvSpPr>
            <p:cNvPr id="3" name="Freeform 8">
              <a:extLst>
                <a:ext uri="{FF2B5EF4-FFF2-40B4-BE49-F238E27FC236}">
                  <a16:creationId xmlns:a16="http://schemas.microsoft.com/office/drawing/2014/main" id="{9865449A-74AF-E582-0750-3B2E3D5D1197}"/>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Freeform 42">
              <a:extLst>
                <a:ext uri="{FF2B5EF4-FFF2-40B4-BE49-F238E27FC236}">
                  <a16:creationId xmlns:a16="http://schemas.microsoft.com/office/drawing/2014/main" id="{A2C83089-E078-8233-7627-66F3F86EFF4D}"/>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Freeform 43">
              <a:extLst>
                <a:ext uri="{FF2B5EF4-FFF2-40B4-BE49-F238E27FC236}">
                  <a16:creationId xmlns:a16="http://schemas.microsoft.com/office/drawing/2014/main" id="{6FA948DA-8DF3-B71D-A718-54D0994A85C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Freeform 44">
              <a:extLst>
                <a:ext uri="{FF2B5EF4-FFF2-40B4-BE49-F238E27FC236}">
                  <a16:creationId xmlns:a16="http://schemas.microsoft.com/office/drawing/2014/main" id="{522EAC73-6A5F-E9FC-85AF-9FC0D77D4A90}"/>
                </a:ext>
              </a:extLst>
            </p:cNvPr>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Freeform 45">
              <a:extLst>
                <a:ext uri="{FF2B5EF4-FFF2-40B4-BE49-F238E27FC236}">
                  <a16:creationId xmlns:a16="http://schemas.microsoft.com/office/drawing/2014/main" id="{BF7F6E07-8A36-0CB3-F52F-11F9441F93E5}"/>
                </a:ext>
              </a:extLst>
            </p:cNvPr>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Freeform 46">
              <a:extLst>
                <a:ext uri="{FF2B5EF4-FFF2-40B4-BE49-F238E27FC236}">
                  <a16:creationId xmlns:a16="http://schemas.microsoft.com/office/drawing/2014/main" id="{7F886388-8552-15B9-4154-6201D241F3E9}"/>
                </a:ext>
              </a:extLst>
            </p:cNvPr>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Freeform 47">
              <a:extLst>
                <a:ext uri="{FF2B5EF4-FFF2-40B4-BE49-F238E27FC236}">
                  <a16:creationId xmlns:a16="http://schemas.microsoft.com/office/drawing/2014/main" id="{AA10D67F-14AD-E737-B5A1-2F43F9329593}"/>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48">
              <a:extLst>
                <a:ext uri="{FF2B5EF4-FFF2-40B4-BE49-F238E27FC236}">
                  <a16:creationId xmlns:a16="http://schemas.microsoft.com/office/drawing/2014/main" id="{25554F78-B11D-9430-3583-02F296987AF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Freeform 49">
              <a:extLst>
                <a:ext uri="{FF2B5EF4-FFF2-40B4-BE49-F238E27FC236}">
                  <a16:creationId xmlns:a16="http://schemas.microsoft.com/office/drawing/2014/main" id="{7D1FC624-01C8-7C62-8B30-125FC1304B04}"/>
                </a:ext>
              </a:extLst>
            </p:cNvPr>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Freeform 50">
              <a:extLst>
                <a:ext uri="{FF2B5EF4-FFF2-40B4-BE49-F238E27FC236}">
                  <a16:creationId xmlns:a16="http://schemas.microsoft.com/office/drawing/2014/main" id="{1C019E13-03E4-46BC-5565-E31E3C265254}"/>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Freeform 51">
              <a:extLst>
                <a:ext uri="{FF2B5EF4-FFF2-40B4-BE49-F238E27FC236}">
                  <a16:creationId xmlns:a16="http://schemas.microsoft.com/office/drawing/2014/main" id="{E4FBF3B0-F08C-5C30-3995-E0FDE78712DA}"/>
                </a:ext>
              </a:extLst>
            </p:cNvPr>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52">
              <a:extLst>
                <a:ext uri="{FF2B5EF4-FFF2-40B4-BE49-F238E27FC236}">
                  <a16:creationId xmlns:a16="http://schemas.microsoft.com/office/drawing/2014/main" id="{25BD86C2-B614-9EDA-A279-5253DB83FA64}"/>
                </a:ext>
              </a:extLst>
            </p:cNvPr>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53">
              <a:extLst>
                <a:ext uri="{FF2B5EF4-FFF2-40B4-BE49-F238E27FC236}">
                  <a16:creationId xmlns:a16="http://schemas.microsoft.com/office/drawing/2014/main" id="{DF07CC7C-3EA0-82D0-FDDA-98931A118F0E}"/>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54">
              <a:extLst>
                <a:ext uri="{FF2B5EF4-FFF2-40B4-BE49-F238E27FC236}">
                  <a16:creationId xmlns:a16="http://schemas.microsoft.com/office/drawing/2014/main" id="{91C2B02C-6A2B-D205-0583-14A8D80D18F8}"/>
                </a:ext>
              </a:extLst>
            </p:cNvPr>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55">
              <a:extLst>
                <a:ext uri="{FF2B5EF4-FFF2-40B4-BE49-F238E27FC236}">
                  <a16:creationId xmlns:a16="http://schemas.microsoft.com/office/drawing/2014/main" id="{B1C24A8C-1EA4-B431-9643-892FEE772633}"/>
                </a:ext>
              </a:extLst>
            </p:cNvPr>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56">
              <a:extLst>
                <a:ext uri="{FF2B5EF4-FFF2-40B4-BE49-F238E27FC236}">
                  <a16:creationId xmlns:a16="http://schemas.microsoft.com/office/drawing/2014/main" id="{253D6527-B74A-CEE6-4503-36C34FD9F277}"/>
                </a:ext>
              </a:extLst>
            </p:cNvPr>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7">
              <a:extLst>
                <a:ext uri="{FF2B5EF4-FFF2-40B4-BE49-F238E27FC236}">
                  <a16:creationId xmlns:a16="http://schemas.microsoft.com/office/drawing/2014/main" id="{19A8279C-B029-A088-7F01-DBC17C0CCF91}"/>
                </a:ext>
              </a:extLst>
            </p:cNvPr>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8">
              <a:extLst>
                <a:ext uri="{FF2B5EF4-FFF2-40B4-BE49-F238E27FC236}">
                  <a16:creationId xmlns:a16="http://schemas.microsoft.com/office/drawing/2014/main" id="{7C6C88B4-54F7-097E-16D9-B60A6C7C7F62}"/>
                </a:ext>
              </a:extLst>
            </p:cNvPr>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9">
              <a:extLst>
                <a:ext uri="{FF2B5EF4-FFF2-40B4-BE49-F238E27FC236}">
                  <a16:creationId xmlns:a16="http://schemas.microsoft.com/office/drawing/2014/main" id="{06955D24-49A2-A4A6-4FC1-8B0BB22A67FE}"/>
                </a:ext>
              </a:extLst>
            </p:cNvPr>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60">
              <a:extLst>
                <a:ext uri="{FF2B5EF4-FFF2-40B4-BE49-F238E27FC236}">
                  <a16:creationId xmlns:a16="http://schemas.microsoft.com/office/drawing/2014/main" id="{B6BEDA0F-809C-FC09-88B5-3E3690B79235}"/>
                </a:ext>
              </a:extLst>
            </p:cNvPr>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61">
              <a:extLst>
                <a:ext uri="{FF2B5EF4-FFF2-40B4-BE49-F238E27FC236}">
                  <a16:creationId xmlns:a16="http://schemas.microsoft.com/office/drawing/2014/main" id="{7117FF34-E4CC-9217-DD45-8931E4681E45}"/>
                </a:ext>
              </a:extLst>
            </p:cNvPr>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62">
              <a:extLst>
                <a:ext uri="{FF2B5EF4-FFF2-40B4-BE49-F238E27FC236}">
                  <a16:creationId xmlns:a16="http://schemas.microsoft.com/office/drawing/2014/main" id="{E18958F4-24F6-12F9-8976-CB275DDA46A0}"/>
                </a:ext>
              </a:extLst>
            </p:cNvPr>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71">
              <a:extLst>
                <a:ext uri="{FF2B5EF4-FFF2-40B4-BE49-F238E27FC236}">
                  <a16:creationId xmlns:a16="http://schemas.microsoft.com/office/drawing/2014/main" id="{C9A0B189-9A17-CAFE-0EAB-70CCCCDC218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0" name="文本框 29">
            <a:extLst>
              <a:ext uri="{FF2B5EF4-FFF2-40B4-BE49-F238E27FC236}">
                <a16:creationId xmlns:a16="http://schemas.microsoft.com/office/drawing/2014/main" id="{8BE67B67-54D2-B670-2F09-5F8BA7D419A0}"/>
              </a:ext>
            </a:extLst>
          </p:cNvPr>
          <p:cNvSpPr txBox="1"/>
          <p:nvPr/>
        </p:nvSpPr>
        <p:spPr>
          <a:xfrm>
            <a:off x="5300903" y="1754028"/>
            <a:ext cx="244904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150" normalizeH="0" baseline="0" noProof="0">
                <a:ln>
                  <a:noFill/>
                </a:ln>
                <a:solidFill>
                  <a:srgbClr val="595959"/>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PART 03</a:t>
            </a:r>
            <a:endParaRPr kumimoji="0" lang="zh-CN" altLang="en-US" sz="3600" b="0" i="0" u="none" strike="noStrike" kern="1200" cap="none" spc="150" normalizeH="0" baseline="0" noProof="0" dirty="0">
              <a:ln>
                <a:noFill/>
              </a:ln>
              <a:solidFill>
                <a:srgbClr val="595959"/>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矩形 31">
            <a:extLst>
              <a:ext uri="{FF2B5EF4-FFF2-40B4-BE49-F238E27FC236}">
                <a16:creationId xmlns:a16="http://schemas.microsoft.com/office/drawing/2014/main" id="{70DFE0B2-4548-7F3A-9516-3B2CAC856950}"/>
              </a:ext>
            </a:extLst>
          </p:cNvPr>
          <p:cNvSpPr/>
          <p:nvPr/>
        </p:nvSpPr>
        <p:spPr>
          <a:xfrm>
            <a:off x="5389085" y="2593396"/>
            <a:ext cx="665278" cy="45720"/>
          </a:xfrm>
          <a:prstGeom prst="rect">
            <a:avLst/>
          </a:prstGeom>
          <a:solidFill>
            <a:schemeClr val="accent1"/>
          </a:solid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矩形 32">
            <a:extLst>
              <a:ext uri="{FF2B5EF4-FFF2-40B4-BE49-F238E27FC236}">
                <a16:creationId xmlns:a16="http://schemas.microsoft.com/office/drawing/2014/main" id="{D3A2DB80-493A-F655-652A-348D461B1CB5}"/>
              </a:ext>
            </a:extLst>
          </p:cNvPr>
          <p:cNvSpPr/>
          <p:nvPr/>
        </p:nvSpPr>
        <p:spPr>
          <a:xfrm>
            <a:off x="5327921" y="2991686"/>
            <a:ext cx="6779997" cy="1200329"/>
          </a:xfrm>
          <a:prstGeom prst="rect">
            <a:avLst/>
          </a:prstGeom>
        </p:spPr>
        <p:txBody>
          <a:bodyPr wrap="square">
            <a:spAutoFit/>
          </a:bodyPr>
          <a:lstStyle/>
          <a:p>
            <a:pPr>
              <a:defRPr/>
            </a:pPr>
            <a:r>
              <a:rPr lang="en-US" altLang="zh-CN" sz="2400" b="1" dirty="0">
                <a:latin typeface="Arial" panose="020B0604020202020204" pitchFamily="34" charset="0"/>
                <a:ea typeface="微软雅黑" panose="020B0503020204020204" pitchFamily="34" charset="-122"/>
                <a:cs typeface="+mn-ea"/>
              </a:rPr>
              <a:t>UCF: Uncovering Common Features for Generalizable Deepfake Detection</a:t>
            </a:r>
          </a:p>
          <a:p>
            <a:pPr>
              <a:defRPr/>
            </a:pPr>
            <a:r>
              <a:rPr lang="en-US" altLang="zh-CN" sz="2400" dirty="0">
                <a:latin typeface="Arial" panose="020B0604020202020204" pitchFamily="34" charset="0"/>
                <a:ea typeface="微软雅黑" panose="020B0503020204020204" pitchFamily="34" charset="-122"/>
                <a:cs typeface="+mn-ea"/>
              </a:rPr>
              <a:t>UCF</a:t>
            </a:r>
            <a:r>
              <a:rPr lang="zh-CN" altLang="en-US" sz="2400" dirty="0">
                <a:latin typeface="Arial" panose="020B0604020202020204" pitchFamily="34" charset="0"/>
                <a:ea typeface="微软雅黑" panose="020B0503020204020204" pitchFamily="34" charset="-122"/>
                <a:cs typeface="+mn-ea"/>
              </a:rPr>
              <a:t>：挖掘通用深度伪造检测的共同特征</a:t>
            </a:r>
          </a:p>
        </p:txBody>
      </p:sp>
      <p:sp>
        <p:nvSpPr>
          <p:cNvPr id="28" name="文本框 27">
            <a:extLst>
              <a:ext uri="{FF2B5EF4-FFF2-40B4-BE49-F238E27FC236}">
                <a16:creationId xmlns:a16="http://schemas.microsoft.com/office/drawing/2014/main" id="{DE3FB5A0-4B9F-86A7-0DDD-1291E53522C4}"/>
              </a:ext>
            </a:extLst>
          </p:cNvPr>
          <p:cNvSpPr txBox="1"/>
          <p:nvPr/>
        </p:nvSpPr>
        <p:spPr>
          <a:xfrm>
            <a:off x="7540053" y="5596275"/>
            <a:ext cx="4309672" cy="646331"/>
          </a:xfrm>
          <a:prstGeom prst="rect">
            <a:avLst/>
          </a:prstGeom>
          <a:noFill/>
        </p:spPr>
        <p:txBody>
          <a:bodyPr wrap="square">
            <a:spAutoFit/>
          </a:bodyPr>
          <a:lstStyle/>
          <a:p>
            <a:r>
              <a:rPr lang="en-US" altLang="zh-CN" dirty="0">
                <a:solidFill>
                  <a:srgbClr val="333333"/>
                </a:solidFill>
                <a:latin typeface="Helvetica Neue"/>
              </a:rPr>
              <a:t>2023, IEEE International Conference on Computer Vision (ICCV)</a:t>
            </a:r>
            <a:endParaRPr lang="zh-CN" altLang="en-US" dirty="0">
              <a:solidFill>
                <a:srgbClr val="333333"/>
              </a:solidFill>
              <a:latin typeface="Helvetica Neue"/>
            </a:endParaRPr>
          </a:p>
        </p:txBody>
      </p:sp>
    </p:spTree>
    <p:extLst>
      <p:ext uri="{BB962C8B-B14F-4D97-AF65-F5344CB8AC3E}">
        <p14:creationId xmlns:p14="http://schemas.microsoft.com/office/powerpoint/2010/main" val="3566848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C449D-E2B2-F6EA-AFAC-31CC48F2C23F}"/>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97EA911-E4BF-4B59-20C6-80CC8F0B6159}"/>
              </a:ext>
            </a:extLst>
          </p:cNvPr>
          <p:cNvSpPr>
            <a:spLocks noGrp="1"/>
          </p:cNvSpPr>
          <p:nvPr>
            <p:ph type="sldNum" sz="quarter" idx="4"/>
          </p:nvPr>
        </p:nvSpPr>
        <p:spPr/>
        <p:txBody>
          <a:bodyPr/>
          <a:lstStyle/>
          <a:p>
            <a:r>
              <a:rPr lang="en-US" altLang="zh-CN"/>
              <a:t>&lt; </a:t>
            </a:r>
            <a:fld id="{A548B57D-AE10-4CF7-A9DF-59FEFA91B28E}" type="slidenum">
              <a:rPr lang="zh-CN" altLang="en-US" smtClean="0"/>
              <a:t>21</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D918C6E8-A717-9544-720E-7B7CCDAFE2AC}"/>
              </a:ext>
            </a:extLst>
          </p:cNvPr>
          <p:cNvSpPr>
            <a:spLocks noGrp="1"/>
          </p:cNvSpPr>
          <p:nvPr>
            <p:ph type="title"/>
          </p:nvPr>
        </p:nvSpPr>
        <p:spPr/>
        <p:txBody>
          <a:bodyPr>
            <a:noAutofit/>
          </a:bodyPr>
          <a:lstStyle/>
          <a:p>
            <a:r>
              <a:rPr lang="zh-CN" altLang="en-US" spc="0" dirty="0"/>
              <a:t>研究背景</a:t>
            </a:r>
          </a:p>
        </p:txBody>
      </p:sp>
      <p:sp>
        <p:nvSpPr>
          <p:cNvPr id="4" name="文本占位符 3">
            <a:extLst>
              <a:ext uri="{FF2B5EF4-FFF2-40B4-BE49-F238E27FC236}">
                <a16:creationId xmlns:a16="http://schemas.microsoft.com/office/drawing/2014/main" id="{ECFAF565-0C90-AC57-A6E6-700CD4B6665C}"/>
              </a:ext>
            </a:extLst>
          </p:cNvPr>
          <p:cNvSpPr>
            <a:spLocks noGrp="1"/>
          </p:cNvSpPr>
          <p:nvPr>
            <p:ph type="body" sz="quarter" idx="10"/>
          </p:nvPr>
        </p:nvSpPr>
        <p:spPr>
          <a:xfrm>
            <a:off x="526530" y="861086"/>
            <a:ext cx="11138940" cy="4384623"/>
          </a:xfrm>
        </p:spPr>
        <p:txBody>
          <a:bodyPr>
            <a:normAutofit fontScale="85000" lnSpcReduction="10000"/>
          </a:bodyPr>
          <a:lstStyle/>
          <a:p>
            <a:pPr marL="0" indent="0">
              <a:lnSpc>
                <a:spcPct val="150000"/>
              </a:lnSpc>
              <a:buNone/>
            </a:pPr>
            <a:r>
              <a:rPr lang="zh-CN" altLang="en-US" b="0" dirty="0">
                <a:latin typeface="微软雅黑" panose="020B0503020204020204" pitchFamily="34" charset="-122"/>
                <a:ea typeface="微软雅黑" panose="020B0503020204020204" pitchFamily="34" charset="-122"/>
              </a:rPr>
              <a:t>深度伪造技术的恶意应用（虚假信息、隐私泄露）需</a:t>
            </a:r>
            <a:r>
              <a:rPr lang="zh-CN" altLang="en-US" dirty="0">
                <a:latin typeface="微软雅黑" panose="020B0503020204020204" pitchFamily="34" charset="-122"/>
                <a:ea typeface="微软雅黑" panose="020B0503020204020204" pitchFamily="34" charset="-122"/>
              </a:rPr>
              <a:t>高泛化性</a:t>
            </a:r>
            <a:r>
              <a:rPr lang="zh-CN" altLang="en-US" b="0" dirty="0">
                <a:latin typeface="微软雅黑" panose="020B0503020204020204" pitchFamily="34" charset="-122"/>
                <a:ea typeface="微软雅黑" panose="020B0503020204020204" pitchFamily="34" charset="-122"/>
              </a:rPr>
              <a:t>检测方法，但现有方案存在显著局限：</a:t>
            </a:r>
          </a:p>
          <a:p>
            <a:pPr marL="0" indent="0">
              <a:lnSpc>
                <a:spcPct val="150000"/>
              </a:lnSpc>
              <a:buNone/>
            </a:pPr>
            <a:r>
              <a:rPr lang="zh-CN" altLang="en-US" dirty="0">
                <a:latin typeface="微软雅黑" panose="020B0503020204020204" pitchFamily="34" charset="-122"/>
                <a:ea typeface="微软雅黑" panose="020B0503020204020204" pitchFamily="34" charset="-122"/>
              </a:rPr>
              <a:t>泛化性差的两大根源：</a:t>
            </a:r>
          </a:p>
          <a:p>
            <a:pPr>
              <a:lnSpc>
                <a:spcPct val="150000"/>
              </a:lnSpc>
            </a:pPr>
            <a:r>
              <a:rPr lang="zh-CN" altLang="en-US" dirty="0">
                <a:latin typeface="微软雅黑" panose="020B0503020204020204" pitchFamily="34" charset="-122"/>
                <a:ea typeface="微软雅黑" panose="020B0503020204020204" pitchFamily="34" charset="-122"/>
              </a:rPr>
              <a:t>过度拟合伪造无关特征：</a:t>
            </a:r>
            <a:r>
              <a:rPr lang="zh-CN" altLang="en-US" b="0" dirty="0">
                <a:latin typeface="微软雅黑" panose="020B0503020204020204" pitchFamily="34" charset="-122"/>
                <a:ea typeface="微软雅黑" panose="020B0503020204020204" pitchFamily="34" charset="-122"/>
              </a:rPr>
              <a:t>检测模型易关注背景、身份、面部外观等与伪造无关的信息，导致换数据集后性能骤降；</a:t>
            </a:r>
          </a:p>
          <a:p>
            <a:pPr>
              <a:lnSpc>
                <a:spcPct val="150000"/>
              </a:lnSpc>
            </a:pPr>
            <a:r>
              <a:rPr lang="zh-CN" altLang="en-US" dirty="0">
                <a:latin typeface="微软雅黑" panose="020B0503020204020204" pitchFamily="34" charset="-122"/>
                <a:ea typeface="微软雅黑" panose="020B0503020204020204" pitchFamily="34" charset="-122"/>
              </a:rPr>
              <a:t>过度拟合方法特定模式：</a:t>
            </a:r>
            <a:r>
              <a:rPr lang="zh-CN" altLang="en-US" b="0" dirty="0">
                <a:latin typeface="微软雅黑" panose="020B0503020204020204" pitchFamily="34" charset="-122"/>
                <a:ea typeface="微软雅黑" panose="020B0503020204020204" pitchFamily="34" charset="-122"/>
              </a:rPr>
              <a:t>不同伪造算法会产生独特痕迹，模型仅学习这些痕迹，无法识别未知伪造方法。</a:t>
            </a:r>
          </a:p>
          <a:p>
            <a:pPr marL="0" indent="0">
              <a:lnSpc>
                <a:spcPct val="150000"/>
              </a:lnSpc>
              <a:buNone/>
            </a:pPr>
            <a:r>
              <a:rPr lang="zh-CN" altLang="en-US" dirty="0">
                <a:latin typeface="微软雅黑" panose="020B0503020204020204" pitchFamily="34" charset="-122"/>
                <a:ea typeface="微软雅黑" panose="020B0503020204020204" pitchFamily="34" charset="-122"/>
              </a:rPr>
              <a:t>现有方法的不足：</a:t>
            </a:r>
          </a:p>
          <a:p>
            <a:pPr>
              <a:lnSpc>
                <a:spcPct val="150000"/>
              </a:lnSpc>
            </a:pPr>
            <a:r>
              <a:rPr lang="zh-CN" altLang="en-US" dirty="0">
                <a:latin typeface="微软雅黑" panose="020B0503020204020204" pitchFamily="34" charset="-122"/>
                <a:ea typeface="微软雅黑" panose="020B0503020204020204" pitchFamily="34" charset="-122"/>
              </a:rPr>
              <a:t>传统方法：</a:t>
            </a:r>
            <a:r>
              <a:rPr lang="zh-CN" altLang="en-US" b="0" dirty="0">
                <a:latin typeface="微软雅黑" panose="020B0503020204020204" pitchFamily="34" charset="-122"/>
                <a:ea typeface="微软雅黑" panose="020B0503020204020204" pitchFamily="34" charset="-122"/>
              </a:rPr>
              <a:t>依赖预定义伪造模式，当测试数据无此类模式时失效；</a:t>
            </a:r>
          </a:p>
          <a:p>
            <a:pPr>
              <a:lnSpc>
                <a:spcPct val="150000"/>
              </a:lnSpc>
            </a:pPr>
            <a:r>
              <a:rPr lang="zh-CN" altLang="en-US" dirty="0">
                <a:latin typeface="微软雅黑" panose="020B0503020204020204" pitchFamily="34" charset="-122"/>
                <a:ea typeface="微软雅黑" panose="020B0503020204020204" pitchFamily="34" charset="-122"/>
              </a:rPr>
              <a:t>解纠缠方法：</a:t>
            </a:r>
            <a:r>
              <a:rPr lang="zh-CN" altLang="en-US" b="0" dirty="0">
                <a:latin typeface="微软雅黑" panose="020B0503020204020204" pitchFamily="34" charset="-122"/>
                <a:ea typeface="微软雅黑" panose="020B0503020204020204" pitchFamily="34" charset="-122"/>
              </a:rPr>
              <a:t>仅分离 “内容特征” 与 “伪造特征”，未进一步区分 “通用伪造特征”（跨方法共享）与 “特定伪造特征”（方法专属），仍受特定模式干扰。</a:t>
            </a:r>
          </a:p>
        </p:txBody>
      </p:sp>
      <p:pic>
        <p:nvPicPr>
          <p:cNvPr id="6" name="图片 5">
            <a:extLst>
              <a:ext uri="{FF2B5EF4-FFF2-40B4-BE49-F238E27FC236}">
                <a16:creationId xmlns:a16="http://schemas.microsoft.com/office/drawing/2014/main" id="{1FDE4552-C288-316A-986D-56A886FA19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0988" y="4774367"/>
            <a:ext cx="4941294" cy="1912182"/>
          </a:xfrm>
          <a:prstGeom prst="rect">
            <a:avLst/>
          </a:prstGeom>
        </p:spPr>
      </p:pic>
    </p:spTree>
    <p:extLst>
      <p:ext uri="{BB962C8B-B14F-4D97-AF65-F5344CB8AC3E}">
        <p14:creationId xmlns:p14="http://schemas.microsoft.com/office/powerpoint/2010/main" val="26897143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5B3D4-4943-CD40-71B3-09C7898FFF73}"/>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8F1E2C4-482B-52F7-05F4-21828CF64B75}"/>
              </a:ext>
            </a:extLst>
          </p:cNvPr>
          <p:cNvSpPr>
            <a:spLocks noGrp="1"/>
          </p:cNvSpPr>
          <p:nvPr>
            <p:ph type="sldNum" sz="quarter" idx="4"/>
          </p:nvPr>
        </p:nvSpPr>
        <p:spPr/>
        <p:txBody>
          <a:bodyPr/>
          <a:lstStyle/>
          <a:p>
            <a:r>
              <a:rPr lang="en-US" altLang="zh-CN"/>
              <a:t>&lt; </a:t>
            </a:r>
            <a:fld id="{A548B57D-AE10-4CF7-A9DF-59FEFA91B28E}" type="slidenum">
              <a:rPr lang="zh-CN" altLang="en-US" smtClean="0"/>
              <a:t>22</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E5EFC136-59BB-608B-DA03-7735A186A474}"/>
              </a:ext>
            </a:extLst>
          </p:cNvPr>
          <p:cNvSpPr>
            <a:spLocks noGrp="1"/>
          </p:cNvSpPr>
          <p:nvPr>
            <p:ph type="title"/>
          </p:nvPr>
        </p:nvSpPr>
        <p:spPr/>
        <p:txBody>
          <a:bodyPr>
            <a:noAutofit/>
          </a:bodyPr>
          <a:lstStyle/>
          <a:p>
            <a:r>
              <a:rPr lang="zh-CN" altLang="en-US" spc="0" dirty="0"/>
              <a:t>整体框架</a:t>
            </a:r>
            <a:endParaRPr lang="zh-CN" altLang="en-US" dirty="0"/>
          </a:p>
        </p:txBody>
      </p:sp>
      <p:sp>
        <p:nvSpPr>
          <p:cNvPr id="10" name="LimitationBoxContent">
            <a:extLst>
              <a:ext uri="{FF2B5EF4-FFF2-40B4-BE49-F238E27FC236}">
                <a16:creationId xmlns:a16="http://schemas.microsoft.com/office/drawing/2014/main" id="{5305180B-F8EB-72BD-35B1-056A19C9C0ED}"/>
              </a:ext>
            </a:extLst>
          </p:cNvPr>
          <p:cNvSpPr/>
          <p:nvPr/>
        </p:nvSpPr>
        <p:spPr>
          <a:xfrm>
            <a:off x="7263032" y="861087"/>
            <a:ext cx="4429296" cy="5533267"/>
          </a:xfrm>
          <a:prstGeom prst="rect">
            <a:avLst/>
          </a:prstGeom>
          <a:solidFill>
            <a:srgbClr val="E74C3C">
              <a:alpha val="10000"/>
            </a:srgbClr>
          </a:solidFill>
          <a:ln w="0">
            <a:noFill/>
          </a:ln>
        </p:spPr>
        <p:style>
          <a:lnRef idx="0">
            <a:scrgbClr r="0" g="0" b="0"/>
          </a:lnRef>
          <a:fillRef idx="0">
            <a:scrgbClr r="0" g="0" b="0"/>
          </a:fillRef>
          <a:effectRef idx="0">
            <a:scrgbClr r="0" g="0" b="0"/>
          </a:effectRef>
          <a:fontRef idx="minor"/>
        </p:style>
        <p:txBody>
          <a:bodyPr lIns="171360" tIns="171360" rIns="171360" bIns="17136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lnSpc>
                <a:spcPct val="150000"/>
              </a:lnSpc>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rPr>
              <a:t>输入：</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真图 </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rPr>
              <a:t>x₁</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、假图 </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rPr>
              <a:t>x₀</a:t>
            </a:r>
          </a:p>
          <a:p>
            <a:pPr defTabSz="457200">
              <a:lnSpc>
                <a:spcPct val="150000"/>
              </a:lnSpc>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rPr>
              <a:t>→ 编码器 </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cs typeface="+mn-ea"/>
              </a:rPr>
              <a:t>E </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rPr>
              <a:t>产生三份特征：</a:t>
            </a:r>
          </a:p>
          <a:p>
            <a:pPr defTabSz="457200">
              <a:lnSpc>
                <a:spcPct val="15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rPr>
              <a:t>c</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：内容（</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rPr>
              <a:t>content</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p>
          <a:p>
            <a:pPr defTabSz="457200">
              <a:lnSpc>
                <a:spcPct val="15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rPr>
              <a:t>fᶜ</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：共性伪造指纹（</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rPr>
              <a:t>common</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p>
          <a:p>
            <a:pPr defTabSz="457200">
              <a:lnSpc>
                <a:spcPct val="150000"/>
              </a:lnSpc>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cs typeface="+mn-ea"/>
              </a:rPr>
              <a:t>fˢ</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：方法特异伪造指纹（</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rPr>
              <a:t>specific</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p>
          <a:p>
            <a:pPr defTabSz="457200">
              <a:lnSpc>
                <a:spcPct val="150000"/>
              </a:lnSpc>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rPr>
              <a:t>→ 重组重建：</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a:p>
            <a:pPr defTabSz="457200">
              <a:lnSpc>
                <a:spcPct val="150000"/>
              </a:lnSpc>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不同图的“内容</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指纹”交叉组合，经解码器 </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rPr>
              <a:t>D </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复原图像，用像素级损失约束“内容</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指纹真正被分开”。</a:t>
            </a:r>
          </a:p>
          <a:p>
            <a:pPr defTabSz="457200">
              <a:lnSpc>
                <a:spcPct val="150000"/>
              </a:lnSpc>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rPr>
              <a:t>→ 并行两个头：</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a:p>
            <a:pPr defTabSz="457200">
              <a:lnSpc>
                <a:spcPct val="150000"/>
              </a:lnSpc>
            </a:pP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cs typeface="+mn-ea"/>
              </a:rPr>
              <a:t>Hc</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（二分类真假，用 </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rPr>
              <a:t>common</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rPr>
              <a:t>Hs</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（多分类识别造假方法，用 </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rPr>
              <a:t>specific</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p>
          <a:p>
            <a:pPr defTabSz="457200">
              <a:lnSpc>
                <a:spcPct val="150000"/>
              </a:lnSpc>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rPr>
              <a:t>→ 推理：</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只用 </a:t>
            </a:r>
            <a:r>
              <a:rPr lang="en-US" altLang="zh-CN" dirty="0" err="1">
                <a:solidFill>
                  <a:schemeClr val="tx1">
                    <a:lumMod val="75000"/>
                    <a:lumOff val="25000"/>
                  </a:schemeClr>
                </a:solidFill>
                <a:latin typeface="微软雅黑" panose="020B0503020204020204" pitchFamily="34" charset="-122"/>
                <a:ea typeface="微软雅黑" panose="020B0503020204020204" pitchFamily="34" charset="-122"/>
                <a:cs typeface="+mn-ea"/>
              </a:rPr>
              <a:t>Hc</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mn-ea"/>
              </a:rPr>
              <a:t>(fᶜ) </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rPr>
              <a:t>判真伪。</a:t>
            </a:r>
            <a:endParaRPr lang="en-US" altLang="en-US"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p:txBody>
      </p:sp>
      <p:pic>
        <p:nvPicPr>
          <p:cNvPr id="11" name="图片 10">
            <a:extLst>
              <a:ext uri="{FF2B5EF4-FFF2-40B4-BE49-F238E27FC236}">
                <a16:creationId xmlns:a16="http://schemas.microsoft.com/office/drawing/2014/main" id="{03BC18FB-8A58-137E-0005-62332B21D1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794" y="1623405"/>
            <a:ext cx="7069238" cy="3945441"/>
          </a:xfrm>
          <a:prstGeom prst="rect">
            <a:avLst/>
          </a:prstGeom>
        </p:spPr>
      </p:pic>
    </p:spTree>
    <p:extLst>
      <p:ext uri="{BB962C8B-B14F-4D97-AF65-F5344CB8AC3E}">
        <p14:creationId xmlns:p14="http://schemas.microsoft.com/office/powerpoint/2010/main" val="41032883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DB49D-64F5-FC40-751D-E0D02D02BF3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66EB9B1-3C0B-3DC0-58C5-45B29509B55A}"/>
              </a:ext>
            </a:extLst>
          </p:cNvPr>
          <p:cNvSpPr>
            <a:spLocks noGrp="1"/>
          </p:cNvSpPr>
          <p:nvPr>
            <p:ph type="sldNum" sz="quarter" idx="4"/>
          </p:nvPr>
        </p:nvSpPr>
        <p:spPr/>
        <p:txBody>
          <a:bodyPr/>
          <a:lstStyle/>
          <a:p>
            <a:r>
              <a:rPr lang="en-US" altLang="zh-CN" dirty="0"/>
              <a:t>&lt; </a:t>
            </a:r>
            <a:fld id="{A548B57D-AE10-4CF7-A9DF-59FEFA91B28E}" type="slidenum">
              <a:rPr lang="zh-CN" altLang="en-US" smtClean="0"/>
              <a:t>23</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2FDF6CE3-680A-4A4E-9FF3-AD9832780F86}"/>
              </a:ext>
            </a:extLst>
          </p:cNvPr>
          <p:cNvSpPr>
            <a:spLocks noGrp="1"/>
          </p:cNvSpPr>
          <p:nvPr>
            <p:ph type="title"/>
          </p:nvPr>
        </p:nvSpPr>
        <p:spPr/>
        <p:txBody>
          <a:bodyPr>
            <a:noAutofit/>
          </a:bodyPr>
          <a:lstStyle/>
          <a:p>
            <a:r>
              <a:rPr lang="zh-CN" altLang="en-US" spc="0" dirty="0"/>
              <a:t>核心组件 </a:t>
            </a:r>
            <a:r>
              <a:rPr lang="en-US" altLang="zh-CN" spc="0" dirty="0"/>
              <a:t>——</a:t>
            </a:r>
            <a:r>
              <a:rPr lang="zh-CN" altLang="en-US" spc="0" dirty="0"/>
              <a:t> 条件解码器</a:t>
            </a:r>
          </a:p>
        </p:txBody>
      </p:sp>
      <p:sp>
        <p:nvSpPr>
          <p:cNvPr id="17" name="文本占位符 3">
            <a:extLst>
              <a:ext uri="{FF2B5EF4-FFF2-40B4-BE49-F238E27FC236}">
                <a16:creationId xmlns:a16="http://schemas.microsoft.com/office/drawing/2014/main" id="{9ECA96FE-4DC6-B608-7951-5383BC7A041B}"/>
              </a:ext>
            </a:extLst>
          </p:cNvPr>
          <p:cNvSpPr>
            <a:spLocks noGrp="1"/>
          </p:cNvSpPr>
          <p:nvPr>
            <p:ph type="body" sz="quarter" idx="10"/>
          </p:nvPr>
        </p:nvSpPr>
        <p:spPr>
          <a:xfrm>
            <a:off x="720934" y="1615005"/>
            <a:ext cx="11255876" cy="2020649"/>
          </a:xfrm>
        </p:spPr>
        <p:txBody>
          <a:bodyPr>
            <a:normAutofit/>
          </a:bodyPr>
          <a:lstStyle/>
          <a:p>
            <a:pPr marL="0" indent="0" defTabSz="457200">
              <a:lnSpc>
                <a:spcPct val="150000"/>
              </a:lnSpc>
              <a:buNone/>
            </a:pPr>
            <a:r>
              <a:rPr lang="zh-CN" altLang="en-US" sz="1800" dirty="0">
                <a:latin typeface="微软雅黑" panose="020B0503020204020204" pitchFamily="34" charset="-122"/>
                <a:ea typeface="微软雅黑" panose="020B0503020204020204" pitchFamily="34" charset="-122"/>
              </a:rPr>
              <a:t>目标：</a:t>
            </a:r>
            <a:r>
              <a:rPr lang="zh-CN" altLang="en-US" sz="1800" b="0" dirty="0">
                <a:latin typeface="微软雅黑" panose="020B0503020204020204" pitchFamily="34" charset="-122"/>
                <a:ea typeface="微软雅黑" panose="020B0503020204020204" pitchFamily="34" charset="-122"/>
              </a:rPr>
              <a:t>把内容向量 </a:t>
            </a:r>
            <a:r>
              <a:rPr lang="en-US" altLang="zh-CN" sz="1800" b="0" dirty="0">
                <a:latin typeface="微软雅黑" panose="020B0503020204020204" pitchFamily="34" charset="-122"/>
                <a:ea typeface="微软雅黑" panose="020B0503020204020204" pitchFamily="34" charset="-122"/>
              </a:rPr>
              <a:t>c</a:t>
            </a:r>
            <a:r>
              <a:rPr lang="zh-CN" altLang="en-US" sz="1800" b="0" dirty="0">
                <a:latin typeface="微软雅黑" panose="020B0503020204020204" pitchFamily="34" charset="-122"/>
                <a:ea typeface="微软雅黑" panose="020B0503020204020204" pitchFamily="34" charset="-122"/>
              </a:rPr>
              <a:t>（人</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姿态</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背景）和伪造指纹向量 </a:t>
            </a:r>
            <a:r>
              <a:rPr lang="en-US" altLang="zh-CN" sz="1800" b="0" dirty="0">
                <a:latin typeface="微软雅黑" panose="020B0503020204020204" pitchFamily="34" charset="-122"/>
                <a:ea typeface="微软雅黑" panose="020B0503020204020204" pitchFamily="34" charset="-122"/>
              </a:rPr>
              <a:t>f</a:t>
            </a:r>
            <a:r>
              <a:rPr lang="zh-CN" altLang="en-US" sz="1800" b="0" dirty="0">
                <a:latin typeface="微软雅黑" panose="020B0503020204020204" pitchFamily="34" charset="-122"/>
                <a:ea typeface="微软雅黑" panose="020B0503020204020204" pitchFamily="34" charset="-122"/>
              </a:rPr>
              <a:t>（与造假相关的纹理</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痕迹）重新组合并重建图像。</a:t>
            </a:r>
          </a:p>
          <a:p>
            <a:pPr marL="0" indent="0" defTabSz="457200">
              <a:lnSpc>
                <a:spcPct val="150000"/>
              </a:lnSpc>
              <a:buNone/>
            </a:pPr>
            <a:r>
              <a:rPr lang="zh-CN" altLang="en-US" sz="1800" b="0" dirty="0">
                <a:latin typeface="微软雅黑" panose="020B0503020204020204" pitchFamily="34" charset="-122"/>
                <a:ea typeface="微软雅黑" panose="020B0503020204020204" pitchFamily="34" charset="-122"/>
              </a:rPr>
              <a:t>与以往</a:t>
            </a:r>
            <a:r>
              <a:rPr lang="zh-CN" altLang="en-US" sz="1800" dirty="0">
                <a:latin typeface="微软雅黑" panose="020B0503020204020204" pitchFamily="34" charset="-122"/>
                <a:ea typeface="微软雅黑" panose="020B0503020204020204" pitchFamily="34" charset="-122"/>
              </a:rPr>
              <a:t>“把 </a:t>
            </a:r>
            <a:r>
              <a:rPr lang="en-US" altLang="zh-CN" sz="1800" dirty="0" err="1">
                <a:latin typeface="微软雅黑" panose="020B0503020204020204" pitchFamily="34" charset="-122"/>
                <a:ea typeface="微软雅黑" panose="020B0503020204020204" pitchFamily="34" charset="-122"/>
              </a:rPr>
              <a:t>c,f</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简单相加后再卷积上采样”</a:t>
            </a:r>
            <a:r>
              <a:rPr lang="zh-CN" altLang="en-US" sz="1800" b="0" dirty="0">
                <a:latin typeface="微软雅黑" panose="020B0503020204020204" pitchFamily="34" charset="-122"/>
                <a:ea typeface="微软雅黑" panose="020B0503020204020204" pitchFamily="34" charset="-122"/>
              </a:rPr>
              <a:t>的做法不同，本文</a:t>
            </a:r>
            <a:r>
              <a:rPr lang="zh-CN" altLang="en-US" sz="1800" dirty="0">
                <a:latin typeface="微软雅黑" panose="020B0503020204020204" pitchFamily="34" charset="-122"/>
                <a:ea typeface="微软雅黑" panose="020B0503020204020204" pitchFamily="34" charset="-122"/>
              </a:rPr>
              <a:t>把 </a:t>
            </a:r>
            <a:r>
              <a:rPr lang="en-US" altLang="zh-CN" sz="1800" dirty="0">
                <a:latin typeface="微软雅黑" panose="020B0503020204020204" pitchFamily="34" charset="-122"/>
                <a:ea typeface="微软雅黑" panose="020B0503020204020204" pitchFamily="34" charset="-122"/>
              </a:rPr>
              <a:t>f </a:t>
            </a:r>
            <a:r>
              <a:rPr lang="zh-CN" altLang="en-US" sz="1800" dirty="0">
                <a:latin typeface="微软雅黑" panose="020B0503020204020204" pitchFamily="34" charset="-122"/>
                <a:ea typeface="微软雅黑" panose="020B0503020204020204" pitchFamily="34" charset="-122"/>
              </a:rPr>
              <a:t>作为“条件” 用 </a:t>
            </a:r>
            <a:r>
              <a:rPr lang="en-US" altLang="zh-CN" sz="1800" dirty="0" err="1">
                <a:latin typeface="微软雅黑" panose="020B0503020204020204" pitchFamily="34" charset="-122"/>
                <a:ea typeface="微软雅黑" panose="020B0503020204020204" pitchFamily="34" charset="-122"/>
              </a:rPr>
              <a:t>AdaIN</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去调制 </a:t>
            </a:r>
            <a:r>
              <a:rPr lang="en-US" altLang="zh-CN" sz="1800" dirty="0">
                <a:latin typeface="微软雅黑" panose="020B0503020204020204" pitchFamily="34" charset="-122"/>
                <a:ea typeface="微软雅黑" panose="020B0503020204020204" pitchFamily="34" charset="-122"/>
              </a:rPr>
              <a:t>c </a:t>
            </a:r>
            <a:r>
              <a:rPr lang="zh-CN" altLang="en-US" sz="1800" dirty="0">
                <a:latin typeface="微软雅黑" panose="020B0503020204020204" pitchFamily="34" charset="-122"/>
                <a:ea typeface="微软雅黑" panose="020B0503020204020204" pitchFamily="34" charset="-122"/>
              </a:rPr>
              <a:t>的分布</a:t>
            </a:r>
            <a:r>
              <a:rPr lang="zh-CN" altLang="en-US" sz="1800" b="0" dirty="0">
                <a:latin typeface="微软雅黑" panose="020B0503020204020204" pitchFamily="34" charset="-122"/>
                <a:ea typeface="微软雅黑" panose="020B0503020204020204" pitchFamily="34" charset="-122"/>
              </a:rPr>
              <a:t>，再进入多层上采样卷积完成重建，这样能更好地</a:t>
            </a:r>
            <a:r>
              <a:rPr lang="zh-CN" altLang="en-US" sz="1800" dirty="0">
                <a:latin typeface="微软雅黑" panose="020B0503020204020204" pitchFamily="34" charset="-122"/>
                <a:ea typeface="微软雅黑" panose="020B0503020204020204" pitchFamily="34" charset="-122"/>
              </a:rPr>
              <a:t>把“内容”和“指纹”解耦</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p:txBody>
      </p:sp>
      <p:sp>
        <p:nvSpPr>
          <p:cNvPr id="4" name="ModelComp1Border">
            <a:extLst>
              <a:ext uri="{FF2B5EF4-FFF2-40B4-BE49-F238E27FC236}">
                <a16:creationId xmlns:a16="http://schemas.microsoft.com/office/drawing/2014/main" id="{6B8FAC6C-F56C-2D9A-55F1-625A3F6F5533}"/>
              </a:ext>
            </a:extLst>
          </p:cNvPr>
          <p:cNvSpPr/>
          <p:nvPr/>
        </p:nvSpPr>
        <p:spPr>
          <a:xfrm>
            <a:off x="675215" y="1000117"/>
            <a:ext cx="45719" cy="719186"/>
          </a:xfrm>
          <a:prstGeom prst="rect">
            <a:avLst/>
          </a:prstGeom>
          <a:solidFill>
            <a:schemeClr val="accent1">
              <a:lumMod val="75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strike="noStrike" spc="-1">
              <a:solidFill>
                <a:srgbClr val="FFFFFF"/>
              </a:solidFill>
              <a:latin typeface="Arial"/>
            </a:endParaRPr>
          </a:p>
        </p:txBody>
      </p:sp>
      <p:sp>
        <p:nvSpPr>
          <p:cNvPr id="6" name="ModelComp1Content">
            <a:extLst>
              <a:ext uri="{FF2B5EF4-FFF2-40B4-BE49-F238E27FC236}">
                <a16:creationId xmlns:a16="http://schemas.microsoft.com/office/drawing/2014/main" id="{877EDB95-56E5-1D86-0443-F8AFC80C6CD0}"/>
              </a:ext>
            </a:extLst>
          </p:cNvPr>
          <p:cNvSpPr/>
          <p:nvPr/>
        </p:nvSpPr>
        <p:spPr>
          <a:xfrm>
            <a:off x="720936" y="1000117"/>
            <a:ext cx="10795849" cy="719187"/>
          </a:xfrm>
          <a:prstGeom prst="rect">
            <a:avLst/>
          </a:prstGeom>
          <a:solidFill>
            <a:schemeClr val="accent1">
              <a:lumMod val="60000"/>
              <a:lumOff val="40000"/>
              <a:alpha val="10000"/>
            </a:schemeClr>
          </a:solidFill>
          <a:ln w="0">
            <a:noFill/>
          </a:ln>
        </p:spPr>
        <p:style>
          <a:lnRef idx="0">
            <a:scrgbClr r="0" g="0" b="0"/>
          </a:lnRef>
          <a:fillRef idx="0">
            <a:scrgbClr r="0" g="0" b="0"/>
          </a:fillRef>
          <a:effectRef idx="0">
            <a:scrgbClr r="0" g="0" b="0"/>
          </a:effectRef>
          <a:fontRef idx="minor"/>
        </p:style>
        <p:txBody>
          <a:bodyPr wrap="square" lIns="171360" tIns="154440" rIns="171360" bIns="15444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lnSpc>
                <a:spcPct val="15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mn-ea"/>
              </a:rPr>
              <a:t>视角：</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指纹 </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 </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rPr>
              <a:t>风格</a:t>
            </a:r>
            <a:endParaRPr 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p:txBody>
      </p:sp>
      <p:pic>
        <p:nvPicPr>
          <p:cNvPr id="7" name="图片 6">
            <a:extLst>
              <a:ext uri="{FF2B5EF4-FFF2-40B4-BE49-F238E27FC236}">
                <a16:creationId xmlns:a16="http://schemas.microsoft.com/office/drawing/2014/main" id="{6E1427B0-847B-004E-CF0D-A7A85D3B22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2948" y="3537122"/>
            <a:ext cx="5781218" cy="2554492"/>
          </a:xfrm>
          <a:prstGeom prst="rect">
            <a:avLst/>
          </a:prstGeom>
        </p:spPr>
      </p:pic>
      <p:pic>
        <p:nvPicPr>
          <p:cNvPr id="10" name="图片 9">
            <a:extLst>
              <a:ext uri="{FF2B5EF4-FFF2-40B4-BE49-F238E27FC236}">
                <a16:creationId xmlns:a16="http://schemas.microsoft.com/office/drawing/2014/main" id="{31019F65-28FF-CE6A-D2AC-F83A4DF53F26}"/>
              </a:ext>
            </a:extLst>
          </p:cNvPr>
          <p:cNvPicPr>
            <a:picLocks noChangeAspect="1"/>
          </p:cNvPicPr>
          <p:nvPr/>
        </p:nvPicPr>
        <p:blipFill>
          <a:blip r:embed="rId3"/>
          <a:stretch>
            <a:fillRect/>
          </a:stretch>
        </p:blipFill>
        <p:spPr>
          <a:xfrm>
            <a:off x="6634166" y="4462645"/>
            <a:ext cx="4082110" cy="703445"/>
          </a:xfrm>
          <a:prstGeom prst="rect">
            <a:avLst/>
          </a:prstGeom>
        </p:spPr>
      </p:pic>
    </p:spTree>
    <p:extLst>
      <p:ext uri="{BB962C8B-B14F-4D97-AF65-F5344CB8AC3E}">
        <p14:creationId xmlns:p14="http://schemas.microsoft.com/office/powerpoint/2010/main" val="10991603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5729C-5ED7-273B-BD66-C736E8161CB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623AED3-E4C6-5958-9325-64610DA8B05E}"/>
              </a:ext>
            </a:extLst>
          </p:cNvPr>
          <p:cNvSpPr>
            <a:spLocks noGrp="1"/>
          </p:cNvSpPr>
          <p:nvPr>
            <p:ph type="sldNum" sz="quarter" idx="4"/>
          </p:nvPr>
        </p:nvSpPr>
        <p:spPr/>
        <p:txBody>
          <a:bodyPr/>
          <a:lstStyle/>
          <a:p>
            <a:r>
              <a:rPr lang="en-US" altLang="zh-CN" dirty="0"/>
              <a:t>&lt; </a:t>
            </a:r>
            <a:fld id="{A548B57D-AE10-4CF7-A9DF-59FEFA91B28E}" type="slidenum">
              <a:rPr lang="zh-CN" altLang="en-US" smtClean="0"/>
              <a:t>24</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3A8677F3-C14C-77F5-ED2C-E95798730D3F}"/>
              </a:ext>
            </a:extLst>
          </p:cNvPr>
          <p:cNvSpPr>
            <a:spLocks noGrp="1"/>
          </p:cNvSpPr>
          <p:nvPr>
            <p:ph type="title"/>
          </p:nvPr>
        </p:nvSpPr>
        <p:spPr/>
        <p:txBody>
          <a:bodyPr>
            <a:noAutofit/>
          </a:bodyPr>
          <a:lstStyle/>
          <a:p>
            <a:r>
              <a:rPr lang="zh-CN" altLang="en-US" spc="0" dirty="0"/>
              <a:t>训练目标 </a:t>
            </a:r>
            <a:r>
              <a:rPr lang="en-US" altLang="zh-CN" spc="0" dirty="0"/>
              <a:t>—— </a:t>
            </a:r>
            <a:r>
              <a:rPr lang="zh-CN" altLang="en-US" spc="0" dirty="0"/>
              <a:t>损失函数</a:t>
            </a:r>
          </a:p>
        </p:txBody>
      </p:sp>
      <p:sp>
        <p:nvSpPr>
          <p:cNvPr id="17" name="文本占位符 3">
            <a:extLst>
              <a:ext uri="{FF2B5EF4-FFF2-40B4-BE49-F238E27FC236}">
                <a16:creationId xmlns:a16="http://schemas.microsoft.com/office/drawing/2014/main" id="{EA7E958A-B1DB-762F-327E-390E00EC83B9}"/>
              </a:ext>
            </a:extLst>
          </p:cNvPr>
          <p:cNvSpPr>
            <a:spLocks noGrp="1"/>
          </p:cNvSpPr>
          <p:nvPr>
            <p:ph type="body" sz="quarter" idx="10"/>
          </p:nvPr>
        </p:nvSpPr>
        <p:spPr>
          <a:xfrm>
            <a:off x="570282" y="861087"/>
            <a:ext cx="11255876" cy="5465323"/>
          </a:xfrm>
        </p:spPr>
        <p:txBody>
          <a:bodyPr>
            <a:normAutofit/>
          </a:bodyPr>
          <a:lstStyle/>
          <a:p>
            <a:pPr marL="0" indent="0">
              <a:lnSpc>
                <a:spcPct val="160000"/>
              </a:lnSpc>
              <a:buNone/>
            </a:pPr>
            <a:r>
              <a:rPr lang="zh-CN" altLang="en-US" sz="1750" dirty="0">
                <a:latin typeface="微软雅黑" panose="020B0503020204020204" pitchFamily="34" charset="-122"/>
                <a:ea typeface="微软雅黑" panose="020B0503020204020204" pitchFamily="34" charset="-122"/>
              </a:rPr>
              <a:t>多任务分类损失</a:t>
            </a:r>
            <a:endParaRPr lang="en-US" altLang="zh-CN" sz="1750" dirty="0">
              <a:latin typeface="微软雅黑" panose="020B0503020204020204" pitchFamily="34" charset="-122"/>
              <a:ea typeface="微软雅黑" panose="020B0503020204020204" pitchFamily="34" charset="-122"/>
            </a:endParaRPr>
          </a:p>
          <a:p>
            <a:pPr>
              <a:lnSpc>
                <a:spcPct val="160000"/>
              </a:lnSpc>
            </a:pPr>
            <a:r>
              <a:rPr lang="zh-CN" altLang="en-US" sz="1750" dirty="0">
                <a:latin typeface="微软雅黑" panose="020B0503020204020204" pitchFamily="34" charset="-122"/>
                <a:ea typeface="微软雅黑" panose="020B0503020204020204" pitchFamily="34" charset="-122"/>
              </a:rPr>
              <a:t>真假二分类（监督 </a:t>
            </a:r>
            <a:r>
              <a:rPr lang="en-US" altLang="zh-CN" sz="1750" dirty="0">
                <a:latin typeface="微软雅黑" panose="020B0503020204020204" pitchFamily="34" charset="-122"/>
                <a:ea typeface="微软雅黑" panose="020B0503020204020204" pitchFamily="34" charset="-122"/>
              </a:rPr>
              <a:t>common </a:t>
            </a:r>
            <a:r>
              <a:rPr lang="zh-CN" altLang="en-US" sz="1750" dirty="0">
                <a:latin typeface="微软雅黑" panose="020B0503020204020204" pitchFamily="34" charset="-122"/>
                <a:ea typeface="微软雅黑" panose="020B0503020204020204" pitchFamily="34" charset="-122"/>
              </a:rPr>
              <a:t>指纹）：</a:t>
            </a:r>
            <a:r>
              <a:rPr lang="zh-CN" altLang="en-US" sz="1750" b="0" dirty="0">
                <a:latin typeface="微软雅黑" panose="020B0503020204020204" pitchFamily="34" charset="-122"/>
                <a:ea typeface="微软雅黑" panose="020B0503020204020204" pitchFamily="34" charset="-122"/>
              </a:rPr>
              <a:t>用 </a:t>
            </a:r>
            <a:r>
              <a:rPr lang="en-US" altLang="zh-CN" sz="1750" b="0" dirty="0">
                <a:latin typeface="微软雅黑" panose="020B0503020204020204" pitchFamily="34" charset="-122"/>
                <a:ea typeface="微软雅黑" panose="020B0503020204020204" pitchFamily="34" charset="-122"/>
              </a:rPr>
              <a:t>common </a:t>
            </a:r>
            <a:r>
              <a:rPr lang="zh-CN" altLang="en-US" sz="1750" b="0" dirty="0">
                <a:latin typeface="微软雅黑" panose="020B0503020204020204" pitchFamily="34" charset="-122"/>
                <a:ea typeface="微软雅黑" panose="020B0503020204020204" pitchFamily="34" charset="-122"/>
              </a:rPr>
              <a:t>特征 𝑓𝑖𝑐 经过头部 𝐻𝑐（若干层 </a:t>
            </a:r>
            <a:r>
              <a:rPr lang="en-US" altLang="zh-CN" sz="1750" b="0" dirty="0">
                <a:latin typeface="微软雅黑" panose="020B0503020204020204" pitchFamily="34" charset="-122"/>
                <a:ea typeface="微软雅黑" panose="020B0503020204020204" pitchFamily="34" charset="-122"/>
              </a:rPr>
              <a:t>MLP</a:t>
            </a:r>
            <a:r>
              <a:rPr lang="zh-CN" altLang="en-US" sz="1750" b="0" dirty="0">
                <a:latin typeface="微软雅黑" panose="020B0503020204020204" pitchFamily="34" charset="-122"/>
                <a:ea typeface="微软雅黑" panose="020B0503020204020204" pitchFamily="34" charset="-122"/>
              </a:rPr>
              <a:t>）做真</a:t>
            </a:r>
            <a:r>
              <a:rPr lang="en-US" altLang="zh-CN" sz="1750" b="0" dirty="0">
                <a:latin typeface="微软雅黑" panose="020B0503020204020204" pitchFamily="34" charset="-122"/>
                <a:ea typeface="微软雅黑" panose="020B0503020204020204" pitchFamily="34" charset="-122"/>
              </a:rPr>
              <a:t>/</a:t>
            </a:r>
            <a:r>
              <a:rPr lang="zh-CN" altLang="en-US" sz="1750" b="0" dirty="0">
                <a:latin typeface="微软雅黑" panose="020B0503020204020204" pitchFamily="34" charset="-122"/>
                <a:ea typeface="微软雅黑" panose="020B0503020204020204" pitchFamily="34" charset="-122"/>
              </a:rPr>
              <a:t>假二分类，交叉熵为：</a:t>
            </a:r>
            <a:endParaRPr lang="en-US" altLang="zh-CN" sz="1750" b="0" dirty="0">
              <a:latin typeface="微软雅黑" panose="020B0503020204020204" pitchFamily="34" charset="-122"/>
              <a:ea typeface="微软雅黑" panose="020B0503020204020204" pitchFamily="34" charset="-122"/>
            </a:endParaRPr>
          </a:p>
          <a:p>
            <a:pPr marL="0" indent="0">
              <a:lnSpc>
                <a:spcPct val="160000"/>
              </a:lnSpc>
              <a:buNone/>
            </a:pPr>
            <a:r>
              <a:rPr lang="zh-CN" altLang="en-US" sz="1750" b="0" dirty="0">
                <a:latin typeface="微软雅黑" panose="020B0503020204020204" pitchFamily="34" charset="-122"/>
                <a:ea typeface="微软雅黑" panose="020B0503020204020204" pitchFamily="34" charset="-122"/>
              </a:rPr>
              <a:t>   这一步强迫 </a:t>
            </a:r>
            <a:r>
              <a:rPr lang="en-US" altLang="zh-CN" sz="1750" b="0" dirty="0">
                <a:latin typeface="微软雅黑" panose="020B0503020204020204" pitchFamily="34" charset="-122"/>
                <a:ea typeface="微软雅黑" panose="020B0503020204020204" pitchFamily="34" charset="-122"/>
              </a:rPr>
              <a:t>common </a:t>
            </a:r>
            <a:r>
              <a:rPr lang="zh-CN" altLang="en-US" sz="1750" b="0" dirty="0">
                <a:latin typeface="微软雅黑" panose="020B0503020204020204" pitchFamily="34" charset="-122"/>
                <a:ea typeface="微软雅黑" panose="020B0503020204020204" pitchFamily="34" charset="-122"/>
              </a:rPr>
              <a:t>里只保留“跨方法通用”的伪造线索。</a:t>
            </a:r>
            <a:endParaRPr lang="en-US" altLang="zh-CN" sz="1750" b="0" dirty="0">
              <a:latin typeface="微软雅黑" panose="020B0503020204020204" pitchFamily="34" charset="-122"/>
              <a:ea typeface="微软雅黑" panose="020B0503020204020204" pitchFamily="34" charset="-122"/>
            </a:endParaRPr>
          </a:p>
          <a:p>
            <a:pPr>
              <a:lnSpc>
                <a:spcPct val="160000"/>
              </a:lnSpc>
            </a:pPr>
            <a:r>
              <a:rPr lang="zh-CN" altLang="en-US" sz="1750" dirty="0">
                <a:latin typeface="微软雅黑" panose="020B0503020204020204" pitchFamily="34" charset="-122"/>
                <a:ea typeface="微软雅黑" panose="020B0503020204020204" pitchFamily="34" charset="-122"/>
              </a:rPr>
              <a:t>方法多分类（监督 </a:t>
            </a:r>
            <a:r>
              <a:rPr lang="en-US" altLang="zh-CN" sz="1750" dirty="0">
                <a:latin typeface="微软雅黑" panose="020B0503020204020204" pitchFamily="34" charset="-122"/>
                <a:ea typeface="微软雅黑" panose="020B0503020204020204" pitchFamily="34" charset="-122"/>
              </a:rPr>
              <a:t>specific </a:t>
            </a:r>
            <a:r>
              <a:rPr lang="zh-CN" altLang="en-US" sz="1750" dirty="0">
                <a:latin typeface="微软雅黑" panose="020B0503020204020204" pitchFamily="34" charset="-122"/>
                <a:ea typeface="微软雅黑" panose="020B0503020204020204" pitchFamily="34" charset="-122"/>
              </a:rPr>
              <a:t>指纹）：</a:t>
            </a:r>
            <a:r>
              <a:rPr lang="zh-CN" altLang="en-US" sz="1750" b="0" dirty="0">
                <a:latin typeface="微软雅黑" panose="020B0503020204020204" pitchFamily="34" charset="-122"/>
                <a:ea typeface="微软雅黑" panose="020B0503020204020204" pitchFamily="34" charset="-122"/>
              </a:rPr>
              <a:t>用 </a:t>
            </a:r>
            <a:r>
              <a:rPr lang="en-US" altLang="zh-CN" sz="1750" b="0" dirty="0">
                <a:latin typeface="微软雅黑" panose="020B0503020204020204" pitchFamily="34" charset="-122"/>
                <a:ea typeface="微软雅黑" panose="020B0503020204020204" pitchFamily="34" charset="-122"/>
              </a:rPr>
              <a:t>specific </a:t>
            </a:r>
            <a:r>
              <a:rPr lang="zh-CN" altLang="en-US" sz="1750" b="0" dirty="0">
                <a:latin typeface="微软雅黑" panose="020B0503020204020204" pitchFamily="34" charset="-122"/>
                <a:ea typeface="微软雅黑" panose="020B0503020204020204" pitchFamily="34" charset="-122"/>
              </a:rPr>
              <a:t>特征 𝑓𝑖𝑠 经过 𝐻𝑠 预测“真实</a:t>
            </a:r>
            <a:r>
              <a:rPr lang="en-US" altLang="zh-CN" sz="1750" b="0" dirty="0">
                <a:latin typeface="微软雅黑" panose="020B0503020204020204" pitchFamily="34" charset="-122"/>
                <a:ea typeface="微软雅黑" panose="020B0503020204020204" pitchFamily="34" charset="-122"/>
              </a:rPr>
              <a:t>/</a:t>
            </a:r>
            <a:r>
              <a:rPr lang="zh-CN" altLang="en-US" sz="1750" b="0" dirty="0">
                <a:latin typeface="微软雅黑" panose="020B0503020204020204" pitchFamily="34" charset="-122"/>
                <a:ea typeface="微软雅黑" panose="020B0503020204020204" pitchFamily="34" charset="-122"/>
              </a:rPr>
              <a:t>哪一种造假方法”，交叉熵为：</a:t>
            </a:r>
          </a:p>
          <a:p>
            <a:pPr marL="0" indent="0">
              <a:lnSpc>
                <a:spcPct val="160000"/>
              </a:lnSpc>
              <a:buNone/>
            </a:pPr>
            <a:r>
              <a:rPr lang="zh-CN" altLang="en-US" sz="1750" b="0" dirty="0">
                <a:latin typeface="微软雅黑" panose="020B0503020204020204" pitchFamily="34" charset="-122"/>
                <a:ea typeface="微软雅黑" panose="020B0503020204020204" pitchFamily="34" charset="-122"/>
              </a:rPr>
              <a:t>   这样 </a:t>
            </a:r>
            <a:r>
              <a:rPr lang="en-US" altLang="zh-CN" sz="1750" b="0" dirty="0">
                <a:latin typeface="微软雅黑" panose="020B0503020204020204" pitchFamily="34" charset="-122"/>
                <a:ea typeface="微软雅黑" panose="020B0503020204020204" pitchFamily="34" charset="-122"/>
              </a:rPr>
              <a:t>specific </a:t>
            </a:r>
            <a:r>
              <a:rPr lang="zh-CN" altLang="en-US" sz="1750" b="0" dirty="0">
                <a:latin typeface="微软雅黑" panose="020B0503020204020204" pitchFamily="34" charset="-122"/>
                <a:ea typeface="微软雅黑" panose="020B0503020204020204" pitchFamily="34" charset="-122"/>
              </a:rPr>
              <a:t>专注于“方法特有纹理”。（𝐻𝑐</a:t>
            </a:r>
            <a:r>
              <a:rPr lang="en-US" altLang="zh-CN" sz="1750" b="0" dirty="0">
                <a:latin typeface="微软雅黑" panose="020B0503020204020204" pitchFamily="34" charset="-122"/>
                <a:ea typeface="微软雅黑" panose="020B0503020204020204" pitchFamily="34" charset="-122"/>
              </a:rPr>
              <a:t>,</a:t>
            </a:r>
            <a:r>
              <a:rPr lang="zh-CN" altLang="en-US" sz="1750" b="0" dirty="0">
                <a:latin typeface="微软雅黑" panose="020B0503020204020204" pitchFamily="34" charset="-122"/>
                <a:ea typeface="微软雅黑" panose="020B0503020204020204" pitchFamily="34" charset="-122"/>
              </a:rPr>
              <a:t>𝐻𝑠 结构相同但不共享参数。）</a:t>
            </a:r>
            <a:endParaRPr lang="en-US" altLang="zh-CN" sz="1750" b="0" dirty="0">
              <a:latin typeface="微软雅黑" panose="020B0503020204020204" pitchFamily="34" charset="-122"/>
              <a:ea typeface="微软雅黑" panose="020B0503020204020204" pitchFamily="34" charset="-122"/>
            </a:endParaRPr>
          </a:p>
          <a:p>
            <a:pPr marL="0" indent="0">
              <a:lnSpc>
                <a:spcPct val="160000"/>
              </a:lnSpc>
              <a:buNone/>
            </a:pPr>
            <a:r>
              <a:rPr lang="zh-CN" altLang="en-US" sz="1750" dirty="0">
                <a:latin typeface="微软雅黑" panose="020B0503020204020204" pitchFamily="34" charset="-122"/>
                <a:ea typeface="微软雅黑" panose="020B0503020204020204" pitchFamily="34" charset="-122"/>
              </a:rPr>
              <a:t>对比正则</a:t>
            </a:r>
            <a:endParaRPr lang="en-US" altLang="zh-CN" sz="1750" dirty="0">
              <a:latin typeface="微软雅黑" panose="020B0503020204020204" pitchFamily="34" charset="-122"/>
              <a:ea typeface="微软雅黑" panose="020B0503020204020204" pitchFamily="34" charset="-122"/>
            </a:endParaRPr>
          </a:p>
          <a:p>
            <a:pPr>
              <a:lnSpc>
                <a:spcPct val="160000"/>
              </a:lnSpc>
            </a:pPr>
            <a:r>
              <a:rPr lang="zh-CN" altLang="en-US" sz="1750" dirty="0">
                <a:latin typeface="微软雅黑" panose="020B0503020204020204" pitchFamily="34" charset="-122"/>
                <a:ea typeface="微软雅黑" panose="020B0503020204020204" pitchFamily="34" charset="-122"/>
              </a:rPr>
              <a:t>三元组损失：</a:t>
            </a:r>
            <a:endParaRPr lang="en-US" altLang="zh-CN" sz="1750" dirty="0">
              <a:latin typeface="微软雅黑" panose="020B0503020204020204" pitchFamily="34" charset="-122"/>
              <a:ea typeface="微软雅黑" panose="020B0503020204020204" pitchFamily="34" charset="-122"/>
            </a:endParaRPr>
          </a:p>
          <a:p>
            <a:pPr marL="0" indent="0">
              <a:lnSpc>
                <a:spcPct val="160000"/>
              </a:lnSpc>
              <a:buNone/>
            </a:pPr>
            <a:r>
              <a:rPr lang="zh-CN" altLang="en-US" sz="1750" b="0" dirty="0">
                <a:latin typeface="微软雅黑" panose="020B0503020204020204" pitchFamily="34" charset="-122"/>
                <a:ea typeface="微软雅黑" panose="020B0503020204020204" pitchFamily="34" charset="-122"/>
              </a:rPr>
              <a:t>   让锚 𝑥𝐴 更靠近正样 𝑥𝑃（相似）而远离负样 𝑥𝑁（不相似），𝛼 是间隔。</a:t>
            </a:r>
            <a:endParaRPr lang="en-US" altLang="zh-CN" sz="1750" b="0" dirty="0">
              <a:latin typeface="微软雅黑" panose="020B0503020204020204" pitchFamily="34" charset="-122"/>
              <a:ea typeface="微软雅黑" panose="020B0503020204020204" pitchFamily="34" charset="-122"/>
            </a:endParaRPr>
          </a:p>
          <a:p>
            <a:pPr marL="0" indent="0">
              <a:lnSpc>
                <a:spcPct val="160000"/>
              </a:lnSpc>
              <a:buNone/>
            </a:pPr>
            <a:r>
              <a:rPr lang="zh-CN" altLang="en-US" sz="1750" b="0" dirty="0">
                <a:latin typeface="微软雅黑" panose="020B0503020204020204" pitchFamily="34" charset="-122"/>
                <a:ea typeface="微软雅黑" panose="020B0503020204020204" pitchFamily="34" charset="-122"/>
              </a:rPr>
              <a:t>   对 </a:t>
            </a:r>
            <a:r>
              <a:rPr lang="en-US" altLang="zh-CN" sz="1750" b="0" dirty="0">
                <a:latin typeface="微软雅黑" panose="020B0503020204020204" pitchFamily="34" charset="-122"/>
                <a:ea typeface="微软雅黑" panose="020B0503020204020204" pitchFamily="34" charset="-122"/>
              </a:rPr>
              <a:t>common</a:t>
            </a:r>
            <a:r>
              <a:rPr lang="zh-CN" altLang="en-US" sz="1750" b="0" dirty="0">
                <a:latin typeface="微软雅黑" panose="020B0503020204020204" pitchFamily="34" charset="-122"/>
                <a:ea typeface="微软雅黑" panose="020B0503020204020204" pitchFamily="34" charset="-122"/>
              </a:rPr>
              <a:t>：取“真</a:t>
            </a:r>
            <a:r>
              <a:rPr lang="en-US" altLang="zh-CN" sz="1750" b="0" dirty="0">
                <a:latin typeface="微软雅黑" panose="020B0503020204020204" pitchFamily="34" charset="-122"/>
                <a:ea typeface="微软雅黑" panose="020B0503020204020204" pitchFamily="34" charset="-122"/>
              </a:rPr>
              <a:t>—</a:t>
            </a:r>
            <a:r>
              <a:rPr lang="zh-CN" altLang="en-US" sz="1750" b="0" dirty="0">
                <a:latin typeface="微软雅黑" panose="020B0503020204020204" pitchFamily="34" charset="-122"/>
                <a:ea typeface="微软雅黑" panose="020B0503020204020204" pitchFamily="34" charset="-122"/>
              </a:rPr>
              <a:t>真”为正、“真</a:t>
            </a:r>
            <a:r>
              <a:rPr lang="en-US" altLang="zh-CN" sz="1750" b="0" dirty="0">
                <a:latin typeface="微软雅黑" panose="020B0503020204020204" pitchFamily="34" charset="-122"/>
                <a:ea typeface="微软雅黑" panose="020B0503020204020204" pitchFamily="34" charset="-122"/>
              </a:rPr>
              <a:t>—</a:t>
            </a:r>
            <a:r>
              <a:rPr lang="zh-CN" altLang="en-US" sz="1750" b="0" dirty="0">
                <a:latin typeface="微软雅黑" panose="020B0503020204020204" pitchFamily="34" charset="-122"/>
                <a:ea typeface="微软雅黑" panose="020B0503020204020204" pitchFamily="34" charset="-122"/>
              </a:rPr>
              <a:t>假”为负。对 </a:t>
            </a:r>
            <a:r>
              <a:rPr lang="en-US" altLang="zh-CN" sz="1750" b="0" dirty="0">
                <a:latin typeface="微软雅黑" panose="020B0503020204020204" pitchFamily="34" charset="-122"/>
                <a:ea typeface="微软雅黑" panose="020B0503020204020204" pitchFamily="34" charset="-122"/>
              </a:rPr>
              <a:t>specific</a:t>
            </a:r>
            <a:r>
              <a:rPr lang="zh-CN" altLang="en-US" sz="1750" b="0" dirty="0">
                <a:latin typeface="微软雅黑" panose="020B0503020204020204" pitchFamily="34" charset="-122"/>
                <a:ea typeface="微软雅黑" panose="020B0503020204020204" pitchFamily="34" charset="-122"/>
              </a:rPr>
              <a:t>：同一伪造方法内为正、不同方法为负。</a:t>
            </a:r>
          </a:p>
        </p:txBody>
      </p:sp>
      <p:pic>
        <p:nvPicPr>
          <p:cNvPr id="8" name="图片 7">
            <a:extLst>
              <a:ext uri="{FF2B5EF4-FFF2-40B4-BE49-F238E27FC236}">
                <a16:creationId xmlns:a16="http://schemas.microsoft.com/office/drawing/2014/main" id="{674A2867-15E3-6BC2-64C0-8F3C49EF79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1184" y="1997820"/>
            <a:ext cx="2219325" cy="400050"/>
          </a:xfrm>
          <a:prstGeom prst="rect">
            <a:avLst/>
          </a:prstGeom>
        </p:spPr>
      </p:pic>
      <p:pic>
        <p:nvPicPr>
          <p:cNvPr id="12" name="图片 11">
            <a:extLst>
              <a:ext uri="{FF2B5EF4-FFF2-40B4-BE49-F238E27FC236}">
                <a16:creationId xmlns:a16="http://schemas.microsoft.com/office/drawing/2014/main" id="{3DF9E6E0-DD72-844F-FE35-15CAB6FBB25C}"/>
              </a:ext>
            </a:extLst>
          </p:cNvPr>
          <p:cNvPicPr>
            <a:picLocks noChangeAspect="1"/>
          </p:cNvPicPr>
          <p:nvPr/>
        </p:nvPicPr>
        <p:blipFill>
          <a:blip r:embed="rId3"/>
          <a:stretch>
            <a:fillRect/>
          </a:stretch>
        </p:blipFill>
        <p:spPr>
          <a:xfrm>
            <a:off x="9415366" y="2777333"/>
            <a:ext cx="2333625" cy="352425"/>
          </a:xfrm>
          <a:prstGeom prst="rect">
            <a:avLst/>
          </a:prstGeom>
        </p:spPr>
      </p:pic>
      <p:pic>
        <p:nvPicPr>
          <p:cNvPr id="14" name="图片 13">
            <a:extLst>
              <a:ext uri="{FF2B5EF4-FFF2-40B4-BE49-F238E27FC236}">
                <a16:creationId xmlns:a16="http://schemas.microsoft.com/office/drawing/2014/main" id="{62669E34-DEB5-D66E-8D37-E35EB1D0C060}"/>
              </a:ext>
            </a:extLst>
          </p:cNvPr>
          <p:cNvPicPr>
            <a:picLocks noChangeAspect="1"/>
          </p:cNvPicPr>
          <p:nvPr/>
        </p:nvPicPr>
        <p:blipFill>
          <a:blip r:embed="rId4"/>
          <a:stretch>
            <a:fillRect/>
          </a:stretch>
        </p:blipFill>
        <p:spPr>
          <a:xfrm>
            <a:off x="2294380" y="4782664"/>
            <a:ext cx="4400550" cy="409575"/>
          </a:xfrm>
          <a:prstGeom prst="rect">
            <a:avLst/>
          </a:prstGeom>
        </p:spPr>
      </p:pic>
    </p:spTree>
    <p:extLst>
      <p:ext uri="{BB962C8B-B14F-4D97-AF65-F5344CB8AC3E}">
        <p14:creationId xmlns:p14="http://schemas.microsoft.com/office/powerpoint/2010/main" val="28129430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968A2-11F4-701F-AB40-AA5D7929C22D}"/>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E055FFF-64B2-F9F3-CC45-FEA2B10234D3}"/>
              </a:ext>
            </a:extLst>
          </p:cNvPr>
          <p:cNvSpPr>
            <a:spLocks noGrp="1"/>
          </p:cNvSpPr>
          <p:nvPr>
            <p:ph type="sldNum" sz="quarter" idx="4"/>
          </p:nvPr>
        </p:nvSpPr>
        <p:spPr/>
        <p:txBody>
          <a:bodyPr/>
          <a:lstStyle/>
          <a:p>
            <a:r>
              <a:rPr lang="en-US" altLang="zh-CN" dirty="0"/>
              <a:t>&lt; </a:t>
            </a:r>
            <a:fld id="{A548B57D-AE10-4CF7-A9DF-59FEFA91B28E}" type="slidenum">
              <a:rPr lang="zh-CN" altLang="en-US" smtClean="0"/>
              <a:t>25</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BC82003C-D899-A554-95C2-E661C294043B}"/>
              </a:ext>
            </a:extLst>
          </p:cNvPr>
          <p:cNvSpPr>
            <a:spLocks noGrp="1"/>
          </p:cNvSpPr>
          <p:nvPr>
            <p:ph type="title"/>
          </p:nvPr>
        </p:nvSpPr>
        <p:spPr/>
        <p:txBody>
          <a:bodyPr>
            <a:noAutofit/>
          </a:bodyPr>
          <a:lstStyle/>
          <a:p>
            <a:r>
              <a:rPr lang="zh-CN" altLang="en-US" spc="0" dirty="0"/>
              <a:t>训练目标 </a:t>
            </a:r>
            <a:r>
              <a:rPr lang="en-US" altLang="zh-CN" spc="0" dirty="0"/>
              <a:t>—— </a:t>
            </a:r>
            <a:r>
              <a:rPr lang="zh-CN" altLang="en-US" spc="0" dirty="0"/>
              <a:t>损失函数</a:t>
            </a:r>
          </a:p>
        </p:txBody>
      </p:sp>
      <p:sp>
        <p:nvSpPr>
          <p:cNvPr id="17" name="文本占位符 3">
            <a:extLst>
              <a:ext uri="{FF2B5EF4-FFF2-40B4-BE49-F238E27FC236}">
                <a16:creationId xmlns:a16="http://schemas.microsoft.com/office/drawing/2014/main" id="{51D16B20-F172-046B-064E-6CB5D893DD09}"/>
              </a:ext>
            </a:extLst>
          </p:cNvPr>
          <p:cNvSpPr>
            <a:spLocks noGrp="1"/>
          </p:cNvSpPr>
          <p:nvPr>
            <p:ph type="body" sz="quarter" idx="10"/>
          </p:nvPr>
        </p:nvSpPr>
        <p:spPr>
          <a:xfrm>
            <a:off x="570282" y="861087"/>
            <a:ext cx="11255876" cy="5465323"/>
          </a:xfrm>
        </p:spPr>
        <p:txBody>
          <a:bodyPr>
            <a:normAutofit/>
          </a:bodyPr>
          <a:lstStyle/>
          <a:p>
            <a:pPr marL="0" indent="0">
              <a:lnSpc>
                <a:spcPct val="160000"/>
              </a:lnSpc>
              <a:buNone/>
            </a:pPr>
            <a:r>
              <a:rPr lang="zh-CN" altLang="en-US" dirty="0">
                <a:latin typeface="微软雅黑" panose="020B0503020204020204" pitchFamily="34" charset="-122"/>
                <a:ea typeface="微软雅黑" panose="020B0503020204020204" pitchFamily="34" charset="-122"/>
              </a:rPr>
              <a:t>自重建（</a:t>
            </a:r>
            <a:r>
              <a:rPr lang="en-US" altLang="zh-CN" dirty="0">
                <a:latin typeface="微软雅黑" panose="020B0503020204020204" pitchFamily="34" charset="-122"/>
                <a:ea typeface="微软雅黑" panose="020B0503020204020204" pitchFamily="34" charset="-122"/>
              </a:rPr>
              <a:t>self-reconstruction</a:t>
            </a:r>
            <a:r>
              <a:rPr lang="zh-CN" altLang="en-US" dirty="0">
                <a:latin typeface="微软雅黑" panose="020B0503020204020204" pitchFamily="34" charset="-122"/>
                <a:ea typeface="微软雅黑" panose="020B0503020204020204" pitchFamily="34" charset="-122"/>
              </a:rPr>
              <a:t>）</a:t>
            </a:r>
          </a:p>
          <a:p>
            <a:pPr>
              <a:lnSpc>
                <a:spcPct val="160000"/>
              </a:lnSpc>
            </a:pPr>
            <a:r>
              <a:rPr lang="zh-CN" altLang="en-US" dirty="0">
                <a:latin typeface="微软雅黑" panose="020B0503020204020204" pitchFamily="34" charset="-122"/>
                <a:ea typeface="微软雅黑" panose="020B0503020204020204" pitchFamily="34" charset="-122"/>
              </a:rPr>
              <a:t>目的：</a:t>
            </a:r>
            <a:r>
              <a:rPr lang="zh-CN" altLang="en-US" b="0" dirty="0">
                <a:latin typeface="微软雅黑" panose="020B0503020204020204" pitchFamily="34" charset="-122"/>
                <a:ea typeface="微软雅黑" panose="020B0503020204020204" pitchFamily="34" charset="-122"/>
              </a:rPr>
              <a:t>验证“同一张图的内容 </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自己的指纹”能还原回原图，保证两路</a:t>
            </a:r>
            <a:r>
              <a:rPr lang="zh-CN" altLang="en-US" dirty="0">
                <a:latin typeface="微软雅黑" panose="020B0503020204020204" pitchFamily="34" charset="-122"/>
                <a:ea typeface="微软雅黑" panose="020B0503020204020204" pitchFamily="34" charset="-122"/>
              </a:rPr>
              <a:t>信息足量</a:t>
            </a:r>
            <a:r>
              <a:rPr lang="zh-CN" altLang="en-US" b="0" dirty="0">
                <a:latin typeface="微软雅黑" panose="020B0503020204020204" pitchFamily="34" charset="-122"/>
                <a:ea typeface="微软雅黑" panose="020B0503020204020204" pitchFamily="34" charset="-122"/>
              </a:rPr>
              <a:t>。</a:t>
            </a:r>
          </a:p>
          <a:p>
            <a:pPr>
              <a:lnSpc>
                <a:spcPct val="160000"/>
              </a:lnSpc>
            </a:pPr>
            <a:r>
              <a:rPr lang="zh-CN" altLang="en-US" dirty="0">
                <a:latin typeface="微软雅黑" panose="020B0503020204020204" pitchFamily="34" charset="-122"/>
                <a:ea typeface="微软雅黑" panose="020B0503020204020204" pitchFamily="34" charset="-122"/>
              </a:rPr>
              <a:t>形式（对真假两张图 𝑥</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𝑥</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p>
          <a:p>
            <a:pPr marL="0" indent="0">
              <a:lnSpc>
                <a:spcPct val="160000"/>
              </a:lnSpc>
              <a:buNone/>
            </a:pPr>
            <a:r>
              <a:rPr lang="en-US" altLang="zh-CN" b="0" dirty="0">
                <a:latin typeface="微软雅黑" panose="020B0503020204020204" pitchFamily="34" charset="-122"/>
                <a:ea typeface="微软雅黑" panose="020B0503020204020204" pitchFamily="34" charset="-122"/>
              </a:rPr>
              <a:t>   c </a:t>
            </a:r>
            <a:r>
              <a:rPr lang="zh-CN" altLang="en-US" b="0" dirty="0">
                <a:latin typeface="微软雅黑" panose="020B0503020204020204" pitchFamily="34" charset="-122"/>
                <a:ea typeface="微软雅黑" panose="020B0503020204020204" pitchFamily="34" charset="-122"/>
              </a:rPr>
              <a:t>是内容特征，</a:t>
            </a:r>
            <a:r>
              <a:rPr lang="en-US" altLang="zh-CN" b="0" dirty="0">
                <a:latin typeface="微软雅黑" panose="020B0503020204020204" pitchFamily="34" charset="-122"/>
                <a:ea typeface="微软雅黑" panose="020B0503020204020204" pitchFamily="34" charset="-122"/>
              </a:rPr>
              <a:t>f </a:t>
            </a:r>
            <a:r>
              <a:rPr lang="zh-CN" altLang="en-US" b="0" dirty="0">
                <a:latin typeface="微软雅黑" panose="020B0503020204020204" pitchFamily="34" charset="-122"/>
                <a:ea typeface="微软雅黑" panose="020B0503020204020204" pitchFamily="34" charset="-122"/>
              </a:rPr>
              <a:t>是指纹特征，</a:t>
            </a:r>
            <a:r>
              <a:rPr lang="en-US" altLang="zh-CN" b="0" dirty="0">
                <a:latin typeface="微软雅黑" panose="020B0503020204020204" pitchFamily="34" charset="-122"/>
                <a:ea typeface="微软雅黑" panose="020B0503020204020204" pitchFamily="34" charset="-122"/>
              </a:rPr>
              <a:t>D(⋅) </a:t>
            </a:r>
            <a:r>
              <a:rPr lang="zh-CN" altLang="en-US" b="0" dirty="0">
                <a:latin typeface="微软雅黑" panose="020B0503020204020204" pitchFamily="34" charset="-122"/>
                <a:ea typeface="微软雅黑" panose="020B0503020204020204" pitchFamily="34" charset="-122"/>
              </a:rPr>
              <a:t>是条件解码器</a:t>
            </a:r>
          </a:p>
          <a:p>
            <a:pPr marL="0" indent="0">
              <a:lnSpc>
                <a:spcPct val="160000"/>
              </a:lnSpc>
              <a:buNone/>
            </a:pPr>
            <a:r>
              <a:rPr lang="zh-CN" altLang="en-US" dirty="0">
                <a:latin typeface="微软雅黑" panose="020B0503020204020204" pitchFamily="34" charset="-122"/>
                <a:ea typeface="微软雅黑" panose="020B0503020204020204" pitchFamily="34" charset="-122"/>
              </a:rPr>
              <a:t>交叉重建（</a:t>
            </a:r>
            <a:r>
              <a:rPr lang="en-US" altLang="zh-CN" dirty="0">
                <a:latin typeface="微软雅黑" panose="020B0503020204020204" pitchFamily="34" charset="-122"/>
                <a:ea typeface="微软雅黑" panose="020B0503020204020204" pitchFamily="34" charset="-122"/>
              </a:rPr>
              <a:t>cross-reconstruction</a:t>
            </a:r>
            <a:r>
              <a:rPr lang="zh-CN" altLang="en-US" dirty="0">
                <a:latin typeface="微软雅黑" panose="020B0503020204020204" pitchFamily="34" charset="-122"/>
                <a:ea typeface="微软雅黑" panose="020B0503020204020204" pitchFamily="34" charset="-122"/>
              </a:rPr>
              <a:t>）</a:t>
            </a:r>
          </a:p>
          <a:p>
            <a:pPr>
              <a:lnSpc>
                <a:spcPct val="160000"/>
              </a:lnSpc>
            </a:pPr>
            <a:r>
              <a:rPr lang="zh-CN" altLang="en-US" dirty="0">
                <a:latin typeface="微软雅黑" panose="020B0503020204020204" pitchFamily="34" charset="-122"/>
                <a:ea typeface="微软雅黑" panose="020B0503020204020204" pitchFamily="34" charset="-122"/>
              </a:rPr>
              <a:t>目的：强力检验解耦</a:t>
            </a:r>
            <a:r>
              <a:rPr lang="zh-CN" altLang="en-US" b="0" dirty="0">
                <a:latin typeface="微软雅黑" panose="020B0503020204020204" pitchFamily="34" charset="-122"/>
                <a:ea typeface="微软雅黑" panose="020B0503020204020204" pitchFamily="34" charset="-122"/>
              </a:rPr>
              <a:t>。把“甲图的内容 </a:t>
            </a:r>
            <a:r>
              <a:rPr lang="en-US" altLang="zh-CN" b="0"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乙图的指纹”（或反之）组合，看看能否复原对应目标。</a:t>
            </a:r>
          </a:p>
          <a:p>
            <a:pPr>
              <a:lnSpc>
                <a:spcPct val="160000"/>
              </a:lnSpc>
            </a:pPr>
            <a:r>
              <a:rPr lang="zh-CN" altLang="en-US" dirty="0">
                <a:latin typeface="微软雅黑" panose="020B0503020204020204" pitchFamily="34" charset="-122"/>
                <a:ea typeface="微软雅黑" panose="020B0503020204020204" pitchFamily="34" charset="-122"/>
              </a:rPr>
              <a:t>形式：</a:t>
            </a:r>
          </a:p>
          <a:p>
            <a:pPr marL="0" indent="0">
              <a:lnSpc>
                <a:spcPct val="160000"/>
              </a:lnSpc>
              <a:buNone/>
            </a:pPr>
            <a:r>
              <a:rPr lang="zh-CN" altLang="en-US" dirty="0">
                <a:latin typeface="微软雅黑" panose="020B0503020204020204" pitchFamily="34" charset="-122"/>
                <a:ea typeface="微软雅黑" panose="020B0503020204020204" pitchFamily="34" charset="-122"/>
              </a:rPr>
              <a:t>总重建损失：</a:t>
            </a:r>
            <a:endParaRPr lang="en-US" altLang="zh-CN"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37BCA694-4919-63F9-F487-7E50422170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0376" y="2523459"/>
            <a:ext cx="4533900" cy="466725"/>
          </a:xfrm>
          <a:prstGeom prst="rect">
            <a:avLst/>
          </a:prstGeom>
        </p:spPr>
      </p:pic>
      <p:pic>
        <p:nvPicPr>
          <p:cNvPr id="7" name="图片 6">
            <a:extLst>
              <a:ext uri="{FF2B5EF4-FFF2-40B4-BE49-F238E27FC236}">
                <a16:creationId xmlns:a16="http://schemas.microsoft.com/office/drawing/2014/main" id="{5680BAE8-E895-F694-6214-5189BF2FA77B}"/>
              </a:ext>
            </a:extLst>
          </p:cNvPr>
          <p:cNvPicPr>
            <a:picLocks noChangeAspect="1"/>
          </p:cNvPicPr>
          <p:nvPr/>
        </p:nvPicPr>
        <p:blipFill>
          <a:blip r:embed="rId3"/>
          <a:stretch>
            <a:fillRect/>
          </a:stretch>
        </p:blipFill>
        <p:spPr>
          <a:xfrm>
            <a:off x="1759570" y="4998189"/>
            <a:ext cx="4438650" cy="400050"/>
          </a:xfrm>
          <a:prstGeom prst="rect">
            <a:avLst/>
          </a:prstGeom>
        </p:spPr>
      </p:pic>
      <p:pic>
        <p:nvPicPr>
          <p:cNvPr id="10" name="图片 9">
            <a:extLst>
              <a:ext uri="{FF2B5EF4-FFF2-40B4-BE49-F238E27FC236}">
                <a16:creationId xmlns:a16="http://schemas.microsoft.com/office/drawing/2014/main" id="{A2C7A9A9-63F0-47D6-33ED-0085219366C6}"/>
              </a:ext>
            </a:extLst>
          </p:cNvPr>
          <p:cNvPicPr>
            <a:picLocks noChangeAspect="1"/>
          </p:cNvPicPr>
          <p:nvPr/>
        </p:nvPicPr>
        <p:blipFill>
          <a:blip r:embed="rId4"/>
          <a:stretch>
            <a:fillRect/>
          </a:stretch>
        </p:blipFill>
        <p:spPr>
          <a:xfrm>
            <a:off x="2237498" y="5580123"/>
            <a:ext cx="1952625" cy="457200"/>
          </a:xfrm>
          <a:prstGeom prst="rect">
            <a:avLst/>
          </a:prstGeom>
        </p:spPr>
      </p:pic>
      <p:pic>
        <p:nvPicPr>
          <p:cNvPr id="13" name="图片 12">
            <a:extLst>
              <a:ext uri="{FF2B5EF4-FFF2-40B4-BE49-F238E27FC236}">
                <a16:creationId xmlns:a16="http://schemas.microsoft.com/office/drawing/2014/main" id="{D20A3FE4-4BA1-E161-2491-68B4668EA1EA}"/>
              </a:ext>
            </a:extLst>
          </p:cNvPr>
          <p:cNvPicPr>
            <a:picLocks noChangeAspect="1"/>
          </p:cNvPicPr>
          <p:nvPr/>
        </p:nvPicPr>
        <p:blipFill>
          <a:blip r:embed="rId5"/>
          <a:stretch>
            <a:fillRect/>
          </a:stretch>
        </p:blipFill>
        <p:spPr>
          <a:xfrm>
            <a:off x="4472024" y="5586006"/>
            <a:ext cx="3629025" cy="485775"/>
          </a:xfrm>
          <a:prstGeom prst="rect">
            <a:avLst/>
          </a:prstGeom>
        </p:spPr>
      </p:pic>
    </p:spTree>
    <p:extLst>
      <p:ext uri="{BB962C8B-B14F-4D97-AF65-F5344CB8AC3E}">
        <p14:creationId xmlns:p14="http://schemas.microsoft.com/office/powerpoint/2010/main" val="5587903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BAFBC-6D92-433B-EE45-0018655C44AB}"/>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0D4E2E1-2F40-4C92-C4C5-ADEE138CDDED}"/>
              </a:ext>
            </a:extLst>
          </p:cNvPr>
          <p:cNvSpPr>
            <a:spLocks noGrp="1"/>
          </p:cNvSpPr>
          <p:nvPr>
            <p:ph type="sldNum" sz="quarter" idx="4"/>
          </p:nvPr>
        </p:nvSpPr>
        <p:spPr>
          <a:xfrm>
            <a:off x="8983845" y="6426962"/>
            <a:ext cx="2743200" cy="292196"/>
          </a:xfrm>
        </p:spPr>
        <p:txBody>
          <a:bodyPr/>
          <a:lstStyle/>
          <a:p>
            <a:r>
              <a:rPr lang="en-US" altLang="zh-CN"/>
              <a:t>&lt; </a:t>
            </a:r>
            <a:fld id="{A548B57D-AE10-4CF7-A9DF-59FEFA91B28E}" type="slidenum">
              <a:rPr lang="zh-CN" altLang="en-US" smtClean="0"/>
              <a:t>26</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D369F01B-7037-0623-CAB7-47234326E9F8}"/>
              </a:ext>
            </a:extLst>
          </p:cNvPr>
          <p:cNvSpPr>
            <a:spLocks noGrp="1"/>
          </p:cNvSpPr>
          <p:nvPr>
            <p:ph type="title"/>
          </p:nvPr>
        </p:nvSpPr>
        <p:spPr/>
        <p:txBody>
          <a:bodyPr>
            <a:noAutofit/>
          </a:bodyPr>
          <a:lstStyle/>
          <a:p>
            <a:r>
              <a:rPr lang="zh-CN" altLang="en-US" spc="0" dirty="0"/>
              <a:t>实验结果与分析 </a:t>
            </a:r>
            <a:r>
              <a:rPr lang="en-US" altLang="zh-CN" spc="0" dirty="0"/>
              <a:t>—— </a:t>
            </a:r>
            <a:r>
              <a:rPr lang="zh-CN" altLang="en-US" spc="0" dirty="0"/>
              <a:t>对比实验</a:t>
            </a:r>
          </a:p>
        </p:txBody>
      </p:sp>
      <p:sp>
        <p:nvSpPr>
          <p:cNvPr id="17" name="文本占位符 3">
            <a:extLst>
              <a:ext uri="{FF2B5EF4-FFF2-40B4-BE49-F238E27FC236}">
                <a16:creationId xmlns:a16="http://schemas.microsoft.com/office/drawing/2014/main" id="{0B351BDD-1C9B-71B0-8996-A9B7AD536AD5}"/>
              </a:ext>
            </a:extLst>
          </p:cNvPr>
          <p:cNvSpPr>
            <a:spLocks noGrp="1"/>
          </p:cNvSpPr>
          <p:nvPr>
            <p:ph type="body" sz="quarter" idx="10"/>
          </p:nvPr>
        </p:nvSpPr>
        <p:spPr>
          <a:xfrm>
            <a:off x="732706" y="4427065"/>
            <a:ext cx="10726587" cy="1787757"/>
          </a:xfrm>
        </p:spPr>
        <p:txBody>
          <a:bodyPr>
            <a:normAutofit fontScale="77500" lnSpcReduction="20000"/>
          </a:bodyPr>
          <a:lstStyle/>
          <a:p>
            <a:pPr marL="0" indent="0" defTabSz="457200">
              <a:lnSpc>
                <a:spcPct val="150000"/>
              </a:lnSpc>
              <a:buNone/>
            </a:pPr>
            <a:r>
              <a:rPr lang="zh-CN" altLang="en-US" dirty="0">
                <a:latin typeface="微软雅黑" panose="020B0503020204020204" pitchFamily="34" charset="-122"/>
                <a:ea typeface="微软雅黑" panose="020B0503020204020204" pitchFamily="34" charset="-122"/>
              </a:rPr>
              <a:t>通用性评测：</a:t>
            </a:r>
            <a:r>
              <a:rPr lang="zh-CN" altLang="en-US" b="0" dirty="0">
                <a:latin typeface="微软雅黑" panose="020B0503020204020204" pitchFamily="34" charset="-122"/>
                <a:ea typeface="微软雅黑" panose="020B0503020204020204" pitchFamily="34" charset="-122"/>
              </a:rPr>
              <a:t>在 </a:t>
            </a:r>
            <a:r>
              <a:rPr lang="en-US" altLang="zh-CN" dirty="0">
                <a:latin typeface="微软雅黑" panose="020B0503020204020204" pitchFamily="34" charset="-122"/>
                <a:ea typeface="微软雅黑" panose="020B0503020204020204" pitchFamily="34" charset="-122"/>
              </a:rPr>
              <a:t>FF++ </a:t>
            </a:r>
            <a:r>
              <a:rPr lang="zh-CN" altLang="en-US" b="0" dirty="0">
                <a:latin typeface="微软雅黑" panose="020B0503020204020204" pitchFamily="34" charset="-122"/>
                <a:ea typeface="微软雅黑" panose="020B0503020204020204" pitchFamily="34" charset="-122"/>
              </a:rPr>
              <a:t>训练 → 分别在 </a:t>
            </a:r>
            <a:r>
              <a:rPr lang="en-US" altLang="zh-CN" dirty="0">
                <a:latin typeface="微软雅黑" panose="020B0503020204020204" pitchFamily="34" charset="-122"/>
                <a:ea typeface="微软雅黑" panose="020B0503020204020204" pitchFamily="34" charset="-122"/>
              </a:rPr>
              <a:t>DFD / DFDC / </a:t>
            </a:r>
            <a:r>
              <a:rPr lang="en-US" altLang="zh-CN" dirty="0" err="1">
                <a:latin typeface="微软雅黑" panose="020B0503020204020204" pitchFamily="34" charset="-122"/>
                <a:ea typeface="微软雅黑" panose="020B0503020204020204" pitchFamily="34" charset="-122"/>
              </a:rPr>
              <a:t>CelebDF</a:t>
            </a:r>
            <a:r>
              <a:rPr lang="en-US" altLang="zh-CN" dirty="0">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测试；此外进行了 </a:t>
            </a:r>
            <a:r>
              <a:rPr lang="zh-CN" altLang="en-US" dirty="0">
                <a:latin typeface="微软雅黑" panose="020B0503020204020204" pitchFamily="34" charset="-122"/>
                <a:ea typeface="微软雅黑" panose="020B0503020204020204" pitchFamily="34" charset="-122"/>
              </a:rPr>
              <a:t>留一法变体</a:t>
            </a:r>
            <a:r>
              <a:rPr lang="zh-CN" altLang="en-US" b="0" dirty="0">
                <a:latin typeface="微软雅黑" panose="020B0503020204020204" pitchFamily="34" charset="-122"/>
                <a:ea typeface="微软雅黑" panose="020B0503020204020204" pitchFamily="34" charset="-122"/>
              </a:rPr>
              <a:t>（</a:t>
            </a:r>
            <a:r>
              <a:rPr lang="en-US" altLang="zh-CN" b="0" dirty="0">
                <a:latin typeface="微软雅黑" panose="020B0503020204020204" pitchFamily="34" charset="-122"/>
                <a:ea typeface="微软雅黑" panose="020B0503020204020204" pitchFamily="34" charset="-122"/>
              </a:rPr>
              <a:t>FF-wo-DF/F2F/FS/NT</a:t>
            </a:r>
            <a:r>
              <a:rPr lang="zh-CN" altLang="en-US" b="0" dirty="0">
                <a:latin typeface="微软雅黑" panose="020B0503020204020204" pitchFamily="34" charset="-122"/>
                <a:ea typeface="微软雅黑" panose="020B0503020204020204" pitchFamily="34" charset="-122"/>
              </a:rPr>
              <a:t>）来检验对“未见</a:t>
            </a:r>
            <a:r>
              <a:rPr lang="zh-CN" altLang="en-US" sz="2100" b="0" dirty="0">
                <a:latin typeface="微软雅黑" panose="020B0503020204020204" pitchFamily="34" charset="-122"/>
                <a:ea typeface="微软雅黑" panose="020B0503020204020204" pitchFamily="34" charset="-122"/>
              </a:rPr>
              <a:t>造假方法”的泛化（例如从 </a:t>
            </a:r>
            <a:r>
              <a:rPr lang="en-US" altLang="zh-CN" sz="2100" b="0" dirty="0">
                <a:latin typeface="微软雅黑" panose="020B0503020204020204" pitchFamily="34" charset="-122"/>
                <a:ea typeface="微软雅黑" panose="020B0503020204020204" pitchFamily="34" charset="-122"/>
              </a:rPr>
              <a:t>FF++ </a:t>
            </a:r>
            <a:r>
              <a:rPr lang="zh-CN" altLang="en-US" sz="2100" b="0" dirty="0">
                <a:latin typeface="微软雅黑" panose="020B0503020204020204" pitchFamily="34" charset="-122"/>
                <a:ea typeface="微软雅黑" panose="020B0503020204020204" pitchFamily="34" charset="-122"/>
              </a:rPr>
              <a:t>训练集中分别去掉某一种篡改方法来训练，再到外部数据集测试）。 </a:t>
            </a:r>
          </a:p>
          <a:p>
            <a:pPr marL="0" indent="0" defTabSz="457200">
              <a:lnSpc>
                <a:spcPct val="150000"/>
              </a:lnSpc>
              <a:buNone/>
            </a:pPr>
            <a:r>
              <a:rPr lang="zh-CN" altLang="en-US" dirty="0">
                <a:latin typeface="微软雅黑" panose="020B0503020204020204" pitchFamily="34" charset="-122"/>
                <a:ea typeface="微软雅黑" panose="020B0503020204020204" pitchFamily="34" charset="-122"/>
              </a:rPr>
              <a:t>与“解耦类”方法对比：</a:t>
            </a:r>
            <a:r>
              <a:rPr lang="zh-CN" altLang="en-US" b="0" dirty="0">
                <a:latin typeface="微软雅黑" panose="020B0503020204020204" pitchFamily="34" charset="-122"/>
                <a:ea typeface="微软雅黑" panose="020B0503020204020204" pitchFamily="34" charset="-122"/>
              </a:rPr>
              <a:t>比现有方法更好，说明不仅要“去内容”，还要把伪造特征进一步拆成 </a:t>
            </a:r>
            <a:r>
              <a:rPr lang="en-US" altLang="zh-CN" b="0" dirty="0">
                <a:latin typeface="微软雅黑" panose="020B0503020204020204" pitchFamily="34" charset="-122"/>
                <a:ea typeface="微软雅黑" panose="020B0503020204020204" pitchFamily="34" charset="-122"/>
              </a:rPr>
              <a:t>common vs specific</a:t>
            </a:r>
            <a:r>
              <a:rPr lang="zh-CN" altLang="en-US" b="0" dirty="0">
                <a:latin typeface="微软雅黑" panose="020B0503020204020204" pitchFamily="34" charset="-122"/>
                <a:ea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B6386DE5-127A-BBB4-117E-CAE1DE2A1A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9082" y="911162"/>
            <a:ext cx="7222019" cy="1895780"/>
          </a:xfrm>
          <a:prstGeom prst="rect">
            <a:avLst/>
          </a:prstGeom>
        </p:spPr>
      </p:pic>
      <p:pic>
        <p:nvPicPr>
          <p:cNvPr id="9" name="图片 8">
            <a:extLst>
              <a:ext uri="{FF2B5EF4-FFF2-40B4-BE49-F238E27FC236}">
                <a16:creationId xmlns:a16="http://schemas.microsoft.com/office/drawing/2014/main" id="{9B7DEA9C-18F6-E664-3659-CA604FE763D5}"/>
              </a:ext>
            </a:extLst>
          </p:cNvPr>
          <p:cNvPicPr>
            <a:picLocks noChangeAspect="1"/>
          </p:cNvPicPr>
          <p:nvPr/>
        </p:nvPicPr>
        <p:blipFill>
          <a:blip r:embed="rId3"/>
          <a:stretch>
            <a:fillRect/>
          </a:stretch>
        </p:blipFill>
        <p:spPr>
          <a:xfrm>
            <a:off x="848563" y="911162"/>
            <a:ext cx="3547871" cy="3600937"/>
          </a:xfrm>
          <a:prstGeom prst="rect">
            <a:avLst/>
          </a:prstGeom>
        </p:spPr>
      </p:pic>
      <p:pic>
        <p:nvPicPr>
          <p:cNvPr id="11" name="图片 10">
            <a:extLst>
              <a:ext uri="{FF2B5EF4-FFF2-40B4-BE49-F238E27FC236}">
                <a16:creationId xmlns:a16="http://schemas.microsoft.com/office/drawing/2014/main" id="{AD71C1F9-8233-5E61-6A9D-3C800D4C7C3D}"/>
              </a:ext>
            </a:extLst>
          </p:cNvPr>
          <p:cNvPicPr>
            <a:picLocks noChangeAspect="1"/>
          </p:cNvPicPr>
          <p:nvPr/>
        </p:nvPicPr>
        <p:blipFill>
          <a:blip r:embed="rId4"/>
          <a:stretch>
            <a:fillRect/>
          </a:stretch>
        </p:blipFill>
        <p:spPr>
          <a:xfrm>
            <a:off x="5676441" y="3078978"/>
            <a:ext cx="5067300" cy="1428750"/>
          </a:xfrm>
          <a:prstGeom prst="rect">
            <a:avLst/>
          </a:prstGeom>
        </p:spPr>
      </p:pic>
    </p:spTree>
    <p:extLst>
      <p:ext uri="{BB962C8B-B14F-4D97-AF65-F5344CB8AC3E}">
        <p14:creationId xmlns:p14="http://schemas.microsoft.com/office/powerpoint/2010/main" val="16539142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F7EEC-94B0-D9C0-13A1-7A5CA7039F0C}"/>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4A1ED576-D6FB-E18C-4B21-4EA83C782F0A}"/>
              </a:ext>
            </a:extLst>
          </p:cNvPr>
          <p:cNvPicPr>
            <a:picLocks noChangeAspect="1"/>
          </p:cNvPicPr>
          <p:nvPr/>
        </p:nvPicPr>
        <p:blipFill>
          <a:blip r:embed="rId2"/>
          <a:stretch>
            <a:fillRect/>
          </a:stretch>
        </p:blipFill>
        <p:spPr>
          <a:xfrm>
            <a:off x="464955" y="861087"/>
            <a:ext cx="4304555" cy="1434852"/>
          </a:xfrm>
          <a:prstGeom prst="rect">
            <a:avLst/>
          </a:prstGeom>
        </p:spPr>
      </p:pic>
      <p:sp>
        <p:nvSpPr>
          <p:cNvPr id="2" name="灯片编号占位符 1">
            <a:extLst>
              <a:ext uri="{FF2B5EF4-FFF2-40B4-BE49-F238E27FC236}">
                <a16:creationId xmlns:a16="http://schemas.microsoft.com/office/drawing/2014/main" id="{FAB0C99F-9FF6-31EB-C751-267F279628FF}"/>
              </a:ext>
            </a:extLst>
          </p:cNvPr>
          <p:cNvSpPr>
            <a:spLocks noGrp="1"/>
          </p:cNvSpPr>
          <p:nvPr>
            <p:ph type="sldNum" sz="quarter" idx="4"/>
          </p:nvPr>
        </p:nvSpPr>
        <p:spPr>
          <a:xfrm>
            <a:off x="8983845" y="6426962"/>
            <a:ext cx="2743200" cy="292196"/>
          </a:xfrm>
        </p:spPr>
        <p:txBody>
          <a:bodyPr/>
          <a:lstStyle/>
          <a:p>
            <a:r>
              <a:rPr lang="en-US" altLang="zh-CN"/>
              <a:t>&lt; </a:t>
            </a:r>
            <a:fld id="{A548B57D-AE10-4CF7-A9DF-59FEFA91B28E}" type="slidenum">
              <a:rPr lang="zh-CN" altLang="en-US" smtClean="0"/>
              <a:t>27</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059A5528-8FD7-337C-DA15-5DAC3FEBB87E}"/>
              </a:ext>
            </a:extLst>
          </p:cNvPr>
          <p:cNvSpPr>
            <a:spLocks noGrp="1"/>
          </p:cNvSpPr>
          <p:nvPr>
            <p:ph type="title"/>
          </p:nvPr>
        </p:nvSpPr>
        <p:spPr/>
        <p:txBody>
          <a:bodyPr>
            <a:noAutofit/>
          </a:bodyPr>
          <a:lstStyle/>
          <a:p>
            <a:r>
              <a:rPr lang="zh-CN" altLang="en-US" spc="0" dirty="0"/>
              <a:t>实验结果与分析 </a:t>
            </a:r>
            <a:r>
              <a:rPr lang="en-US" altLang="zh-CN" spc="0" dirty="0"/>
              <a:t>—— </a:t>
            </a:r>
            <a:r>
              <a:rPr lang="zh-CN" altLang="en-US" spc="0" dirty="0"/>
              <a:t>消融实验</a:t>
            </a:r>
          </a:p>
        </p:txBody>
      </p:sp>
      <p:sp>
        <p:nvSpPr>
          <p:cNvPr id="17" name="文本占位符 3">
            <a:extLst>
              <a:ext uri="{FF2B5EF4-FFF2-40B4-BE49-F238E27FC236}">
                <a16:creationId xmlns:a16="http://schemas.microsoft.com/office/drawing/2014/main" id="{25219FEC-8B16-2AF5-4C47-6C7FB16557B5}"/>
              </a:ext>
            </a:extLst>
          </p:cNvPr>
          <p:cNvSpPr>
            <a:spLocks noGrp="1"/>
          </p:cNvSpPr>
          <p:nvPr>
            <p:ph type="body" sz="quarter" idx="10"/>
          </p:nvPr>
        </p:nvSpPr>
        <p:spPr>
          <a:xfrm>
            <a:off x="464955" y="2273060"/>
            <a:ext cx="5014130" cy="1564311"/>
          </a:xfrm>
        </p:spPr>
        <p:txBody>
          <a:bodyPr>
            <a:normAutofit lnSpcReduction="10000"/>
          </a:bodyPr>
          <a:lstStyle/>
          <a:p>
            <a:pPr marL="0" indent="0" defTabSz="457200">
              <a:lnSpc>
                <a:spcPct val="110000"/>
              </a:lnSpc>
              <a:buNone/>
            </a:pPr>
            <a:r>
              <a:rPr lang="zh-CN" altLang="en-US" sz="1400" dirty="0">
                <a:solidFill>
                  <a:srgbClr val="A5300F"/>
                </a:solidFill>
                <a:latin typeface="微软雅黑" panose="020B0503020204020204" pitchFamily="34" charset="-122"/>
                <a:ea typeface="微软雅黑" panose="020B0503020204020204" pitchFamily="34" charset="-122"/>
              </a:rPr>
              <a:t>框架与多任务、对比正则的作用</a:t>
            </a:r>
          </a:p>
          <a:p>
            <a:pPr marL="0" indent="0" defTabSz="457200">
              <a:lnSpc>
                <a:spcPct val="110000"/>
              </a:lnSpc>
              <a:buNone/>
            </a:pP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解耦</a:t>
            </a:r>
            <a:r>
              <a:rPr lang="en-US" altLang="zh-CN" sz="1400" dirty="0">
                <a:latin typeface="微软雅黑" panose="020B0503020204020204" pitchFamily="34" charset="-122"/>
                <a:ea typeface="微软雅黑" panose="020B0503020204020204" pitchFamily="34" charset="-122"/>
              </a:rPr>
              <a:t>(D)</a:t>
            </a:r>
            <a:r>
              <a:rPr lang="zh-CN" altLang="en-US" sz="1400" dirty="0">
                <a:latin typeface="微软雅黑" panose="020B0503020204020204" pitchFamily="34" charset="-122"/>
                <a:ea typeface="微软雅黑" panose="020B0503020204020204" pitchFamily="34" charset="-122"/>
              </a:rPr>
              <a:t>：</a:t>
            </a:r>
            <a:r>
              <a:rPr lang="zh-CN" altLang="en-US" sz="1400" b="0" dirty="0">
                <a:latin typeface="微软雅黑" panose="020B0503020204020204" pitchFamily="34" charset="-122"/>
                <a:ea typeface="微软雅黑" panose="020B0503020204020204" pitchFamily="34" charset="-122"/>
              </a:rPr>
              <a:t>跨库显著提升 → 基础解耦有用。</a:t>
            </a:r>
          </a:p>
          <a:p>
            <a:pPr marL="0" indent="0" defTabSz="457200">
              <a:lnSpc>
                <a:spcPct val="110000"/>
              </a:lnSpc>
              <a:buNone/>
            </a:pP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多任务</a:t>
            </a:r>
            <a:r>
              <a:rPr lang="en-US" altLang="zh-CN" sz="1400" dirty="0">
                <a:latin typeface="微软雅黑" panose="020B0503020204020204" pitchFamily="34" charset="-122"/>
                <a:ea typeface="微软雅黑" panose="020B0503020204020204" pitchFamily="34" charset="-122"/>
              </a:rPr>
              <a:t>(M)</a:t>
            </a:r>
            <a:r>
              <a:rPr lang="zh-CN" altLang="en-US" sz="1400" dirty="0">
                <a:latin typeface="微软雅黑" panose="020B0503020204020204" pitchFamily="34" charset="-122"/>
                <a:ea typeface="微软雅黑" panose="020B0503020204020204" pitchFamily="34" charset="-122"/>
              </a:rPr>
              <a:t>：</a:t>
            </a:r>
            <a:r>
              <a:rPr lang="zh-CN" altLang="en-US" sz="1400" b="0" dirty="0">
                <a:latin typeface="微软雅黑" panose="020B0503020204020204" pitchFamily="34" charset="-122"/>
                <a:ea typeface="微软雅黑" panose="020B0503020204020204" pitchFamily="34" charset="-122"/>
              </a:rPr>
              <a:t>进一步涨分 → </a:t>
            </a:r>
            <a:r>
              <a:rPr lang="en-US" altLang="zh-CN" sz="1400" b="0" dirty="0" err="1">
                <a:latin typeface="微软雅黑" panose="020B0503020204020204" pitchFamily="34" charset="-122"/>
                <a:ea typeface="微软雅黑" panose="020B0503020204020204" pitchFamily="34" charset="-122"/>
              </a:rPr>
              <a:t>common+specific</a:t>
            </a:r>
            <a:r>
              <a:rPr lang="en-US" altLang="zh-CN" sz="1400" b="0" dirty="0">
                <a:latin typeface="微软雅黑" panose="020B0503020204020204" pitchFamily="34" charset="-122"/>
                <a:ea typeface="微软雅黑" panose="020B0503020204020204" pitchFamily="34" charset="-122"/>
              </a:rPr>
              <a:t> </a:t>
            </a:r>
            <a:r>
              <a:rPr lang="zh-CN" altLang="en-US" sz="1400" b="0" dirty="0">
                <a:latin typeface="微软雅黑" panose="020B0503020204020204" pitchFamily="34" charset="-122"/>
                <a:ea typeface="微软雅黑" panose="020B0503020204020204" pitchFamily="34" charset="-122"/>
              </a:rPr>
              <a:t>协同有效。</a:t>
            </a:r>
          </a:p>
          <a:p>
            <a:pPr marL="0" indent="0" defTabSz="457200">
              <a:lnSpc>
                <a:spcPct val="110000"/>
              </a:lnSpc>
              <a:buNone/>
            </a:pP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对比正则</a:t>
            </a:r>
            <a:r>
              <a:rPr lang="en-US" altLang="zh-CN" sz="1400" dirty="0">
                <a:latin typeface="微软雅黑" panose="020B0503020204020204" pitchFamily="34" charset="-122"/>
                <a:ea typeface="微软雅黑" panose="020B0503020204020204" pitchFamily="34" charset="-122"/>
              </a:rPr>
              <a:t>(C)</a:t>
            </a:r>
            <a:r>
              <a:rPr lang="zh-CN" altLang="en-US" sz="1400" dirty="0">
                <a:latin typeface="微软雅黑" panose="020B0503020204020204" pitchFamily="34" charset="-122"/>
                <a:ea typeface="微软雅黑" panose="020B0503020204020204" pitchFamily="34" charset="-122"/>
              </a:rPr>
              <a:t>：</a:t>
            </a:r>
            <a:r>
              <a:rPr lang="zh-CN" altLang="en-US" sz="1400" b="0" dirty="0">
                <a:latin typeface="微软雅黑" panose="020B0503020204020204" pitchFamily="34" charset="-122"/>
                <a:ea typeface="微软雅黑" panose="020B0503020204020204" pitchFamily="34" charset="-122"/>
              </a:rPr>
              <a:t>最佳；而同库 </a:t>
            </a:r>
            <a:r>
              <a:rPr lang="en-US" altLang="zh-CN" sz="1400" b="0" dirty="0">
                <a:latin typeface="微软雅黑" panose="020B0503020204020204" pitchFamily="34" charset="-122"/>
                <a:ea typeface="微软雅黑" panose="020B0503020204020204" pitchFamily="34" charset="-122"/>
              </a:rPr>
              <a:t>FF++ </a:t>
            </a:r>
            <a:r>
              <a:rPr lang="zh-CN" altLang="en-US" sz="1400" b="0" dirty="0">
                <a:latin typeface="微软雅黑" panose="020B0503020204020204" pitchFamily="34" charset="-122"/>
                <a:ea typeface="微软雅黑" panose="020B0503020204020204" pitchFamily="34" charset="-122"/>
              </a:rPr>
              <a:t>内部几乎都接近 </a:t>
            </a:r>
            <a:r>
              <a:rPr lang="en-US" altLang="zh-CN" sz="1400" b="0" dirty="0">
                <a:latin typeface="微软雅黑" panose="020B0503020204020204" pitchFamily="34" charset="-122"/>
                <a:ea typeface="微软雅黑" panose="020B0503020204020204" pitchFamily="34" charset="-122"/>
              </a:rPr>
              <a:t>0.99</a:t>
            </a:r>
            <a:r>
              <a:rPr lang="zh-CN" altLang="en-US" sz="1400" b="0" dirty="0">
                <a:latin typeface="微软雅黑" panose="020B0503020204020204" pitchFamily="34" charset="-122"/>
                <a:ea typeface="微软雅黑" panose="020B0503020204020204" pitchFamily="34" charset="-122"/>
              </a:rPr>
              <a:t>，表明改进主要体现在泛化而非同分布性能。</a:t>
            </a:r>
            <a:endParaRPr lang="zh-CN" altLang="en-US" sz="1600" b="0"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169FAAC4-48E8-6B03-E887-A2585D09904E}"/>
              </a:ext>
            </a:extLst>
          </p:cNvPr>
          <p:cNvPicPr>
            <a:picLocks noChangeAspect="1"/>
          </p:cNvPicPr>
          <p:nvPr/>
        </p:nvPicPr>
        <p:blipFill>
          <a:blip r:embed="rId3"/>
          <a:stretch>
            <a:fillRect/>
          </a:stretch>
        </p:blipFill>
        <p:spPr>
          <a:xfrm>
            <a:off x="6096000" y="861087"/>
            <a:ext cx="4629150" cy="1348103"/>
          </a:xfrm>
          <a:prstGeom prst="rect">
            <a:avLst/>
          </a:prstGeom>
        </p:spPr>
      </p:pic>
      <p:pic>
        <p:nvPicPr>
          <p:cNvPr id="12" name="图片 11">
            <a:extLst>
              <a:ext uri="{FF2B5EF4-FFF2-40B4-BE49-F238E27FC236}">
                <a16:creationId xmlns:a16="http://schemas.microsoft.com/office/drawing/2014/main" id="{A5C7F346-EBAD-7468-8335-B7DAEFDCE5C6}"/>
              </a:ext>
            </a:extLst>
          </p:cNvPr>
          <p:cNvPicPr>
            <a:picLocks noChangeAspect="1"/>
          </p:cNvPicPr>
          <p:nvPr/>
        </p:nvPicPr>
        <p:blipFill>
          <a:blip r:embed="rId4"/>
          <a:stretch>
            <a:fillRect/>
          </a:stretch>
        </p:blipFill>
        <p:spPr>
          <a:xfrm>
            <a:off x="6096000" y="3862233"/>
            <a:ext cx="4379366" cy="1394547"/>
          </a:xfrm>
          <a:prstGeom prst="rect">
            <a:avLst/>
          </a:prstGeom>
        </p:spPr>
      </p:pic>
      <p:pic>
        <p:nvPicPr>
          <p:cNvPr id="14" name="图片 13">
            <a:extLst>
              <a:ext uri="{FF2B5EF4-FFF2-40B4-BE49-F238E27FC236}">
                <a16:creationId xmlns:a16="http://schemas.microsoft.com/office/drawing/2014/main" id="{DCEF8A35-E9E0-919C-F5E4-6D3D3A59A95C}"/>
              </a:ext>
            </a:extLst>
          </p:cNvPr>
          <p:cNvPicPr>
            <a:picLocks noChangeAspect="1"/>
          </p:cNvPicPr>
          <p:nvPr/>
        </p:nvPicPr>
        <p:blipFill>
          <a:blip r:embed="rId5"/>
          <a:stretch>
            <a:fillRect/>
          </a:stretch>
        </p:blipFill>
        <p:spPr>
          <a:xfrm>
            <a:off x="464954" y="3954406"/>
            <a:ext cx="4304555" cy="1215312"/>
          </a:xfrm>
          <a:prstGeom prst="rect">
            <a:avLst/>
          </a:prstGeom>
        </p:spPr>
      </p:pic>
      <p:sp>
        <p:nvSpPr>
          <p:cNvPr id="15" name="文本占位符 3">
            <a:extLst>
              <a:ext uri="{FF2B5EF4-FFF2-40B4-BE49-F238E27FC236}">
                <a16:creationId xmlns:a16="http://schemas.microsoft.com/office/drawing/2014/main" id="{767D0E60-9837-8E57-1DE1-56BBE73F33BC}"/>
              </a:ext>
            </a:extLst>
          </p:cNvPr>
          <p:cNvSpPr txBox="1">
            <a:spLocks/>
          </p:cNvSpPr>
          <p:nvPr/>
        </p:nvSpPr>
        <p:spPr>
          <a:xfrm>
            <a:off x="6096000" y="2623729"/>
            <a:ext cx="5274258" cy="862972"/>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lang="zh-CN" altLang="en-US" sz="2000" b="1" kern="1200" dirty="0" smtClean="0">
                <a:solidFill>
                  <a:schemeClr val="tx1">
                    <a:lumMod val="75000"/>
                    <a:lumOff val="25000"/>
                  </a:schemeClr>
                </a:solidFill>
                <a:effectLst/>
                <a:latin typeface="+mn-lt"/>
                <a:ea typeface="+mn-ea"/>
                <a:cs typeface="+mn-ea"/>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0" indent="0" defTabSz="457200">
              <a:lnSpc>
                <a:spcPct val="110000"/>
              </a:lnSpc>
              <a:buNone/>
            </a:pPr>
            <a:r>
              <a:rPr lang="zh-CN" altLang="en-US" sz="1400">
                <a:solidFill>
                  <a:srgbClr val="A5300F"/>
                </a:solidFill>
                <a:latin typeface="微软雅黑" panose="020B0503020204020204" pitchFamily="34" charset="-122"/>
                <a:ea typeface="微软雅黑" panose="020B0503020204020204" pitchFamily="34" charset="-122"/>
              </a:rPr>
              <a:t>条件解码器的贡献</a:t>
            </a:r>
          </a:p>
          <a:p>
            <a:pPr marL="0" indent="0" defTabSz="457200">
              <a:lnSpc>
                <a:spcPct val="110000"/>
              </a:lnSpc>
              <a:buNone/>
            </a:pPr>
            <a:r>
              <a:rPr lang="zh-CN" altLang="en-US" sz="1400" b="0">
                <a:latin typeface="微软雅黑" panose="020B0503020204020204" pitchFamily="34" charset="-122"/>
                <a:ea typeface="微软雅黑" panose="020B0503020204020204" pitchFamily="34" charset="-122"/>
              </a:rPr>
              <a:t>用 </a:t>
            </a:r>
            <a:r>
              <a:rPr lang="en-US" altLang="zh-CN" sz="1400" b="0">
                <a:latin typeface="微软雅黑" panose="020B0503020204020204" pitchFamily="34" charset="-122"/>
                <a:ea typeface="微软雅黑" panose="020B0503020204020204" pitchFamily="34" charset="-122"/>
              </a:rPr>
              <a:t>AdaIN </a:t>
            </a:r>
            <a:r>
              <a:rPr lang="zh-CN" altLang="en-US" sz="1400" b="0">
                <a:latin typeface="微软雅黑" panose="020B0503020204020204" pitchFamily="34" charset="-122"/>
                <a:ea typeface="微软雅黑" panose="020B0503020204020204" pitchFamily="34" charset="-122"/>
              </a:rPr>
              <a:t>条件解码器（</a:t>
            </a:r>
            <a:r>
              <a:rPr lang="en-US" altLang="zh-CN" sz="1400" b="0">
                <a:latin typeface="微软雅黑" panose="020B0503020204020204" pitchFamily="34" charset="-122"/>
                <a:ea typeface="微软雅黑" panose="020B0503020204020204" pitchFamily="34" charset="-122"/>
              </a:rPr>
              <a:t>CD</a:t>
            </a:r>
            <a:r>
              <a:rPr lang="zh-CN" altLang="en-US" sz="1400" b="0">
                <a:latin typeface="微软雅黑" panose="020B0503020204020204" pitchFamily="34" charset="-122"/>
                <a:ea typeface="微软雅黑" panose="020B0503020204020204" pitchFamily="34" charset="-122"/>
              </a:rPr>
              <a:t>）替代“线性相加重建”后，跨库均提升</a:t>
            </a:r>
            <a:endParaRPr lang="zh-CN" altLang="en-US" sz="1600" b="0" dirty="0">
              <a:latin typeface="微软雅黑" panose="020B0503020204020204" pitchFamily="34" charset="-122"/>
              <a:ea typeface="微软雅黑" panose="020B0503020204020204" pitchFamily="34" charset="-122"/>
            </a:endParaRPr>
          </a:p>
        </p:txBody>
      </p:sp>
      <p:sp>
        <p:nvSpPr>
          <p:cNvPr id="16" name="文本占位符 3">
            <a:extLst>
              <a:ext uri="{FF2B5EF4-FFF2-40B4-BE49-F238E27FC236}">
                <a16:creationId xmlns:a16="http://schemas.microsoft.com/office/drawing/2014/main" id="{66A91F04-5BA0-0DBD-DBA3-EC04CD5C587E}"/>
              </a:ext>
            </a:extLst>
          </p:cNvPr>
          <p:cNvSpPr txBox="1">
            <a:spLocks/>
          </p:cNvSpPr>
          <p:nvPr/>
        </p:nvSpPr>
        <p:spPr>
          <a:xfrm>
            <a:off x="464955" y="5133941"/>
            <a:ext cx="5274258" cy="862972"/>
          </a:xfrm>
          <a:prstGeom prst="rect">
            <a:avLst/>
          </a:prstGeom>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lang="zh-CN" altLang="en-US" sz="2000" b="1" kern="1200" dirty="0" smtClean="0">
                <a:solidFill>
                  <a:schemeClr val="tx1">
                    <a:lumMod val="75000"/>
                    <a:lumOff val="25000"/>
                  </a:schemeClr>
                </a:solidFill>
                <a:effectLst/>
                <a:latin typeface="+mn-lt"/>
                <a:ea typeface="+mn-ea"/>
                <a:cs typeface="+mn-ea"/>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0" indent="0" defTabSz="457200">
              <a:lnSpc>
                <a:spcPct val="110000"/>
              </a:lnSpc>
              <a:buNone/>
            </a:pPr>
            <a:r>
              <a:rPr lang="zh-CN" altLang="en-US" sz="1400" dirty="0">
                <a:solidFill>
                  <a:srgbClr val="A5300F"/>
                </a:solidFill>
                <a:latin typeface="微软雅黑" panose="020B0503020204020204" pitchFamily="34" charset="-122"/>
                <a:ea typeface="微软雅黑" panose="020B0503020204020204" pitchFamily="34" charset="-122"/>
              </a:rPr>
              <a:t>用哪份特征做真假分类最好</a:t>
            </a:r>
          </a:p>
          <a:p>
            <a:pPr marL="0" indent="0" defTabSz="457200">
              <a:lnSpc>
                <a:spcPct val="110000"/>
              </a:lnSpc>
              <a:buNone/>
            </a:pPr>
            <a:r>
              <a:rPr lang="en-US" altLang="zh-CN" sz="1400" b="0" dirty="0">
                <a:latin typeface="微软雅黑" panose="020B0503020204020204" pitchFamily="34" charset="-122"/>
                <a:ea typeface="微软雅黑" panose="020B0503020204020204" pitchFamily="34" charset="-122"/>
              </a:rPr>
              <a:t>Common &gt; Whole &gt; Specific</a:t>
            </a:r>
            <a:endParaRPr lang="zh-CN" altLang="en-US" sz="1600" b="0" dirty="0">
              <a:latin typeface="微软雅黑" panose="020B0503020204020204" pitchFamily="34" charset="-122"/>
              <a:ea typeface="微软雅黑" panose="020B0503020204020204" pitchFamily="34" charset="-122"/>
            </a:endParaRPr>
          </a:p>
        </p:txBody>
      </p:sp>
      <p:sp>
        <p:nvSpPr>
          <p:cNvPr id="18" name="文本占位符 3">
            <a:extLst>
              <a:ext uri="{FF2B5EF4-FFF2-40B4-BE49-F238E27FC236}">
                <a16:creationId xmlns:a16="http://schemas.microsoft.com/office/drawing/2014/main" id="{79B91576-77E7-4CA5-046F-4C263A17AAEF}"/>
              </a:ext>
            </a:extLst>
          </p:cNvPr>
          <p:cNvSpPr txBox="1">
            <a:spLocks/>
          </p:cNvSpPr>
          <p:nvPr/>
        </p:nvSpPr>
        <p:spPr>
          <a:xfrm>
            <a:off x="6096000" y="5385172"/>
            <a:ext cx="5274258" cy="862972"/>
          </a:xfrm>
          <a:prstGeom prst="rect">
            <a:avLst/>
          </a:prstGeom>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lang="zh-CN" altLang="en-US" sz="2000" b="1" kern="1200" dirty="0" smtClean="0">
                <a:solidFill>
                  <a:schemeClr val="tx1">
                    <a:lumMod val="75000"/>
                    <a:lumOff val="25000"/>
                  </a:schemeClr>
                </a:solidFill>
                <a:effectLst/>
                <a:latin typeface="+mn-lt"/>
                <a:ea typeface="+mn-ea"/>
                <a:cs typeface="+mn-ea"/>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0" indent="0" defTabSz="457200">
              <a:lnSpc>
                <a:spcPct val="110000"/>
              </a:lnSpc>
              <a:buNone/>
            </a:pPr>
            <a:r>
              <a:rPr lang="zh-CN" altLang="en-US" sz="1400" dirty="0">
                <a:solidFill>
                  <a:srgbClr val="A5300F"/>
                </a:solidFill>
                <a:latin typeface="微软雅黑" panose="020B0503020204020204" pitchFamily="34" charset="-122"/>
                <a:ea typeface="微软雅黑" panose="020B0503020204020204" pitchFamily="34" charset="-122"/>
              </a:rPr>
              <a:t>不同骨干的可插拔性</a:t>
            </a:r>
          </a:p>
          <a:p>
            <a:pPr marL="0" indent="0" defTabSz="457200">
              <a:lnSpc>
                <a:spcPct val="110000"/>
              </a:lnSpc>
              <a:buNone/>
            </a:pPr>
            <a:r>
              <a:rPr lang="zh-CN" altLang="en-US" sz="1400" b="0" dirty="0">
                <a:solidFill>
                  <a:schemeClr val="tx1"/>
                </a:solidFill>
                <a:latin typeface="微软雅黑" panose="020B0503020204020204" pitchFamily="34" charset="-122"/>
                <a:ea typeface="微软雅黑" panose="020B0503020204020204" pitchFamily="34" charset="-122"/>
              </a:rPr>
              <a:t>骨干可换且仍显著增益</a:t>
            </a:r>
            <a:endParaRPr lang="zh-CN" altLang="en-US" sz="1600" b="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210206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686C6-8144-2FB8-4537-CE7430C7DA2A}"/>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2353A59-9FAE-673F-006D-529AFFE3A55F}"/>
              </a:ext>
            </a:extLst>
          </p:cNvPr>
          <p:cNvGrpSpPr/>
          <p:nvPr/>
        </p:nvGrpSpPr>
        <p:grpSpPr>
          <a:xfrm>
            <a:off x="-2183584" y="-241003"/>
            <a:ext cx="7357162" cy="7340006"/>
            <a:chOff x="2105799" y="20055838"/>
            <a:chExt cx="6748090" cy="6732363"/>
          </a:xfrm>
          <a:solidFill>
            <a:schemeClr val="accent1">
              <a:alpha val="10000"/>
            </a:schemeClr>
          </a:solidFill>
        </p:grpSpPr>
        <p:sp>
          <p:nvSpPr>
            <p:cNvPr id="3" name="Freeform 8">
              <a:extLst>
                <a:ext uri="{FF2B5EF4-FFF2-40B4-BE49-F238E27FC236}">
                  <a16:creationId xmlns:a16="http://schemas.microsoft.com/office/drawing/2014/main" id="{802BD839-2ABA-DB6C-8E5D-AB13BF0DB634}"/>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Freeform 42">
              <a:extLst>
                <a:ext uri="{FF2B5EF4-FFF2-40B4-BE49-F238E27FC236}">
                  <a16:creationId xmlns:a16="http://schemas.microsoft.com/office/drawing/2014/main" id="{1011E5E1-27B2-F611-2AE9-7F8B87B85FAA}"/>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Freeform 43">
              <a:extLst>
                <a:ext uri="{FF2B5EF4-FFF2-40B4-BE49-F238E27FC236}">
                  <a16:creationId xmlns:a16="http://schemas.microsoft.com/office/drawing/2014/main" id="{492ABA93-2F0C-806B-CEBE-23E5C4C56C0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Freeform 44">
              <a:extLst>
                <a:ext uri="{FF2B5EF4-FFF2-40B4-BE49-F238E27FC236}">
                  <a16:creationId xmlns:a16="http://schemas.microsoft.com/office/drawing/2014/main" id="{EBD07CCC-AC9B-1A4A-E3C3-EA4E6BA9A3E1}"/>
                </a:ext>
              </a:extLst>
            </p:cNvPr>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Freeform 45">
              <a:extLst>
                <a:ext uri="{FF2B5EF4-FFF2-40B4-BE49-F238E27FC236}">
                  <a16:creationId xmlns:a16="http://schemas.microsoft.com/office/drawing/2014/main" id="{8DDBF7F1-49BC-2BB9-6D3F-BDCC5D92BCD0}"/>
                </a:ext>
              </a:extLst>
            </p:cNvPr>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Freeform 46">
              <a:extLst>
                <a:ext uri="{FF2B5EF4-FFF2-40B4-BE49-F238E27FC236}">
                  <a16:creationId xmlns:a16="http://schemas.microsoft.com/office/drawing/2014/main" id="{1D1774FC-8267-E77B-4A6C-5281F91A5DAF}"/>
                </a:ext>
              </a:extLst>
            </p:cNvPr>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Freeform 47">
              <a:extLst>
                <a:ext uri="{FF2B5EF4-FFF2-40B4-BE49-F238E27FC236}">
                  <a16:creationId xmlns:a16="http://schemas.microsoft.com/office/drawing/2014/main" id="{E245D509-F332-F993-765A-C3C91BF320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48">
              <a:extLst>
                <a:ext uri="{FF2B5EF4-FFF2-40B4-BE49-F238E27FC236}">
                  <a16:creationId xmlns:a16="http://schemas.microsoft.com/office/drawing/2014/main" id="{A9AD25DC-4FC4-A051-0371-A9C5E5CC8881}"/>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Freeform 49">
              <a:extLst>
                <a:ext uri="{FF2B5EF4-FFF2-40B4-BE49-F238E27FC236}">
                  <a16:creationId xmlns:a16="http://schemas.microsoft.com/office/drawing/2014/main" id="{BF750586-06ED-4E80-9054-B2D5D09E5F67}"/>
                </a:ext>
              </a:extLst>
            </p:cNvPr>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Freeform 50">
              <a:extLst>
                <a:ext uri="{FF2B5EF4-FFF2-40B4-BE49-F238E27FC236}">
                  <a16:creationId xmlns:a16="http://schemas.microsoft.com/office/drawing/2014/main" id="{1676AA3B-F3A6-C998-867E-4F94B647E24B}"/>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Freeform 51">
              <a:extLst>
                <a:ext uri="{FF2B5EF4-FFF2-40B4-BE49-F238E27FC236}">
                  <a16:creationId xmlns:a16="http://schemas.microsoft.com/office/drawing/2014/main" id="{2CEE679B-EFED-A337-956C-4F8994CFA226}"/>
                </a:ext>
              </a:extLst>
            </p:cNvPr>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52">
              <a:extLst>
                <a:ext uri="{FF2B5EF4-FFF2-40B4-BE49-F238E27FC236}">
                  <a16:creationId xmlns:a16="http://schemas.microsoft.com/office/drawing/2014/main" id="{FF2C4187-F8C2-2277-E2C3-8F07D09B8D57}"/>
                </a:ext>
              </a:extLst>
            </p:cNvPr>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53">
              <a:extLst>
                <a:ext uri="{FF2B5EF4-FFF2-40B4-BE49-F238E27FC236}">
                  <a16:creationId xmlns:a16="http://schemas.microsoft.com/office/drawing/2014/main" id="{F6247171-B46A-83A6-C07D-C37966A42296}"/>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54">
              <a:extLst>
                <a:ext uri="{FF2B5EF4-FFF2-40B4-BE49-F238E27FC236}">
                  <a16:creationId xmlns:a16="http://schemas.microsoft.com/office/drawing/2014/main" id="{62251198-7189-3F7E-9160-5CEB2F4899F9}"/>
                </a:ext>
              </a:extLst>
            </p:cNvPr>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55">
              <a:extLst>
                <a:ext uri="{FF2B5EF4-FFF2-40B4-BE49-F238E27FC236}">
                  <a16:creationId xmlns:a16="http://schemas.microsoft.com/office/drawing/2014/main" id="{78E44CB5-6B09-E897-A7FB-A00D33E199E2}"/>
                </a:ext>
              </a:extLst>
            </p:cNvPr>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56">
              <a:extLst>
                <a:ext uri="{FF2B5EF4-FFF2-40B4-BE49-F238E27FC236}">
                  <a16:creationId xmlns:a16="http://schemas.microsoft.com/office/drawing/2014/main" id="{B86AB1FE-8650-6018-D4C5-56C3A16482BB}"/>
                </a:ext>
              </a:extLst>
            </p:cNvPr>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7">
              <a:extLst>
                <a:ext uri="{FF2B5EF4-FFF2-40B4-BE49-F238E27FC236}">
                  <a16:creationId xmlns:a16="http://schemas.microsoft.com/office/drawing/2014/main" id="{43D149FD-DF05-3534-6962-B4789A647975}"/>
                </a:ext>
              </a:extLst>
            </p:cNvPr>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8">
              <a:extLst>
                <a:ext uri="{FF2B5EF4-FFF2-40B4-BE49-F238E27FC236}">
                  <a16:creationId xmlns:a16="http://schemas.microsoft.com/office/drawing/2014/main" id="{1EF83915-32B7-CEB3-98C6-8B2C9B5AAEB6}"/>
                </a:ext>
              </a:extLst>
            </p:cNvPr>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9">
              <a:extLst>
                <a:ext uri="{FF2B5EF4-FFF2-40B4-BE49-F238E27FC236}">
                  <a16:creationId xmlns:a16="http://schemas.microsoft.com/office/drawing/2014/main" id="{73E39F65-9480-0F46-055A-035070194749}"/>
                </a:ext>
              </a:extLst>
            </p:cNvPr>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60">
              <a:extLst>
                <a:ext uri="{FF2B5EF4-FFF2-40B4-BE49-F238E27FC236}">
                  <a16:creationId xmlns:a16="http://schemas.microsoft.com/office/drawing/2014/main" id="{392E9782-CDA7-04CB-A865-D8C791C4303B}"/>
                </a:ext>
              </a:extLst>
            </p:cNvPr>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61">
              <a:extLst>
                <a:ext uri="{FF2B5EF4-FFF2-40B4-BE49-F238E27FC236}">
                  <a16:creationId xmlns:a16="http://schemas.microsoft.com/office/drawing/2014/main" id="{20E33D97-FB81-7E6C-DB92-A90F8BA43BC9}"/>
                </a:ext>
              </a:extLst>
            </p:cNvPr>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62">
              <a:extLst>
                <a:ext uri="{FF2B5EF4-FFF2-40B4-BE49-F238E27FC236}">
                  <a16:creationId xmlns:a16="http://schemas.microsoft.com/office/drawing/2014/main" id="{E647B690-FB84-A7A3-C7D9-63DAC6E57699}"/>
                </a:ext>
              </a:extLst>
            </p:cNvPr>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71">
              <a:extLst>
                <a:ext uri="{FF2B5EF4-FFF2-40B4-BE49-F238E27FC236}">
                  <a16:creationId xmlns:a16="http://schemas.microsoft.com/office/drawing/2014/main" id="{AC696FDF-D155-F958-38CB-C971BF1BE97E}"/>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0" name="文本框 29">
            <a:extLst>
              <a:ext uri="{FF2B5EF4-FFF2-40B4-BE49-F238E27FC236}">
                <a16:creationId xmlns:a16="http://schemas.microsoft.com/office/drawing/2014/main" id="{85ADB0B7-6D80-9A1A-867F-2B3D52AB35BD}"/>
              </a:ext>
            </a:extLst>
          </p:cNvPr>
          <p:cNvSpPr txBox="1"/>
          <p:nvPr/>
        </p:nvSpPr>
        <p:spPr>
          <a:xfrm>
            <a:off x="5300903" y="1754028"/>
            <a:ext cx="244904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150" normalizeH="0" baseline="0" noProof="0" dirty="0">
                <a:ln>
                  <a:noFill/>
                </a:ln>
                <a:solidFill>
                  <a:srgbClr val="595959"/>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PART 04</a:t>
            </a:r>
            <a:endParaRPr kumimoji="0" lang="zh-CN" altLang="en-US" sz="3600" b="0" i="0" u="none" strike="noStrike" kern="1200" cap="none" spc="150" normalizeH="0" baseline="0" noProof="0" dirty="0">
              <a:ln>
                <a:noFill/>
              </a:ln>
              <a:solidFill>
                <a:srgbClr val="595959"/>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矩形 31">
            <a:extLst>
              <a:ext uri="{FF2B5EF4-FFF2-40B4-BE49-F238E27FC236}">
                <a16:creationId xmlns:a16="http://schemas.microsoft.com/office/drawing/2014/main" id="{C55A435C-20AD-0D80-B641-E520D3CA09AF}"/>
              </a:ext>
            </a:extLst>
          </p:cNvPr>
          <p:cNvSpPr/>
          <p:nvPr/>
        </p:nvSpPr>
        <p:spPr>
          <a:xfrm>
            <a:off x="5389085" y="2593396"/>
            <a:ext cx="665278" cy="45720"/>
          </a:xfrm>
          <a:prstGeom prst="rect">
            <a:avLst/>
          </a:prstGeom>
          <a:solidFill>
            <a:schemeClr val="accent1"/>
          </a:solidFill>
          <a:ln>
            <a:noFill/>
          </a:ln>
        </p:spPr>
        <p:txBody>
          <a:bodyPr vert="horz" wrap="square" lIns="91440" tIns="45720" rIns="91440" bIns="45720" numCol="1" anchor="t" anchorCtr="0" compatLnSpc="1"/>
          <a:lstStyle/>
          <a:p>
            <a:endParaRPr lang="zh-CN" altLang="en-US">
              <a:solidFill>
                <a:srgbClr val="FF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矩形 32">
            <a:extLst>
              <a:ext uri="{FF2B5EF4-FFF2-40B4-BE49-F238E27FC236}">
                <a16:creationId xmlns:a16="http://schemas.microsoft.com/office/drawing/2014/main" id="{CC3CB366-B502-DC41-1836-EDC48B57002F}"/>
              </a:ext>
            </a:extLst>
          </p:cNvPr>
          <p:cNvSpPr/>
          <p:nvPr/>
        </p:nvSpPr>
        <p:spPr>
          <a:xfrm>
            <a:off x="5327921" y="2991686"/>
            <a:ext cx="6779997" cy="1569660"/>
          </a:xfrm>
          <a:prstGeom prst="rect">
            <a:avLst/>
          </a:prstGeom>
        </p:spPr>
        <p:txBody>
          <a:bodyPr wrap="square">
            <a:spAutoFit/>
          </a:bodyPr>
          <a:lstStyle/>
          <a:p>
            <a:pPr>
              <a:defRPr/>
            </a:pPr>
            <a:r>
              <a:rPr lang="en-US" altLang="zh-CN" sz="2400" b="1" dirty="0">
                <a:latin typeface="Arial" panose="020B0604020202020204" pitchFamily="34" charset="0"/>
                <a:ea typeface="微软雅黑" panose="020B0503020204020204" pitchFamily="34" charset="-122"/>
                <a:cs typeface="+mn-ea"/>
              </a:rPr>
              <a:t>Exploiting Style Latent Flows for Generalizing Deepfake Video Detection</a:t>
            </a:r>
          </a:p>
          <a:p>
            <a:pPr>
              <a:defRPr/>
            </a:pPr>
            <a:r>
              <a:rPr lang="zh-CN" altLang="en-US" sz="2400" dirty="0">
                <a:latin typeface="Arial" panose="020B0604020202020204" pitchFamily="34" charset="0"/>
                <a:ea typeface="微软雅黑" panose="020B0503020204020204" pitchFamily="34" charset="-122"/>
                <a:cs typeface="+mn-ea"/>
              </a:rPr>
              <a:t>利用风格潜在流进行深度伪造视频检测的泛化</a:t>
            </a:r>
          </a:p>
          <a:p>
            <a:pPr>
              <a:defRPr/>
            </a:pPr>
            <a:endParaRPr lang="zh-CN" altLang="en-US" sz="2400" dirty="0">
              <a:latin typeface="Arial" panose="020B0604020202020204" pitchFamily="34" charset="0"/>
              <a:ea typeface="微软雅黑" panose="020B0503020204020204" pitchFamily="34" charset="-122"/>
              <a:cs typeface="+mn-ea"/>
            </a:endParaRPr>
          </a:p>
        </p:txBody>
      </p:sp>
      <p:sp>
        <p:nvSpPr>
          <p:cNvPr id="28" name="文本框 27">
            <a:extLst>
              <a:ext uri="{FF2B5EF4-FFF2-40B4-BE49-F238E27FC236}">
                <a16:creationId xmlns:a16="http://schemas.microsoft.com/office/drawing/2014/main" id="{AE3AAA5B-F53C-6A9C-80DE-BE262471DBA3}"/>
              </a:ext>
            </a:extLst>
          </p:cNvPr>
          <p:cNvSpPr txBox="1"/>
          <p:nvPr/>
        </p:nvSpPr>
        <p:spPr>
          <a:xfrm>
            <a:off x="7540053" y="5596275"/>
            <a:ext cx="4309672" cy="646331"/>
          </a:xfrm>
          <a:prstGeom prst="rect">
            <a:avLst/>
          </a:prstGeom>
          <a:noFill/>
        </p:spPr>
        <p:txBody>
          <a:bodyPr wrap="square">
            <a:spAutoFit/>
          </a:bodyPr>
          <a:lstStyle/>
          <a:p>
            <a:r>
              <a:rPr lang="en-US" altLang="zh-CN" dirty="0">
                <a:solidFill>
                  <a:srgbClr val="333333"/>
                </a:solidFill>
                <a:latin typeface="Helvetica Neue"/>
              </a:rPr>
              <a:t>2024, Computer Vision and Pattern Recognition (CVPR)</a:t>
            </a:r>
            <a:endParaRPr lang="zh-CN" altLang="en-US" dirty="0">
              <a:solidFill>
                <a:srgbClr val="333333"/>
              </a:solidFill>
              <a:latin typeface="Helvetica Neue"/>
            </a:endParaRPr>
          </a:p>
        </p:txBody>
      </p:sp>
    </p:spTree>
    <p:extLst>
      <p:ext uri="{BB962C8B-B14F-4D97-AF65-F5344CB8AC3E}">
        <p14:creationId xmlns:p14="http://schemas.microsoft.com/office/powerpoint/2010/main" val="41432810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9257B-500A-9379-FACF-81887CF055A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A602450-2342-E5A3-36FA-851790D90AC9}"/>
              </a:ext>
            </a:extLst>
          </p:cNvPr>
          <p:cNvSpPr>
            <a:spLocks noGrp="1"/>
          </p:cNvSpPr>
          <p:nvPr>
            <p:ph type="sldNum" sz="quarter" idx="4"/>
          </p:nvPr>
        </p:nvSpPr>
        <p:spPr/>
        <p:txBody>
          <a:bodyPr/>
          <a:lstStyle/>
          <a:p>
            <a:r>
              <a:rPr lang="en-US" altLang="zh-CN"/>
              <a:t>&lt; </a:t>
            </a:r>
            <a:fld id="{A548B57D-AE10-4CF7-A9DF-59FEFA91B28E}" type="slidenum">
              <a:rPr lang="zh-CN" altLang="en-US" smtClean="0"/>
              <a:t>29</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A9796DD2-ADB2-74A2-BFBE-2C5EAA8ED231}"/>
              </a:ext>
            </a:extLst>
          </p:cNvPr>
          <p:cNvSpPr>
            <a:spLocks noGrp="1"/>
          </p:cNvSpPr>
          <p:nvPr>
            <p:ph type="title"/>
          </p:nvPr>
        </p:nvSpPr>
        <p:spPr/>
        <p:txBody>
          <a:bodyPr>
            <a:noAutofit/>
          </a:bodyPr>
          <a:lstStyle/>
          <a:p>
            <a:r>
              <a:rPr lang="zh-CN" altLang="en-US" spc="0" dirty="0"/>
              <a:t>研究背景</a:t>
            </a:r>
          </a:p>
        </p:txBody>
      </p:sp>
      <p:sp>
        <p:nvSpPr>
          <p:cNvPr id="4" name="文本占位符 3">
            <a:extLst>
              <a:ext uri="{FF2B5EF4-FFF2-40B4-BE49-F238E27FC236}">
                <a16:creationId xmlns:a16="http://schemas.microsoft.com/office/drawing/2014/main" id="{1C514309-A520-4DE5-8358-3583A8B495EA}"/>
              </a:ext>
            </a:extLst>
          </p:cNvPr>
          <p:cNvSpPr>
            <a:spLocks noGrp="1"/>
          </p:cNvSpPr>
          <p:nvPr>
            <p:ph type="body" sz="quarter" idx="10"/>
          </p:nvPr>
        </p:nvSpPr>
        <p:spPr>
          <a:xfrm>
            <a:off x="526530" y="861086"/>
            <a:ext cx="11138940" cy="4384623"/>
          </a:xfrm>
        </p:spPr>
        <p:txBody>
          <a:bodyPr>
            <a:normAutofit/>
          </a:bodyPr>
          <a:lstStyle/>
          <a:p>
            <a:pPr marL="0" indent="0">
              <a:lnSpc>
                <a:spcPct val="150000"/>
              </a:lnSpc>
              <a:buNone/>
            </a:pPr>
            <a:r>
              <a:rPr lang="zh-CN" altLang="en-US" b="0" dirty="0">
                <a:latin typeface="微软雅黑" panose="020B0503020204020204" pitchFamily="34" charset="-122"/>
                <a:ea typeface="微软雅黑" panose="020B0503020204020204" pitchFamily="34" charset="-122"/>
              </a:rPr>
              <a:t>深度伪造技术的快速发展使得高质量伪造视频难以区分，但现有检测方法存在显著局限：</a:t>
            </a:r>
          </a:p>
          <a:p>
            <a:pPr>
              <a:lnSpc>
                <a:spcPct val="150000"/>
              </a:lnSpc>
            </a:pPr>
            <a:r>
              <a:rPr lang="zh-CN" altLang="en-US" dirty="0">
                <a:latin typeface="微软雅黑" panose="020B0503020204020204" pitchFamily="34" charset="-122"/>
                <a:ea typeface="微软雅黑" panose="020B0503020204020204" pitchFamily="34" charset="-122"/>
              </a:rPr>
              <a:t>依赖低层次伪影：</a:t>
            </a:r>
            <a:r>
              <a:rPr lang="zh-CN" altLang="en-US" b="0" dirty="0">
                <a:latin typeface="微软雅黑" panose="020B0503020204020204" pitchFamily="34" charset="-122"/>
                <a:ea typeface="微软雅黑" panose="020B0503020204020204" pitchFamily="34" charset="-122"/>
              </a:rPr>
              <a:t>传统方法聚焦视觉伪影（融合边界）或时间伪影（闪烁），而新型伪造算法已能有效抑制这些伪影，导致泛化性差；</a:t>
            </a:r>
          </a:p>
          <a:p>
            <a:pPr>
              <a:lnSpc>
                <a:spcPct val="150000"/>
              </a:lnSpc>
            </a:pPr>
            <a:r>
              <a:rPr lang="zh-CN" altLang="en-US" dirty="0">
                <a:latin typeface="微软雅黑" panose="020B0503020204020204" pitchFamily="34" charset="-122"/>
                <a:ea typeface="微软雅黑" panose="020B0503020204020204" pitchFamily="34" charset="-122"/>
              </a:rPr>
              <a:t>忽视高层特征动态：</a:t>
            </a:r>
            <a:r>
              <a:rPr lang="zh-CN" altLang="en-US" b="0" dirty="0">
                <a:latin typeface="微软雅黑" panose="020B0503020204020204" pitchFamily="34" charset="-122"/>
                <a:ea typeface="微软雅黑" panose="020B0503020204020204" pitchFamily="34" charset="-122"/>
              </a:rPr>
              <a:t>现有视频级检测方法多关注像素级时间信息，未利用人脸高层特征（如表情、几何变换）的时间变化规律。</a:t>
            </a:r>
          </a:p>
          <a:p>
            <a:pPr>
              <a:lnSpc>
                <a:spcPct val="150000"/>
              </a:lnSpc>
            </a:pPr>
            <a:r>
              <a:rPr lang="zh-CN" altLang="en-US" dirty="0">
                <a:latin typeface="微软雅黑" panose="020B0503020204020204" pitchFamily="34" charset="-122"/>
                <a:ea typeface="微软雅黑" panose="020B0503020204020204" pitchFamily="34" charset="-122"/>
              </a:rPr>
              <a:t>核心发现：</a:t>
            </a:r>
            <a:r>
              <a:rPr lang="zh-CN" altLang="en-US" b="0" dirty="0">
                <a:latin typeface="微软雅黑" panose="020B0503020204020204" pitchFamily="34" charset="-122"/>
                <a:ea typeface="微软雅黑" panose="020B0503020204020204" pitchFamily="34" charset="-122"/>
              </a:rPr>
              <a:t>为保证时间稳定性，深伪视频风格潜向量的时间流方差被显著抑制（真实视频在风格潜向量特定层级的方差远高于伪造视频）。风格潜向量编码人脸外观与运动（表情、几何变换），其时间动态差异可作为泛化性检测的关键线索。</a:t>
            </a:r>
          </a:p>
        </p:txBody>
      </p:sp>
      <p:pic>
        <p:nvPicPr>
          <p:cNvPr id="7" name="图片 6">
            <a:extLst>
              <a:ext uri="{FF2B5EF4-FFF2-40B4-BE49-F238E27FC236}">
                <a16:creationId xmlns:a16="http://schemas.microsoft.com/office/drawing/2014/main" id="{D6148423-83D8-2C61-1C38-F01E581F0C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5655" y="4608577"/>
            <a:ext cx="3019304" cy="2249424"/>
          </a:xfrm>
          <a:prstGeom prst="rect">
            <a:avLst/>
          </a:prstGeom>
        </p:spPr>
      </p:pic>
    </p:spTree>
    <p:extLst>
      <p:ext uri="{BB962C8B-B14F-4D97-AF65-F5344CB8AC3E}">
        <p14:creationId xmlns:p14="http://schemas.microsoft.com/office/powerpoint/2010/main" val="1950201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61DBE-1FE8-12C3-515D-47BB94834EF0}"/>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F6A740B-FE32-88F3-1B1C-AF2CF1E1DDD7}"/>
              </a:ext>
            </a:extLst>
          </p:cNvPr>
          <p:cNvSpPr>
            <a:spLocks noGrp="1"/>
          </p:cNvSpPr>
          <p:nvPr>
            <p:ph type="sldNum" sz="quarter" idx="4"/>
          </p:nvPr>
        </p:nvSpPr>
        <p:spPr/>
        <p:txBody>
          <a:bodyPr/>
          <a:lstStyle/>
          <a:p>
            <a:r>
              <a:rPr lang="en-US" altLang="zh-CN"/>
              <a:t>&lt; </a:t>
            </a:r>
            <a:fld id="{A548B57D-AE10-4CF7-A9DF-59FEFA91B28E}" type="slidenum">
              <a:rPr lang="zh-CN" altLang="en-US" smtClean="0"/>
              <a:t>30</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75B76690-BACF-C6F8-4365-5F8D9CE175C5}"/>
              </a:ext>
            </a:extLst>
          </p:cNvPr>
          <p:cNvSpPr>
            <a:spLocks noGrp="1"/>
          </p:cNvSpPr>
          <p:nvPr>
            <p:ph type="title"/>
          </p:nvPr>
        </p:nvSpPr>
        <p:spPr/>
        <p:txBody>
          <a:bodyPr>
            <a:noAutofit/>
          </a:bodyPr>
          <a:lstStyle/>
          <a:p>
            <a:r>
              <a:rPr lang="zh-CN" altLang="en-US" spc="0" dirty="0"/>
              <a:t>整体框架 </a:t>
            </a:r>
            <a:r>
              <a:rPr lang="en-US" altLang="zh-CN" spc="0" dirty="0"/>
              <a:t>—— </a:t>
            </a:r>
            <a:r>
              <a:rPr lang="zh-CN" altLang="en-US" spc="0" dirty="0"/>
              <a:t>两路特征 </a:t>
            </a:r>
            <a:r>
              <a:rPr lang="en-US" altLang="zh-CN" spc="0" dirty="0"/>
              <a:t>+ </a:t>
            </a:r>
            <a:r>
              <a:rPr lang="zh-CN" altLang="en-US" spc="0" dirty="0"/>
              <a:t>注意力融合 </a:t>
            </a:r>
            <a:r>
              <a:rPr lang="en-US" altLang="zh-CN" spc="0" dirty="0"/>
              <a:t>+ </a:t>
            </a:r>
            <a:r>
              <a:rPr lang="zh-CN" altLang="en-US" spc="0" dirty="0"/>
              <a:t>时间</a:t>
            </a:r>
            <a:r>
              <a:rPr lang="en-US" altLang="zh-CN" spc="0" dirty="0"/>
              <a:t>Transformer </a:t>
            </a:r>
            <a:r>
              <a:rPr lang="zh-CN" altLang="en-US" spc="0" dirty="0"/>
              <a:t>分类</a:t>
            </a:r>
          </a:p>
        </p:txBody>
      </p:sp>
      <p:sp>
        <p:nvSpPr>
          <p:cNvPr id="10" name="LimitationBoxContent">
            <a:extLst>
              <a:ext uri="{FF2B5EF4-FFF2-40B4-BE49-F238E27FC236}">
                <a16:creationId xmlns:a16="http://schemas.microsoft.com/office/drawing/2014/main" id="{97BEFB83-50A9-AF3D-94B3-A57FA71F2CFB}"/>
              </a:ext>
            </a:extLst>
          </p:cNvPr>
          <p:cNvSpPr/>
          <p:nvPr/>
        </p:nvSpPr>
        <p:spPr>
          <a:xfrm>
            <a:off x="559304" y="3429000"/>
            <a:ext cx="11073385" cy="2965353"/>
          </a:xfrm>
          <a:prstGeom prst="rect">
            <a:avLst/>
          </a:prstGeom>
          <a:solidFill>
            <a:srgbClr val="E74C3C">
              <a:alpha val="10000"/>
            </a:srgbClr>
          </a:solidFill>
          <a:ln w="0">
            <a:noFill/>
          </a:ln>
        </p:spPr>
        <p:style>
          <a:lnRef idx="0">
            <a:scrgbClr r="0" g="0" b="0"/>
          </a:lnRef>
          <a:fillRef idx="0">
            <a:scrgbClr r="0" g="0" b="0"/>
          </a:fillRef>
          <a:effectRef idx="0">
            <a:scrgbClr r="0" g="0" b="0"/>
          </a:effectRef>
          <a:fontRef idx="minor"/>
        </p:style>
        <p:txBody>
          <a:bodyPr lIns="171360" tIns="171360" rIns="171360" bIns="17136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lnSpc>
                <a:spcPct val="150000"/>
              </a:lnSpc>
              <a:spcBef>
                <a:spcPts val="1000"/>
              </a:spcBef>
              <a:buClr>
                <a:schemeClr val="accent1"/>
              </a:buClr>
              <a:buSzPct val="110000"/>
              <a:buFont typeface="Wingdings" panose="05000000000000000000" pitchFamily="2" charset="2"/>
              <a:buChar char="§"/>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路</a:t>
            </a:r>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1</a:t>
            </a: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逐帧用 </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pSp</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StyleGAN </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反演编码器）提取风格潜向量 𝑠𝑡，构造风格流 </a:t>
            </a:r>
            <a:r>
              <a:rPr lang="el-GR"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Δ</a:t>
            </a:r>
            <a:r>
              <a:rPr lang="zh-CN" altLang="el-GR"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𝑠𝑡</a:t>
            </a:r>
            <a:r>
              <a:rPr lang="el-GR"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el-GR"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𝑠𝑡</a:t>
            </a:r>
            <a:r>
              <a:rPr lang="el-GR"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+1−</a:t>
            </a:r>
            <a:r>
              <a:rPr lang="zh-CN" altLang="el-GR"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𝑠𝑡，</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送入 </a:t>
            </a:r>
            <a:r>
              <a:rPr lang="en-US" altLang="zh-CN" sz="16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StyleGRU</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 </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得到风格时序特征 。</a:t>
            </a:r>
          </a:p>
          <a:p>
            <a:pPr marL="228600" indent="-228600">
              <a:lnSpc>
                <a:spcPct val="150000"/>
              </a:lnSpc>
              <a:spcBef>
                <a:spcPts val="1000"/>
              </a:spcBef>
              <a:buClr>
                <a:schemeClr val="accent1"/>
              </a:buClr>
              <a:buSzPct val="110000"/>
              <a:buFont typeface="Wingdings" panose="05000000000000000000" pitchFamily="2" charset="2"/>
              <a:buChar char="§"/>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路</a:t>
            </a:r>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2</a:t>
            </a: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用 </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3D ResNet-50 </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从视频片段提内容</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外观</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一般时序特征 𝐶</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content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p>
          <a:p>
            <a:pPr defTabSz="457200">
              <a:lnSpc>
                <a:spcPct val="150000"/>
              </a:lnSpc>
            </a:pPr>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Style Attention Module</a:t>
            </a: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SAM</a:t>
            </a: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以 𝐶</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content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为 </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Query</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，风格特征为 </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Key/Value </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做注意力融合。</a:t>
            </a:r>
          </a:p>
          <a:p>
            <a:pPr defTabSz="457200">
              <a:lnSpc>
                <a:spcPct val="150000"/>
              </a:lnSpc>
            </a:pPr>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Temporal Transformer Encoder</a:t>
            </a: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TTE</a:t>
            </a: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对融合后的序列做时序建模，最后二分类真</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rPr>
              <a:t>假。</a:t>
            </a:r>
          </a:p>
          <a:p>
            <a:pPr defTabSz="457200">
              <a:lnSpc>
                <a:spcPct val="150000"/>
              </a:lnSpc>
            </a:pPr>
            <a:r>
              <a:rPr lang="zh-CN" altLang="en-US" sz="1600" b="1" dirty="0">
                <a:solidFill>
                  <a:srgbClr val="A5300F"/>
                </a:solidFill>
                <a:latin typeface="微软雅黑" panose="020B0503020204020204" pitchFamily="34" charset="-122"/>
                <a:ea typeface="微软雅黑" panose="020B0503020204020204" pitchFamily="34" charset="-122"/>
                <a:cs typeface="+mn-ea"/>
              </a:rPr>
              <a:t>真实视频的“表情变化</a:t>
            </a:r>
            <a:r>
              <a:rPr lang="en-US" altLang="zh-CN" sz="1600" b="1" dirty="0">
                <a:solidFill>
                  <a:srgbClr val="A5300F"/>
                </a:solidFill>
                <a:latin typeface="微软雅黑" panose="020B0503020204020204" pitchFamily="34" charset="-122"/>
                <a:ea typeface="微软雅黑" panose="020B0503020204020204" pitchFamily="34" charset="-122"/>
                <a:cs typeface="+mn-ea"/>
              </a:rPr>
              <a:t>/</a:t>
            </a:r>
            <a:r>
              <a:rPr lang="zh-CN" altLang="en-US" sz="1600" b="1" dirty="0">
                <a:solidFill>
                  <a:srgbClr val="A5300F"/>
                </a:solidFill>
                <a:latin typeface="微软雅黑" panose="020B0503020204020204" pitchFamily="34" charset="-122"/>
                <a:ea typeface="微软雅黑" panose="020B0503020204020204" pitchFamily="34" charset="-122"/>
                <a:cs typeface="+mn-ea"/>
              </a:rPr>
              <a:t>几何变形”在风格潜空间里是自然起伏；深伪为了稳定，会对这类起伏做平滑</a:t>
            </a:r>
            <a:r>
              <a:rPr lang="en-US" altLang="zh-CN" sz="1600" b="1" dirty="0">
                <a:solidFill>
                  <a:srgbClr val="A5300F"/>
                </a:solidFill>
                <a:latin typeface="微软雅黑" panose="020B0503020204020204" pitchFamily="34" charset="-122"/>
                <a:ea typeface="微软雅黑" panose="020B0503020204020204" pitchFamily="34" charset="-122"/>
                <a:cs typeface="+mn-ea"/>
              </a:rPr>
              <a:t>/</a:t>
            </a:r>
            <a:r>
              <a:rPr lang="zh-CN" altLang="en-US" sz="1600" b="1" dirty="0">
                <a:solidFill>
                  <a:srgbClr val="A5300F"/>
                </a:solidFill>
                <a:latin typeface="微软雅黑" panose="020B0503020204020204" pitchFamily="34" charset="-122"/>
                <a:ea typeface="微软雅黑" panose="020B0503020204020204" pitchFamily="34" charset="-122"/>
                <a:cs typeface="+mn-ea"/>
              </a:rPr>
              <a:t>抑制。我们直接“听风格的节奏”，而不是只看像素瑕疵。</a:t>
            </a:r>
            <a:endParaRPr lang="zh-CN" altLang="en-US" sz="1600" dirty="0">
              <a:solidFill>
                <a:srgbClr val="A5300F"/>
              </a:solidFill>
              <a:latin typeface="微软雅黑" panose="020B0503020204020204" pitchFamily="34" charset="-122"/>
              <a:ea typeface="微软雅黑" panose="020B0503020204020204" pitchFamily="34" charset="-122"/>
              <a:cs typeface="+mn-ea"/>
            </a:endParaRPr>
          </a:p>
        </p:txBody>
      </p:sp>
      <p:pic>
        <p:nvPicPr>
          <p:cNvPr id="5" name="图片 4">
            <a:extLst>
              <a:ext uri="{FF2B5EF4-FFF2-40B4-BE49-F238E27FC236}">
                <a16:creationId xmlns:a16="http://schemas.microsoft.com/office/drawing/2014/main" id="{C9762D06-9FCA-9C86-125E-0DFB116F9810}"/>
              </a:ext>
            </a:extLst>
          </p:cNvPr>
          <p:cNvPicPr>
            <a:picLocks/>
          </p:cNvPicPr>
          <p:nvPr/>
        </p:nvPicPr>
        <p:blipFill>
          <a:blip r:embed="rId2">
            <a:extLst>
              <a:ext uri="{28A0092B-C50C-407E-A947-70E740481C1C}">
                <a14:useLocalDpi xmlns:a14="http://schemas.microsoft.com/office/drawing/2010/main" val="0"/>
              </a:ext>
            </a:extLst>
          </a:blip>
          <a:srcRect b="4194"/>
          <a:stretch>
            <a:fillRect/>
          </a:stretch>
        </p:blipFill>
        <p:spPr>
          <a:xfrm>
            <a:off x="1681190" y="917222"/>
            <a:ext cx="8829612" cy="2431311"/>
          </a:xfrm>
          <a:prstGeom prst="rect">
            <a:avLst/>
          </a:prstGeom>
        </p:spPr>
      </p:pic>
    </p:spTree>
    <p:extLst>
      <p:ext uri="{BB962C8B-B14F-4D97-AF65-F5344CB8AC3E}">
        <p14:creationId xmlns:p14="http://schemas.microsoft.com/office/powerpoint/2010/main" val="9356167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8FA12-50E0-5B7F-E613-DA6992CB4060}"/>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32EB388-EBC3-C923-70D7-3ECED623515D}"/>
              </a:ext>
            </a:extLst>
          </p:cNvPr>
          <p:cNvSpPr>
            <a:spLocks noGrp="1"/>
          </p:cNvSpPr>
          <p:nvPr>
            <p:ph type="sldNum" sz="quarter" idx="4"/>
          </p:nvPr>
        </p:nvSpPr>
        <p:spPr/>
        <p:txBody>
          <a:bodyPr/>
          <a:lstStyle/>
          <a:p>
            <a:r>
              <a:rPr lang="en-US" altLang="zh-CN" dirty="0"/>
              <a:t>&lt; </a:t>
            </a:r>
            <a:fld id="{A548B57D-AE10-4CF7-A9DF-59FEFA91B28E}" type="slidenum">
              <a:rPr lang="zh-CN" altLang="en-US" smtClean="0"/>
              <a:t>31</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C6FCAF1B-589B-03DC-5FEC-86B84D92B969}"/>
              </a:ext>
            </a:extLst>
          </p:cNvPr>
          <p:cNvSpPr>
            <a:spLocks noGrp="1"/>
          </p:cNvSpPr>
          <p:nvPr>
            <p:ph type="title"/>
          </p:nvPr>
        </p:nvSpPr>
        <p:spPr/>
        <p:txBody>
          <a:bodyPr>
            <a:noAutofit/>
          </a:bodyPr>
          <a:lstStyle/>
          <a:p>
            <a:r>
              <a:rPr lang="zh-CN" altLang="en-US" spc="0" dirty="0"/>
              <a:t>模块细节</a:t>
            </a:r>
          </a:p>
        </p:txBody>
      </p:sp>
      <p:graphicFrame>
        <p:nvGraphicFramePr>
          <p:cNvPr id="4" name="表格 3">
            <a:extLst>
              <a:ext uri="{FF2B5EF4-FFF2-40B4-BE49-F238E27FC236}">
                <a16:creationId xmlns:a16="http://schemas.microsoft.com/office/drawing/2014/main" id="{27516B6A-8B45-AA74-BE08-C46EE2F48BD3}"/>
              </a:ext>
            </a:extLst>
          </p:cNvPr>
          <p:cNvGraphicFramePr>
            <a:graphicFrameLocks noGrp="1"/>
          </p:cNvGraphicFramePr>
          <p:nvPr>
            <p:extLst>
              <p:ext uri="{D42A27DB-BD31-4B8C-83A1-F6EECF244321}">
                <p14:modId xmlns:p14="http://schemas.microsoft.com/office/powerpoint/2010/main" val="927408750"/>
              </p:ext>
            </p:extLst>
          </p:nvPr>
        </p:nvGraphicFramePr>
        <p:xfrm>
          <a:off x="1110692" y="1196408"/>
          <a:ext cx="9970615" cy="4713899"/>
        </p:xfrm>
        <a:graphic>
          <a:graphicData uri="http://schemas.openxmlformats.org/drawingml/2006/table">
            <a:tbl>
              <a:tblPr>
                <a:tableStyleId>{8A107856-5554-42FB-B03E-39F5DBC370BA}</a:tableStyleId>
              </a:tblPr>
              <a:tblGrid>
                <a:gridCol w="1594713">
                  <a:extLst>
                    <a:ext uri="{9D8B030D-6E8A-4147-A177-3AD203B41FA5}">
                      <a16:colId xmlns:a16="http://schemas.microsoft.com/office/drawing/2014/main" val="2473118785"/>
                    </a:ext>
                  </a:extLst>
                </a:gridCol>
                <a:gridCol w="1199692">
                  <a:extLst>
                    <a:ext uri="{9D8B030D-6E8A-4147-A177-3AD203B41FA5}">
                      <a16:colId xmlns:a16="http://schemas.microsoft.com/office/drawing/2014/main" val="2886163790"/>
                    </a:ext>
                  </a:extLst>
                </a:gridCol>
                <a:gridCol w="3745383">
                  <a:extLst>
                    <a:ext uri="{9D8B030D-6E8A-4147-A177-3AD203B41FA5}">
                      <a16:colId xmlns:a16="http://schemas.microsoft.com/office/drawing/2014/main" val="3756659319"/>
                    </a:ext>
                  </a:extLst>
                </a:gridCol>
                <a:gridCol w="1821485">
                  <a:extLst>
                    <a:ext uri="{9D8B030D-6E8A-4147-A177-3AD203B41FA5}">
                      <a16:colId xmlns:a16="http://schemas.microsoft.com/office/drawing/2014/main" val="549566650"/>
                    </a:ext>
                  </a:extLst>
                </a:gridCol>
                <a:gridCol w="1609342">
                  <a:extLst>
                    <a:ext uri="{9D8B030D-6E8A-4147-A177-3AD203B41FA5}">
                      <a16:colId xmlns:a16="http://schemas.microsoft.com/office/drawing/2014/main" val="836235840"/>
                    </a:ext>
                  </a:extLst>
                </a:gridCol>
              </a:tblGrid>
              <a:tr h="264546">
                <a:tc>
                  <a:txBody>
                    <a:bodyPr/>
                    <a:lstStyle/>
                    <a:p>
                      <a:pPr algn="ctr">
                        <a:buNone/>
                      </a:pPr>
                      <a:r>
                        <a:rPr lang="zh-CN" altLang="en-US" sz="1600" b="1" kern="1200">
                          <a:solidFill>
                            <a:schemeClr val="tx1">
                              <a:lumMod val="75000"/>
                              <a:lumOff val="25000"/>
                            </a:schemeClr>
                          </a:solidFill>
                          <a:latin typeface="微软雅黑" panose="020B0503020204020204" pitchFamily="34" charset="-122"/>
                          <a:ea typeface="微软雅黑" panose="020B0503020204020204" pitchFamily="34" charset="-122"/>
                          <a:cs typeface="+mn-ea"/>
                        </a:rPr>
                        <a:t>模块名称</a:t>
                      </a:r>
                    </a:p>
                  </a:txBody>
                  <a:tcPr marL="30383" marR="30383" marT="15191" marB="15191" anchor="ctr"/>
                </a:tc>
                <a:tc>
                  <a:txBody>
                    <a:bodyPr/>
                    <a:lstStyle/>
                    <a:p>
                      <a:pPr algn="ctr">
                        <a:buNone/>
                      </a:pPr>
                      <a:r>
                        <a:rPr lang="zh-CN" altLang="en-US" sz="1600" b="1"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输入</a:t>
                      </a:r>
                    </a:p>
                  </a:txBody>
                  <a:tcPr marL="30383" marR="30383" marT="15191" marB="15191" anchor="ctr"/>
                </a:tc>
                <a:tc>
                  <a:txBody>
                    <a:bodyPr/>
                    <a:lstStyle/>
                    <a:p>
                      <a:pPr algn="ctr">
                        <a:buNone/>
                      </a:pPr>
                      <a:r>
                        <a:rPr lang="zh-CN" altLang="en-US" sz="1600" b="1" kern="1200">
                          <a:solidFill>
                            <a:schemeClr val="tx1">
                              <a:lumMod val="75000"/>
                              <a:lumOff val="25000"/>
                            </a:schemeClr>
                          </a:solidFill>
                          <a:latin typeface="微软雅黑" panose="020B0503020204020204" pitchFamily="34" charset="-122"/>
                          <a:ea typeface="微软雅黑" panose="020B0503020204020204" pitchFamily="34" charset="-122"/>
                          <a:cs typeface="+mn-ea"/>
                        </a:rPr>
                        <a:t>核心操作</a:t>
                      </a:r>
                    </a:p>
                  </a:txBody>
                  <a:tcPr marL="30383" marR="30383" marT="15191" marB="15191" anchor="ctr"/>
                </a:tc>
                <a:tc>
                  <a:txBody>
                    <a:bodyPr/>
                    <a:lstStyle/>
                    <a:p>
                      <a:pPr algn="ctr">
                        <a:buNone/>
                      </a:pPr>
                      <a:r>
                        <a:rPr lang="zh-CN" altLang="en-US" sz="1600" b="1" kern="1200">
                          <a:solidFill>
                            <a:schemeClr val="tx1">
                              <a:lumMod val="75000"/>
                              <a:lumOff val="25000"/>
                            </a:schemeClr>
                          </a:solidFill>
                          <a:latin typeface="微软雅黑" panose="020B0503020204020204" pitchFamily="34" charset="-122"/>
                          <a:ea typeface="微软雅黑" panose="020B0503020204020204" pitchFamily="34" charset="-122"/>
                          <a:cs typeface="+mn-ea"/>
                        </a:rPr>
                        <a:t>输出</a:t>
                      </a:r>
                    </a:p>
                  </a:txBody>
                  <a:tcPr marL="30383" marR="30383" marT="15191" marB="15191" anchor="ctr"/>
                </a:tc>
                <a:tc>
                  <a:txBody>
                    <a:bodyPr/>
                    <a:lstStyle/>
                    <a:p>
                      <a:pPr algn="ctr">
                        <a:buNone/>
                      </a:pPr>
                      <a:r>
                        <a:rPr lang="zh-CN" altLang="en-US" sz="1600" b="1"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作用</a:t>
                      </a:r>
                    </a:p>
                  </a:txBody>
                  <a:tcPr marL="30383" marR="30383" marT="15191" marB="15191" anchor="ctr"/>
                </a:tc>
                <a:extLst>
                  <a:ext uri="{0D108BD9-81ED-4DB2-BD59-A6C34878D82A}">
                    <a16:rowId xmlns:a16="http://schemas.microsoft.com/office/drawing/2014/main" val="2928362874"/>
                  </a:ext>
                </a:extLst>
              </a:tr>
              <a:tr h="1251771">
                <a:tc>
                  <a:txBody>
                    <a:bodyPr/>
                    <a:lstStyle/>
                    <a:p>
                      <a:pPr algn="ctr">
                        <a:buNone/>
                      </a:pPr>
                      <a:r>
                        <a:rPr lang="en-US" sz="1600" b="1" kern="12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StyleGRU</a:t>
                      </a:r>
                      <a:endParaRPr lang="en-US" sz="1600" b="1" kern="1200"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a:txBody>
                  <a:tcPr marL="30383" marR="30383" marT="15191" marB="15191" anchor="ctr"/>
                </a:tc>
                <a:tc>
                  <a:txBody>
                    <a:bodyPr/>
                    <a:lstStyle/>
                    <a:p>
                      <a:pPr algn="ctr">
                        <a:buNone/>
                      </a:pPr>
                      <a:r>
                        <a:rPr lang="zh-CN" altLang="en-US" sz="1600"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预处理视频片段（</a:t>
                      </a:r>
                      <a:r>
                        <a:rPr lang="en-US" altLang="zh-CN" sz="1600" kern="12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I_p</a:t>
                      </a:r>
                      <a:r>
                        <a:rPr lang="zh-CN" altLang="en-US" sz="1600"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p>
                  </a:txBody>
                  <a:tcPr marL="30383" marR="30383" marT="15191" marB="15191" anchor="ctr"/>
                </a:tc>
                <a:tc>
                  <a:txBody>
                    <a:bodyPr/>
                    <a:lstStyle/>
                    <a:p>
                      <a:pPr algn="ctr">
                        <a:buNone/>
                      </a:pP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1. pSp </a:t>
                      </a: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编码器提取风格潜向量 </a:t>
                      </a: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S={s_1,...,s_l}；</a:t>
                      </a:r>
                    </a:p>
                    <a:p>
                      <a:pPr algn="ctr">
                        <a:buNone/>
                      </a:pP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2. </a:t>
                      </a: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计算风格流 </a:t>
                      </a:r>
                      <a:r>
                        <a:rPr lang="el-GR"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Δ</a:t>
                      </a: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S=s_i+1-s_i；</a:t>
                      </a:r>
                    </a:p>
                    <a:p>
                      <a:pPr algn="ctr">
                        <a:buNone/>
                      </a:pP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3. </a:t>
                      </a: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双向 </a:t>
                      </a: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GRU（2 </a:t>
                      </a: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层，</a:t>
                      </a:r>
                      <a:r>
                        <a:rPr lang="en-US" altLang="zh-CN"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4096 </a:t>
                      </a: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隐藏单元）编码</a:t>
                      </a:r>
                    </a:p>
                  </a:txBody>
                  <a:tcPr marL="30383" marR="30383" marT="15191" marB="15191" anchor="ctr"/>
                </a:tc>
                <a:tc>
                  <a:txBody>
                    <a:bodyPr/>
                    <a:lstStyle/>
                    <a:p>
                      <a:pPr algn="ctr">
                        <a:buNone/>
                      </a:pP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E_style（R^C×B×L）</a:t>
                      </a:r>
                    </a:p>
                  </a:txBody>
                  <a:tcPr marL="30383" marR="30383" marT="15191" marB="15191" anchor="ctr"/>
                </a:tc>
                <a:tc>
                  <a:txBody>
                    <a:bodyPr/>
                    <a:lstStyle/>
                    <a:p>
                      <a:pPr algn="ctr">
                        <a:buNone/>
                      </a:pP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捕捉风格潜向量的时间动态特征</a:t>
                      </a:r>
                    </a:p>
                  </a:txBody>
                  <a:tcPr marL="30383" marR="30383" marT="15191" marB="15191" anchor="ctr"/>
                </a:tc>
                <a:extLst>
                  <a:ext uri="{0D108BD9-81ED-4DB2-BD59-A6C34878D82A}">
                    <a16:rowId xmlns:a16="http://schemas.microsoft.com/office/drawing/2014/main" val="4165968000"/>
                  </a:ext>
                </a:extLst>
              </a:tr>
              <a:tr h="668867">
                <a:tc>
                  <a:txBody>
                    <a:bodyPr/>
                    <a:lstStyle/>
                    <a:p>
                      <a:pPr algn="ctr">
                        <a:buNone/>
                      </a:pPr>
                      <a:r>
                        <a:rPr lang="en-US" sz="1600" b="1"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3D ResNet-50</a:t>
                      </a:r>
                    </a:p>
                  </a:txBody>
                  <a:tcPr marL="30383" marR="30383" marT="15191" marB="15191" anchor="ctr"/>
                </a:tc>
                <a:tc>
                  <a:txBody>
                    <a:bodyPr/>
                    <a:lstStyle/>
                    <a:p>
                      <a:pPr algn="ctr">
                        <a:buNone/>
                      </a:pP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原始视频片段（</a:t>
                      </a:r>
                      <a:r>
                        <a:rPr lang="en-US" altLang="zh-CN"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I</a:t>
                      </a: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a:t>
                      </a:r>
                    </a:p>
                  </a:txBody>
                  <a:tcPr marL="30383" marR="30383" marT="15191" marB="15191" anchor="ctr"/>
                </a:tc>
                <a:tc>
                  <a:txBody>
                    <a:bodyPr/>
                    <a:lstStyle/>
                    <a:p>
                      <a:pPr algn="ctr">
                        <a:buNone/>
                      </a:pP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预训练 </a:t>
                      </a:r>
                      <a:r>
                        <a:rPr lang="en-US" altLang="zh-CN"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3D ResNet-50</a:t>
                      </a: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en-US" altLang="zh-CN"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FTCN </a:t>
                      </a: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权重），全局平均池化最后卷积层</a:t>
                      </a:r>
                    </a:p>
                  </a:txBody>
                  <a:tcPr marL="30383" marR="30383" marT="15191" marB="15191" anchor="ctr"/>
                </a:tc>
                <a:tc>
                  <a:txBody>
                    <a:bodyPr/>
                    <a:lstStyle/>
                    <a:p>
                      <a:pPr algn="ctr">
                        <a:buNone/>
                      </a:pP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C_content（R^1024×16）</a:t>
                      </a:r>
                    </a:p>
                  </a:txBody>
                  <a:tcPr marL="30383" marR="30383" marT="15191" marB="15191" anchor="ctr"/>
                </a:tc>
                <a:tc>
                  <a:txBody>
                    <a:bodyPr/>
                    <a:lstStyle/>
                    <a:p>
                      <a:pPr algn="ctr">
                        <a:buNone/>
                      </a:pPr>
                      <a:r>
                        <a:rPr lang="zh-CN" altLang="en-US" sz="1600"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提取视觉 </a:t>
                      </a:r>
                      <a:r>
                        <a:rPr lang="en-US" altLang="zh-CN" sz="1600"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 </a:t>
                      </a:r>
                      <a:r>
                        <a:rPr lang="zh-CN" altLang="en-US" sz="1600"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时间伪影的内容特征</a:t>
                      </a:r>
                    </a:p>
                  </a:txBody>
                  <a:tcPr marL="30383" marR="30383" marT="15191" marB="15191" anchor="ctr"/>
                </a:tc>
                <a:extLst>
                  <a:ext uri="{0D108BD9-81ED-4DB2-BD59-A6C34878D82A}">
                    <a16:rowId xmlns:a16="http://schemas.microsoft.com/office/drawing/2014/main" val="3151064842"/>
                  </a:ext>
                </a:extLst>
              </a:tr>
              <a:tr h="1601321">
                <a:tc>
                  <a:txBody>
                    <a:bodyPr/>
                    <a:lstStyle/>
                    <a:p>
                      <a:pPr algn="ctr">
                        <a:buNone/>
                      </a:pPr>
                      <a:r>
                        <a:rPr lang="zh-CN" altLang="en-US" sz="1600" b="1"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风格注意力模块（</a:t>
                      </a:r>
                      <a:r>
                        <a:rPr lang="en-US" altLang="zh-CN" sz="1600" b="1"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SAM</a:t>
                      </a:r>
                      <a:r>
                        <a:rPr lang="zh-CN" altLang="en-US" sz="1600" b="1"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a:t>
                      </a:r>
                    </a:p>
                  </a:txBody>
                  <a:tcPr marL="30383" marR="30383" marT="15191" marB="15191" anchor="ctr"/>
                </a:tc>
                <a:tc>
                  <a:txBody>
                    <a:bodyPr/>
                    <a:lstStyle/>
                    <a:p>
                      <a:pPr algn="ctr">
                        <a:buNone/>
                      </a:pP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E_style、C_content</a:t>
                      </a:r>
                    </a:p>
                  </a:txBody>
                  <a:tcPr marL="30383" marR="30383" marT="15191" marB="15191" anchor="ctr"/>
                </a:tc>
                <a:tc>
                  <a:txBody>
                    <a:bodyPr/>
                    <a:lstStyle/>
                    <a:p>
                      <a:pPr algn="ctr">
                        <a:buNone/>
                      </a:pPr>
                      <a:r>
                        <a:rPr lang="en-US" altLang="zh-CN"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1. </a:t>
                      </a: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线性投影生成 </a:t>
                      </a: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Q_C=</a:t>
                      </a:r>
                      <a:r>
                        <a:rPr lang="el-GR"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φ_</a:t>
                      </a: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q (C_content)、K_E=</a:t>
                      </a:r>
                      <a:r>
                        <a:rPr lang="el-GR"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φ_</a:t>
                      </a: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k (E_style)、V_E=</a:t>
                      </a:r>
                      <a:r>
                        <a:rPr lang="el-GR"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φ_</a:t>
                      </a: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v (E_style)；</a:t>
                      </a:r>
                    </a:p>
                    <a:p>
                      <a:pPr algn="ctr">
                        <a:buNone/>
                      </a:pP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2. </a:t>
                      </a: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计算注意力分数 </a:t>
                      </a: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SA=softmax (Q_CK_E/√d_K)；</a:t>
                      </a:r>
                    </a:p>
                    <a:p>
                      <a:pPr algn="ctr">
                        <a:buNone/>
                      </a:pP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3. </a:t>
                      </a: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融合特征 </a:t>
                      </a:r>
                      <a:r>
                        <a:rPr lang="en-US" altLang="zh-CN"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a:t>
                      </a:r>
                      <a:r>
                        <a:rPr lang="el-GR"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φ(</a:t>
                      </a:r>
                      <a:r>
                        <a:rPr 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SA・V_E)</a:t>
                      </a:r>
                    </a:p>
                  </a:txBody>
                  <a:tcPr marL="30383" marR="30383" marT="15191" marB="15191" anchor="ctr"/>
                </a:tc>
                <a:tc>
                  <a:txBody>
                    <a:bodyPr/>
                    <a:lstStyle/>
                    <a:p>
                      <a:pPr algn="ctr">
                        <a:buNone/>
                      </a:pP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融合特征</a:t>
                      </a:r>
                    </a:p>
                  </a:txBody>
                  <a:tcPr marL="30383" marR="30383" marT="15191" marB="15191" anchor="ctr"/>
                </a:tc>
                <a:tc>
                  <a:txBody>
                    <a:bodyPr/>
                    <a:lstStyle/>
                    <a:p>
                      <a:pPr algn="ctr">
                        <a:buNone/>
                      </a:pP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动态关联风格与内容特征，增强判别性</a:t>
                      </a:r>
                    </a:p>
                  </a:txBody>
                  <a:tcPr marL="30383" marR="30383" marT="15191" marB="15191" anchor="ctr"/>
                </a:tc>
                <a:extLst>
                  <a:ext uri="{0D108BD9-81ED-4DB2-BD59-A6C34878D82A}">
                    <a16:rowId xmlns:a16="http://schemas.microsoft.com/office/drawing/2014/main" val="2287410131"/>
                  </a:ext>
                </a:extLst>
              </a:tr>
              <a:tr h="917718">
                <a:tc>
                  <a:txBody>
                    <a:bodyPr/>
                    <a:lstStyle/>
                    <a:p>
                      <a:pPr algn="ctr">
                        <a:buNone/>
                      </a:pPr>
                      <a:r>
                        <a:rPr lang="zh-CN" altLang="en-US" sz="1600" b="1"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时间 </a:t>
                      </a:r>
                      <a:r>
                        <a:rPr lang="en-US" sz="1600" b="1"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Transformer </a:t>
                      </a:r>
                      <a:r>
                        <a:rPr lang="zh-CN" altLang="en-US" sz="1600" b="1"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编码器（</a:t>
                      </a:r>
                      <a:r>
                        <a:rPr lang="en-US" sz="1600" b="1"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TTE）</a:t>
                      </a:r>
                    </a:p>
                  </a:txBody>
                  <a:tcPr marL="30383" marR="30383" marT="15191" marB="15191" anchor="ctr"/>
                </a:tc>
                <a:tc>
                  <a:txBody>
                    <a:bodyPr/>
                    <a:lstStyle/>
                    <a:p>
                      <a:pPr algn="ctr">
                        <a:buNone/>
                      </a:pPr>
                      <a:r>
                        <a:rPr lang="zh-CN" altLang="en-US" sz="1600"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融合特征</a:t>
                      </a:r>
                    </a:p>
                  </a:txBody>
                  <a:tcPr marL="30383" marR="30383" marT="15191" marB="15191" anchor="ctr"/>
                </a:tc>
                <a:tc>
                  <a:txBody>
                    <a:bodyPr/>
                    <a:lstStyle/>
                    <a:p>
                      <a:pPr algn="ctr">
                        <a:buNone/>
                      </a:pP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标准 </a:t>
                      </a:r>
                      <a:r>
                        <a:rPr lang="en-US" altLang="zh-CN"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Transformer </a:t>
                      </a: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编码器（含多头自注意力 </a:t>
                      </a:r>
                      <a:r>
                        <a:rPr lang="en-US" altLang="zh-CN"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 MLP</a:t>
                      </a: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），映射为 </a:t>
                      </a:r>
                      <a:r>
                        <a:rPr lang="en-US" altLang="zh-CN"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16 </a:t>
                      </a: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时间步特征</a:t>
                      </a:r>
                    </a:p>
                  </a:txBody>
                  <a:tcPr marL="30383" marR="30383" marT="15191" marB="15191" anchor="ctr"/>
                </a:tc>
                <a:tc>
                  <a:txBody>
                    <a:bodyPr/>
                    <a:lstStyle/>
                    <a:p>
                      <a:pPr algn="ctr">
                        <a:buNone/>
                      </a:pP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真假预测概率（</a:t>
                      </a:r>
                      <a:r>
                        <a:rPr lang="en-US" altLang="zh-CN"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σ </a:t>
                      </a:r>
                      <a:r>
                        <a:rPr lang="zh-CN" altLang="en-US" sz="1600" kern="1200">
                          <a:solidFill>
                            <a:schemeClr val="tx1">
                              <a:lumMod val="75000"/>
                              <a:lumOff val="25000"/>
                            </a:schemeClr>
                          </a:solidFill>
                          <a:latin typeface="微软雅黑" panose="020B0503020204020204" pitchFamily="34" charset="-122"/>
                          <a:ea typeface="微软雅黑" panose="020B0503020204020204" pitchFamily="34" charset="-122"/>
                          <a:cs typeface="+mn-ea"/>
                        </a:rPr>
                        <a:t>输出）</a:t>
                      </a:r>
                    </a:p>
                  </a:txBody>
                  <a:tcPr marL="30383" marR="30383" marT="15191" marB="15191" anchor="ctr"/>
                </a:tc>
                <a:tc>
                  <a:txBody>
                    <a:bodyPr/>
                    <a:lstStyle/>
                    <a:p>
                      <a:pPr algn="ctr">
                        <a:buNone/>
                      </a:pPr>
                      <a:r>
                        <a:rPr lang="zh-CN" altLang="en-US" sz="1600" kern="1200" dirty="0">
                          <a:solidFill>
                            <a:schemeClr val="tx1">
                              <a:lumMod val="75000"/>
                              <a:lumOff val="25000"/>
                            </a:schemeClr>
                          </a:solidFill>
                          <a:latin typeface="微软雅黑" panose="020B0503020204020204" pitchFamily="34" charset="-122"/>
                          <a:ea typeface="微软雅黑" panose="020B0503020204020204" pitchFamily="34" charset="-122"/>
                          <a:cs typeface="+mn-ea"/>
                        </a:rPr>
                        <a:t>建模时间维度依赖，输出分类结果</a:t>
                      </a:r>
                    </a:p>
                  </a:txBody>
                  <a:tcPr marL="30383" marR="30383" marT="15191" marB="15191" anchor="ctr"/>
                </a:tc>
                <a:extLst>
                  <a:ext uri="{0D108BD9-81ED-4DB2-BD59-A6C34878D82A}">
                    <a16:rowId xmlns:a16="http://schemas.microsoft.com/office/drawing/2014/main" val="3098820580"/>
                  </a:ext>
                </a:extLst>
              </a:tr>
            </a:tbl>
          </a:graphicData>
        </a:graphic>
      </p:graphicFrame>
    </p:spTree>
    <p:extLst>
      <p:ext uri="{BB962C8B-B14F-4D97-AF65-F5344CB8AC3E}">
        <p14:creationId xmlns:p14="http://schemas.microsoft.com/office/powerpoint/2010/main" val="12933679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CA117-149B-5C16-D5A0-D5F072DC31F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EB33C39-C499-83C9-73DF-0E38E7C999A5}"/>
              </a:ext>
            </a:extLst>
          </p:cNvPr>
          <p:cNvSpPr>
            <a:spLocks noGrp="1"/>
          </p:cNvSpPr>
          <p:nvPr>
            <p:ph type="sldNum" sz="quarter" idx="4"/>
          </p:nvPr>
        </p:nvSpPr>
        <p:spPr/>
        <p:txBody>
          <a:bodyPr/>
          <a:lstStyle/>
          <a:p>
            <a:r>
              <a:rPr lang="en-US" altLang="zh-CN" dirty="0"/>
              <a:t>&lt; </a:t>
            </a:r>
            <a:fld id="{A548B57D-AE10-4CF7-A9DF-59FEFA91B28E}" type="slidenum">
              <a:rPr lang="zh-CN" altLang="en-US" smtClean="0"/>
              <a:t>32</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E8DED05E-31D6-7CB7-845A-18C191228DDB}"/>
              </a:ext>
            </a:extLst>
          </p:cNvPr>
          <p:cNvSpPr>
            <a:spLocks noGrp="1"/>
          </p:cNvSpPr>
          <p:nvPr>
            <p:ph type="title"/>
          </p:nvPr>
        </p:nvSpPr>
        <p:spPr/>
        <p:txBody>
          <a:bodyPr>
            <a:noAutofit/>
          </a:bodyPr>
          <a:lstStyle/>
          <a:p>
            <a:r>
              <a:rPr lang="zh-CN" altLang="en-US" spc="0" dirty="0"/>
              <a:t>训练策略 </a:t>
            </a:r>
            <a:r>
              <a:rPr lang="en-US" altLang="zh-CN" spc="0" dirty="0"/>
              <a:t>——</a:t>
            </a:r>
            <a:r>
              <a:rPr lang="zh-CN" altLang="en-US" spc="0" dirty="0"/>
              <a:t> 两阶段</a:t>
            </a:r>
          </a:p>
        </p:txBody>
      </p:sp>
      <p:sp>
        <p:nvSpPr>
          <p:cNvPr id="17" name="文本占位符 3">
            <a:extLst>
              <a:ext uri="{FF2B5EF4-FFF2-40B4-BE49-F238E27FC236}">
                <a16:creationId xmlns:a16="http://schemas.microsoft.com/office/drawing/2014/main" id="{70801CCF-F7BE-42B8-0546-81C64323F4C1}"/>
              </a:ext>
            </a:extLst>
          </p:cNvPr>
          <p:cNvSpPr>
            <a:spLocks noGrp="1"/>
          </p:cNvSpPr>
          <p:nvPr>
            <p:ph type="body" sz="quarter" idx="10"/>
          </p:nvPr>
        </p:nvSpPr>
        <p:spPr>
          <a:xfrm>
            <a:off x="819302" y="4221532"/>
            <a:ext cx="5605882" cy="2318919"/>
          </a:xfrm>
        </p:spPr>
        <p:txBody>
          <a:bodyPr>
            <a:normAutofit fontScale="85000" lnSpcReduction="10000"/>
          </a:bodyPr>
          <a:lstStyle/>
          <a:p>
            <a:pPr marL="0" indent="0" defTabSz="457200">
              <a:lnSpc>
                <a:spcPct val="150000"/>
              </a:lnSpc>
              <a:buNone/>
            </a:pPr>
            <a:r>
              <a:rPr lang="zh-CN" altLang="en-US" sz="1800" dirty="0">
                <a:solidFill>
                  <a:srgbClr val="A5300F"/>
                </a:solidFill>
                <a:latin typeface="微软雅黑" panose="020B0503020204020204" pitchFamily="34" charset="-122"/>
                <a:ea typeface="微软雅黑" panose="020B0503020204020204" pitchFamily="34" charset="-122"/>
              </a:rPr>
              <a:t>阶段 </a:t>
            </a:r>
            <a:r>
              <a:rPr lang="en-US" altLang="zh-CN" sz="1800" dirty="0">
                <a:solidFill>
                  <a:srgbClr val="A5300F"/>
                </a:solidFill>
                <a:latin typeface="微软雅黑" panose="020B0503020204020204" pitchFamily="34" charset="-122"/>
                <a:ea typeface="微软雅黑" panose="020B0503020204020204" pitchFamily="34" charset="-122"/>
              </a:rPr>
              <a:t>1</a:t>
            </a:r>
            <a:r>
              <a:rPr lang="zh-CN" altLang="en-US" sz="1800" dirty="0">
                <a:solidFill>
                  <a:srgbClr val="A5300F"/>
                </a:solidFill>
                <a:latin typeface="微软雅黑" panose="020B0503020204020204" pitchFamily="34" charset="-122"/>
                <a:ea typeface="微软雅黑" panose="020B0503020204020204" pitchFamily="34" charset="-122"/>
              </a:rPr>
              <a:t>：</a:t>
            </a:r>
            <a:r>
              <a:rPr lang="en-US" altLang="zh-CN" sz="1800" dirty="0" err="1">
                <a:solidFill>
                  <a:srgbClr val="A5300F"/>
                </a:solidFill>
                <a:latin typeface="微软雅黑" panose="020B0503020204020204" pitchFamily="34" charset="-122"/>
                <a:ea typeface="微软雅黑" panose="020B0503020204020204" pitchFamily="34" charset="-122"/>
              </a:rPr>
              <a:t>StyleGRU</a:t>
            </a:r>
            <a:r>
              <a:rPr lang="en-US" altLang="zh-CN" sz="1800" dirty="0">
                <a:solidFill>
                  <a:srgbClr val="A5300F"/>
                </a:solidFill>
                <a:latin typeface="微软雅黑" panose="020B0503020204020204" pitchFamily="34" charset="-122"/>
                <a:ea typeface="微软雅黑" panose="020B0503020204020204" pitchFamily="34" charset="-122"/>
              </a:rPr>
              <a:t> </a:t>
            </a:r>
            <a:r>
              <a:rPr lang="zh-CN" altLang="en-US" sz="1800" dirty="0">
                <a:solidFill>
                  <a:srgbClr val="A5300F"/>
                </a:solidFill>
                <a:latin typeface="微软雅黑" panose="020B0503020204020204" pitchFamily="34" charset="-122"/>
                <a:ea typeface="微软雅黑" panose="020B0503020204020204" pitchFamily="34" charset="-122"/>
              </a:rPr>
              <a:t>表示学习</a:t>
            </a:r>
            <a:r>
              <a:rPr lang="zh-CN" altLang="en-US" sz="1800" b="0" dirty="0">
                <a:solidFill>
                  <a:srgbClr val="A5300F"/>
                </a:solidFill>
                <a:latin typeface="微软雅黑" panose="020B0503020204020204" pitchFamily="34" charset="-122"/>
                <a:ea typeface="微软雅黑" panose="020B0503020204020204" pitchFamily="34" charset="-122"/>
              </a:rPr>
              <a:t>（目标：编码鲁棒的风格时间特征）</a:t>
            </a:r>
          </a:p>
          <a:p>
            <a:pPr marL="0" indent="0" defTabSz="457200">
              <a:lnSpc>
                <a:spcPct val="150000"/>
              </a:lnSpc>
              <a:buNone/>
            </a:pPr>
            <a:r>
              <a:rPr lang="zh-CN" altLang="en-US" sz="1800" dirty="0">
                <a:latin typeface="微软雅黑" panose="020B0503020204020204" pitchFamily="34" charset="-122"/>
                <a:ea typeface="微软雅黑" panose="020B0503020204020204" pitchFamily="34" charset="-122"/>
              </a:rPr>
              <a:t>用监督式对比学习思想：</a:t>
            </a:r>
            <a:r>
              <a:rPr lang="zh-CN" altLang="en-US" sz="1800" b="0" dirty="0">
                <a:latin typeface="微软雅黑" panose="020B0503020204020204" pitchFamily="34" charset="-122"/>
                <a:ea typeface="微软雅黑" panose="020B0503020204020204" pitchFamily="34" charset="-122"/>
              </a:rPr>
              <a:t>在一个 </a:t>
            </a:r>
            <a:r>
              <a:rPr lang="en-US" altLang="zh-CN" sz="1800" b="0" dirty="0">
                <a:latin typeface="微软雅黑" panose="020B0503020204020204" pitchFamily="34" charset="-122"/>
                <a:ea typeface="微软雅黑" panose="020B0503020204020204" pitchFamily="34" charset="-122"/>
              </a:rPr>
              <a:t>batch </a:t>
            </a:r>
            <a:r>
              <a:rPr lang="zh-CN" altLang="en-US" sz="1800" b="0" dirty="0">
                <a:latin typeface="微软雅黑" panose="020B0503020204020204" pitchFamily="34" charset="-122"/>
                <a:ea typeface="微软雅黑" panose="020B0503020204020204" pitchFamily="34" charset="-122"/>
              </a:rPr>
              <a:t>内构造 </a:t>
            </a:r>
            <a:r>
              <a:rPr lang="en-US" altLang="zh-CN" sz="1800" b="0" dirty="0">
                <a:latin typeface="微软雅黑" panose="020B0503020204020204" pitchFamily="34" charset="-122"/>
                <a:ea typeface="微软雅黑" panose="020B0503020204020204" pitchFamily="34" charset="-122"/>
              </a:rPr>
              <a:t>anchor/positive/negative </a:t>
            </a:r>
            <a:r>
              <a:rPr lang="zh-CN" altLang="en-US" sz="1800" b="0" dirty="0">
                <a:latin typeface="微软雅黑" panose="020B0503020204020204" pitchFamily="34" charset="-122"/>
                <a:ea typeface="微软雅黑" panose="020B0503020204020204" pitchFamily="34" charset="-122"/>
              </a:rPr>
              <a:t>风格流（同标签为正、异标签为负），优化 </a:t>
            </a:r>
            <a:r>
              <a:rPr lang="en-US" altLang="zh-CN" sz="1800" dirty="0">
                <a:latin typeface="微软雅黑" panose="020B0503020204020204" pitchFamily="34" charset="-122"/>
                <a:ea typeface="微软雅黑" panose="020B0503020204020204" pitchFamily="34" charset="-122"/>
              </a:rPr>
              <a:t>Triplet </a:t>
            </a:r>
            <a:r>
              <a:rPr lang="zh-CN" altLang="en-US" sz="1800" dirty="0">
                <a:latin typeface="微软雅黑" panose="020B0503020204020204" pitchFamily="34" charset="-122"/>
                <a:ea typeface="微软雅黑" panose="020B0503020204020204" pitchFamily="34" charset="-122"/>
              </a:rPr>
              <a:t>损失</a:t>
            </a:r>
            <a:endParaRPr lang="en-US" altLang="zh-CN" sz="1800" dirty="0">
              <a:latin typeface="微软雅黑" panose="020B0503020204020204" pitchFamily="34" charset="-122"/>
              <a:ea typeface="微软雅黑" panose="020B0503020204020204" pitchFamily="34" charset="-122"/>
            </a:endParaRPr>
          </a:p>
          <a:p>
            <a:pPr marL="0" indent="0" defTabSz="457200">
              <a:lnSpc>
                <a:spcPct val="150000"/>
              </a:lnSpc>
              <a:buNone/>
            </a:pPr>
            <a:r>
              <a:rPr lang="zh-CN" altLang="en-US" sz="1800" b="0" dirty="0">
                <a:latin typeface="微软雅黑" panose="020B0503020204020204" pitchFamily="34" charset="-122"/>
                <a:ea typeface="微软雅黑" panose="020B0503020204020204" pitchFamily="34" charset="-122"/>
              </a:rPr>
              <a:t>同时加一个</a:t>
            </a:r>
            <a:r>
              <a:rPr lang="zh-CN" altLang="en-US" sz="1800" dirty="0">
                <a:latin typeface="微软雅黑" panose="020B0503020204020204" pitchFamily="34" charset="-122"/>
                <a:ea typeface="微软雅黑" panose="020B0503020204020204" pitchFamily="34" charset="-122"/>
              </a:rPr>
              <a:t>辅助 </a:t>
            </a:r>
            <a:r>
              <a:rPr lang="en-US" altLang="zh-CN" sz="1800" dirty="0">
                <a:latin typeface="微软雅黑" panose="020B0503020204020204" pitchFamily="34" charset="-122"/>
                <a:ea typeface="微软雅黑" panose="020B0503020204020204" pitchFamily="34" charset="-122"/>
              </a:rPr>
              <a:t>BCE </a:t>
            </a:r>
            <a:r>
              <a:rPr lang="zh-CN" altLang="en-US" sz="1800" dirty="0">
                <a:latin typeface="微软雅黑" panose="020B0503020204020204" pitchFamily="34" charset="-122"/>
                <a:ea typeface="微软雅黑" panose="020B0503020204020204" pitchFamily="34" charset="-122"/>
              </a:rPr>
              <a:t>分类损失 </a:t>
            </a:r>
            <a:r>
              <a:rPr lang="zh-CN" altLang="en-US" sz="1800" b="0" dirty="0">
                <a:latin typeface="微软雅黑" panose="020B0503020204020204" pitchFamily="34" charset="-122"/>
                <a:ea typeface="微软雅黑" panose="020B0503020204020204" pitchFamily="34" charset="-122"/>
              </a:rPr>
              <a:t>𝐿𝑐𝑙𝑠（三层全连接）帮助表征更“可判别”。</a:t>
            </a:r>
          </a:p>
        </p:txBody>
      </p:sp>
      <p:pic>
        <p:nvPicPr>
          <p:cNvPr id="11" name="图片 10">
            <a:extLst>
              <a:ext uri="{FF2B5EF4-FFF2-40B4-BE49-F238E27FC236}">
                <a16:creationId xmlns:a16="http://schemas.microsoft.com/office/drawing/2014/main" id="{16273D53-2600-14C1-FCB8-AE2D6CD998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8804" y="751359"/>
            <a:ext cx="7954392" cy="3345601"/>
          </a:xfrm>
          <a:prstGeom prst="rect">
            <a:avLst/>
          </a:prstGeom>
        </p:spPr>
      </p:pic>
      <p:pic>
        <p:nvPicPr>
          <p:cNvPr id="13" name="图片 12">
            <a:extLst>
              <a:ext uri="{FF2B5EF4-FFF2-40B4-BE49-F238E27FC236}">
                <a16:creationId xmlns:a16="http://schemas.microsoft.com/office/drawing/2014/main" id="{0980003B-9BA0-28A2-2781-52DEC94F1AD9}"/>
              </a:ext>
            </a:extLst>
          </p:cNvPr>
          <p:cNvPicPr>
            <a:picLocks noChangeAspect="1"/>
          </p:cNvPicPr>
          <p:nvPr/>
        </p:nvPicPr>
        <p:blipFill>
          <a:blip r:embed="rId3"/>
          <a:stretch>
            <a:fillRect/>
          </a:stretch>
        </p:blipFill>
        <p:spPr>
          <a:xfrm>
            <a:off x="2453810" y="5380990"/>
            <a:ext cx="3811925" cy="299923"/>
          </a:xfrm>
          <a:prstGeom prst="rect">
            <a:avLst/>
          </a:prstGeom>
        </p:spPr>
      </p:pic>
      <p:sp>
        <p:nvSpPr>
          <p:cNvPr id="15" name="文本框 14">
            <a:extLst>
              <a:ext uri="{FF2B5EF4-FFF2-40B4-BE49-F238E27FC236}">
                <a16:creationId xmlns:a16="http://schemas.microsoft.com/office/drawing/2014/main" id="{11DCBBA5-08D2-67C6-B7B8-285504E9C599}"/>
              </a:ext>
            </a:extLst>
          </p:cNvPr>
          <p:cNvSpPr txBox="1"/>
          <p:nvPr/>
        </p:nvSpPr>
        <p:spPr>
          <a:xfrm>
            <a:off x="6842728" y="4873159"/>
            <a:ext cx="4529970" cy="1015663"/>
          </a:xfrm>
          <a:prstGeom prst="rect">
            <a:avLst/>
          </a:prstGeom>
          <a:noFill/>
        </p:spPr>
        <p:txBody>
          <a:bodyPr wrap="square">
            <a:spAutoFit/>
          </a:bodyPr>
          <a:lstStyle/>
          <a:p>
            <a:r>
              <a:rPr lang="zh-CN" altLang="en-US" sz="1500" b="1" dirty="0">
                <a:solidFill>
                  <a:srgbClr val="A5300F"/>
                </a:solidFill>
                <a:latin typeface="微软雅黑" panose="020B0503020204020204" pitchFamily="34" charset="-122"/>
                <a:ea typeface="微软雅黑" panose="020B0503020204020204" pitchFamily="34" charset="-122"/>
                <a:cs typeface="+mn-ea"/>
              </a:rPr>
              <a:t>阶段 2：端到端检测训练</a:t>
            </a:r>
            <a:r>
              <a:rPr lang="zh-CN" altLang="en-US" sz="1500" dirty="0">
                <a:solidFill>
                  <a:srgbClr val="A5300F"/>
                </a:solidFill>
                <a:latin typeface="微软雅黑" panose="020B0503020204020204" pitchFamily="34" charset="-122"/>
                <a:ea typeface="微软雅黑" panose="020B0503020204020204" pitchFamily="34" charset="-122"/>
                <a:cs typeface="+mn-ea"/>
              </a:rPr>
              <a:t>（目标：融合风格与内容特征，实现分类）</a:t>
            </a:r>
          </a:p>
          <a:p>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cs typeface="+mn-ea"/>
              </a:rPr>
              <a:t>以 **BCE（二分类）**为目标，端到端训练 3D-ResNet、SAM、TTE；StyleGRU 保持冻结。</a:t>
            </a:r>
          </a:p>
        </p:txBody>
      </p:sp>
      <p:pic>
        <p:nvPicPr>
          <p:cNvPr id="18" name="图片 17">
            <a:extLst>
              <a:ext uri="{FF2B5EF4-FFF2-40B4-BE49-F238E27FC236}">
                <a16:creationId xmlns:a16="http://schemas.microsoft.com/office/drawing/2014/main" id="{879B1980-9CA8-14E4-8CEC-0954DC86788E}"/>
              </a:ext>
            </a:extLst>
          </p:cNvPr>
          <p:cNvPicPr>
            <a:picLocks noChangeAspect="1"/>
          </p:cNvPicPr>
          <p:nvPr/>
        </p:nvPicPr>
        <p:blipFill>
          <a:blip r:embed="rId4"/>
          <a:stretch>
            <a:fillRect/>
          </a:stretch>
        </p:blipFill>
        <p:spPr>
          <a:xfrm>
            <a:off x="2118804" y="6171845"/>
            <a:ext cx="1443487" cy="339346"/>
          </a:xfrm>
          <a:prstGeom prst="rect">
            <a:avLst/>
          </a:prstGeom>
        </p:spPr>
      </p:pic>
    </p:spTree>
    <p:extLst>
      <p:ext uri="{BB962C8B-B14F-4D97-AF65-F5344CB8AC3E}">
        <p14:creationId xmlns:p14="http://schemas.microsoft.com/office/powerpoint/2010/main" val="9427702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8DE55-72FC-EE99-CDB0-E88C6204B973}"/>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23F40C5-ADDD-8CBB-35C9-C134FC5DADB1}"/>
              </a:ext>
            </a:extLst>
          </p:cNvPr>
          <p:cNvSpPr>
            <a:spLocks noGrp="1"/>
          </p:cNvSpPr>
          <p:nvPr>
            <p:ph type="sldNum" sz="quarter" idx="4"/>
          </p:nvPr>
        </p:nvSpPr>
        <p:spPr/>
        <p:txBody>
          <a:bodyPr/>
          <a:lstStyle/>
          <a:p>
            <a:r>
              <a:rPr lang="en-US" altLang="zh-CN" dirty="0"/>
              <a:t>&lt; </a:t>
            </a:r>
            <a:fld id="{A548B57D-AE10-4CF7-A9DF-59FEFA91B28E}" type="slidenum">
              <a:rPr lang="zh-CN" altLang="en-US" smtClean="0"/>
              <a:t>33</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87F89076-BB90-CFD4-F5D8-B218BF8833B9}"/>
              </a:ext>
            </a:extLst>
          </p:cNvPr>
          <p:cNvSpPr>
            <a:spLocks noGrp="1"/>
          </p:cNvSpPr>
          <p:nvPr>
            <p:ph type="title"/>
          </p:nvPr>
        </p:nvSpPr>
        <p:spPr/>
        <p:txBody>
          <a:bodyPr>
            <a:noAutofit/>
          </a:bodyPr>
          <a:lstStyle/>
          <a:p>
            <a:r>
              <a:rPr lang="zh-CN" altLang="en-US" spc="0" dirty="0"/>
              <a:t>实验结果与分析 </a:t>
            </a:r>
            <a:r>
              <a:rPr lang="en-US" altLang="zh-CN" spc="0" dirty="0"/>
              <a:t>—— </a:t>
            </a:r>
            <a:r>
              <a:rPr lang="zh-CN" altLang="en-US" spc="0" dirty="0"/>
              <a:t>对比实验</a:t>
            </a:r>
          </a:p>
        </p:txBody>
      </p:sp>
      <p:sp>
        <p:nvSpPr>
          <p:cNvPr id="17" name="文本占位符 3">
            <a:extLst>
              <a:ext uri="{FF2B5EF4-FFF2-40B4-BE49-F238E27FC236}">
                <a16:creationId xmlns:a16="http://schemas.microsoft.com/office/drawing/2014/main" id="{2EC3FFB4-DD75-86A9-0C42-4A3D5E01CD4E}"/>
              </a:ext>
            </a:extLst>
          </p:cNvPr>
          <p:cNvSpPr>
            <a:spLocks noGrp="1"/>
          </p:cNvSpPr>
          <p:nvPr>
            <p:ph type="body" sz="quarter" idx="10"/>
          </p:nvPr>
        </p:nvSpPr>
        <p:spPr>
          <a:xfrm>
            <a:off x="1154027" y="4994172"/>
            <a:ext cx="9883946" cy="1419811"/>
          </a:xfrm>
        </p:spPr>
        <p:txBody>
          <a:bodyPr>
            <a:normAutofit/>
          </a:bodyPr>
          <a:lstStyle/>
          <a:p>
            <a:pPr marL="0" indent="0" defTabSz="457200">
              <a:lnSpc>
                <a:spcPct val="150000"/>
              </a:lnSpc>
              <a:buNone/>
            </a:pPr>
            <a:r>
              <a:rPr lang="zh-CN" altLang="en-US" sz="1800" dirty="0">
                <a:latin typeface="微软雅黑" panose="020B0503020204020204" pitchFamily="34" charset="-122"/>
                <a:ea typeface="微软雅黑" panose="020B0503020204020204" pitchFamily="34" charset="-122"/>
              </a:rPr>
              <a:t>跨数据集泛化：</a:t>
            </a:r>
            <a:r>
              <a:rPr lang="zh-CN" altLang="en-US" sz="1800" b="0" dirty="0">
                <a:latin typeface="微软雅黑" panose="020B0503020204020204" pitchFamily="34" charset="-122"/>
                <a:ea typeface="微软雅黑" panose="020B0503020204020204" pitchFamily="34" charset="-122"/>
              </a:rPr>
              <a:t>训练于 </a:t>
            </a:r>
            <a:r>
              <a:rPr lang="en-US" altLang="zh-CN" sz="1800" b="0" dirty="0">
                <a:latin typeface="微软雅黑" panose="020B0503020204020204" pitchFamily="34" charset="-122"/>
                <a:ea typeface="微软雅黑" panose="020B0503020204020204" pitchFamily="34" charset="-122"/>
              </a:rPr>
              <a:t>FF++(c23)</a:t>
            </a:r>
            <a:r>
              <a:rPr lang="zh-CN" altLang="en-US" sz="1800" b="0" dirty="0">
                <a:latin typeface="微软雅黑" panose="020B0503020204020204" pitchFamily="34" charset="-122"/>
                <a:ea typeface="微软雅黑" panose="020B0503020204020204" pitchFamily="34" charset="-122"/>
              </a:rPr>
              <a:t>；跨库测 </a:t>
            </a:r>
            <a:r>
              <a:rPr lang="en-US" altLang="zh-CN" sz="1800" b="0" dirty="0">
                <a:latin typeface="微软雅黑" panose="020B0503020204020204" pitchFamily="34" charset="-122"/>
                <a:ea typeface="微软雅黑" panose="020B0503020204020204" pitchFamily="34" charset="-122"/>
              </a:rPr>
              <a:t>CelebDF-v2 (CDF)</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DFD</a:t>
            </a:r>
            <a:r>
              <a:rPr lang="zh-CN" altLang="en-US" sz="1800" b="0" dirty="0">
                <a:latin typeface="微软雅黑" panose="020B0503020204020204" pitchFamily="34" charset="-122"/>
                <a:ea typeface="微软雅黑" panose="020B0503020204020204" pitchFamily="34" charset="-122"/>
              </a:rPr>
              <a:t>、</a:t>
            </a:r>
            <a:r>
              <a:rPr lang="en-US" altLang="zh-CN" sz="1800" b="0" dirty="0" err="1">
                <a:latin typeface="微软雅黑" panose="020B0503020204020204" pitchFamily="34" charset="-122"/>
                <a:ea typeface="微软雅黑" panose="020B0503020204020204" pitchFamily="34" charset="-122"/>
              </a:rPr>
              <a:t>FaceShifter</a:t>
            </a:r>
            <a:r>
              <a:rPr lang="en-US" altLang="zh-CN" sz="1800" b="0" dirty="0">
                <a:latin typeface="微软雅黑" panose="020B0503020204020204" pitchFamily="34" charset="-122"/>
                <a:ea typeface="微软雅黑" panose="020B0503020204020204" pitchFamily="34" charset="-122"/>
              </a:rPr>
              <a:t>(</a:t>
            </a:r>
            <a:r>
              <a:rPr lang="en-US" altLang="zh-CN" sz="1800" b="0" dirty="0" err="1">
                <a:latin typeface="微软雅黑" panose="020B0503020204020204" pitchFamily="34" charset="-122"/>
                <a:ea typeface="微软雅黑" panose="020B0503020204020204" pitchFamily="34" charset="-122"/>
              </a:rPr>
              <a:t>FSh</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a:t>
            </a:r>
            <a:r>
              <a:rPr lang="en-US" altLang="zh-CN" sz="1800" b="0" dirty="0" err="1">
                <a:latin typeface="微软雅黑" panose="020B0503020204020204" pitchFamily="34" charset="-122"/>
                <a:ea typeface="微软雅黑" panose="020B0503020204020204" pitchFamily="34" charset="-122"/>
              </a:rPr>
              <a:t>DeeperForensics</a:t>
            </a:r>
            <a:r>
              <a:rPr lang="en-US" altLang="zh-CN" sz="1800" b="0" dirty="0">
                <a:latin typeface="微软雅黑" panose="020B0503020204020204" pitchFamily="34" charset="-122"/>
                <a:ea typeface="微软雅黑" panose="020B0503020204020204" pitchFamily="34" charset="-122"/>
              </a:rPr>
              <a:t>(</a:t>
            </a:r>
            <a:r>
              <a:rPr lang="en-US" altLang="zh-CN" sz="1800" b="0" dirty="0" err="1">
                <a:latin typeface="微软雅黑" panose="020B0503020204020204" pitchFamily="34" charset="-122"/>
                <a:ea typeface="微软雅黑" panose="020B0503020204020204" pitchFamily="34" charset="-122"/>
              </a:rPr>
              <a:t>DFo</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a:t>
            </a:r>
          </a:p>
          <a:p>
            <a:pPr marL="0" indent="0" defTabSz="457200">
              <a:lnSpc>
                <a:spcPct val="150000"/>
              </a:lnSpc>
              <a:buNone/>
            </a:pPr>
            <a:r>
              <a:rPr lang="zh-CN" altLang="en-US" sz="1800" dirty="0">
                <a:latin typeface="微软雅黑" panose="020B0503020204020204" pitchFamily="34" charset="-122"/>
                <a:ea typeface="微软雅黑" panose="020B0503020204020204" pitchFamily="34" charset="-122"/>
              </a:rPr>
              <a:t>跨伪造方法泛化：</a:t>
            </a:r>
            <a:r>
              <a:rPr lang="zh-CN" altLang="en-US" sz="1800" b="0" dirty="0">
                <a:latin typeface="微软雅黑" panose="020B0503020204020204" pitchFamily="34" charset="-122"/>
                <a:ea typeface="微软雅黑" panose="020B0503020204020204" pitchFamily="34" charset="-122"/>
              </a:rPr>
              <a:t>用 </a:t>
            </a:r>
            <a:r>
              <a:rPr lang="en-US" altLang="zh-CN" sz="1800" b="0" dirty="0">
                <a:latin typeface="微软雅黑" panose="020B0503020204020204" pitchFamily="34" charset="-122"/>
                <a:ea typeface="微软雅黑" panose="020B0503020204020204" pitchFamily="34" charset="-122"/>
              </a:rPr>
              <a:t>FF++ </a:t>
            </a:r>
            <a:r>
              <a:rPr lang="zh-CN" altLang="en-US" sz="1800" b="0" dirty="0">
                <a:latin typeface="微软雅黑" panose="020B0503020204020204" pitchFamily="34" charset="-122"/>
                <a:ea typeface="微软雅黑" panose="020B0503020204020204" pitchFamily="34" charset="-122"/>
              </a:rPr>
              <a:t>四种操纵（</a:t>
            </a:r>
            <a:r>
              <a:rPr lang="en-US" altLang="zh-CN" sz="1800" b="0" dirty="0">
                <a:latin typeface="微软雅黑" panose="020B0503020204020204" pitchFamily="34" charset="-122"/>
                <a:ea typeface="微软雅黑" panose="020B0503020204020204" pitchFamily="34" charset="-122"/>
              </a:rPr>
              <a:t>DF/FS </a:t>
            </a:r>
            <a:r>
              <a:rPr lang="zh-CN" altLang="en-US" sz="1800" b="0" dirty="0">
                <a:latin typeface="微软雅黑" panose="020B0503020204020204" pitchFamily="34" charset="-122"/>
                <a:ea typeface="微软雅黑" panose="020B0503020204020204" pitchFamily="34" charset="-122"/>
              </a:rPr>
              <a:t>身份置换；</a:t>
            </a:r>
            <a:r>
              <a:rPr lang="en-US" altLang="zh-CN" sz="1800" b="0" dirty="0">
                <a:latin typeface="微软雅黑" panose="020B0503020204020204" pitchFamily="34" charset="-122"/>
                <a:ea typeface="微软雅黑" panose="020B0503020204020204" pitchFamily="34" charset="-122"/>
              </a:rPr>
              <a:t>F2F/NT </a:t>
            </a:r>
            <a:r>
              <a:rPr lang="zh-CN" altLang="en-US" sz="1800" b="0" dirty="0">
                <a:latin typeface="微软雅黑" panose="020B0503020204020204" pitchFamily="34" charset="-122"/>
                <a:ea typeface="微软雅黑" panose="020B0503020204020204" pitchFamily="34" charset="-122"/>
              </a:rPr>
              <a:t>表情重演）做“留一法”评测。</a:t>
            </a:r>
          </a:p>
        </p:txBody>
      </p:sp>
      <p:pic>
        <p:nvPicPr>
          <p:cNvPr id="20" name="图片 19">
            <a:extLst>
              <a:ext uri="{FF2B5EF4-FFF2-40B4-BE49-F238E27FC236}">
                <a16:creationId xmlns:a16="http://schemas.microsoft.com/office/drawing/2014/main" id="{4C3AE2BF-9747-BC38-D168-2A1BD0340C96}"/>
              </a:ext>
            </a:extLst>
          </p:cNvPr>
          <p:cNvPicPr>
            <a:picLocks noChangeAspect="1"/>
          </p:cNvPicPr>
          <p:nvPr/>
        </p:nvPicPr>
        <p:blipFill>
          <a:blip r:embed="rId2"/>
          <a:stretch>
            <a:fillRect/>
          </a:stretch>
        </p:blipFill>
        <p:spPr>
          <a:xfrm>
            <a:off x="1558247" y="861086"/>
            <a:ext cx="4230404" cy="4133088"/>
          </a:xfrm>
          <a:prstGeom prst="rect">
            <a:avLst/>
          </a:prstGeom>
        </p:spPr>
      </p:pic>
      <p:pic>
        <p:nvPicPr>
          <p:cNvPr id="5" name="图片 4">
            <a:extLst>
              <a:ext uri="{FF2B5EF4-FFF2-40B4-BE49-F238E27FC236}">
                <a16:creationId xmlns:a16="http://schemas.microsoft.com/office/drawing/2014/main" id="{5D52B237-4493-90CF-A17A-B243237ADB49}"/>
              </a:ext>
            </a:extLst>
          </p:cNvPr>
          <p:cNvPicPr>
            <a:picLocks noChangeAspect="1"/>
          </p:cNvPicPr>
          <p:nvPr/>
        </p:nvPicPr>
        <p:blipFill>
          <a:blip r:embed="rId3"/>
          <a:stretch>
            <a:fillRect/>
          </a:stretch>
        </p:blipFill>
        <p:spPr>
          <a:xfrm>
            <a:off x="5954397" y="1349261"/>
            <a:ext cx="5083576" cy="3156737"/>
          </a:xfrm>
          <a:prstGeom prst="rect">
            <a:avLst/>
          </a:prstGeom>
        </p:spPr>
      </p:pic>
    </p:spTree>
    <p:extLst>
      <p:ext uri="{BB962C8B-B14F-4D97-AF65-F5344CB8AC3E}">
        <p14:creationId xmlns:p14="http://schemas.microsoft.com/office/powerpoint/2010/main" val="21586964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C5432-C968-3300-7FEB-EE599F788A8F}"/>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691A330-DA17-2C19-7F45-25102E8A2E75}"/>
              </a:ext>
            </a:extLst>
          </p:cNvPr>
          <p:cNvSpPr>
            <a:spLocks noGrp="1"/>
          </p:cNvSpPr>
          <p:nvPr>
            <p:ph type="sldNum" sz="quarter" idx="4"/>
          </p:nvPr>
        </p:nvSpPr>
        <p:spPr/>
        <p:txBody>
          <a:bodyPr/>
          <a:lstStyle/>
          <a:p>
            <a:r>
              <a:rPr lang="en-US" altLang="zh-CN" dirty="0"/>
              <a:t>&lt; </a:t>
            </a:r>
            <a:fld id="{A548B57D-AE10-4CF7-A9DF-59FEFA91B28E}" type="slidenum">
              <a:rPr lang="zh-CN" altLang="en-US" smtClean="0"/>
              <a:t>34</a:t>
            </a:fld>
            <a:r>
              <a:rPr lang="zh-CN" altLang="en-US" dirty="0"/>
              <a:t> </a:t>
            </a:r>
            <a:r>
              <a:rPr lang="en-US" altLang="zh-CN" dirty="0"/>
              <a:t>&gt;</a:t>
            </a:r>
            <a:endParaRPr lang="zh-CN" altLang="en-US" dirty="0"/>
          </a:p>
        </p:txBody>
      </p:sp>
      <p:sp>
        <p:nvSpPr>
          <p:cNvPr id="3" name="标题 2">
            <a:extLst>
              <a:ext uri="{FF2B5EF4-FFF2-40B4-BE49-F238E27FC236}">
                <a16:creationId xmlns:a16="http://schemas.microsoft.com/office/drawing/2014/main" id="{317D5D3A-28A1-D020-B94F-617F6ACAEA22}"/>
              </a:ext>
            </a:extLst>
          </p:cNvPr>
          <p:cNvSpPr>
            <a:spLocks noGrp="1"/>
          </p:cNvSpPr>
          <p:nvPr>
            <p:ph type="title"/>
          </p:nvPr>
        </p:nvSpPr>
        <p:spPr/>
        <p:txBody>
          <a:bodyPr>
            <a:noAutofit/>
          </a:bodyPr>
          <a:lstStyle/>
          <a:p>
            <a:r>
              <a:rPr lang="zh-CN" altLang="en-US" spc="0" dirty="0"/>
              <a:t>实验结果与分析 </a:t>
            </a:r>
            <a:r>
              <a:rPr lang="en-US" altLang="zh-CN" spc="0" dirty="0"/>
              <a:t>—— </a:t>
            </a:r>
            <a:r>
              <a:rPr lang="zh-CN" altLang="en-US" spc="0" dirty="0"/>
              <a:t>消融实验</a:t>
            </a:r>
          </a:p>
        </p:txBody>
      </p:sp>
      <p:sp>
        <p:nvSpPr>
          <p:cNvPr id="17" name="文本占位符 3">
            <a:extLst>
              <a:ext uri="{FF2B5EF4-FFF2-40B4-BE49-F238E27FC236}">
                <a16:creationId xmlns:a16="http://schemas.microsoft.com/office/drawing/2014/main" id="{A5D7AA79-D48E-B124-FCCA-348EF64F2F57}"/>
              </a:ext>
            </a:extLst>
          </p:cNvPr>
          <p:cNvSpPr>
            <a:spLocks noGrp="1"/>
          </p:cNvSpPr>
          <p:nvPr>
            <p:ph type="body" sz="quarter" idx="10"/>
          </p:nvPr>
        </p:nvSpPr>
        <p:spPr>
          <a:xfrm>
            <a:off x="2845169" y="4213555"/>
            <a:ext cx="6501662" cy="1790777"/>
          </a:xfrm>
        </p:spPr>
        <p:txBody>
          <a:bodyPr>
            <a:normAutofit fontScale="77500" lnSpcReduction="20000"/>
          </a:bodyPr>
          <a:lstStyle/>
          <a:p>
            <a:pPr>
              <a:lnSpc>
                <a:spcPct val="160000"/>
              </a:lnSpc>
            </a:pPr>
            <a:r>
              <a:rPr lang="zh-CN" altLang="en-US" sz="2200" dirty="0">
                <a:latin typeface="微软雅黑" panose="020B0503020204020204" pitchFamily="34" charset="-122"/>
                <a:ea typeface="微软雅黑" panose="020B0503020204020204" pitchFamily="34" charset="-122"/>
              </a:rPr>
              <a:t>去掉 </a:t>
            </a:r>
            <a:r>
              <a:rPr lang="en-US" altLang="zh-CN" sz="2200" dirty="0" err="1">
                <a:latin typeface="微软雅黑" panose="020B0503020204020204" pitchFamily="34" charset="-122"/>
                <a:ea typeface="微软雅黑" panose="020B0503020204020204" pitchFamily="34" charset="-122"/>
              </a:rPr>
              <a:t>StyleGRU</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或不用 </a:t>
            </a:r>
            <a:r>
              <a:rPr lang="en-US" altLang="zh-CN" sz="2200" dirty="0">
                <a:latin typeface="微软雅黑" panose="020B0503020204020204" pitchFamily="34" charset="-122"/>
                <a:ea typeface="微软雅黑" panose="020B0503020204020204" pitchFamily="34" charset="-122"/>
              </a:rPr>
              <a:t>SAM </a:t>
            </a:r>
            <a:r>
              <a:rPr lang="zh-CN" altLang="en-US" sz="2200" dirty="0">
                <a:latin typeface="微软雅黑" panose="020B0503020204020204" pitchFamily="34" charset="-122"/>
                <a:ea typeface="微软雅黑" panose="020B0503020204020204" pitchFamily="34" charset="-122"/>
              </a:rPr>
              <a:t>融合都会明显掉分；</a:t>
            </a:r>
            <a:endParaRPr lang="en-US" altLang="zh-CN" sz="2200" dirty="0">
              <a:latin typeface="微软雅黑" panose="020B0503020204020204" pitchFamily="34" charset="-122"/>
              <a:ea typeface="微软雅黑" panose="020B0503020204020204" pitchFamily="34" charset="-122"/>
            </a:endParaRPr>
          </a:p>
          <a:p>
            <a:pPr>
              <a:lnSpc>
                <a:spcPct val="160000"/>
              </a:lnSpc>
            </a:pPr>
            <a:r>
              <a:rPr lang="zh-CN" altLang="en-US" sz="2200" dirty="0">
                <a:latin typeface="微软雅黑" panose="020B0503020204020204" pitchFamily="34" charset="-122"/>
                <a:ea typeface="微软雅黑" panose="020B0503020204020204" pitchFamily="34" charset="-122"/>
              </a:rPr>
              <a:t>风格向量不做“差分”为输入则训练更慢、跨库更差；</a:t>
            </a:r>
            <a:endParaRPr lang="en-US" altLang="zh-CN" sz="2200" dirty="0">
              <a:latin typeface="微软雅黑" panose="020B0503020204020204" pitchFamily="34" charset="-122"/>
              <a:ea typeface="微软雅黑" panose="020B0503020204020204" pitchFamily="34" charset="-122"/>
            </a:endParaRPr>
          </a:p>
          <a:p>
            <a:pPr>
              <a:lnSpc>
                <a:spcPct val="160000"/>
              </a:lnSpc>
            </a:pPr>
            <a:r>
              <a:rPr lang="en-US" altLang="zh-CN" sz="2200" dirty="0">
                <a:latin typeface="微软雅黑" panose="020B0503020204020204" pitchFamily="34" charset="-122"/>
                <a:ea typeface="微软雅黑" panose="020B0503020204020204" pitchFamily="34" charset="-122"/>
              </a:rPr>
              <a:t>Stage-1 </a:t>
            </a:r>
            <a:r>
              <a:rPr lang="zh-CN" altLang="en-US" sz="2200" dirty="0">
                <a:latin typeface="微软雅黑" panose="020B0503020204020204" pitchFamily="34" charset="-122"/>
                <a:ea typeface="微软雅黑" panose="020B0503020204020204" pitchFamily="34" charset="-122"/>
              </a:rPr>
              <a:t>里只用 𝐿𝑐𝑙𝑠 虽然在“本库”最好，但泛化下降；只用 𝐿𝑡𝑟𝑖 可分性不够；两者并用在“未见数据集”最好（泛化最优）</a:t>
            </a:r>
            <a:r>
              <a:rPr lang="zh-CN" altLang="en-US" sz="1800" dirty="0">
                <a:latin typeface="微软雅黑" panose="020B0503020204020204" pitchFamily="34" charset="-122"/>
                <a:ea typeface="微软雅黑" panose="020B0503020204020204" pitchFamily="34" charset="-122"/>
              </a:rPr>
              <a:t>。</a:t>
            </a:r>
            <a:endParaRPr lang="zh-CN" altLang="en-US" sz="1800" b="0"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1510F692-C0A4-A9F4-83D0-98F01605FB02}"/>
              </a:ext>
            </a:extLst>
          </p:cNvPr>
          <p:cNvPicPr>
            <a:picLocks noChangeAspect="1"/>
          </p:cNvPicPr>
          <p:nvPr/>
        </p:nvPicPr>
        <p:blipFill>
          <a:blip r:embed="rId2"/>
          <a:stretch>
            <a:fillRect/>
          </a:stretch>
        </p:blipFill>
        <p:spPr>
          <a:xfrm>
            <a:off x="442913" y="1667866"/>
            <a:ext cx="6041329" cy="2472220"/>
          </a:xfrm>
          <a:prstGeom prst="rect">
            <a:avLst/>
          </a:prstGeom>
        </p:spPr>
      </p:pic>
      <p:pic>
        <p:nvPicPr>
          <p:cNvPr id="8" name="图片 7">
            <a:extLst>
              <a:ext uri="{FF2B5EF4-FFF2-40B4-BE49-F238E27FC236}">
                <a16:creationId xmlns:a16="http://schemas.microsoft.com/office/drawing/2014/main" id="{E3028B4D-E112-26D6-A4F2-009729B10162}"/>
              </a:ext>
            </a:extLst>
          </p:cNvPr>
          <p:cNvPicPr>
            <a:picLocks noChangeAspect="1"/>
          </p:cNvPicPr>
          <p:nvPr/>
        </p:nvPicPr>
        <p:blipFill>
          <a:blip r:embed="rId3"/>
          <a:stretch>
            <a:fillRect/>
          </a:stretch>
        </p:blipFill>
        <p:spPr>
          <a:xfrm>
            <a:off x="6691216" y="1908454"/>
            <a:ext cx="4629150" cy="2038350"/>
          </a:xfrm>
          <a:prstGeom prst="rect">
            <a:avLst/>
          </a:prstGeom>
        </p:spPr>
      </p:pic>
    </p:spTree>
    <p:extLst>
      <p:ext uri="{BB962C8B-B14F-4D97-AF65-F5344CB8AC3E}">
        <p14:creationId xmlns:p14="http://schemas.microsoft.com/office/powerpoint/2010/main" val="40001349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 name="组合 86"/>
          <p:cNvGrpSpPr/>
          <p:nvPr/>
        </p:nvGrpSpPr>
        <p:grpSpPr>
          <a:xfrm>
            <a:off x="6606576" y="-241003"/>
            <a:ext cx="7357162" cy="7340006"/>
            <a:chOff x="2105799" y="20055838"/>
            <a:chExt cx="6748090" cy="6732363"/>
          </a:xfrm>
          <a:solidFill>
            <a:schemeClr val="accent1">
              <a:alpha val="10000"/>
            </a:schemeClr>
          </a:solidFill>
        </p:grpSpPr>
        <p:sp>
          <p:nvSpPr>
            <p:cNvPr id="8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0"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94" name="组合 293"/>
          <p:cNvGrpSpPr/>
          <p:nvPr/>
        </p:nvGrpSpPr>
        <p:grpSpPr>
          <a:xfrm>
            <a:off x="497980" y="2333324"/>
            <a:ext cx="6973756" cy="1853784"/>
            <a:chOff x="4553867" y="2753825"/>
            <a:chExt cx="6973756" cy="1853784"/>
          </a:xfrm>
        </p:grpSpPr>
        <p:sp>
          <p:nvSpPr>
            <p:cNvPr id="291" name="矩形 290"/>
            <p:cNvSpPr/>
            <p:nvPr/>
          </p:nvSpPr>
          <p:spPr>
            <a:xfrm>
              <a:off x="4553867" y="2753825"/>
              <a:ext cx="6973756" cy="9233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5400" b="0" i="0" u="none" strike="noStrike" kern="1200" cap="none" spc="300" normalizeH="0" baseline="0" noProof="0" dirty="0">
                  <a:ln>
                    <a:noFill/>
                  </a:ln>
                  <a:solidFill>
                    <a:srgbClr val="9A0001"/>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感谢批评指正</a:t>
              </a:r>
            </a:p>
          </p:txBody>
        </p:sp>
        <p:sp>
          <p:nvSpPr>
            <p:cNvPr id="292" name="文本框 291"/>
            <p:cNvSpPr txBox="1"/>
            <p:nvPr/>
          </p:nvSpPr>
          <p:spPr>
            <a:xfrm>
              <a:off x="4553867" y="4154664"/>
              <a:ext cx="4933976" cy="452945"/>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2000" kern="800" spc="100" dirty="0">
                  <a:solidFill>
                    <a:srgbClr val="9A0001"/>
                  </a:solidFill>
                  <a:latin typeface="Arial" panose="020B0604020202020204" pitchFamily="34" charset="0"/>
                  <a:ea typeface="微软雅黑" panose="020B0503020204020204" pitchFamily="34" charset="-122"/>
                  <a:cs typeface="+mn-ea"/>
                  <a:sym typeface="Arial" panose="020B0604020202020204" pitchFamily="34" charset="0"/>
                </a:rPr>
                <a:t> 报告人</a:t>
              </a:r>
              <a:r>
                <a:rPr kumimoji="0" lang="zh-CN" altLang="en-US" sz="2000" b="0" i="0" u="none" strike="noStrike" kern="800" cap="none" spc="100" normalizeH="0" baseline="0" noProof="0" dirty="0">
                  <a:ln>
                    <a:noFill/>
                  </a:ln>
                  <a:solidFill>
                    <a:srgbClr val="9A0001"/>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a:t>
              </a:r>
              <a:r>
                <a:rPr lang="zh-CN" altLang="en-US" sz="2000" kern="800" spc="100" dirty="0">
                  <a:solidFill>
                    <a:srgbClr val="9A0001"/>
                  </a:solidFill>
                  <a:latin typeface="Arial" panose="020B0604020202020204" pitchFamily="34" charset="0"/>
                  <a:ea typeface="微软雅黑" panose="020B0503020204020204" pitchFamily="34" charset="-122"/>
                  <a:cs typeface="+mn-ea"/>
                  <a:sym typeface="Arial" panose="020B0604020202020204" pitchFamily="34" charset="0"/>
                </a:rPr>
                <a:t>彭思宇</a:t>
              </a:r>
              <a:endParaRPr kumimoji="0" lang="en-US" altLang="zh-CN" sz="2000" b="0" i="0" u="none" strike="noStrike" kern="800" cap="none" spc="100" normalizeH="0" baseline="0" noProof="0" dirty="0">
                <a:ln>
                  <a:noFill/>
                </a:ln>
                <a:solidFill>
                  <a:srgbClr val="9A0001"/>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293" name="直接连接符 292"/>
            <p:cNvCxnSpPr/>
            <p:nvPr/>
          </p:nvCxnSpPr>
          <p:spPr>
            <a:xfrm>
              <a:off x="4748323" y="3839882"/>
              <a:ext cx="557213" cy="0"/>
            </a:xfrm>
            <a:prstGeom prst="line">
              <a:avLst/>
            </a:prstGeom>
            <a:ln w="12700">
              <a:solidFill>
                <a:srgbClr val="9A000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theme/theme1.xml><?xml version="1.0" encoding="utf-8"?>
<a:theme xmlns:a="http://schemas.openxmlformats.org/drawingml/2006/main" name="地图集">
  <a:themeElements>
    <a:clrScheme name="红色">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地图集">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地图集">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TM16401371[[fn=地图集]]</Template>
  <TotalTime>4059</TotalTime>
  <Words>3793</Words>
  <Application>Microsoft Office PowerPoint</Application>
  <PresentationFormat>宽屏</PresentationFormat>
  <Paragraphs>278</Paragraphs>
  <Slides>35</Slides>
  <Notes>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35</vt:i4>
      </vt:variant>
    </vt:vector>
  </HeadingPairs>
  <TitlesOfParts>
    <vt:vector size="44" baseType="lpstr">
      <vt:lpstr>Helvetica Neue</vt:lpstr>
      <vt:lpstr>等线</vt:lpstr>
      <vt:lpstr>微软雅黑</vt:lpstr>
      <vt:lpstr>Arial</vt:lpstr>
      <vt:lpstr>Calibri Light</vt:lpstr>
      <vt:lpstr>Cambria Math</vt:lpstr>
      <vt:lpstr>Rockwell</vt:lpstr>
      <vt:lpstr>Wingdings</vt:lpstr>
      <vt:lpstr>地图集</vt:lpstr>
      <vt:lpstr>PowerPoint 演示文稿</vt:lpstr>
      <vt:lpstr>PowerPoint 演示文稿</vt:lpstr>
      <vt:lpstr>研究背景</vt:lpstr>
      <vt:lpstr>核心思路</vt:lpstr>
      <vt:lpstr>数据预处理</vt:lpstr>
      <vt:lpstr>训练过程 —— 对比学习</vt:lpstr>
      <vt:lpstr>测试过程</vt:lpstr>
      <vt:lpstr>实验结果与分析 —— 消融实验</vt:lpstr>
      <vt:lpstr>实验结果与分析 —— 对比实验</vt:lpstr>
      <vt:lpstr>PowerPoint 演示文稿</vt:lpstr>
      <vt:lpstr>研究背景</vt:lpstr>
      <vt:lpstr>核心贡献一 —— IDForge 数据集</vt:lpstr>
      <vt:lpstr>核心贡献一 —— IDForge 数据集</vt:lpstr>
      <vt:lpstr>核心贡献二 —— R-MFDN 检测网络</vt:lpstr>
      <vt:lpstr>R-MFDN 检测网络 —— 多模态特征学习</vt:lpstr>
      <vt:lpstr>R-MFDN 检测网络 —— 对比学习机制</vt:lpstr>
      <vt:lpstr>R-MFDN 检测网络 —— 伪造分类</vt:lpstr>
      <vt:lpstr>实验结果与分析 —— 消融实验</vt:lpstr>
      <vt:lpstr>实验结果与分析 —— 对比实验</vt:lpstr>
      <vt:lpstr>PowerPoint 演示文稿</vt:lpstr>
      <vt:lpstr>研究背景</vt:lpstr>
      <vt:lpstr>整体框架</vt:lpstr>
      <vt:lpstr>核心组件 —— 条件解码器</vt:lpstr>
      <vt:lpstr>训练目标 —— 损失函数</vt:lpstr>
      <vt:lpstr>训练目标 —— 损失函数</vt:lpstr>
      <vt:lpstr>实验结果与分析 —— 对比实验</vt:lpstr>
      <vt:lpstr>实验结果与分析 —— 消融实验</vt:lpstr>
      <vt:lpstr>PowerPoint 演示文稿</vt:lpstr>
      <vt:lpstr>研究背景</vt:lpstr>
      <vt:lpstr>整体框架 —— 两路特征 + 注意力融合 + 时间Transformer 分类</vt:lpstr>
      <vt:lpstr>模块细节</vt:lpstr>
      <vt:lpstr>训练策略 —— 两阶段</vt:lpstr>
      <vt:lpstr>实验结果与分析 —— 对比实验</vt:lpstr>
      <vt:lpstr>实验结果与分析 —— 消融实验</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思宇 彭</dc:creator>
  <cp:lastModifiedBy>思宇 彭</cp:lastModifiedBy>
  <cp:revision>643</cp:revision>
  <dcterms:created xsi:type="dcterms:W3CDTF">2025-07-28T15:07:03Z</dcterms:created>
  <dcterms:modified xsi:type="dcterms:W3CDTF">2025-11-11T03:13:34Z</dcterms:modified>
</cp:coreProperties>
</file>