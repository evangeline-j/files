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tags/tag2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handoutMasterIdLst>
    <p:handoutMasterId r:id="rId28"/>
  </p:handoutMasterIdLst>
  <p:sldIdLst>
    <p:sldId id="284" r:id="rId2"/>
    <p:sldId id="350" r:id="rId3"/>
    <p:sldId id="370" r:id="rId4"/>
    <p:sldId id="371" r:id="rId5"/>
    <p:sldId id="372" r:id="rId6"/>
    <p:sldId id="373" r:id="rId7"/>
    <p:sldId id="374" r:id="rId8"/>
    <p:sldId id="375" r:id="rId9"/>
    <p:sldId id="377" r:id="rId10"/>
    <p:sldId id="378" r:id="rId11"/>
    <p:sldId id="379" r:id="rId12"/>
    <p:sldId id="380" r:id="rId13"/>
    <p:sldId id="381" r:id="rId14"/>
    <p:sldId id="382" r:id="rId15"/>
    <p:sldId id="384" r:id="rId16"/>
    <p:sldId id="385" r:id="rId17"/>
    <p:sldId id="387" r:id="rId18"/>
    <p:sldId id="388" r:id="rId19"/>
    <p:sldId id="389" r:id="rId20"/>
    <p:sldId id="390" r:id="rId21"/>
    <p:sldId id="391" r:id="rId22"/>
    <p:sldId id="392" r:id="rId23"/>
    <p:sldId id="393" r:id="rId24"/>
    <p:sldId id="394" r:id="rId25"/>
    <p:sldId id="395" r:id="rId26"/>
  </p:sldIdLst>
  <p:sldSz cx="12192000" cy="6858000"/>
  <p:notesSz cx="6858000" cy="9144000"/>
  <p:embeddedFontLst>
    <p:embeddedFont>
      <p:font typeface="微软雅黑" panose="020B0503020204020204" pitchFamily="34" charset="-122"/>
      <p:regular r:id="rId29"/>
      <p:bold r:id="rId3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1C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58" autoAdjust="0"/>
    <p:restoredTop sz="75344" autoAdjust="0"/>
  </p:normalViewPr>
  <p:slideViewPr>
    <p:cSldViewPr snapToGrid="0" showGuides="1">
      <p:cViewPr varScale="1">
        <p:scale>
          <a:sx n="65" d="100"/>
          <a:sy n="65" d="100"/>
        </p:scale>
        <p:origin x="864" y="43"/>
      </p:cViewPr>
      <p:guideLst>
        <p:guide orient="horz" pos="2170"/>
        <p:guide pos="3840"/>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4" d="100"/>
          <a:sy n="54" d="100"/>
        </p:scale>
        <p:origin x="2880"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DDBEE5-1F49-4E21-AA75-C1EB99554DBB}" type="datetimeFigureOut">
              <a:rPr lang="zh-CN" altLang="en-US" smtClean="0"/>
              <a:t>2026/4/7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DDF900-46A4-4B55-A06F-548409280FC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07A637-8712-4E20-957A-998EEAA86395}" type="datetimeFigureOut">
              <a:rPr lang="zh-CN" altLang="en-US" smtClean="0"/>
              <a:t>2026/4/7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03211-B18B-477D-A05F-14E4BC8723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FE403211-B18B-477D-A05F-14E4BC87236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首先，利用在线标注数据对语言模型进行有监督微调，使其更契合社交机器人检测任务，从而强化对社会语义的理解；其次，</a:t>
            </a:r>
            <a:r>
              <a:rPr lang="zh-CN" altLang="en-US" i="0" dirty="0">
                <a:solidFill>
                  <a:srgbClr val="060A26"/>
                </a:solidFill>
                <a:effectLst/>
                <a:latin typeface="微软雅黑" panose="020B0503020204020204" pitchFamily="34" charset="-122"/>
                <a:ea typeface="微软雅黑" panose="020B0503020204020204" pitchFamily="34" charset="-122"/>
              </a:rPr>
              <a:t>将语义丰富的节点表示输入预训练的 </a:t>
            </a:r>
            <a:r>
              <a:rPr lang="en-US" altLang="zh-CN" i="0" dirty="0">
                <a:solidFill>
                  <a:srgbClr val="060A26"/>
                </a:solidFill>
                <a:effectLst/>
                <a:latin typeface="微软雅黑" panose="020B0503020204020204" pitchFamily="34" charset="-122"/>
                <a:ea typeface="微软雅黑" panose="020B0503020204020204" pitchFamily="34" charset="-122"/>
              </a:rPr>
              <a:t>GNN </a:t>
            </a:r>
            <a:r>
              <a:rPr lang="zh-CN" altLang="en-US" i="0" dirty="0">
                <a:solidFill>
                  <a:srgbClr val="060A26"/>
                </a:solidFill>
                <a:effectLst/>
                <a:latin typeface="微软雅黑" panose="020B0503020204020204" pitchFamily="34" charset="-122"/>
                <a:ea typeface="微软雅黑" panose="020B0503020204020204" pitchFamily="34" charset="-122"/>
              </a:rPr>
              <a:t>中，通过聚合邻居信息进一步增强节点表示。</a:t>
            </a:r>
            <a:r>
              <a:rPr lang="zh-CN" altLang="en-US" sz="1200" b="0" i="0" kern="1200" dirty="0">
                <a:solidFill>
                  <a:schemeClr val="tx1"/>
                </a:solidFill>
                <a:effectLst/>
                <a:latin typeface="+mn-lt"/>
                <a:ea typeface="+mn-ea"/>
                <a:cs typeface="+mn-cs"/>
              </a:rPr>
              <a:t>图神经网络通过图对比学习，从无标签数据中汲取有价值的知识；最后，通过整合账户语义与网络结构的双模态信息对图神经网络进行微调，以提升整体检测性能。</a:t>
            </a:r>
            <a:endParaRPr lang="zh-CN" altLang="en-US" dirty="0"/>
          </a:p>
        </p:txBody>
      </p:sp>
      <p:sp>
        <p:nvSpPr>
          <p:cNvPr id="4" name="灯片编号占位符 3"/>
          <p:cNvSpPr>
            <a:spLocks noGrp="1"/>
          </p:cNvSpPr>
          <p:nvPr>
            <p:ph type="sldNum" sz="quarter" idx="5"/>
          </p:nvPr>
        </p:nvSpPr>
        <p:spPr/>
        <p:txBody>
          <a:bodyPr/>
          <a:lstStyle/>
          <a:p>
            <a:fld id="{FE403211-B18B-477D-A05F-14E4BC87236F}" type="slidenum">
              <a:rPr lang="zh-CN" altLang="en-US" smtClean="0"/>
              <a:t>6</a:t>
            </a:fld>
            <a:endParaRPr lang="zh-CN" altLang="en-US"/>
          </a:p>
        </p:txBody>
      </p:sp>
    </p:spTree>
    <p:extLst>
      <p:ext uri="{BB962C8B-B14F-4D97-AF65-F5344CB8AC3E}">
        <p14:creationId xmlns:p14="http://schemas.microsoft.com/office/powerpoint/2010/main" val="2750481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03211-B18B-477D-A05F-14E4BC87236F}" type="slidenum">
              <a:rPr lang="zh-CN" altLang="en-US" smtClean="0"/>
              <a:t>9</a:t>
            </a:fld>
            <a:endParaRPr lang="zh-CN" altLang="en-US"/>
          </a:p>
        </p:txBody>
      </p:sp>
    </p:spTree>
    <p:extLst>
      <p:ext uri="{BB962C8B-B14F-4D97-AF65-F5344CB8AC3E}">
        <p14:creationId xmlns:p14="http://schemas.microsoft.com/office/powerpoint/2010/main" val="3849442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77ECC-CEDA-F7C9-40FA-727C3FFF3A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2A31C2-12EC-6D8C-2DB5-9E3E7DA483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7FD97A7-24F4-2298-5F2D-904764E67492}"/>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首先利用大语言模型（如 </a:t>
            </a:r>
            <a:r>
              <a:rPr lang="en-US" altLang="zh-CN" sz="1200" b="0" i="0" kern="1200" dirty="0">
                <a:solidFill>
                  <a:schemeClr val="tx1"/>
                </a:solidFill>
                <a:effectLst/>
                <a:latin typeface="+mn-lt"/>
                <a:ea typeface="+mn-ea"/>
                <a:cs typeface="+mn-cs"/>
              </a:rPr>
              <a:t>GPT-4</a:t>
            </a:r>
            <a:r>
              <a:rPr lang="zh-CN" altLang="en-US" sz="1200" b="0" i="0" kern="1200" dirty="0">
                <a:solidFill>
                  <a:schemeClr val="tx1"/>
                </a:solidFill>
                <a:effectLst/>
                <a:latin typeface="+mn-lt"/>
                <a:ea typeface="+mn-ea"/>
                <a:cs typeface="+mn-cs"/>
              </a:rPr>
              <a:t>）生成包含因果解释的增强数据集，以弥补现有数据缺乏原因描述的缺陷；随后，采用基于 </a:t>
            </a:r>
            <a:r>
              <a:rPr lang="en-US" altLang="zh-CN" sz="1200" b="0" i="0" kern="1200" dirty="0" err="1">
                <a:solidFill>
                  <a:schemeClr val="tx1"/>
                </a:solidFill>
                <a:effectLst/>
                <a:latin typeface="+mn-lt"/>
                <a:ea typeface="+mn-ea"/>
                <a:cs typeface="+mn-cs"/>
              </a:rPr>
              <a:t>LoRA</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的监督微调技术对 </a:t>
            </a:r>
            <a:r>
              <a:rPr lang="en-US" altLang="zh-CN" sz="1200" b="0" i="0" kern="1200" dirty="0">
                <a:solidFill>
                  <a:schemeClr val="tx1"/>
                </a:solidFill>
                <a:effectLst/>
                <a:latin typeface="+mn-lt"/>
                <a:ea typeface="+mn-ea"/>
                <a:cs typeface="+mn-cs"/>
              </a:rPr>
              <a:t>LLaMA3-8B </a:t>
            </a:r>
            <a:r>
              <a:rPr lang="zh-CN" altLang="en-US" sz="1200" b="0" i="0" kern="1200" dirty="0">
                <a:solidFill>
                  <a:schemeClr val="tx1"/>
                </a:solidFill>
                <a:effectLst/>
                <a:latin typeface="+mn-lt"/>
                <a:ea typeface="+mn-ea"/>
                <a:cs typeface="+mn-cs"/>
              </a:rPr>
              <a:t>模型进行训练，在平衡计算效率的同时实现对异常检测与原因生成的联合学习；最后，通过动态知识库机制支持零参数更新的在线优化，确保模型能持续适应动态变化的日志环境，从而在提升检测性能的同时提供专业级的可解释性。</a:t>
            </a:r>
            <a:endParaRPr lang="zh-CN" altLang="en-US" dirty="0"/>
          </a:p>
        </p:txBody>
      </p:sp>
      <p:sp>
        <p:nvSpPr>
          <p:cNvPr id="4" name="灯片编号占位符 3">
            <a:extLst>
              <a:ext uri="{FF2B5EF4-FFF2-40B4-BE49-F238E27FC236}">
                <a16:creationId xmlns:a16="http://schemas.microsoft.com/office/drawing/2014/main" id="{536AD3C0-A8CF-B799-3615-5A84D22C04D7}"/>
              </a:ext>
            </a:extLst>
          </p:cNvPr>
          <p:cNvSpPr>
            <a:spLocks noGrp="1"/>
          </p:cNvSpPr>
          <p:nvPr>
            <p:ph type="sldNum" sz="quarter" idx="5"/>
          </p:nvPr>
        </p:nvSpPr>
        <p:spPr/>
        <p:txBody>
          <a:bodyPr/>
          <a:lstStyle/>
          <a:p>
            <a:fld id="{FE403211-B18B-477D-A05F-14E4BC87236F}" type="slidenum">
              <a:rPr lang="zh-CN" altLang="en-US" smtClean="0"/>
              <a:t>10</a:t>
            </a:fld>
            <a:endParaRPr lang="zh-CN" altLang="en-US"/>
          </a:p>
        </p:txBody>
      </p:sp>
    </p:spTree>
    <p:extLst>
      <p:ext uri="{BB962C8B-B14F-4D97-AF65-F5344CB8AC3E}">
        <p14:creationId xmlns:p14="http://schemas.microsoft.com/office/powerpoint/2010/main" val="74048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1679E-1D73-BF55-5485-647DA73BE1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DECEE8-0DF8-3AAD-C498-3DDC8AB7F3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B36E96-7798-F3C4-E519-9863E0CF6B61}"/>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首先利用大语言模型（如 </a:t>
            </a:r>
            <a:r>
              <a:rPr lang="en-US" altLang="zh-CN" sz="1200" b="0" i="0" kern="1200" dirty="0">
                <a:solidFill>
                  <a:schemeClr val="tx1"/>
                </a:solidFill>
                <a:effectLst/>
                <a:latin typeface="+mn-lt"/>
                <a:ea typeface="+mn-ea"/>
                <a:cs typeface="+mn-cs"/>
              </a:rPr>
              <a:t>GPT-4</a:t>
            </a:r>
            <a:r>
              <a:rPr lang="zh-CN" altLang="en-US" sz="1200" b="0" i="0" kern="1200" dirty="0">
                <a:solidFill>
                  <a:schemeClr val="tx1"/>
                </a:solidFill>
                <a:effectLst/>
                <a:latin typeface="+mn-lt"/>
                <a:ea typeface="+mn-ea"/>
                <a:cs typeface="+mn-cs"/>
              </a:rPr>
              <a:t>）生成包含因果解释的增强数据集，以弥补现有数据缺乏原因描述的缺陷；随后，采用基于 </a:t>
            </a:r>
            <a:r>
              <a:rPr lang="en-US" altLang="zh-CN" sz="1200" b="0" i="0" kern="1200" dirty="0" err="1">
                <a:solidFill>
                  <a:schemeClr val="tx1"/>
                </a:solidFill>
                <a:effectLst/>
                <a:latin typeface="+mn-lt"/>
                <a:ea typeface="+mn-ea"/>
                <a:cs typeface="+mn-cs"/>
              </a:rPr>
              <a:t>LoRA</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的监督微调技术对 </a:t>
            </a:r>
            <a:r>
              <a:rPr lang="en-US" altLang="zh-CN" sz="1200" b="0" i="0" kern="1200" dirty="0">
                <a:solidFill>
                  <a:schemeClr val="tx1"/>
                </a:solidFill>
                <a:effectLst/>
                <a:latin typeface="+mn-lt"/>
                <a:ea typeface="+mn-ea"/>
                <a:cs typeface="+mn-cs"/>
              </a:rPr>
              <a:t>LLaMA3-8B </a:t>
            </a:r>
            <a:r>
              <a:rPr lang="zh-CN" altLang="en-US" sz="1200" b="0" i="0" kern="1200" dirty="0">
                <a:solidFill>
                  <a:schemeClr val="tx1"/>
                </a:solidFill>
                <a:effectLst/>
                <a:latin typeface="+mn-lt"/>
                <a:ea typeface="+mn-ea"/>
                <a:cs typeface="+mn-cs"/>
              </a:rPr>
              <a:t>模型进行训练，在平衡计算效率的同时实现对异常检测与原因生成的联合学习；最后，通过动态知识库机制支持零参数更新的在线优化，确保模型能持续适应动态变化的日志环境，从而在提升检测性能的同时提供专业级的可解释性。</a:t>
            </a:r>
            <a:endParaRPr lang="zh-CN" altLang="en-US" dirty="0"/>
          </a:p>
        </p:txBody>
      </p:sp>
      <p:sp>
        <p:nvSpPr>
          <p:cNvPr id="4" name="灯片编号占位符 3">
            <a:extLst>
              <a:ext uri="{FF2B5EF4-FFF2-40B4-BE49-F238E27FC236}">
                <a16:creationId xmlns:a16="http://schemas.microsoft.com/office/drawing/2014/main" id="{BD1EC8DA-4BF8-F699-EEED-A88AEB119CF8}"/>
              </a:ext>
            </a:extLst>
          </p:cNvPr>
          <p:cNvSpPr>
            <a:spLocks noGrp="1"/>
          </p:cNvSpPr>
          <p:nvPr>
            <p:ph type="sldNum" sz="quarter" idx="5"/>
          </p:nvPr>
        </p:nvSpPr>
        <p:spPr/>
        <p:txBody>
          <a:bodyPr/>
          <a:lstStyle/>
          <a:p>
            <a:fld id="{FE403211-B18B-477D-A05F-14E4BC87236F}" type="slidenum">
              <a:rPr lang="zh-CN" altLang="en-US" smtClean="0"/>
              <a:t>11</a:t>
            </a:fld>
            <a:endParaRPr lang="zh-CN" altLang="en-US"/>
          </a:p>
        </p:txBody>
      </p:sp>
    </p:spTree>
    <p:extLst>
      <p:ext uri="{BB962C8B-B14F-4D97-AF65-F5344CB8AC3E}">
        <p14:creationId xmlns:p14="http://schemas.microsoft.com/office/powerpoint/2010/main" val="1439379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D81C2-5FF1-4063-4C12-31392A180B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3CE5DF-CF92-22E0-2222-F3C17BA3F9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210039-4456-9623-6403-23FF047640AE}"/>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通常被称为</a:t>
            </a:r>
            <a:r>
              <a:rPr lang="zh-CN" altLang="en-US" sz="1200" b="1" i="0" kern="1200" dirty="0">
                <a:solidFill>
                  <a:schemeClr val="tx1"/>
                </a:solidFill>
                <a:effectLst/>
                <a:latin typeface="+mn-lt"/>
                <a:ea typeface="+mn-ea"/>
                <a:cs typeface="+mn-cs"/>
              </a:rPr>
              <a:t>“基于</a:t>
            </a:r>
            <a:r>
              <a:rPr lang="en-US" altLang="zh-CN" sz="1200" b="1" i="0" kern="1200" dirty="0">
                <a:solidFill>
                  <a:schemeClr val="tx1"/>
                </a:solidFill>
                <a:effectLst/>
                <a:latin typeface="+mn-lt"/>
                <a:ea typeface="+mn-ea"/>
                <a:cs typeface="+mn-cs"/>
              </a:rPr>
              <a:t>AI</a:t>
            </a:r>
            <a:r>
              <a:rPr lang="zh-CN" altLang="en-US" sz="1200" b="1" i="0" kern="1200" dirty="0">
                <a:solidFill>
                  <a:schemeClr val="tx1"/>
                </a:solidFill>
                <a:effectLst/>
                <a:latin typeface="+mn-lt"/>
                <a:ea typeface="+mn-ea"/>
                <a:cs typeface="+mn-cs"/>
              </a:rPr>
              <a:t>反馈的强化学习”</a:t>
            </a:r>
            <a:r>
              <a:rPr lang="zh-CN" altLang="en-US" sz="1200" b="0" i="0" kern="1200" dirty="0">
                <a:solidFill>
                  <a:schemeClr val="tx1"/>
                </a:solidFill>
                <a:effectLst/>
                <a:latin typeface="+mn-lt"/>
                <a:ea typeface="+mn-ea"/>
                <a:cs typeface="+mn-cs"/>
              </a:rPr>
              <a:t>或</a:t>
            </a: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AI</a:t>
            </a:r>
            <a:r>
              <a:rPr lang="zh-CN" altLang="en-US" sz="1200" b="1" i="0" kern="1200" dirty="0">
                <a:solidFill>
                  <a:schemeClr val="tx1"/>
                </a:solidFill>
                <a:effectLst/>
                <a:latin typeface="+mn-lt"/>
                <a:ea typeface="+mn-ea"/>
                <a:cs typeface="+mn-cs"/>
              </a:rPr>
              <a:t>反馈修正”</a:t>
            </a:r>
            <a:r>
              <a:rPr lang="zh-CN" altLang="en-US"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简单来说，就是利用一个更强大的</a:t>
            </a:r>
            <a:r>
              <a:rPr lang="en-US" altLang="zh-CN" sz="1200" b="0" i="0" kern="1200" dirty="0">
                <a:solidFill>
                  <a:schemeClr val="tx1"/>
                </a:solidFill>
                <a:effectLst/>
                <a:latin typeface="+mn-lt"/>
                <a:ea typeface="+mn-ea"/>
                <a:cs typeface="+mn-cs"/>
              </a:rPr>
              <a:t>AI</a:t>
            </a:r>
            <a:r>
              <a:rPr lang="zh-CN" altLang="en-US" sz="1200" b="0" i="0" kern="1200" dirty="0">
                <a:solidFill>
                  <a:schemeClr val="tx1"/>
                </a:solidFill>
                <a:effectLst/>
                <a:latin typeface="+mn-lt"/>
                <a:ea typeface="+mn-ea"/>
                <a:cs typeface="+mn-cs"/>
              </a:rPr>
              <a:t>模型（如</a:t>
            </a:r>
            <a:r>
              <a:rPr lang="en-US" altLang="zh-CN" sz="1200" b="0" i="0" kern="1200" dirty="0">
                <a:solidFill>
                  <a:schemeClr val="tx1"/>
                </a:solidFill>
                <a:effectLst/>
                <a:latin typeface="+mn-lt"/>
                <a:ea typeface="+mn-ea"/>
                <a:cs typeface="+mn-cs"/>
              </a:rPr>
              <a:t>LLM</a:t>
            </a:r>
            <a:r>
              <a:rPr lang="zh-CN" altLang="en-US" sz="1200" b="0" i="0" kern="1200" dirty="0">
                <a:solidFill>
                  <a:schemeClr val="tx1"/>
                </a:solidFill>
                <a:effectLst/>
                <a:latin typeface="+mn-lt"/>
                <a:ea typeface="+mn-ea"/>
                <a:cs typeface="+mn-cs"/>
              </a:rPr>
              <a:t>）作为“老师”或“裁判”，来检查和纠正另一个“学生”模型（你的社交机器人检测模型）的输出。</a:t>
            </a:r>
          </a:p>
          <a:p>
            <a:r>
              <a:rPr lang="zh-CN" altLang="en-US" sz="1200" b="1" i="0" kern="1200" dirty="0">
                <a:solidFill>
                  <a:schemeClr val="tx1"/>
                </a:solidFill>
                <a:effectLst/>
                <a:latin typeface="+mn-lt"/>
                <a:ea typeface="+mn-ea"/>
                <a:cs typeface="+mn-cs"/>
              </a:rPr>
              <a:t>🤖 核心概念：</a:t>
            </a:r>
            <a:r>
              <a:rPr lang="en-US" altLang="zh-CN" sz="1200" b="1" i="0" kern="1200" dirty="0">
                <a:solidFill>
                  <a:schemeClr val="tx1"/>
                </a:solidFill>
                <a:effectLst/>
                <a:latin typeface="+mn-lt"/>
                <a:ea typeface="+mn-ea"/>
                <a:cs typeface="+mn-cs"/>
              </a:rPr>
              <a:t>RLAIF (Reinforcement Learning from AI Feedback)</a:t>
            </a:r>
          </a:p>
          <a:p>
            <a:r>
              <a:rPr lang="zh-CN" altLang="en-US" sz="1200" b="0" i="0" kern="1200" dirty="0">
                <a:solidFill>
                  <a:schemeClr val="tx1"/>
                </a:solidFill>
                <a:effectLst/>
                <a:latin typeface="+mn-lt"/>
                <a:ea typeface="+mn-ea"/>
                <a:cs typeface="+mn-cs"/>
              </a:rPr>
              <a:t>你描述的方法与 </a:t>
            </a:r>
            <a:r>
              <a:rPr lang="en-US" altLang="zh-CN" sz="1200" b="1" i="0" kern="1200" dirty="0">
                <a:solidFill>
                  <a:schemeClr val="tx1"/>
                </a:solidFill>
                <a:effectLst/>
                <a:latin typeface="+mn-lt"/>
                <a:ea typeface="+mn-ea"/>
                <a:cs typeface="+mn-cs"/>
              </a:rPr>
              <a:t>RLAIF</a:t>
            </a:r>
            <a:r>
              <a:rPr lang="zh-CN" altLang="en-US" sz="1200" b="0" i="0" kern="1200" dirty="0">
                <a:solidFill>
                  <a:schemeClr val="tx1"/>
                </a:solidFill>
                <a:effectLst/>
                <a:latin typeface="+mn-lt"/>
                <a:ea typeface="+mn-ea"/>
                <a:cs typeface="+mn-cs"/>
              </a:rPr>
              <a:t> 的核心思想高度一致。</a:t>
            </a:r>
          </a:p>
          <a:p>
            <a:r>
              <a:rPr lang="zh-CN" altLang="en-US" sz="1200" b="0" i="0" kern="1200" dirty="0">
                <a:solidFill>
                  <a:schemeClr val="tx1"/>
                </a:solidFill>
                <a:effectLst/>
                <a:latin typeface="+mn-lt"/>
                <a:ea typeface="+mn-ea"/>
                <a:cs typeface="+mn-cs"/>
              </a:rPr>
              <a:t>传统方法 </a:t>
            </a:r>
            <a:r>
              <a:rPr lang="en-US" altLang="zh-CN" sz="1200" b="0" i="0" kern="1200" dirty="0">
                <a:solidFill>
                  <a:schemeClr val="tx1"/>
                </a:solidFill>
                <a:effectLst/>
                <a:latin typeface="+mn-lt"/>
                <a:ea typeface="+mn-ea"/>
                <a:cs typeface="+mn-cs"/>
              </a:rPr>
              <a:t>(RLHF): </a:t>
            </a:r>
            <a:r>
              <a:rPr lang="zh-CN" altLang="en-US" sz="1200" b="0" i="0" kern="1200" dirty="0">
                <a:solidFill>
                  <a:schemeClr val="tx1"/>
                </a:solidFill>
                <a:effectLst/>
                <a:latin typeface="+mn-lt"/>
                <a:ea typeface="+mn-ea"/>
                <a:cs typeface="+mn-cs"/>
              </a:rPr>
              <a:t>传统的模型优化通常依赖人类反馈强化学习，即由人来标注模型输出的好坏，然后训练模型。但这成本高昂且效率较低。</a:t>
            </a:r>
          </a:p>
          <a:p>
            <a:r>
              <a:rPr lang="zh-CN" altLang="en-US" sz="1200" b="0" i="0" kern="1200" dirty="0">
                <a:solidFill>
                  <a:schemeClr val="tx1"/>
                </a:solidFill>
                <a:effectLst/>
                <a:latin typeface="+mn-lt"/>
                <a:ea typeface="+mn-ea"/>
                <a:cs typeface="+mn-cs"/>
              </a:rPr>
              <a:t>你的方法 </a:t>
            </a:r>
            <a:r>
              <a:rPr lang="en-US" altLang="zh-CN" sz="1200" b="0" i="0" kern="1200" dirty="0">
                <a:solidFill>
                  <a:schemeClr val="tx1"/>
                </a:solidFill>
                <a:effectLst/>
                <a:latin typeface="+mn-lt"/>
                <a:ea typeface="+mn-ea"/>
                <a:cs typeface="+mn-cs"/>
              </a:rPr>
              <a:t>(RLAIF): </a:t>
            </a:r>
            <a:r>
              <a:rPr lang="zh-CN" altLang="en-US" sz="1200" b="0" i="0" kern="1200" dirty="0">
                <a:solidFill>
                  <a:schemeClr val="tx1"/>
                </a:solidFill>
                <a:effectLst/>
                <a:latin typeface="+mn-lt"/>
                <a:ea typeface="+mn-ea"/>
                <a:cs typeface="+mn-cs"/>
              </a:rPr>
              <a:t>你使用一个已经具备强大理解和判断能力的</a:t>
            </a:r>
            <a:r>
              <a:rPr lang="en-US" altLang="zh-CN" sz="1200" b="0" i="0" kern="1200" dirty="0">
                <a:solidFill>
                  <a:schemeClr val="tx1"/>
                </a:solidFill>
                <a:effectLst/>
                <a:latin typeface="+mn-lt"/>
                <a:ea typeface="+mn-ea"/>
                <a:cs typeface="+mn-cs"/>
              </a:rPr>
              <a:t>LLM</a:t>
            </a:r>
            <a:r>
              <a:rPr lang="zh-CN" altLang="en-US" sz="1200" b="0" i="0" kern="1200" dirty="0">
                <a:solidFill>
                  <a:schemeClr val="tx1"/>
                </a:solidFill>
                <a:effectLst/>
                <a:latin typeface="+mn-lt"/>
                <a:ea typeface="+mn-ea"/>
                <a:cs typeface="+mn-cs"/>
              </a:rPr>
              <a:t>来替代人类，对社交机器人检测模型的结果进行“情感检测”和“纠错”。这个</a:t>
            </a:r>
            <a:r>
              <a:rPr lang="en-US" altLang="zh-CN" sz="1200" b="0" i="0" kern="1200" dirty="0">
                <a:solidFill>
                  <a:schemeClr val="tx1"/>
                </a:solidFill>
                <a:effectLst/>
                <a:latin typeface="+mn-lt"/>
                <a:ea typeface="+mn-ea"/>
                <a:cs typeface="+mn-cs"/>
              </a:rPr>
              <a:t>LLM</a:t>
            </a:r>
            <a:r>
              <a:rPr lang="zh-CN" altLang="en-US" sz="1200" b="0" i="0" kern="1200" dirty="0">
                <a:solidFill>
                  <a:schemeClr val="tx1"/>
                </a:solidFill>
                <a:effectLst/>
                <a:latin typeface="+mn-lt"/>
                <a:ea typeface="+mn-ea"/>
                <a:cs typeface="+mn-cs"/>
              </a:rPr>
              <a:t>就充当了反馈生成器的角色，为检测模型提供了修正信号。</a:t>
            </a:r>
          </a:p>
          <a:p>
            <a:endParaRPr lang="zh-CN" altLang="en-US" dirty="0"/>
          </a:p>
        </p:txBody>
      </p:sp>
      <p:sp>
        <p:nvSpPr>
          <p:cNvPr id="4" name="灯片编号占位符 3">
            <a:extLst>
              <a:ext uri="{FF2B5EF4-FFF2-40B4-BE49-F238E27FC236}">
                <a16:creationId xmlns:a16="http://schemas.microsoft.com/office/drawing/2014/main" id="{9700FCB1-2C16-5672-7EC2-34ECC8ACEEA6}"/>
              </a:ext>
            </a:extLst>
          </p:cNvPr>
          <p:cNvSpPr>
            <a:spLocks noGrp="1"/>
          </p:cNvSpPr>
          <p:nvPr>
            <p:ph type="sldNum" sz="quarter" idx="5"/>
          </p:nvPr>
        </p:nvSpPr>
        <p:spPr/>
        <p:txBody>
          <a:bodyPr/>
          <a:lstStyle/>
          <a:p>
            <a:fld id="{FE403211-B18B-477D-A05F-14E4BC87236F}" type="slidenum">
              <a:rPr lang="zh-CN" altLang="en-US" smtClean="0"/>
              <a:t>13</a:t>
            </a:fld>
            <a:endParaRPr lang="zh-CN" altLang="en-US"/>
          </a:p>
        </p:txBody>
      </p:sp>
    </p:spTree>
    <p:extLst>
      <p:ext uri="{BB962C8B-B14F-4D97-AF65-F5344CB8AC3E}">
        <p14:creationId xmlns:p14="http://schemas.microsoft.com/office/powerpoint/2010/main" val="2474542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BB50D-392B-5B98-55E9-A96CC10C8E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2CB033-450B-39C5-C569-2A2D4250A1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C63333-0211-0EA0-8831-99FB569F6A18}"/>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然而，我们发现有些句子因为包含了负面词汇，被误判为具有负面情感倾向，但实际上这些句子的情感倾向是正面或中性的，这就导致了错误的情感判断，如下图所示。该句子本身具有正面情感倾向，旨在鼓励我们保持信念，但由于包含了“失败”和“损失”等词汇，被感知为负面。</a:t>
            </a:r>
            <a:endParaRPr lang="zh-CN" altLang="en-US" dirty="0"/>
          </a:p>
        </p:txBody>
      </p:sp>
      <p:sp>
        <p:nvSpPr>
          <p:cNvPr id="4" name="灯片编号占位符 3">
            <a:extLst>
              <a:ext uri="{FF2B5EF4-FFF2-40B4-BE49-F238E27FC236}">
                <a16:creationId xmlns:a16="http://schemas.microsoft.com/office/drawing/2014/main" id="{3CD7B549-C83D-769F-013B-7F2AFC26EC41}"/>
              </a:ext>
            </a:extLst>
          </p:cNvPr>
          <p:cNvSpPr>
            <a:spLocks noGrp="1"/>
          </p:cNvSpPr>
          <p:nvPr>
            <p:ph type="sldNum" sz="quarter" idx="5"/>
          </p:nvPr>
        </p:nvSpPr>
        <p:spPr/>
        <p:txBody>
          <a:bodyPr/>
          <a:lstStyle/>
          <a:p>
            <a:fld id="{FE403211-B18B-477D-A05F-14E4BC87236F}" type="slidenum">
              <a:rPr lang="zh-CN" altLang="en-US" smtClean="0"/>
              <a:t>14</a:t>
            </a:fld>
            <a:endParaRPr lang="zh-CN" altLang="en-US"/>
          </a:p>
        </p:txBody>
      </p:sp>
    </p:spTree>
    <p:extLst>
      <p:ext uri="{BB962C8B-B14F-4D97-AF65-F5344CB8AC3E}">
        <p14:creationId xmlns:p14="http://schemas.microsoft.com/office/powerpoint/2010/main" val="3482728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03211-B18B-477D-A05F-14E4BC87236F}" type="slidenum">
              <a:rPr lang="zh-CN" altLang="en-US" smtClean="0"/>
              <a:t>15</a:t>
            </a:fld>
            <a:endParaRPr lang="zh-CN" altLang="en-US"/>
          </a:p>
        </p:txBody>
      </p:sp>
    </p:spTree>
    <p:extLst>
      <p:ext uri="{BB962C8B-B14F-4D97-AF65-F5344CB8AC3E}">
        <p14:creationId xmlns:p14="http://schemas.microsoft.com/office/powerpoint/2010/main" val="34860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99977-56B3-2086-2F02-E5C3AC4E02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1BDC68-2E0C-ADE8-B6FB-AB5E88B225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B74947-0175-1CD6-4464-871403ACF11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7405751-64A0-2623-0ED0-FFB040706B0F}"/>
              </a:ext>
            </a:extLst>
          </p:cNvPr>
          <p:cNvSpPr>
            <a:spLocks noGrp="1"/>
          </p:cNvSpPr>
          <p:nvPr>
            <p:ph type="sldNum" sz="quarter" idx="5"/>
          </p:nvPr>
        </p:nvSpPr>
        <p:spPr/>
        <p:txBody>
          <a:bodyPr/>
          <a:lstStyle/>
          <a:p>
            <a:fld id="{FE403211-B18B-477D-A05F-14E4BC87236F}" type="slidenum">
              <a:rPr lang="zh-CN" altLang="en-US" smtClean="0"/>
              <a:t>16</a:t>
            </a:fld>
            <a:endParaRPr lang="zh-CN" altLang="en-US"/>
          </a:p>
        </p:txBody>
      </p:sp>
    </p:spTree>
    <p:extLst>
      <p:ext uri="{BB962C8B-B14F-4D97-AF65-F5344CB8AC3E}">
        <p14:creationId xmlns:p14="http://schemas.microsoft.com/office/powerpoint/2010/main" val="3529820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DBF97-AD42-C532-3049-A58762B38A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67CEB7-AFAE-8772-233A-CD0D636CD6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6E4AA6-77A6-46E4-2239-E25442D64FB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E177F02-D74C-B4D2-4DB7-B72256029093}"/>
              </a:ext>
            </a:extLst>
          </p:cNvPr>
          <p:cNvSpPr>
            <a:spLocks noGrp="1"/>
          </p:cNvSpPr>
          <p:nvPr>
            <p:ph type="sldNum" sz="quarter" idx="5"/>
          </p:nvPr>
        </p:nvSpPr>
        <p:spPr/>
        <p:txBody>
          <a:bodyPr/>
          <a:lstStyle/>
          <a:p>
            <a:fld id="{FE403211-B18B-477D-A05F-14E4BC87236F}" type="slidenum">
              <a:rPr lang="zh-CN" altLang="en-US" smtClean="0"/>
              <a:t>17</a:t>
            </a:fld>
            <a:endParaRPr lang="zh-CN" altLang="en-US"/>
          </a:p>
        </p:txBody>
      </p:sp>
    </p:spTree>
    <p:extLst>
      <p:ext uri="{BB962C8B-B14F-4D97-AF65-F5344CB8AC3E}">
        <p14:creationId xmlns:p14="http://schemas.microsoft.com/office/powerpoint/2010/main" val="120241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57982-724D-8FCA-74CB-071CD9FBA7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6AF868-49EF-ACBC-0BB5-1FD1584123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252EB7-4D34-4EAD-15BE-DE0E55613151}"/>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该框架利用大语言模型的深厚知识库和多视角推理能力，通过</a:t>
            </a:r>
            <a:r>
              <a:rPr lang="zh-CN" altLang="en-US" sz="1200" b="1" i="0" kern="1200" dirty="0">
                <a:solidFill>
                  <a:schemeClr val="tx1"/>
                </a:solidFill>
                <a:effectLst/>
                <a:latin typeface="+mn-lt"/>
                <a:ea typeface="+mn-ea"/>
                <a:cs typeface="+mn-cs"/>
              </a:rPr>
              <a:t>逻辑推理</a:t>
            </a:r>
            <a:r>
              <a:rPr lang="zh-CN" altLang="en-US" sz="1200" b="0" i="0" kern="1200" dirty="0">
                <a:solidFill>
                  <a:schemeClr val="tx1"/>
                </a:solidFill>
                <a:effectLst/>
                <a:latin typeface="+mn-lt"/>
                <a:ea typeface="+mn-ea"/>
                <a:cs typeface="+mn-cs"/>
              </a:rPr>
              <a:t>（检查文本内部逻辑一致性）和</a:t>
            </a:r>
            <a:r>
              <a:rPr lang="zh-CN" altLang="en-US" sz="1200" b="1" i="0" kern="1200" dirty="0">
                <a:solidFill>
                  <a:schemeClr val="tx1"/>
                </a:solidFill>
                <a:effectLst/>
                <a:latin typeface="+mn-lt"/>
                <a:ea typeface="+mn-ea"/>
                <a:cs typeface="+mn-cs"/>
              </a:rPr>
              <a:t>外部验证</a:t>
            </a:r>
            <a:r>
              <a:rPr lang="zh-CN" altLang="en-US" sz="1200" b="0" i="0" kern="1200" dirty="0">
                <a:solidFill>
                  <a:schemeClr val="tx1"/>
                </a:solidFill>
                <a:effectLst/>
                <a:latin typeface="+mn-lt"/>
                <a:ea typeface="+mn-ea"/>
                <a:cs typeface="+mn-cs"/>
              </a:rPr>
              <a:t>（比对可信事实数据库）两个步骤生成辅助解释，并将这些“理由”编码后与原文特征进行加权融合。这种方法不仅让</a:t>
            </a:r>
            <a:r>
              <a:rPr lang="en-US" altLang="zh-CN" sz="1200" b="0" i="0" kern="1200" dirty="0">
                <a:solidFill>
                  <a:schemeClr val="tx1"/>
                </a:solidFill>
                <a:effectLst/>
                <a:latin typeface="+mn-lt"/>
                <a:ea typeface="+mn-ea"/>
                <a:cs typeface="+mn-cs"/>
              </a:rPr>
              <a:t>BERT</a:t>
            </a:r>
            <a:r>
              <a:rPr lang="zh-CN" altLang="en-US" sz="1200" b="0" i="0" kern="1200" dirty="0">
                <a:solidFill>
                  <a:schemeClr val="tx1"/>
                </a:solidFill>
                <a:effectLst/>
                <a:latin typeface="+mn-lt"/>
                <a:ea typeface="+mn-ea"/>
                <a:cs typeface="+mn-cs"/>
              </a:rPr>
              <a:t>能够利用大语言模型的“智慧”来增强判断力，还显著提升了检测结果的准确性、逻辑性和可解释性</a:t>
            </a:r>
            <a:endParaRPr lang="zh-CN" altLang="en-US" dirty="0"/>
          </a:p>
        </p:txBody>
      </p:sp>
      <p:sp>
        <p:nvSpPr>
          <p:cNvPr id="4" name="灯片编号占位符 3">
            <a:extLst>
              <a:ext uri="{FF2B5EF4-FFF2-40B4-BE49-F238E27FC236}">
                <a16:creationId xmlns:a16="http://schemas.microsoft.com/office/drawing/2014/main" id="{42CEDC26-B5A6-A38A-2814-22BB59B4FB5C}"/>
              </a:ext>
            </a:extLst>
          </p:cNvPr>
          <p:cNvSpPr>
            <a:spLocks noGrp="1"/>
          </p:cNvSpPr>
          <p:nvPr>
            <p:ph type="sldNum" sz="quarter" idx="5"/>
          </p:nvPr>
        </p:nvSpPr>
        <p:spPr/>
        <p:txBody>
          <a:bodyPr/>
          <a:lstStyle/>
          <a:p>
            <a:fld id="{FE403211-B18B-477D-A05F-14E4BC87236F}" type="slidenum">
              <a:rPr lang="zh-CN" altLang="en-US" smtClean="0"/>
              <a:t>18</a:t>
            </a:fld>
            <a:endParaRPr lang="zh-CN" altLang="en-US"/>
          </a:p>
        </p:txBody>
      </p:sp>
    </p:spTree>
    <p:extLst>
      <p:ext uri="{BB962C8B-B14F-4D97-AF65-F5344CB8AC3E}">
        <p14:creationId xmlns:p14="http://schemas.microsoft.com/office/powerpoint/2010/main" val="384508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43729-9C42-AA9B-8FC5-240E1190BF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1EC909-43EA-0E85-2E02-F21F6CC7EA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49DC06-4F9A-7EBF-B5C4-CFCCE1B75E2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8D2151C-065E-30C2-EC09-3ED01C7E4826}"/>
              </a:ext>
            </a:extLst>
          </p:cNvPr>
          <p:cNvSpPr>
            <a:spLocks noGrp="1"/>
          </p:cNvSpPr>
          <p:nvPr>
            <p:ph type="sldNum" sz="quarter" idx="5"/>
          </p:nvPr>
        </p:nvSpPr>
        <p:spPr/>
        <p:txBody>
          <a:bodyPr/>
          <a:lstStyle/>
          <a:p>
            <a:fld id="{FE403211-B18B-477D-A05F-14E4BC87236F}" type="slidenum">
              <a:rPr lang="zh-CN" altLang="en-US" smtClean="0"/>
              <a:t>19</a:t>
            </a:fld>
            <a:endParaRPr lang="zh-CN" altLang="en-US"/>
          </a:p>
        </p:txBody>
      </p:sp>
    </p:spTree>
    <p:extLst>
      <p:ext uri="{BB962C8B-B14F-4D97-AF65-F5344CB8AC3E}">
        <p14:creationId xmlns:p14="http://schemas.microsoft.com/office/powerpoint/2010/main" val="577367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03211-B18B-477D-A05F-14E4BC87236F}" type="slidenum">
              <a:rPr lang="zh-CN" altLang="en-US" smtClean="0"/>
              <a:t>20</a:t>
            </a:fld>
            <a:endParaRPr lang="zh-CN" altLang="en-US"/>
          </a:p>
        </p:txBody>
      </p:sp>
    </p:spTree>
    <p:extLst>
      <p:ext uri="{BB962C8B-B14F-4D97-AF65-F5344CB8AC3E}">
        <p14:creationId xmlns:p14="http://schemas.microsoft.com/office/powerpoint/2010/main" val="710162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8ED28-86C1-E45A-5659-7E093AC132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4D5607-27E9-6047-E20C-A2D7664455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BE5CAB2-D6CE-E991-316F-07C34ADA50A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A9E56C0-4BED-F92B-7F3D-C198FEBCF053}"/>
              </a:ext>
            </a:extLst>
          </p:cNvPr>
          <p:cNvSpPr>
            <a:spLocks noGrp="1"/>
          </p:cNvSpPr>
          <p:nvPr>
            <p:ph type="sldNum" sz="quarter" idx="5"/>
          </p:nvPr>
        </p:nvSpPr>
        <p:spPr/>
        <p:txBody>
          <a:bodyPr/>
          <a:lstStyle/>
          <a:p>
            <a:fld id="{FE403211-B18B-477D-A05F-14E4BC87236F}" type="slidenum">
              <a:rPr lang="zh-CN" altLang="en-US" smtClean="0"/>
              <a:t>21</a:t>
            </a:fld>
            <a:endParaRPr lang="zh-CN" altLang="en-US"/>
          </a:p>
        </p:txBody>
      </p:sp>
    </p:spTree>
    <p:extLst>
      <p:ext uri="{BB962C8B-B14F-4D97-AF65-F5344CB8AC3E}">
        <p14:creationId xmlns:p14="http://schemas.microsoft.com/office/powerpoint/2010/main" val="549293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EA65C-9A6B-9278-6111-1C012726D5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784EDA-413A-8B0D-4374-8F0903BDFF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79C15E-B87C-5E02-FB3F-911666A13A7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2DB833E-F039-C0FF-B4FE-DFA405D3ECF2}"/>
              </a:ext>
            </a:extLst>
          </p:cNvPr>
          <p:cNvSpPr>
            <a:spLocks noGrp="1"/>
          </p:cNvSpPr>
          <p:nvPr>
            <p:ph type="sldNum" sz="quarter" idx="5"/>
          </p:nvPr>
        </p:nvSpPr>
        <p:spPr/>
        <p:txBody>
          <a:bodyPr/>
          <a:lstStyle/>
          <a:p>
            <a:fld id="{FE403211-B18B-477D-A05F-14E4BC87236F}" type="slidenum">
              <a:rPr lang="zh-CN" altLang="en-US" smtClean="0"/>
              <a:t>22</a:t>
            </a:fld>
            <a:endParaRPr lang="zh-CN" altLang="en-US"/>
          </a:p>
        </p:txBody>
      </p:sp>
    </p:spTree>
    <p:extLst>
      <p:ext uri="{BB962C8B-B14F-4D97-AF65-F5344CB8AC3E}">
        <p14:creationId xmlns:p14="http://schemas.microsoft.com/office/powerpoint/2010/main" val="20648665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4CC2D-E876-0D33-3C44-BE119C0A0D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1A042A-8F3F-333A-B459-1DF002C18D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A717B60-738A-1738-73BE-D79E42F4AEFF}"/>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任务描述与指令：该部分包含若干条顺序指令，这些指令是基于思维链（</a:t>
            </a:r>
            <a:r>
              <a:rPr lang="en-US" altLang="zh-CN" sz="1200" b="0" i="0" kern="1200" dirty="0" err="1">
                <a:solidFill>
                  <a:schemeClr val="tx1"/>
                </a:solidFill>
                <a:effectLst/>
                <a:latin typeface="+mn-lt"/>
                <a:ea typeface="+mn-ea"/>
                <a:cs typeface="+mn-cs"/>
              </a:rPr>
              <a:t>CoT</a:t>
            </a:r>
            <a:r>
              <a:rPr lang="zh-CN" altLang="en-US" sz="1200" b="0" i="0" kern="1200" dirty="0">
                <a:solidFill>
                  <a:schemeClr val="tx1"/>
                </a:solidFill>
                <a:effectLst/>
                <a:latin typeface="+mn-lt"/>
                <a:ea typeface="+mn-ea"/>
                <a:cs typeface="+mn-cs"/>
              </a:rPr>
              <a:t>）思想设计的。它首先通过三条引导性指令介绍整体任务目标，并引导 </a:t>
            </a:r>
            <a:r>
              <a:rPr lang="en-US" altLang="zh-CN" sz="1200" b="0" i="0" kern="1200" dirty="0">
                <a:solidFill>
                  <a:schemeClr val="tx1"/>
                </a:solidFill>
                <a:effectLst/>
                <a:latin typeface="+mn-lt"/>
                <a:ea typeface="+mn-ea"/>
                <a:cs typeface="+mn-cs"/>
              </a:rPr>
              <a:t>LLM </a:t>
            </a:r>
            <a:r>
              <a:rPr lang="zh-CN" altLang="en-US" sz="1200" b="0" i="0" kern="1200" dirty="0">
                <a:solidFill>
                  <a:schemeClr val="tx1"/>
                </a:solidFill>
                <a:effectLst/>
                <a:latin typeface="+mn-lt"/>
                <a:ea typeface="+mn-ea"/>
                <a:cs typeface="+mn-cs"/>
              </a:rPr>
              <a:t>从基础起点形成平滑的推理链，具体做法是对涉及的物体进行类型推断，并确定哪些类型代表可泄露的资源。基于此分析，随后的三条指令要求 </a:t>
            </a:r>
            <a:r>
              <a:rPr lang="en-US" altLang="zh-CN" sz="1200" b="0" i="0" kern="1200" dirty="0">
                <a:solidFill>
                  <a:schemeClr val="tx1"/>
                </a:solidFill>
                <a:effectLst/>
                <a:latin typeface="+mn-lt"/>
                <a:ea typeface="+mn-ea"/>
                <a:cs typeface="+mn-cs"/>
              </a:rPr>
              <a:t>LLM </a:t>
            </a:r>
            <a:r>
              <a:rPr lang="zh-CN" altLang="en-US" sz="1200" b="0" i="0" kern="1200" dirty="0">
                <a:solidFill>
                  <a:schemeClr val="tx1"/>
                </a:solidFill>
                <a:effectLst/>
                <a:latin typeface="+mn-lt"/>
                <a:ea typeface="+mn-ea"/>
                <a:cs typeface="+mn-cs"/>
              </a:rPr>
              <a:t>推断三种面向资源的意图。在整个分析和推断过程中，</a:t>
            </a:r>
            <a:r>
              <a:rPr lang="en-US" altLang="zh-CN" sz="1200" b="0" i="0" kern="1200" dirty="0">
                <a:solidFill>
                  <a:schemeClr val="tx1"/>
                </a:solidFill>
                <a:effectLst/>
                <a:latin typeface="+mn-lt"/>
                <a:ea typeface="+mn-ea"/>
                <a:cs typeface="+mn-cs"/>
              </a:rPr>
              <a:t>LLM </a:t>
            </a:r>
            <a:r>
              <a:rPr lang="zh-CN" altLang="en-US" sz="1200" b="0" i="0" kern="1200" dirty="0">
                <a:solidFill>
                  <a:schemeClr val="tx1"/>
                </a:solidFill>
                <a:effectLst/>
                <a:latin typeface="+mn-lt"/>
                <a:ea typeface="+mn-ea"/>
                <a:cs typeface="+mn-cs"/>
              </a:rPr>
              <a:t>利用其广泛的背景知识来理解代码上下文并有效执行指令。</a:t>
            </a: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输出格式规范：旨在指定已识别意图的格式，以便于后续解析。</a:t>
            </a:r>
          </a:p>
          <a:p>
            <a:r>
              <a:rPr lang="zh-CN" altLang="en-US" sz="1200" b="0" i="0" kern="1200" dirty="0">
                <a:solidFill>
                  <a:schemeClr val="tx1"/>
                </a:solidFill>
                <a:effectLst/>
                <a:latin typeface="+mn-lt"/>
                <a:ea typeface="+mn-ea"/>
                <a:cs typeface="+mn-cs"/>
              </a:rPr>
              <a:t>代码占位符：这是插入带行号的给定代码的地方，从而创建一个特定的提示词。</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给定 </a:t>
            </a:r>
            <a:r>
              <a:rPr lang="en-US" altLang="zh-CN" sz="1200" b="0" i="0" kern="1200" dirty="0">
                <a:solidFill>
                  <a:schemeClr val="tx1"/>
                </a:solidFill>
                <a:effectLst/>
                <a:latin typeface="+mn-lt"/>
                <a:ea typeface="+mn-ea"/>
                <a:cs typeface="+mn-cs"/>
              </a:rPr>
              <a:t>LLM </a:t>
            </a:r>
            <a:r>
              <a:rPr lang="zh-CN" altLang="en-US" sz="1200" b="0" i="0" kern="1200" dirty="0">
                <a:solidFill>
                  <a:schemeClr val="tx1"/>
                </a:solidFill>
                <a:effectLst/>
                <a:latin typeface="+mn-lt"/>
                <a:ea typeface="+mn-ea"/>
                <a:cs typeface="+mn-cs"/>
              </a:rPr>
              <a:t>生成的答案，我们利用正则表达式（例如 行 </a:t>
            </a:r>
            <a:r>
              <a:rPr lang="en-US" altLang="zh-CN" sz="1200" b="0" i="0" kern="1200" dirty="0">
                <a:solidFill>
                  <a:schemeClr val="tx1"/>
                </a:solidFill>
                <a:effectLst/>
                <a:latin typeface="+mn-lt"/>
                <a:ea typeface="+mn-ea"/>
                <a:cs typeface="+mn-cs"/>
              </a:rPr>
              <a:t>&lt;</a:t>
            </a:r>
            <a:r>
              <a:rPr lang="zh-CN" altLang="en-US" sz="1200" b="0" i="0" kern="1200" dirty="0">
                <a:solidFill>
                  <a:schemeClr val="tx1"/>
                </a:solidFill>
                <a:effectLst/>
                <a:latin typeface="+mn-lt"/>
                <a:ea typeface="+mn-ea"/>
                <a:cs typeface="+mn-cs"/>
              </a:rPr>
              <a:t>行号</a:t>
            </a:r>
            <a:r>
              <a:rPr lang="en-US" altLang="zh-CN" sz="1200" b="0" i="0" kern="1200" dirty="0">
                <a:solidFill>
                  <a:schemeClr val="tx1"/>
                </a:solidFill>
                <a:effectLst/>
                <a:latin typeface="+mn-lt"/>
                <a:ea typeface="+mn-ea"/>
                <a:cs typeface="+mn-cs"/>
              </a:rPr>
              <a:t>&gt;: &lt;API </a:t>
            </a:r>
            <a:r>
              <a:rPr lang="zh-CN" altLang="en-US" sz="1200" b="0" i="0" kern="1200" dirty="0">
                <a:solidFill>
                  <a:schemeClr val="tx1"/>
                </a:solidFill>
                <a:effectLst/>
                <a:latin typeface="+mn-lt"/>
                <a:ea typeface="+mn-ea"/>
                <a:cs typeface="+mn-cs"/>
              </a:rPr>
              <a:t>调用</a:t>
            </a:r>
            <a:r>
              <a:rPr lang="en-US" altLang="zh-CN" sz="1200" b="0" i="0" kern="1200" dirty="0">
                <a:solidFill>
                  <a:schemeClr val="tx1"/>
                </a:solidFill>
                <a:effectLst/>
                <a:latin typeface="+mn-lt"/>
                <a:ea typeface="+mn-ea"/>
                <a:cs typeface="+mn-cs"/>
              </a:rPr>
              <a:t>&gt; </a:t>
            </a:r>
            <a:r>
              <a:rPr lang="zh-CN" altLang="en-US" sz="1200" b="0" i="0" kern="1200" dirty="0">
                <a:solidFill>
                  <a:schemeClr val="tx1"/>
                </a:solidFill>
                <a:effectLst/>
                <a:latin typeface="+mn-lt"/>
                <a:ea typeface="+mn-ea"/>
                <a:cs typeface="+mn-cs"/>
              </a:rPr>
              <a:t>获取 </a:t>
            </a:r>
            <a:r>
              <a:rPr lang="en-US" altLang="zh-CN" sz="1200" b="0" i="0" kern="1200" dirty="0">
                <a:solidFill>
                  <a:schemeClr val="tx1"/>
                </a:solidFill>
                <a:effectLst/>
                <a:latin typeface="+mn-lt"/>
                <a:ea typeface="+mn-ea"/>
                <a:cs typeface="+mn-cs"/>
              </a:rPr>
              <a:t>&lt;</a:t>
            </a:r>
            <a:r>
              <a:rPr lang="zh-CN" altLang="en-US" sz="1200" b="0" i="0" kern="1200" dirty="0">
                <a:solidFill>
                  <a:schemeClr val="tx1"/>
                </a:solidFill>
                <a:effectLst/>
                <a:latin typeface="+mn-lt"/>
                <a:ea typeface="+mn-ea"/>
                <a:cs typeface="+mn-cs"/>
              </a:rPr>
              <a:t>资源变量</a:t>
            </a:r>
            <a:r>
              <a:rPr lang="en-US" altLang="zh-CN" sz="1200" b="0" i="0" kern="1200" dirty="0">
                <a:solidFill>
                  <a:schemeClr val="tx1"/>
                </a:solidFill>
                <a:effectLst/>
                <a:latin typeface="+mn-lt"/>
                <a:ea typeface="+mn-ea"/>
                <a:cs typeface="+mn-cs"/>
              </a:rPr>
              <a:t>&gt; </a:t>
            </a:r>
            <a:r>
              <a:rPr lang="zh-CN" altLang="en-US" sz="1200" b="0" i="0" kern="1200" dirty="0">
                <a:solidFill>
                  <a:schemeClr val="tx1"/>
                </a:solidFill>
                <a:effectLst/>
                <a:latin typeface="+mn-lt"/>
                <a:ea typeface="+mn-ea"/>
                <a:cs typeface="+mn-cs"/>
              </a:rPr>
              <a:t>资源）来自动提取涉及资源获取意图的行号、</a:t>
            </a:r>
            <a:r>
              <a:rPr lang="en-US" altLang="zh-CN" sz="1200" b="0" i="0" kern="1200" dirty="0">
                <a:solidFill>
                  <a:schemeClr val="tx1"/>
                </a:solidFill>
                <a:effectLst/>
                <a:latin typeface="+mn-lt"/>
                <a:ea typeface="+mn-ea"/>
                <a:cs typeface="+mn-cs"/>
              </a:rPr>
              <a:t>API </a:t>
            </a:r>
            <a:r>
              <a:rPr lang="zh-CN" altLang="en-US" sz="1200" b="0" i="0" kern="1200" dirty="0">
                <a:solidFill>
                  <a:schemeClr val="tx1"/>
                </a:solidFill>
                <a:effectLst/>
                <a:latin typeface="+mn-lt"/>
                <a:ea typeface="+mn-ea"/>
                <a:cs typeface="+mn-cs"/>
              </a:rPr>
              <a:t>调用和资源变量。类似的正则表达式可用于提取与资源释放意图和可达性验证意图相关的信息</a:t>
            </a:r>
          </a:p>
          <a:p>
            <a:endParaRPr lang="zh-CN" altLang="en-US" dirty="0"/>
          </a:p>
        </p:txBody>
      </p:sp>
      <p:sp>
        <p:nvSpPr>
          <p:cNvPr id="4" name="灯片编号占位符 3">
            <a:extLst>
              <a:ext uri="{FF2B5EF4-FFF2-40B4-BE49-F238E27FC236}">
                <a16:creationId xmlns:a16="http://schemas.microsoft.com/office/drawing/2014/main" id="{2F512B1E-8EBD-7305-47E0-A572CD1CEDAB}"/>
              </a:ext>
            </a:extLst>
          </p:cNvPr>
          <p:cNvSpPr>
            <a:spLocks noGrp="1"/>
          </p:cNvSpPr>
          <p:nvPr>
            <p:ph type="sldNum" sz="quarter" idx="5"/>
          </p:nvPr>
        </p:nvSpPr>
        <p:spPr/>
        <p:txBody>
          <a:bodyPr/>
          <a:lstStyle/>
          <a:p>
            <a:fld id="{FE403211-B18B-477D-A05F-14E4BC87236F}" type="slidenum">
              <a:rPr lang="zh-CN" altLang="en-US" smtClean="0"/>
              <a:t>23</a:t>
            </a:fld>
            <a:endParaRPr lang="zh-CN" altLang="en-US"/>
          </a:p>
        </p:txBody>
      </p:sp>
    </p:spTree>
    <p:extLst>
      <p:ext uri="{BB962C8B-B14F-4D97-AF65-F5344CB8AC3E}">
        <p14:creationId xmlns:p14="http://schemas.microsoft.com/office/powerpoint/2010/main" val="3218595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6C959-4CA6-4EB3-37CD-F222606627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A98F6F-5D18-710E-53D8-5DFB308158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1585A7-F62E-D1F4-4FA7-5567DB7BFCDB}"/>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青铜选手 </a:t>
            </a:r>
            <a:r>
              <a:rPr lang="en-US" altLang="zh-CN" sz="1200" b="0" i="0" kern="1200" dirty="0">
                <a:solidFill>
                  <a:schemeClr val="tx1"/>
                </a:solidFill>
                <a:effectLst/>
                <a:latin typeface="+mn-lt"/>
                <a:ea typeface="+mn-ea"/>
                <a:cs typeface="+mn-cs"/>
              </a:rPr>
              <a:t>(GPTLEAK)</a:t>
            </a:r>
            <a:r>
              <a:rPr lang="zh-CN" altLang="en-US" sz="1200" b="0" i="0" kern="1200" dirty="0">
                <a:solidFill>
                  <a:schemeClr val="tx1"/>
                </a:solidFill>
                <a:effectLst/>
                <a:latin typeface="+mn-lt"/>
                <a:ea typeface="+mn-ea"/>
                <a:cs typeface="+mn-cs"/>
              </a:rPr>
              <a:t>：直接问 </a:t>
            </a:r>
            <a:r>
              <a:rPr lang="en-US" altLang="zh-CN" sz="1200" b="0" i="0" kern="1200" dirty="0">
                <a:solidFill>
                  <a:schemeClr val="tx1"/>
                </a:solidFill>
                <a:effectLst/>
                <a:latin typeface="+mn-lt"/>
                <a:ea typeface="+mn-ea"/>
                <a:cs typeface="+mn-cs"/>
              </a:rPr>
              <a:t>GPT“</a:t>
            </a:r>
            <a:r>
              <a:rPr lang="zh-CN" altLang="en-US" sz="1200" b="0" i="0" kern="1200" dirty="0">
                <a:solidFill>
                  <a:schemeClr val="tx1"/>
                </a:solidFill>
                <a:effectLst/>
                <a:latin typeface="+mn-lt"/>
                <a:ea typeface="+mn-ea"/>
                <a:cs typeface="+mn-cs"/>
              </a:rPr>
              <a:t>这里有 </a:t>
            </a:r>
            <a:r>
              <a:rPr lang="en-US" altLang="zh-CN" sz="1200" b="0" i="0" kern="1200" dirty="0">
                <a:solidFill>
                  <a:schemeClr val="tx1"/>
                </a:solidFill>
                <a:effectLst/>
                <a:latin typeface="+mn-lt"/>
                <a:ea typeface="+mn-ea"/>
                <a:cs typeface="+mn-cs"/>
              </a:rPr>
              <a:t>bug </a:t>
            </a:r>
            <a:r>
              <a:rPr lang="zh-CN" altLang="en-US" sz="1200" b="0" i="0" kern="1200" dirty="0">
                <a:solidFill>
                  <a:schemeClr val="tx1"/>
                </a:solidFill>
                <a:effectLst/>
                <a:latin typeface="+mn-lt"/>
                <a:ea typeface="+mn-ea"/>
                <a:cs typeface="+mn-cs"/>
              </a:rPr>
              <a:t>吗？”，结果误报很高，瞎猜的成分大。</a:t>
            </a:r>
          </a:p>
          <a:p>
            <a:r>
              <a:rPr lang="zh-CN" altLang="en-US" sz="1200" b="0" i="0" kern="1200" dirty="0">
                <a:solidFill>
                  <a:schemeClr val="tx1"/>
                </a:solidFill>
                <a:effectLst/>
                <a:latin typeface="+mn-lt"/>
                <a:ea typeface="+mn-ea"/>
                <a:cs typeface="+mn-cs"/>
              </a:rPr>
              <a:t>白银选手 </a:t>
            </a:r>
            <a:r>
              <a:rPr lang="en-US" altLang="zh-CN" sz="1200" b="0" i="0" kern="1200" dirty="0">
                <a:solidFill>
                  <a:schemeClr val="tx1"/>
                </a:solidFill>
                <a:effectLst/>
                <a:latin typeface="+mn-lt"/>
                <a:ea typeface="+mn-ea"/>
                <a:cs typeface="+mn-cs"/>
              </a:rPr>
              <a:t>(GPTLEAK-exp/</a:t>
            </a:r>
            <a:r>
              <a:rPr lang="en-US" altLang="zh-CN" sz="1200" b="0" i="0" kern="1200" dirty="0" err="1">
                <a:solidFill>
                  <a:schemeClr val="tx1"/>
                </a:solidFill>
                <a:effectLst/>
                <a:latin typeface="+mn-lt"/>
                <a:ea typeface="+mn-ea"/>
                <a:cs typeface="+mn-cs"/>
              </a:rPr>
              <a:t>roi</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：教 </a:t>
            </a:r>
            <a:r>
              <a:rPr lang="en-US" altLang="zh-CN" sz="1200" b="0" i="0" kern="1200" dirty="0">
                <a:solidFill>
                  <a:schemeClr val="tx1"/>
                </a:solidFill>
                <a:effectLst/>
                <a:latin typeface="+mn-lt"/>
                <a:ea typeface="+mn-ea"/>
                <a:cs typeface="+mn-cs"/>
              </a:rPr>
              <a:t>GPT </a:t>
            </a:r>
            <a:r>
              <a:rPr lang="zh-CN" altLang="en-US" sz="1200" b="0" i="0" kern="1200" dirty="0">
                <a:solidFill>
                  <a:schemeClr val="tx1"/>
                </a:solidFill>
                <a:effectLst/>
                <a:latin typeface="+mn-lt"/>
                <a:ea typeface="+mn-ea"/>
                <a:cs typeface="+mn-cs"/>
              </a:rPr>
              <a:t>用“思维链”，让它“先解释代码”或者“先找意图”，结果误报率确实降下来了，说明让 </a:t>
            </a:r>
            <a:r>
              <a:rPr lang="en-US" altLang="zh-CN"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多想一步是有用的。</a:t>
            </a:r>
          </a:p>
          <a:p>
            <a:r>
              <a:rPr lang="zh-CN" altLang="en-US" sz="1200" b="0" i="0" kern="1200" dirty="0">
                <a:solidFill>
                  <a:schemeClr val="tx1"/>
                </a:solidFill>
                <a:effectLst/>
                <a:latin typeface="+mn-lt"/>
                <a:ea typeface="+mn-ea"/>
                <a:cs typeface="+mn-cs"/>
              </a:rPr>
              <a:t>王者选手 </a:t>
            </a:r>
            <a:r>
              <a:rPr lang="en-US" altLang="zh-CN" sz="1200" b="0" i="0" kern="1200" dirty="0">
                <a:solidFill>
                  <a:schemeClr val="tx1"/>
                </a:solidFill>
                <a:effectLst/>
                <a:latin typeface="+mn-lt"/>
                <a:ea typeface="+mn-ea"/>
                <a:cs typeface="+mn-cs"/>
              </a:rPr>
              <a:t>(INFERROI)</a:t>
            </a:r>
            <a:r>
              <a:rPr lang="zh-CN" altLang="en-US" sz="1200" b="0" i="0" kern="1200" dirty="0">
                <a:solidFill>
                  <a:schemeClr val="tx1"/>
                </a:solidFill>
                <a:effectLst/>
                <a:latin typeface="+mn-lt"/>
                <a:ea typeface="+mn-ea"/>
                <a:cs typeface="+mn-cs"/>
              </a:rPr>
              <a:t>：也就是作者的方法，不仅让 </a:t>
            </a:r>
            <a:r>
              <a:rPr lang="en-US" altLang="zh-CN"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想，还用静态分析（传统代码分析技术）去验证。结果证明，“</a:t>
            </a:r>
            <a:r>
              <a:rPr lang="en-US" altLang="zh-CN"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的理解能力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静态分析的严谨性”才是最强组合，既准又稳。</a:t>
            </a:r>
          </a:p>
          <a:p>
            <a:endParaRPr lang="zh-CN" altLang="en-US" dirty="0"/>
          </a:p>
        </p:txBody>
      </p:sp>
      <p:sp>
        <p:nvSpPr>
          <p:cNvPr id="4" name="灯片编号占位符 3">
            <a:extLst>
              <a:ext uri="{FF2B5EF4-FFF2-40B4-BE49-F238E27FC236}">
                <a16:creationId xmlns:a16="http://schemas.microsoft.com/office/drawing/2014/main" id="{5F2EE972-5A01-A6F5-FFB4-6EFA237A3176}"/>
              </a:ext>
            </a:extLst>
          </p:cNvPr>
          <p:cNvSpPr>
            <a:spLocks noGrp="1"/>
          </p:cNvSpPr>
          <p:nvPr>
            <p:ph type="sldNum" sz="quarter" idx="5"/>
          </p:nvPr>
        </p:nvSpPr>
        <p:spPr/>
        <p:txBody>
          <a:bodyPr/>
          <a:lstStyle/>
          <a:p>
            <a:fld id="{FE403211-B18B-477D-A05F-14E4BC87236F}" type="slidenum">
              <a:rPr lang="zh-CN" altLang="en-US" smtClean="0"/>
              <a:t>24</a:t>
            </a:fld>
            <a:endParaRPr lang="zh-CN" altLang="en-US"/>
          </a:p>
        </p:txBody>
      </p:sp>
    </p:spTree>
    <p:extLst>
      <p:ext uri="{BB962C8B-B14F-4D97-AF65-F5344CB8AC3E}">
        <p14:creationId xmlns:p14="http://schemas.microsoft.com/office/powerpoint/2010/main" val="2096303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579A4-5849-276B-9DDB-4A0B3BF8CD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DCC8E1-A912-9A46-C3B0-BFC22982126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0004F47B-812E-E092-DE0D-FE940BBD3B85}"/>
              </a:ext>
            </a:extLst>
          </p:cNvPr>
          <p:cNvSpPr>
            <a:spLocks noGrp="1"/>
          </p:cNvSpPr>
          <p:nvPr>
            <p:ph type="body" idx="3"/>
          </p:nvPr>
        </p:nvSpPr>
        <p:spPr/>
        <p:txBody>
          <a:bodyPr/>
          <a:lstStyle/>
          <a:p>
            <a:endParaRPr lang="zh-CN" altLang="en-US" dirty="0"/>
          </a:p>
        </p:txBody>
      </p:sp>
      <p:sp>
        <p:nvSpPr>
          <p:cNvPr id="4" name="灯片编号占位符 3">
            <a:extLst>
              <a:ext uri="{FF2B5EF4-FFF2-40B4-BE49-F238E27FC236}">
                <a16:creationId xmlns:a16="http://schemas.microsoft.com/office/drawing/2014/main" id="{08D61623-DEF8-21F0-2934-FC687CF16D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403211-B18B-477D-A05F-14E4BC87236F}"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84227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a:xfrm>
            <a:off x="10774680" y="6356350"/>
            <a:ext cx="1437640" cy="365125"/>
          </a:xfrm>
        </p:spPr>
        <p:txBody>
          <a:bodyPr/>
          <a:lstStyle>
            <a:lvl1pPr algn="ctr">
              <a:defRPr sz="1800"/>
            </a:lvl1pPr>
          </a:lstStyle>
          <a:p>
            <a:fld id="{023126B9-07AC-4BAF-B3D7-FAC1D3999DA4}" type="slidenum">
              <a:rPr lang="zh-CN" altLang="en-US" smtClean="0"/>
              <a:t>‹#›</a:t>
            </a:fld>
            <a:endParaRPr lang="zh-CN" altLang="en-US" dirty="0"/>
          </a:p>
        </p:txBody>
      </p:sp>
      <p:sp>
        <p:nvSpPr>
          <p:cNvPr id="5" name="灯片编号占位符 3"/>
          <p:cNvSpPr txBox="1"/>
          <p:nvPr userDrawn="1"/>
        </p:nvSpPr>
        <p:spPr>
          <a:xfrm>
            <a:off x="10495280" y="6356349"/>
            <a:ext cx="1437640" cy="365125"/>
          </a:xfrm>
          <a:prstGeom prst="rect">
            <a:avLst/>
          </a:prstGeom>
        </p:spPr>
        <p:txBody>
          <a:bodyPr vert="horz" lIns="91440" tIns="45720" rIns="91440" bIns="45720" rtlCol="0" anchor="ctr"/>
          <a:lstStyle>
            <a:defPPr>
              <a:defRPr lang="zh-CN"/>
            </a:defPPr>
            <a:lvl1pPr marL="0" algn="r" defTabSz="914400" rtl="0" eaLnBrk="1" latinLnBrk="0" hangingPunct="1">
              <a:defRPr sz="18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第     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023126B9-07AC-4BAF-B3D7-FAC1D3999DA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023126B9-07AC-4BAF-B3D7-FAC1D3999DA4}" type="slidenum">
              <a:rPr lang="zh-CN" altLang="en-US"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023126B9-07AC-4BAF-B3D7-FAC1D3999DA4}"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023126B9-07AC-4BAF-B3D7-FAC1D3999DA4}" type="slidenum">
              <a:rPr lang="zh-CN" altLang="en-US"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023126B9-07AC-4BAF-B3D7-FAC1D3999DA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lumMod val="25000"/>
                  </a:schemeClr>
                </a:solidFill>
              </a:defRPr>
            </a:lvl1pPr>
          </a:lstStyle>
          <a:p>
            <a:fld id="{023126B9-07AC-4BAF-B3D7-FAC1D3999DA4}"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9.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0.xml"/><Relationship Id="rId5" Type="http://schemas.openxmlformats.org/officeDocument/2006/relationships/image" Target="../media/image10.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4.xml"/><Relationship Id="rId5" Type="http://schemas.openxmlformats.org/officeDocument/2006/relationships/image" Target="../media/image14.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5.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6.xml"/><Relationship Id="rId5" Type="http://schemas.openxmlformats.org/officeDocument/2006/relationships/image" Target="../media/image4.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7.xml"/><Relationship Id="rId5" Type="http://schemas.openxmlformats.org/officeDocument/2006/relationships/image" Target="../media/image16.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8.xml"/><Relationship Id="rId5" Type="http://schemas.openxmlformats.org/officeDocument/2006/relationships/image" Target="../media/image4.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image" Target="../media/image18.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20.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21.xml"/><Relationship Id="rId5" Type="http://schemas.openxmlformats.org/officeDocument/2006/relationships/image" Target="../media/image19.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2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23.xml"/><Relationship Id="rId5" Type="http://schemas.openxmlformats.org/officeDocument/2006/relationships/image" Target="../media/image22.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7" name="矩形 16"/>
          <p:cNvSpPr/>
          <p:nvPr/>
        </p:nvSpPr>
        <p:spPr>
          <a:xfrm>
            <a:off x="-61571" y="1485900"/>
            <a:ext cx="12253546" cy="3886200"/>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8"/>
          <p:cNvSpPr txBox="1">
            <a:spLocks noChangeArrowheads="1"/>
          </p:cNvSpPr>
          <p:nvPr/>
        </p:nvSpPr>
        <p:spPr bwMode="auto">
          <a:xfrm>
            <a:off x="918210" y="2857500"/>
            <a:ext cx="10293985" cy="65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fontAlgn="auto">
              <a:lnSpc>
                <a:spcPts val="5000"/>
              </a:lnSpc>
              <a:buClrTx/>
              <a:buSzTx/>
              <a:buFontTx/>
            </a:pPr>
            <a:r>
              <a:rPr lang="zh-CN" altLang="en-US" sz="2800" b="1" dirty="0">
                <a:solidFill>
                  <a:schemeClr val="accent1">
                    <a:lumMod val="75000"/>
                  </a:schemeClr>
                </a:solidFill>
                <a:latin typeface="Times New Roman" panose="02020603050405020304" charset="0"/>
                <a:ea typeface="微软雅黑" panose="020B0503020204020204" pitchFamily="34" charset="-122"/>
                <a:cs typeface="Times New Roman" panose="02020603050405020304" charset="0"/>
                <a:sym typeface="+mn-ea"/>
              </a:rPr>
              <a:t>组会分享</a:t>
            </a:r>
            <a:endParaRPr lang="zh-CN" altLang="en-US" sz="2800" b="1" dirty="0">
              <a:solidFill>
                <a:schemeClr val="accent1">
                  <a:lumMod val="75000"/>
                </a:schemeClr>
              </a:solidFill>
              <a:latin typeface="Times New Roman" panose="02020603050405020304" charset="0"/>
              <a:ea typeface="微软雅黑" panose="020B0503020204020204" pitchFamily="34" charset="-122"/>
              <a:cs typeface="Times New Roman" panose="02020603050405020304" charset="0"/>
            </a:endParaRPr>
          </a:p>
        </p:txBody>
      </p:sp>
      <p:sp>
        <p:nvSpPr>
          <p:cNvPr id="21" name="文本框 10"/>
          <p:cNvSpPr txBox="1">
            <a:spLocks noChangeArrowheads="1"/>
          </p:cNvSpPr>
          <p:nvPr/>
        </p:nvSpPr>
        <p:spPr bwMode="auto">
          <a:xfrm>
            <a:off x="4142105" y="4585335"/>
            <a:ext cx="415480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dirty="0">
                <a:latin typeface="微软雅黑" panose="020B0503020204020204" pitchFamily="34" charset="-122"/>
                <a:ea typeface="微软雅黑" panose="020B0503020204020204" pitchFamily="34" charset="-122"/>
              </a:rPr>
              <a:t>报告人：王众伯</a:t>
            </a:r>
          </a:p>
        </p:txBody>
      </p:sp>
      <p:sp>
        <p:nvSpPr>
          <p:cNvPr id="22" name="圆角矩形 11"/>
          <p:cNvSpPr>
            <a:spLocks noChangeArrowheads="1"/>
          </p:cNvSpPr>
          <p:nvPr/>
        </p:nvSpPr>
        <p:spPr bwMode="auto">
          <a:xfrm>
            <a:off x="4111872" y="4547714"/>
            <a:ext cx="4223236" cy="443944"/>
          </a:xfrm>
          <a:prstGeom prst="roundRect">
            <a:avLst>
              <a:gd name="adj" fmla="val 16667"/>
            </a:avLst>
          </a:prstGeom>
          <a:noFill/>
          <a:ln w="12700">
            <a:solidFill>
              <a:srgbClr val="7F7F7F"/>
            </a:solidFill>
            <a:round/>
          </a:ln>
          <a:extLst>
            <a:ext uri="{909E8E84-426E-40DD-AFC4-6F175D3DCCD1}">
              <a14:hiddenFill xmlns:a14="http://schemas.microsoft.com/office/drawing/2010/main">
                <a:solidFill>
                  <a:srgbClr val="FFFFFF"/>
                </a:solidFill>
              </a14:hiddenFill>
            </a:ext>
          </a:extLst>
        </p:spPr>
        <p:txBody>
          <a:bodyPr anchor="ctr"/>
          <a:lstStyle/>
          <a:p>
            <a:pPr algn="ctr" eaLnBrk="1" hangingPunct="1"/>
            <a:endParaRPr lang="zh-CN" altLang="en-US">
              <a:solidFill>
                <a:srgbClr val="FFFFFF"/>
              </a:solidFill>
            </a:endParaRPr>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68440" y="1758407"/>
            <a:ext cx="1055120" cy="1055120"/>
          </a:xfrm>
          <a:prstGeom prst="rect">
            <a:avLst/>
          </a:prstGeom>
        </p:spPr>
      </p:pic>
      <p:sp>
        <p:nvSpPr>
          <p:cNvPr id="3" name="灯片编号占位符 2"/>
          <p:cNvSpPr>
            <a:spLocks noGrp="1"/>
          </p:cNvSpPr>
          <p:nvPr>
            <p:ph type="sldNum" sz="quarter" idx="10"/>
          </p:nvPr>
        </p:nvSpPr>
        <p:spPr/>
        <p:txBody>
          <a:bodyPr/>
          <a:lstStyle/>
          <a:p>
            <a:fld id="{023126B9-07AC-4BAF-B3D7-FAC1D3999DA4}" type="slidenum">
              <a:rPr lang="zh-CN" altLang="en-US" smtClean="0"/>
              <a:t>1</a:t>
            </a:fld>
            <a:endParaRPr lang="zh-CN" altLang="en-US" dirty="0"/>
          </a:p>
        </p:txBody>
      </p:sp>
      <p:sp>
        <p:nvSpPr>
          <p:cNvPr id="4" name="文本框 8">
            <a:extLst>
              <a:ext uri="{FF2B5EF4-FFF2-40B4-BE49-F238E27FC236}">
                <a16:creationId xmlns:a16="http://schemas.microsoft.com/office/drawing/2014/main" id="{0618BB3B-1DCD-5A53-B6EB-5D2A91F753AC}"/>
              </a:ext>
            </a:extLst>
          </p:cNvPr>
          <p:cNvSpPr txBox="1">
            <a:spLocks noChangeArrowheads="1"/>
          </p:cNvSpPr>
          <p:nvPr/>
        </p:nvSpPr>
        <p:spPr bwMode="auto">
          <a:xfrm>
            <a:off x="949007" y="3515950"/>
            <a:ext cx="10293985" cy="670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fontAlgn="auto">
              <a:lnSpc>
                <a:spcPts val="5000"/>
              </a:lnSpc>
              <a:buClrTx/>
              <a:buSzTx/>
              <a:buFontTx/>
            </a:pPr>
            <a:r>
              <a:rPr lang="en-US" altLang="zh-CN" sz="3200" b="1" dirty="0">
                <a:solidFill>
                  <a:schemeClr val="accent1">
                    <a:lumMod val="75000"/>
                  </a:schemeClr>
                </a:solidFill>
                <a:latin typeface="Times New Roman" panose="02020603050405020304" charset="0"/>
                <a:ea typeface="微软雅黑" panose="020B0503020204020204" pitchFamily="34" charset="-122"/>
                <a:cs typeface="Times New Roman" panose="02020603050405020304" charset="0"/>
              </a:rPr>
              <a:t>LLMs</a:t>
            </a:r>
            <a:r>
              <a:rPr lang="zh-CN" altLang="en-US" sz="3200" b="1" dirty="0">
                <a:solidFill>
                  <a:schemeClr val="accent1">
                    <a:lumMod val="75000"/>
                  </a:schemeClr>
                </a:solidFill>
                <a:latin typeface="Times New Roman" panose="02020603050405020304" charset="0"/>
                <a:ea typeface="微软雅黑" panose="020B0503020204020204" pitchFamily="34" charset="-122"/>
                <a:cs typeface="Times New Roman" panose="02020603050405020304" charset="0"/>
              </a:rPr>
              <a:t>在检测任务中如何使用？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2"/>
          <p:cNvSpPr>
            <a:spLocks noGrp="1"/>
          </p:cNvSpPr>
          <p:nvPr>
            <p:ph type="sldNum" sz="quarter" idx="10"/>
          </p:nvPr>
        </p:nvSpPr>
        <p:spPr/>
        <p:txBody>
          <a:bodyPr/>
          <a:lstStyle/>
          <a:p>
            <a:fld id="{023126B9-07AC-4BAF-B3D7-FAC1D3999DA4}" type="slidenum">
              <a:rPr lang="zh-CN" altLang="en-US" smtClean="0"/>
              <a:t>2</a:t>
            </a:fld>
            <a:endParaRPr lang="zh-CN" altLang="en-US" dirty="0"/>
          </a:p>
        </p:txBody>
      </p:sp>
      <p:sp>
        <p:nvSpPr>
          <p:cNvPr id="15" name="任意多边形 14"/>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6" name="文本框 5">
            <a:extLst>
              <a:ext uri="{FF2B5EF4-FFF2-40B4-BE49-F238E27FC236}">
                <a16:creationId xmlns:a16="http://schemas.microsoft.com/office/drawing/2014/main" id="{1D349760-5F8C-2BC4-215E-9F4615DD8375}"/>
              </a:ext>
            </a:extLst>
          </p:cNvPr>
          <p:cNvSpPr txBox="1"/>
          <p:nvPr/>
        </p:nvSpPr>
        <p:spPr>
          <a:xfrm>
            <a:off x="548144" y="1566952"/>
            <a:ext cx="11095711" cy="3724096"/>
          </a:xfrm>
          <a:prstGeom prst="rect">
            <a:avLst/>
          </a:prstGeom>
          <a:noFill/>
        </p:spPr>
        <p:txBody>
          <a:bodyPr wrap="square">
            <a:spAutoFit/>
          </a:bodyPr>
          <a:lstStyle/>
          <a:p>
            <a:pPr algn="just">
              <a:spcBef>
                <a:spcPts val="300"/>
              </a:spcBef>
              <a:spcAft>
                <a:spcPts val="300"/>
              </a:spcAft>
            </a:pPr>
            <a:r>
              <a:rPr lang="en-US" altLang="zh-CN" dirty="0">
                <a:latin typeface="微软雅黑" panose="020B0503020204020204" pitchFamily="34" charset="-122"/>
                <a:ea typeface="微软雅黑" panose="020B0503020204020204" pitchFamily="34" charset="-122"/>
              </a:rPr>
              <a:t>[1] S. Wang, J. Li, S. Sun et al., "Social Robot </a:t>
            </a:r>
            <a:r>
              <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Detection</a:t>
            </a:r>
            <a:r>
              <a:rPr lang="en-US" altLang="zh-CN" dirty="0">
                <a:latin typeface="微软雅黑" panose="020B0503020204020204" pitchFamily="34" charset="-122"/>
                <a:ea typeface="微软雅黑" panose="020B0503020204020204" pitchFamily="34" charset="-122"/>
              </a:rPr>
              <a:t> Based on </a:t>
            </a:r>
            <a:r>
              <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LLM</a:t>
            </a:r>
            <a:r>
              <a:rPr lang="en-US" altLang="zh-CN" dirty="0">
                <a:latin typeface="微软雅黑" panose="020B0503020204020204" pitchFamily="34" charset="-122"/>
                <a:ea typeface="微软雅黑" panose="020B0503020204020204" pitchFamily="34" charset="-122"/>
              </a:rPr>
              <a:t> and LSTM-LDA Model," in 2024 IEEE/WIC International Conference on Web Intelligence and Intelligent Agent Technology (WI-IAT), IEEE, 2024, pp. 842-847.</a:t>
            </a:r>
          </a:p>
          <a:p>
            <a:pPr algn="just">
              <a:spcBef>
                <a:spcPts val="300"/>
              </a:spcBef>
              <a:spcAft>
                <a:spcPts val="300"/>
              </a:spcAft>
            </a:pPr>
            <a:r>
              <a:rPr lang="en-US" altLang="zh-CN" dirty="0">
                <a:latin typeface="微软雅黑" panose="020B0503020204020204" pitchFamily="34" charset="-122"/>
                <a:ea typeface="微软雅黑" panose="020B0503020204020204" pitchFamily="34" charset="-122"/>
              </a:rPr>
              <a:t>[2] M. Zhou, D. Zhang, Y. Wang et al., "</a:t>
            </a:r>
            <a:r>
              <a:rPr lang="en-US" altLang="zh-CN" dirty="0" err="1">
                <a:latin typeface="微软雅黑" panose="020B0503020204020204" pitchFamily="34" charset="-122"/>
                <a:ea typeface="微软雅黑" panose="020B0503020204020204" pitchFamily="34" charset="-122"/>
              </a:rPr>
              <a:t>Lgb</a:t>
            </a:r>
            <a:r>
              <a:rPr lang="en-US" altLang="zh-CN" dirty="0">
                <a:latin typeface="微软雅黑" panose="020B0503020204020204" pitchFamily="34" charset="-122"/>
                <a:ea typeface="微软雅黑" panose="020B0503020204020204" pitchFamily="34" charset="-122"/>
              </a:rPr>
              <a:t>: </a:t>
            </a:r>
            <a:r>
              <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Language Model</a:t>
            </a:r>
            <a:r>
              <a:rPr lang="en-US" altLang="zh-CN" dirty="0">
                <a:latin typeface="微软雅黑" panose="020B0503020204020204" pitchFamily="34" charset="-122"/>
                <a:ea typeface="微软雅黑" panose="020B0503020204020204" pitchFamily="34" charset="-122"/>
              </a:rPr>
              <a:t> and Graph Neural Network-driven Social Bot </a:t>
            </a:r>
            <a:r>
              <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Detection</a:t>
            </a:r>
            <a:r>
              <a:rPr lang="en-US" altLang="zh-CN" dirty="0">
                <a:latin typeface="微软雅黑" panose="020B0503020204020204" pitchFamily="34" charset="-122"/>
                <a:ea typeface="微软雅黑" panose="020B0503020204020204" pitchFamily="34" charset="-122"/>
              </a:rPr>
              <a:t>," IEEE Transactions on Knowledge and Data Engineering, 2025.</a:t>
            </a:r>
          </a:p>
          <a:p>
            <a:pPr algn="just">
              <a:spcBef>
                <a:spcPts val="300"/>
              </a:spcBef>
              <a:spcAft>
                <a:spcPts val="300"/>
              </a:spcAft>
            </a:pPr>
            <a:r>
              <a:rPr lang="en-US" altLang="zh-CN" dirty="0">
                <a:latin typeface="微软雅黑" panose="020B0503020204020204" pitchFamily="34" charset="-122"/>
                <a:ea typeface="微软雅黑" panose="020B0503020204020204" pitchFamily="34" charset="-122"/>
              </a:rPr>
              <a:t>[3] J. Wang, Z. Zhu, C. Liu et al., "</a:t>
            </a:r>
            <a:r>
              <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LLM-Enhanced</a:t>
            </a:r>
            <a:r>
              <a:rPr lang="en-US" altLang="zh-CN" dirty="0">
                <a:latin typeface="微软雅黑" panose="020B0503020204020204" pitchFamily="34" charset="-122"/>
                <a:ea typeface="微软雅黑" panose="020B0503020204020204" pitchFamily="34" charset="-122"/>
              </a:rPr>
              <a:t> Multimodal </a:t>
            </a:r>
            <a:r>
              <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Detection</a:t>
            </a:r>
            <a:r>
              <a:rPr lang="en-US" altLang="zh-CN" dirty="0">
                <a:latin typeface="微软雅黑" panose="020B0503020204020204" pitchFamily="34" charset="-122"/>
                <a:ea typeface="微软雅黑" panose="020B0503020204020204" pitchFamily="34" charset="-122"/>
              </a:rPr>
              <a:t> of Fake News," </a:t>
            </a:r>
            <a:r>
              <a:rPr lang="en-US" altLang="zh-CN" dirty="0" err="1">
                <a:latin typeface="微软雅黑" panose="020B0503020204020204" pitchFamily="34" charset="-122"/>
                <a:ea typeface="微软雅黑" panose="020B0503020204020204" pitchFamily="34" charset="-122"/>
              </a:rPr>
              <a:t>PloS</a:t>
            </a:r>
            <a:r>
              <a:rPr lang="en-US" altLang="zh-CN" dirty="0">
                <a:latin typeface="微软雅黑" panose="020B0503020204020204" pitchFamily="34" charset="-122"/>
                <a:ea typeface="微软雅黑" panose="020B0503020204020204" pitchFamily="34" charset="-122"/>
              </a:rPr>
              <a:t> one, vol. 19, no. 10, p. e0312240, 2024.</a:t>
            </a:r>
          </a:p>
          <a:p>
            <a:pPr algn="just">
              <a:spcBef>
                <a:spcPts val="300"/>
              </a:spcBef>
              <a:spcAft>
                <a:spcPts val="300"/>
              </a:spcAft>
            </a:pPr>
            <a:r>
              <a:rPr lang="en-US" altLang="zh-CN" dirty="0">
                <a:latin typeface="微软雅黑" panose="020B0503020204020204" pitchFamily="34" charset="-122"/>
                <a:ea typeface="微软雅黑" panose="020B0503020204020204" pitchFamily="34" charset="-122"/>
              </a:rPr>
              <a:t>[4] Z. Zhang, S. Li, L. Zhang et al., "LLM-LADE: </a:t>
            </a:r>
            <a:r>
              <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Large Language Model-based</a:t>
            </a:r>
            <a:r>
              <a:rPr lang="en-US" altLang="zh-CN" dirty="0">
                <a:latin typeface="微软雅黑" panose="020B0503020204020204" pitchFamily="34" charset="-122"/>
                <a:ea typeface="微软雅黑" panose="020B0503020204020204" pitchFamily="34" charset="-122"/>
              </a:rPr>
              <a:t> Log Anomaly </a:t>
            </a:r>
            <a:r>
              <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Detection</a:t>
            </a:r>
            <a:r>
              <a:rPr lang="en-US" altLang="zh-CN" dirty="0">
                <a:latin typeface="微软雅黑" panose="020B0503020204020204" pitchFamily="34" charset="-122"/>
                <a:ea typeface="微软雅黑" panose="020B0503020204020204" pitchFamily="34" charset="-122"/>
              </a:rPr>
              <a:t> with Explanation," Knowledge-Based Systems, vol. 326, p. 114064, 2025.</a:t>
            </a:r>
          </a:p>
          <a:p>
            <a:pPr algn="just">
              <a:spcBef>
                <a:spcPts val="300"/>
              </a:spcBef>
              <a:spcAft>
                <a:spcPts val="300"/>
              </a:spcAft>
            </a:pPr>
            <a:r>
              <a:rPr lang="en-US" altLang="zh-CN" dirty="0">
                <a:latin typeface="微软雅黑" panose="020B0503020204020204" pitchFamily="34" charset="-122"/>
                <a:ea typeface="微软雅黑" panose="020B0503020204020204" pitchFamily="34" charset="-122"/>
              </a:rPr>
              <a:t>[5] C. Wang, J. Liu, X. Peng et al., "Boosting Static Resource Leak </a:t>
            </a:r>
            <a:r>
              <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Detection</a:t>
            </a:r>
            <a:r>
              <a:rPr lang="en-US" altLang="zh-CN" dirty="0">
                <a:latin typeface="微软雅黑" panose="020B0503020204020204" pitchFamily="34" charset="-122"/>
                <a:ea typeface="微软雅黑" panose="020B0503020204020204" pitchFamily="34" charset="-122"/>
              </a:rPr>
              <a:t> via </a:t>
            </a:r>
            <a:r>
              <a:rPr lang="en-US" altLang="zh-CN" b="1" dirty="0" err="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Llm</a:t>
            </a:r>
            <a:r>
              <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-based</a:t>
            </a:r>
            <a:r>
              <a:rPr lang="en-US" altLang="zh-CN" dirty="0">
                <a:latin typeface="微软雅黑" panose="020B0503020204020204" pitchFamily="34" charset="-122"/>
                <a:ea typeface="微软雅黑" panose="020B0503020204020204" pitchFamily="34" charset="-122"/>
              </a:rPr>
              <a:t> Resource-oriented Intention Inference," in 2025 IEEE/ACM 47th International Conference on Software Engineering (ICSE), IEEE, 2025, pp. 2905-2917.</a:t>
            </a: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9607078F-5DF7-0614-D985-8E981281C4B7}"/>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sz="2400" b="1" dirty="0">
                <a:solidFill>
                  <a:schemeClr val="accent6">
                    <a:lumMod val="10000"/>
                  </a:schemeClr>
                </a:solidFill>
                <a:latin typeface="微软雅黑" panose="020B0503020204020204" pitchFamily="34" charset="-122"/>
                <a:ea typeface="微软雅黑" panose="020B0503020204020204" pitchFamily="34" charset="-122"/>
                <a:sym typeface="+mn-ea"/>
              </a:rPr>
              <a:t> </a:t>
            </a: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参考文献</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91DFB-0AD9-923A-5736-C24F17375FC7}"/>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0A5073A5-827F-8ADD-E47C-67782684B91D}"/>
              </a:ext>
            </a:extLst>
          </p:cNvPr>
          <p:cNvSpPr>
            <a:spLocks noGrp="1"/>
          </p:cNvSpPr>
          <p:nvPr>
            <p:ph type="sldNum" sz="quarter" idx="10"/>
          </p:nvPr>
        </p:nvSpPr>
        <p:spPr/>
        <p:txBody>
          <a:bodyPr/>
          <a:lstStyle/>
          <a:p>
            <a:fld id="{023126B9-07AC-4BAF-B3D7-FAC1D3999DA4}" type="slidenum">
              <a:rPr lang="zh-CN" altLang="en-US" smtClean="0"/>
              <a:t>3</a:t>
            </a:fld>
            <a:endParaRPr lang="zh-CN" altLang="en-US" dirty="0"/>
          </a:p>
        </p:txBody>
      </p:sp>
      <p:sp>
        <p:nvSpPr>
          <p:cNvPr id="15" name="任意多边形 14">
            <a:extLst>
              <a:ext uri="{FF2B5EF4-FFF2-40B4-BE49-F238E27FC236}">
                <a16:creationId xmlns:a16="http://schemas.microsoft.com/office/drawing/2014/main" id="{E13CF2D1-BA7D-2F9A-DBDE-41A68125C024}"/>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3D4F13F1-6B83-7720-A0DD-A73AB09687AE}"/>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5A9DAEE4-53B8-8B93-AF36-3734C12020AB}"/>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sz="2400" b="1" dirty="0">
                <a:solidFill>
                  <a:schemeClr val="accent6">
                    <a:lumMod val="10000"/>
                  </a:schemeClr>
                </a:solidFill>
                <a:latin typeface="微软雅黑" panose="020B0503020204020204" pitchFamily="34" charset="-122"/>
                <a:ea typeface="微软雅黑" panose="020B0503020204020204" pitchFamily="34" charset="-122"/>
                <a:sym typeface="+mn-ea"/>
              </a:rPr>
              <a:t> </a:t>
            </a: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主要用途</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graphicFrame>
        <p:nvGraphicFramePr>
          <p:cNvPr id="2" name="表格 1">
            <a:extLst>
              <a:ext uri="{FF2B5EF4-FFF2-40B4-BE49-F238E27FC236}">
                <a16:creationId xmlns:a16="http://schemas.microsoft.com/office/drawing/2014/main" id="{F3C73748-2821-1373-5397-C23290F11DDB}"/>
              </a:ext>
            </a:extLst>
          </p:cNvPr>
          <p:cNvGraphicFramePr>
            <a:graphicFrameLocks noGrp="1"/>
          </p:cNvGraphicFramePr>
          <p:nvPr>
            <p:extLst>
              <p:ext uri="{D42A27DB-BD31-4B8C-83A1-F6EECF244321}">
                <p14:modId xmlns:p14="http://schemas.microsoft.com/office/powerpoint/2010/main" val="224389961"/>
              </p:ext>
            </p:extLst>
          </p:nvPr>
        </p:nvGraphicFramePr>
        <p:xfrm>
          <a:off x="414290" y="1875367"/>
          <a:ext cx="11363420" cy="3293688"/>
        </p:xfrm>
        <a:graphic>
          <a:graphicData uri="http://schemas.openxmlformats.org/drawingml/2006/table">
            <a:tbl>
              <a:tblPr>
                <a:tableStyleId>{793D81CF-94F2-401A-BA57-92F5A7B2D0C5}</a:tableStyleId>
              </a:tblPr>
              <a:tblGrid>
                <a:gridCol w="2840855">
                  <a:extLst>
                    <a:ext uri="{9D8B030D-6E8A-4147-A177-3AD203B41FA5}">
                      <a16:colId xmlns:a16="http://schemas.microsoft.com/office/drawing/2014/main" val="1799696566"/>
                    </a:ext>
                  </a:extLst>
                </a:gridCol>
                <a:gridCol w="2840855">
                  <a:extLst>
                    <a:ext uri="{9D8B030D-6E8A-4147-A177-3AD203B41FA5}">
                      <a16:colId xmlns:a16="http://schemas.microsoft.com/office/drawing/2014/main" val="550365746"/>
                    </a:ext>
                  </a:extLst>
                </a:gridCol>
                <a:gridCol w="2840855">
                  <a:extLst>
                    <a:ext uri="{9D8B030D-6E8A-4147-A177-3AD203B41FA5}">
                      <a16:colId xmlns:a16="http://schemas.microsoft.com/office/drawing/2014/main" val="237627624"/>
                    </a:ext>
                  </a:extLst>
                </a:gridCol>
                <a:gridCol w="2840855">
                  <a:extLst>
                    <a:ext uri="{9D8B030D-6E8A-4147-A177-3AD203B41FA5}">
                      <a16:colId xmlns:a16="http://schemas.microsoft.com/office/drawing/2014/main" val="4246373103"/>
                    </a:ext>
                  </a:extLst>
                </a:gridCol>
              </a:tblGrid>
              <a:tr h="316461">
                <a:tc>
                  <a:txBody>
                    <a:bodyPr/>
                    <a:lstStyle/>
                    <a:p>
                      <a:pPr algn="ctr">
                        <a:buNone/>
                      </a:pPr>
                      <a:r>
                        <a:rPr lang="zh-CN" altLang="en-US" sz="1800" b="1" dirty="0">
                          <a:effectLst/>
                          <a:latin typeface="微软雅黑" panose="020B0503020204020204" pitchFamily="34" charset="-122"/>
                          <a:ea typeface="微软雅黑" panose="020B0503020204020204" pitchFamily="34" charset="-122"/>
                        </a:rPr>
                        <a:t>功能模块</a:t>
                      </a:r>
                    </a:p>
                  </a:txBody>
                  <a:tcPr marL="85708" marR="85708" marT="39558" marB="39558" anchor="ctr"/>
                </a:tc>
                <a:tc>
                  <a:txBody>
                    <a:bodyPr/>
                    <a:lstStyle/>
                    <a:p>
                      <a:pPr algn="ctr">
                        <a:buNone/>
                      </a:pPr>
                      <a:r>
                        <a:rPr lang="zh-CN" altLang="en-US" sz="1800" b="1" dirty="0">
                          <a:effectLst/>
                          <a:latin typeface="微软雅黑" panose="020B0503020204020204" pitchFamily="34" charset="-122"/>
                          <a:ea typeface="微软雅黑" panose="020B0503020204020204" pitchFamily="34" charset="-122"/>
                        </a:rPr>
                        <a:t>作用描述</a:t>
                      </a:r>
                    </a:p>
                  </a:txBody>
                  <a:tcPr marL="85708" marR="85708" marT="39558" marB="39558" anchor="ctr"/>
                </a:tc>
                <a:tc>
                  <a:txBody>
                    <a:bodyPr/>
                    <a:lstStyle/>
                    <a:p>
                      <a:pPr algn="ctr">
                        <a:buNone/>
                      </a:pPr>
                      <a:r>
                        <a:rPr lang="zh-CN" altLang="en-US" sz="1800" b="1" dirty="0">
                          <a:effectLst/>
                          <a:latin typeface="微软雅黑" panose="020B0503020204020204" pitchFamily="34" charset="-122"/>
                          <a:ea typeface="微软雅黑" panose="020B0503020204020204" pitchFamily="34" charset="-122"/>
                        </a:rPr>
                        <a:t>代表文献</a:t>
                      </a:r>
                    </a:p>
                  </a:txBody>
                  <a:tcPr marL="85708" marR="85708" marT="39558" marB="39558" anchor="ctr"/>
                </a:tc>
                <a:tc>
                  <a:txBody>
                    <a:bodyPr/>
                    <a:lstStyle/>
                    <a:p>
                      <a:pPr algn="ctr">
                        <a:buNone/>
                      </a:pPr>
                      <a:r>
                        <a:rPr lang="zh-CN" altLang="en-US" sz="1800" b="1" dirty="0">
                          <a:effectLst/>
                          <a:latin typeface="微软雅黑" panose="020B0503020204020204" pitchFamily="34" charset="-122"/>
                          <a:ea typeface="微软雅黑" panose="020B0503020204020204" pitchFamily="34" charset="-122"/>
                        </a:rPr>
                        <a:t>关键技术</a:t>
                      </a:r>
                      <a:r>
                        <a:rPr lang="en-US" altLang="zh-CN" sz="1800" b="1" dirty="0">
                          <a:effectLst/>
                          <a:latin typeface="微软雅黑" panose="020B0503020204020204" pitchFamily="34" charset="-122"/>
                          <a:ea typeface="微软雅黑" panose="020B0503020204020204" pitchFamily="34" charset="-122"/>
                        </a:rPr>
                        <a:t>/</a:t>
                      </a:r>
                      <a:r>
                        <a:rPr lang="zh-CN" altLang="en-US" sz="1800" b="1" dirty="0">
                          <a:effectLst/>
                          <a:latin typeface="微软雅黑" panose="020B0503020204020204" pitchFamily="34" charset="-122"/>
                          <a:ea typeface="微软雅黑" panose="020B0503020204020204" pitchFamily="34" charset="-122"/>
                        </a:rPr>
                        <a:t>方法</a:t>
                      </a:r>
                    </a:p>
                  </a:txBody>
                  <a:tcPr marL="85708" marR="85708" marT="39558" marB="39558" anchor="ctr"/>
                </a:tc>
                <a:extLst>
                  <a:ext uri="{0D108BD9-81ED-4DB2-BD59-A6C34878D82A}">
                    <a16:rowId xmlns:a16="http://schemas.microsoft.com/office/drawing/2014/main" val="3066219837"/>
                  </a:ext>
                </a:extLst>
              </a:tr>
              <a:tr h="791152">
                <a:tc>
                  <a:txBody>
                    <a:bodyPr/>
                    <a:lstStyle/>
                    <a:p>
                      <a:pPr algn="ctr">
                        <a:buNone/>
                      </a:pPr>
                      <a:r>
                        <a:rPr lang="en-US" altLang="zh-CN" sz="1600" dirty="0">
                          <a:solidFill>
                            <a:schemeClr val="bg2">
                              <a:lumMod val="10000"/>
                            </a:schemeClr>
                          </a:solidFill>
                          <a:effectLst/>
                          <a:latin typeface="微软雅黑" panose="020B0503020204020204" pitchFamily="34" charset="-122"/>
                          <a:ea typeface="微软雅黑" panose="020B0503020204020204" pitchFamily="34" charset="-122"/>
                        </a:rPr>
                        <a:t>1. </a:t>
                      </a:r>
                      <a:r>
                        <a:rPr lang="zh-CN" altLang="en-US" sz="1600" dirty="0">
                          <a:solidFill>
                            <a:schemeClr val="bg2">
                              <a:lumMod val="10000"/>
                            </a:schemeClr>
                          </a:solidFill>
                          <a:effectLst/>
                          <a:latin typeface="微软雅黑" panose="020B0503020204020204" pitchFamily="34" charset="-122"/>
                          <a:ea typeface="微软雅黑" panose="020B0503020204020204" pitchFamily="34" charset="-122"/>
                        </a:rPr>
                        <a:t>语义理解与特征增强</a:t>
                      </a:r>
                    </a:p>
                  </a:txBody>
                  <a:tcPr marL="85708" marR="85708" marT="39558" marB="39558" anchor="ctr"/>
                </a:tc>
                <a:tc>
                  <a:txBody>
                    <a:bodyPr/>
                    <a:lstStyle/>
                    <a:p>
                      <a:pPr algn="ctr">
                        <a:buNone/>
                      </a:pPr>
                      <a:r>
                        <a:rPr lang="zh-CN" altLang="en-US" sz="1600">
                          <a:solidFill>
                            <a:schemeClr val="bg2">
                              <a:lumMod val="10000"/>
                            </a:schemeClr>
                          </a:solidFill>
                          <a:effectLst/>
                          <a:latin typeface="微软雅黑" panose="020B0503020204020204" pitchFamily="34" charset="-122"/>
                          <a:ea typeface="微软雅黑" panose="020B0503020204020204" pitchFamily="34" charset="-122"/>
                        </a:rPr>
                        <a:t>将原始文本转化为高质量语义向量</a:t>
                      </a:r>
                    </a:p>
                  </a:txBody>
                  <a:tcPr marL="85708" marR="85708" marT="39558" marB="39558" anchor="ctr"/>
                </a:tc>
                <a:tc>
                  <a:txBody>
                    <a:bodyPr/>
                    <a:lstStyle/>
                    <a:p>
                      <a:pPr algn="ctr">
                        <a:buNone/>
                      </a:pPr>
                      <a:r>
                        <a:rPr lang="en-US" altLang="zh-CN" sz="1600" dirty="0">
                          <a:solidFill>
                            <a:schemeClr val="bg2">
                              <a:lumMod val="10000"/>
                            </a:schemeClr>
                          </a:solidFill>
                          <a:effectLst/>
                          <a:latin typeface="微软雅黑" panose="020B0503020204020204" pitchFamily="34" charset="-122"/>
                          <a:ea typeface="微软雅黑" panose="020B0503020204020204" pitchFamily="34" charset="-122"/>
                        </a:rPr>
                        <a:t>2,  4</a:t>
                      </a:r>
                    </a:p>
                  </a:txBody>
                  <a:tcPr marL="85708" marR="85708" marT="39558" marB="39558" anchor="ctr"/>
                </a:tc>
                <a:tc>
                  <a:txBody>
                    <a:bodyPr/>
                    <a:lstStyle/>
                    <a:p>
                      <a:pPr algn="ctr">
                        <a:buNone/>
                      </a:pPr>
                      <a:r>
                        <a:rPr lang="en-US" altLang="zh-CN" sz="1600">
                          <a:solidFill>
                            <a:schemeClr val="bg2">
                              <a:lumMod val="10000"/>
                            </a:schemeClr>
                          </a:solidFill>
                          <a:effectLst/>
                          <a:latin typeface="微软雅黑" panose="020B0503020204020204" pitchFamily="34" charset="-122"/>
                          <a:ea typeface="微软雅黑" panose="020B0503020204020204" pitchFamily="34" charset="-122"/>
                        </a:rPr>
                        <a:t>PLM</a:t>
                      </a:r>
                      <a:r>
                        <a:rPr lang="zh-CN" altLang="en-US" sz="1600">
                          <a:solidFill>
                            <a:schemeClr val="bg2">
                              <a:lumMod val="10000"/>
                            </a:schemeClr>
                          </a:solidFill>
                          <a:effectLst/>
                          <a:latin typeface="微软雅黑" panose="020B0503020204020204" pitchFamily="34" charset="-122"/>
                          <a:ea typeface="微软雅黑" panose="020B0503020204020204" pitchFamily="34" charset="-122"/>
                        </a:rPr>
                        <a:t>嵌入、上下文编码、多模态融合</a:t>
                      </a:r>
                    </a:p>
                  </a:txBody>
                  <a:tcPr marL="85708" marR="85708" marT="39558" marB="39558" anchor="ctr"/>
                </a:tc>
                <a:extLst>
                  <a:ext uri="{0D108BD9-81ED-4DB2-BD59-A6C34878D82A}">
                    <a16:rowId xmlns:a16="http://schemas.microsoft.com/office/drawing/2014/main" val="3908112396"/>
                  </a:ext>
                </a:extLst>
              </a:tr>
              <a:tr h="553807">
                <a:tc>
                  <a:txBody>
                    <a:bodyPr/>
                    <a:lstStyle/>
                    <a:p>
                      <a:pPr algn="ctr">
                        <a:buNone/>
                      </a:pPr>
                      <a:r>
                        <a:rPr lang="en-US" altLang="zh-CN" sz="1600" dirty="0">
                          <a:solidFill>
                            <a:schemeClr val="bg2">
                              <a:lumMod val="10000"/>
                            </a:schemeClr>
                          </a:solidFill>
                          <a:effectLst/>
                          <a:latin typeface="微软雅黑" panose="020B0503020204020204" pitchFamily="34" charset="-122"/>
                          <a:ea typeface="微软雅黑" panose="020B0503020204020204" pitchFamily="34" charset="-122"/>
                        </a:rPr>
                        <a:t>2. </a:t>
                      </a:r>
                      <a:r>
                        <a:rPr lang="zh-CN" altLang="en-US" sz="1600" dirty="0">
                          <a:solidFill>
                            <a:schemeClr val="bg2">
                              <a:lumMod val="10000"/>
                            </a:schemeClr>
                          </a:solidFill>
                          <a:effectLst/>
                          <a:latin typeface="微软雅黑" panose="020B0503020204020204" pitchFamily="34" charset="-122"/>
                          <a:ea typeface="微软雅黑" panose="020B0503020204020204" pitchFamily="34" charset="-122"/>
                        </a:rPr>
                        <a:t>后处理校验与错误修正</a:t>
                      </a:r>
                    </a:p>
                  </a:txBody>
                  <a:tcPr marL="85708" marR="85708" marT="39558" marB="39558" anchor="ctr"/>
                </a:tc>
                <a:tc>
                  <a:txBody>
                    <a:bodyPr/>
                    <a:lstStyle/>
                    <a:p>
                      <a:pPr algn="ctr">
                        <a:buNone/>
                      </a:pPr>
                      <a:r>
                        <a:rPr lang="zh-CN" altLang="en-US" sz="1600" dirty="0">
                          <a:solidFill>
                            <a:schemeClr val="bg2">
                              <a:lumMod val="10000"/>
                            </a:schemeClr>
                          </a:solidFill>
                          <a:effectLst/>
                          <a:latin typeface="微软雅黑" panose="020B0503020204020204" pitchFamily="34" charset="-122"/>
                          <a:ea typeface="微软雅黑" panose="020B0503020204020204" pitchFamily="34" charset="-122"/>
                        </a:rPr>
                        <a:t>修正传统模型输出，提升准确率</a:t>
                      </a:r>
                    </a:p>
                  </a:txBody>
                  <a:tcPr marL="85708" marR="85708" marT="39558" marB="39558" anchor="ctr"/>
                </a:tc>
                <a:tc>
                  <a:txBody>
                    <a:bodyPr/>
                    <a:lstStyle/>
                    <a:p>
                      <a:pPr algn="ctr">
                        <a:buNone/>
                      </a:pPr>
                      <a:r>
                        <a:rPr lang="en-US" altLang="zh-CN" sz="1600" dirty="0">
                          <a:solidFill>
                            <a:schemeClr val="bg2">
                              <a:lumMod val="10000"/>
                            </a:schemeClr>
                          </a:solidFill>
                          <a:effectLst/>
                          <a:latin typeface="微软雅黑" panose="020B0503020204020204" pitchFamily="34" charset="-122"/>
                          <a:ea typeface="微软雅黑" panose="020B0503020204020204" pitchFamily="34" charset="-122"/>
                        </a:rPr>
                        <a:t>1</a:t>
                      </a:r>
                    </a:p>
                  </a:txBody>
                  <a:tcPr marL="85708" marR="85708" marT="39558" marB="39558" anchor="ctr"/>
                </a:tc>
                <a:tc>
                  <a:txBody>
                    <a:bodyPr/>
                    <a:lstStyle/>
                    <a:p>
                      <a:pPr algn="ctr">
                        <a:buNone/>
                      </a:pPr>
                      <a:r>
                        <a:rPr lang="zh-CN" altLang="en-US" sz="1600" dirty="0">
                          <a:solidFill>
                            <a:schemeClr val="bg2">
                              <a:lumMod val="10000"/>
                            </a:schemeClr>
                          </a:solidFill>
                          <a:effectLst/>
                          <a:latin typeface="微软雅黑" panose="020B0503020204020204" pitchFamily="34" charset="-122"/>
                          <a:ea typeface="微软雅黑" panose="020B0503020204020204" pitchFamily="34" charset="-122"/>
                        </a:rPr>
                        <a:t>情感校验、逻辑一致性检查</a:t>
                      </a:r>
                    </a:p>
                  </a:txBody>
                  <a:tcPr marL="85708" marR="85708" marT="39558" marB="39558" anchor="ctr"/>
                </a:tc>
                <a:extLst>
                  <a:ext uri="{0D108BD9-81ED-4DB2-BD59-A6C34878D82A}">
                    <a16:rowId xmlns:a16="http://schemas.microsoft.com/office/drawing/2014/main" val="701298497"/>
                  </a:ext>
                </a:extLst>
              </a:tr>
              <a:tr h="791152">
                <a:tc>
                  <a:txBody>
                    <a:bodyPr/>
                    <a:lstStyle/>
                    <a:p>
                      <a:pPr algn="ctr">
                        <a:buNone/>
                      </a:pPr>
                      <a:r>
                        <a:rPr lang="en-US" altLang="zh-CN" sz="1600" dirty="0">
                          <a:solidFill>
                            <a:schemeClr val="bg2">
                              <a:lumMod val="10000"/>
                            </a:schemeClr>
                          </a:solidFill>
                          <a:effectLst/>
                          <a:latin typeface="微软雅黑" panose="020B0503020204020204" pitchFamily="34" charset="-122"/>
                          <a:ea typeface="微软雅黑" panose="020B0503020204020204" pitchFamily="34" charset="-122"/>
                        </a:rPr>
                        <a:t>3. </a:t>
                      </a:r>
                      <a:r>
                        <a:rPr lang="zh-CN" altLang="en-US" sz="1600" dirty="0">
                          <a:solidFill>
                            <a:schemeClr val="bg2">
                              <a:lumMod val="10000"/>
                            </a:schemeClr>
                          </a:solidFill>
                          <a:effectLst/>
                          <a:latin typeface="微软雅黑" panose="020B0503020204020204" pitchFamily="34" charset="-122"/>
                          <a:ea typeface="微软雅黑" panose="020B0503020204020204" pitchFamily="34" charset="-122"/>
                        </a:rPr>
                        <a:t>逻辑推理与可解释性</a:t>
                      </a:r>
                    </a:p>
                  </a:txBody>
                  <a:tcPr marL="85708" marR="85708" marT="39558" marB="39558" anchor="ctr"/>
                </a:tc>
                <a:tc>
                  <a:txBody>
                    <a:bodyPr/>
                    <a:lstStyle/>
                    <a:p>
                      <a:pPr algn="ctr">
                        <a:buNone/>
                      </a:pPr>
                      <a:r>
                        <a:rPr lang="zh-CN" altLang="en-US" sz="1600" dirty="0">
                          <a:solidFill>
                            <a:schemeClr val="bg2">
                              <a:lumMod val="10000"/>
                            </a:schemeClr>
                          </a:solidFill>
                          <a:effectLst/>
                          <a:latin typeface="微软雅黑" panose="020B0503020204020204" pitchFamily="34" charset="-122"/>
                          <a:ea typeface="微软雅黑" panose="020B0503020204020204" pitchFamily="34" charset="-122"/>
                        </a:rPr>
                        <a:t>生成解释理由，提升透明度</a:t>
                      </a:r>
                    </a:p>
                  </a:txBody>
                  <a:tcPr marL="85708" marR="85708" marT="39558" marB="39558" anchor="ctr"/>
                </a:tc>
                <a:tc>
                  <a:txBody>
                    <a:bodyPr/>
                    <a:lstStyle/>
                    <a:p>
                      <a:pPr algn="ctr">
                        <a:buNone/>
                      </a:pPr>
                      <a:r>
                        <a:rPr lang="en-US" altLang="zh-CN" sz="1600" dirty="0">
                          <a:solidFill>
                            <a:schemeClr val="bg2">
                              <a:lumMod val="10000"/>
                            </a:schemeClr>
                          </a:solidFill>
                          <a:effectLst/>
                          <a:latin typeface="微软雅黑" panose="020B0503020204020204" pitchFamily="34" charset="-122"/>
                          <a:ea typeface="微软雅黑" panose="020B0503020204020204" pitchFamily="34" charset="-122"/>
                        </a:rPr>
                        <a:t>3</a:t>
                      </a:r>
                    </a:p>
                  </a:txBody>
                  <a:tcPr marL="85708" marR="85708" marT="39558" marB="39558" anchor="ctr"/>
                </a:tc>
                <a:tc>
                  <a:txBody>
                    <a:bodyPr/>
                    <a:lstStyle/>
                    <a:p>
                      <a:pPr algn="ctr">
                        <a:buNone/>
                      </a:pPr>
                      <a:r>
                        <a:rPr lang="en-US" sz="1600">
                          <a:solidFill>
                            <a:schemeClr val="bg2">
                              <a:lumMod val="10000"/>
                            </a:schemeClr>
                          </a:solidFill>
                          <a:effectLst/>
                          <a:latin typeface="微软雅黑" panose="020B0503020204020204" pitchFamily="34" charset="-122"/>
                          <a:ea typeface="微软雅黑" panose="020B0503020204020204" pitchFamily="34" charset="-122"/>
                        </a:rPr>
                        <a:t>Rationale</a:t>
                      </a:r>
                      <a:r>
                        <a:rPr lang="zh-CN" altLang="en-US" sz="1600">
                          <a:solidFill>
                            <a:schemeClr val="bg2">
                              <a:lumMod val="10000"/>
                            </a:schemeClr>
                          </a:solidFill>
                          <a:effectLst/>
                          <a:latin typeface="微软雅黑" panose="020B0503020204020204" pitchFamily="34" charset="-122"/>
                          <a:ea typeface="微软雅黑" panose="020B0503020204020204" pitchFamily="34" charset="-122"/>
                        </a:rPr>
                        <a:t>生成、意图结构化、外部知识验证</a:t>
                      </a:r>
                    </a:p>
                  </a:txBody>
                  <a:tcPr marL="85708" marR="85708" marT="39558" marB="39558" anchor="ctr"/>
                </a:tc>
                <a:extLst>
                  <a:ext uri="{0D108BD9-81ED-4DB2-BD59-A6C34878D82A}">
                    <a16:rowId xmlns:a16="http://schemas.microsoft.com/office/drawing/2014/main" val="1626679289"/>
                  </a:ext>
                </a:extLst>
              </a:tr>
              <a:tr h="791152">
                <a:tc>
                  <a:txBody>
                    <a:bodyPr/>
                    <a:lstStyle/>
                    <a:p>
                      <a:pPr algn="ctr">
                        <a:buNone/>
                      </a:pPr>
                      <a:r>
                        <a:rPr lang="en-US" altLang="zh-CN" sz="1600" dirty="0">
                          <a:solidFill>
                            <a:schemeClr val="bg2">
                              <a:lumMod val="10000"/>
                            </a:schemeClr>
                          </a:solidFill>
                          <a:effectLst/>
                          <a:latin typeface="微软雅黑" panose="020B0503020204020204" pitchFamily="34" charset="-122"/>
                          <a:ea typeface="微软雅黑" panose="020B0503020204020204" pitchFamily="34" charset="-122"/>
                        </a:rPr>
                        <a:t>4. </a:t>
                      </a:r>
                      <a:r>
                        <a:rPr lang="zh-CN" altLang="en-US" sz="1600" dirty="0">
                          <a:solidFill>
                            <a:schemeClr val="bg2">
                              <a:lumMod val="10000"/>
                            </a:schemeClr>
                          </a:solidFill>
                          <a:effectLst/>
                          <a:latin typeface="微软雅黑" panose="020B0503020204020204" pitchFamily="34" charset="-122"/>
                          <a:ea typeface="微软雅黑" panose="020B0503020204020204" pitchFamily="34" charset="-122"/>
                        </a:rPr>
                        <a:t>意图推断与知识注入</a:t>
                      </a:r>
                    </a:p>
                  </a:txBody>
                  <a:tcPr marL="85708" marR="85708" marT="39558" marB="39558" anchor="ctr"/>
                </a:tc>
                <a:tc>
                  <a:txBody>
                    <a:bodyPr/>
                    <a:lstStyle/>
                    <a:p>
                      <a:pPr algn="ctr">
                        <a:buNone/>
                      </a:pPr>
                      <a:r>
                        <a:rPr lang="zh-CN" altLang="en-US" sz="1600">
                          <a:solidFill>
                            <a:schemeClr val="bg2">
                              <a:lumMod val="10000"/>
                            </a:schemeClr>
                          </a:solidFill>
                          <a:effectLst/>
                          <a:latin typeface="微软雅黑" panose="020B0503020204020204" pitchFamily="34" charset="-122"/>
                          <a:ea typeface="微软雅黑" panose="020B0503020204020204" pitchFamily="34" charset="-122"/>
                        </a:rPr>
                        <a:t>推断隐含意图，注入领域知识</a:t>
                      </a:r>
                    </a:p>
                  </a:txBody>
                  <a:tcPr marL="85708" marR="85708" marT="39558" marB="39558" anchor="ctr"/>
                </a:tc>
                <a:tc>
                  <a:txBody>
                    <a:bodyPr/>
                    <a:lstStyle/>
                    <a:p>
                      <a:pPr algn="ctr">
                        <a:buNone/>
                      </a:pPr>
                      <a:r>
                        <a:rPr lang="en-US" altLang="zh-CN" sz="1600" dirty="0">
                          <a:solidFill>
                            <a:schemeClr val="bg2">
                              <a:lumMod val="10000"/>
                            </a:schemeClr>
                          </a:solidFill>
                          <a:effectLst/>
                          <a:latin typeface="微软雅黑" panose="020B0503020204020204" pitchFamily="34" charset="-122"/>
                          <a:ea typeface="微软雅黑" panose="020B0503020204020204" pitchFamily="34" charset="-122"/>
                        </a:rPr>
                        <a:t>5</a:t>
                      </a:r>
                    </a:p>
                  </a:txBody>
                  <a:tcPr marL="85708" marR="85708" marT="39558" marB="39558" anchor="ctr"/>
                </a:tc>
                <a:tc>
                  <a:txBody>
                    <a:bodyPr/>
                    <a:lstStyle/>
                    <a:p>
                      <a:pPr algn="ctr">
                        <a:buNone/>
                      </a:pPr>
                      <a:r>
                        <a:rPr lang="en-US" altLang="zh-CN" sz="1600" dirty="0">
                          <a:solidFill>
                            <a:schemeClr val="bg2">
                              <a:lumMod val="10000"/>
                            </a:schemeClr>
                          </a:solidFill>
                          <a:effectLst/>
                          <a:latin typeface="微软雅黑" panose="020B0503020204020204" pitchFamily="34" charset="-122"/>
                          <a:ea typeface="微软雅黑" panose="020B0503020204020204" pitchFamily="34" charset="-122"/>
                        </a:rPr>
                        <a:t>Prompt</a:t>
                      </a:r>
                      <a:r>
                        <a:rPr lang="zh-CN" altLang="en-US" sz="1600" dirty="0">
                          <a:solidFill>
                            <a:schemeClr val="bg2">
                              <a:lumMod val="10000"/>
                            </a:schemeClr>
                          </a:solidFill>
                          <a:effectLst/>
                          <a:latin typeface="微软雅黑" panose="020B0503020204020204" pitchFamily="34" charset="-122"/>
                          <a:ea typeface="微软雅黑" panose="020B0503020204020204" pitchFamily="34" charset="-122"/>
                        </a:rPr>
                        <a:t>工程、</a:t>
                      </a:r>
                      <a:r>
                        <a:rPr lang="en-US" altLang="zh-CN" sz="1600" dirty="0">
                          <a:solidFill>
                            <a:schemeClr val="bg2">
                              <a:lumMod val="10000"/>
                            </a:schemeClr>
                          </a:solidFill>
                          <a:effectLst/>
                          <a:latin typeface="微软雅黑" panose="020B0503020204020204" pitchFamily="34" charset="-122"/>
                          <a:ea typeface="微软雅黑" panose="020B0503020204020204" pitchFamily="34" charset="-122"/>
                        </a:rPr>
                        <a:t>API</a:t>
                      </a:r>
                      <a:r>
                        <a:rPr lang="zh-CN" altLang="en-US" sz="1600" dirty="0">
                          <a:solidFill>
                            <a:schemeClr val="bg2">
                              <a:lumMod val="10000"/>
                            </a:schemeClr>
                          </a:solidFill>
                          <a:effectLst/>
                          <a:latin typeface="微软雅黑" panose="020B0503020204020204" pitchFamily="34" charset="-122"/>
                          <a:ea typeface="微软雅黑" panose="020B0503020204020204" pitchFamily="34" charset="-122"/>
                        </a:rPr>
                        <a:t>意图识别、行为建模</a:t>
                      </a:r>
                    </a:p>
                  </a:txBody>
                  <a:tcPr marL="85708" marR="85708" marT="39558" marB="39558" anchor="ctr"/>
                </a:tc>
                <a:extLst>
                  <a:ext uri="{0D108BD9-81ED-4DB2-BD59-A6C34878D82A}">
                    <a16:rowId xmlns:a16="http://schemas.microsoft.com/office/drawing/2014/main" val="3179100875"/>
                  </a:ext>
                </a:extLst>
              </a:tr>
            </a:tbl>
          </a:graphicData>
        </a:graphic>
      </p:graphicFrame>
    </p:spTree>
    <p:extLst>
      <p:ext uri="{BB962C8B-B14F-4D97-AF65-F5344CB8AC3E}">
        <p14:creationId xmlns:p14="http://schemas.microsoft.com/office/powerpoint/2010/main" val="1802329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0EB6B-4F13-6F8D-5E8D-3A2705E8E974}"/>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AF049EF5-AD32-69F5-B009-C7A7DD1675C9}"/>
              </a:ext>
            </a:extLst>
          </p:cNvPr>
          <p:cNvSpPr>
            <a:spLocks noGrp="1"/>
          </p:cNvSpPr>
          <p:nvPr>
            <p:ph type="sldNum" sz="quarter" idx="10"/>
          </p:nvPr>
        </p:nvSpPr>
        <p:spPr/>
        <p:txBody>
          <a:bodyPr/>
          <a:lstStyle/>
          <a:p>
            <a:fld id="{023126B9-07AC-4BAF-B3D7-FAC1D3999DA4}" type="slidenum">
              <a:rPr lang="zh-CN" altLang="en-US" smtClean="0"/>
              <a:t>4</a:t>
            </a:fld>
            <a:endParaRPr lang="zh-CN" altLang="en-US" dirty="0"/>
          </a:p>
        </p:txBody>
      </p:sp>
      <p:sp>
        <p:nvSpPr>
          <p:cNvPr id="15" name="任意多边形 14">
            <a:extLst>
              <a:ext uri="{FF2B5EF4-FFF2-40B4-BE49-F238E27FC236}">
                <a16:creationId xmlns:a16="http://schemas.microsoft.com/office/drawing/2014/main" id="{0253A83B-214F-7C09-C887-74803D0BF8F3}"/>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A5374C12-1408-5C7C-3322-D1596F88A219}"/>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646ECA83-FF60-346D-63AD-26163C10333F}"/>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语义理解与特征增强</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4" name="文本框 3">
            <a:extLst>
              <a:ext uri="{FF2B5EF4-FFF2-40B4-BE49-F238E27FC236}">
                <a16:creationId xmlns:a16="http://schemas.microsoft.com/office/drawing/2014/main" id="{16B747D8-17A4-353C-540C-23852DFEE126}"/>
              </a:ext>
            </a:extLst>
          </p:cNvPr>
          <p:cNvSpPr txBox="1"/>
          <p:nvPr/>
        </p:nvSpPr>
        <p:spPr>
          <a:xfrm>
            <a:off x="1011862" y="1668357"/>
            <a:ext cx="4862195" cy="3613618"/>
          </a:xfrm>
          <a:prstGeom prst="rect">
            <a:avLst/>
          </a:prstGeom>
          <a:noFill/>
        </p:spPr>
        <p:txBody>
          <a:bodyPr wrap="square">
            <a:spAutoFit/>
          </a:bodyPr>
          <a:lstStyle/>
          <a:p>
            <a:pPr algn="l">
              <a:lnSpc>
                <a:spcPct val="150000"/>
              </a:lnSpc>
              <a:spcBef>
                <a:spcPts val="300"/>
              </a:spcBef>
              <a:spcAft>
                <a:spcPts val="300"/>
              </a:spcAft>
              <a:buNone/>
            </a:pPr>
            <a:r>
              <a:rPr lang="zh-CN" altLang="en-US" sz="2000" b="1" i="0" dirty="0">
                <a:solidFill>
                  <a:srgbClr val="060A26"/>
                </a:solidFill>
                <a:effectLst/>
                <a:latin typeface="微软雅黑" panose="020B0503020204020204" pitchFamily="34" charset="-122"/>
                <a:ea typeface="微软雅黑" panose="020B0503020204020204" pitchFamily="34" charset="-122"/>
              </a:rPr>
              <a:t>语义理解与特征增强 </a:t>
            </a:r>
            <a:r>
              <a:rPr lang="en-US" altLang="zh-CN" sz="2000" b="1" i="0" dirty="0">
                <a:solidFill>
                  <a:srgbClr val="060A26"/>
                </a:solidFill>
                <a:effectLst/>
                <a:latin typeface="微软雅黑" panose="020B0503020204020204" pitchFamily="34" charset="-122"/>
                <a:ea typeface="微软雅黑" panose="020B0503020204020204" pitchFamily="34" charset="-122"/>
              </a:rPr>
              <a:t>(Semantic Understanding)</a:t>
            </a:r>
            <a:endParaRPr lang="zh-CN" altLang="en-US" sz="2000" b="0" i="0" dirty="0">
              <a:solidFill>
                <a:srgbClr val="060A26"/>
              </a:solidFill>
              <a:effectLst/>
              <a:latin typeface="微软雅黑" panose="020B0503020204020204" pitchFamily="34" charset="-122"/>
              <a:ea typeface="微软雅黑" panose="020B0503020204020204" pitchFamily="34" charset="-122"/>
            </a:endParaRPr>
          </a:p>
          <a:p>
            <a:pPr marL="285750" indent="-285750" algn="l">
              <a:lnSpc>
                <a:spcPct val="150000"/>
              </a:lnSpc>
              <a:spcBef>
                <a:spcPts val="300"/>
              </a:spcBef>
              <a:spcAft>
                <a:spcPts val="300"/>
              </a:spcAft>
              <a:buFont typeface="Wingdings" panose="05000000000000000000" pitchFamily="2" charset="2"/>
              <a:buChar char="l"/>
            </a:pPr>
            <a:r>
              <a:rPr lang="zh-CN" altLang="en-US" b="0" i="0" dirty="0">
                <a:solidFill>
                  <a:srgbClr val="060A26"/>
                </a:solidFill>
                <a:effectLst/>
                <a:latin typeface="微软雅黑" panose="020B0503020204020204" pitchFamily="34" charset="-122"/>
                <a:ea typeface="微软雅黑" panose="020B0503020204020204" pitchFamily="34" charset="-122"/>
              </a:rPr>
              <a:t>核心痛点：传统模型（如</a:t>
            </a:r>
            <a:r>
              <a:rPr lang="en-US" altLang="zh-CN" b="0" i="0" dirty="0">
                <a:solidFill>
                  <a:srgbClr val="060A26"/>
                </a:solidFill>
                <a:effectLst/>
                <a:latin typeface="微软雅黑" panose="020B0503020204020204" pitchFamily="34" charset="-122"/>
                <a:ea typeface="微软雅黑" panose="020B0503020204020204" pitchFamily="34" charset="-122"/>
              </a:rPr>
              <a:t>LSTM</a:t>
            </a:r>
            <a:r>
              <a:rPr lang="zh-CN" altLang="en-US" b="0" i="0" dirty="0">
                <a:solidFill>
                  <a:srgbClr val="060A26"/>
                </a:solidFill>
                <a:effectLst/>
                <a:latin typeface="微软雅黑" panose="020B0503020204020204" pitchFamily="34" charset="-122"/>
                <a:ea typeface="微软雅黑" panose="020B0503020204020204" pitchFamily="34" charset="-122"/>
              </a:rPr>
              <a:t>）难以处理短文本、多语言或代码的深层语义。</a:t>
            </a:r>
          </a:p>
          <a:p>
            <a:pPr marL="285750" indent="-285750" algn="l">
              <a:lnSpc>
                <a:spcPct val="150000"/>
              </a:lnSpc>
              <a:spcBef>
                <a:spcPts val="300"/>
              </a:spcBef>
              <a:spcAft>
                <a:spcPts val="300"/>
              </a:spcAft>
              <a:buFont typeface="Wingdings" panose="05000000000000000000" pitchFamily="2" charset="2"/>
              <a:buChar char="l"/>
            </a:pPr>
            <a:r>
              <a:rPr lang="zh-CN" altLang="en-US" b="0" i="0" dirty="0">
                <a:solidFill>
                  <a:srgbClr val="060A26"/>
                </a:solidFill>
                <a:effectLst/>
                <a:latin typeface="微软雅黑" panose="020B0503020204020204" pitchFamily="34" charset="-122"/>
                <a:ea typeface="微软雅黑" panose="020B0503020204020204" pitchFamily="34" charset="-122"/>
              </a:rPr>
              <a:t>解决方案：利用</a:t>
            </a:r>
            <a:r>
              <a:rPr lang="en-US" altLang="zh-CN" b="0" i="0" dirty="0">
                <a:solidFill>
                  <a:srgbClr val="060A26"/>
                </a:solidFill>
                <a:effectLst/>
                <a:latin typeface="微软雅黑" panose="020B0503020204020204" pitchFamily="34" charset="-122"/>
                <a:ea typeface="微软雅黑" panose="020B0503020204020204" pitchFamily="34" charset="-122"/>
              </a:rPr>
              <a:t>LLMs</a:t>
            </a:r>
            <a:r>
              <a:rPr lang="zh-CN" altLang="en-US" b="0" i="0" dirty="0">
                <a:solidFill>
                  <a:srgbClr val="060A26"/>
                </a:solidFill>
                <a:effectLst/>
                <a:latin typeface="微软雅黑" panose="020B0503020204020204" pitchFamily="34" charset="-122"/>
                <a:ea typeface="微软雅黑" panose="020B0503020204020204" pitchFamily="34" charset="-122"/>
              </a:rPr>
              <a:t>（如</a:t>
            </a:r>
            <a:r>
              <a:rPr lang="en-US" altLang="zh-CN" b="0" i="0" dirty="0" err="1">
                <a:solidFill>
                  <a:srgbClr val="060A26"/>
                </a:solidFill>
                <a:effectLst/>
                <a:latin typeface="微软雅黑" panose="020B0503020204020204" pitchFamily="34" charset="-122"/>
                <a:ea typeface="微软雅黑" panose="020B0503020204020204" pitchFamily="34" charset="-122"/>
              </a:rPr>
              <a:t>RoBERTa</a:t>
            </a:r>
            <a:r>
              <a:rPr lang="en-US" altLang="zh-CN" b="0" i="0" dirty="0">
                <a:solidFill>
                  <a:srgbClr val="060A26"/>
                </a:solidFill>
                <a:effectLst/>
                <a:latin typeface="微软雅黑" panose="020B0503020204020204" pitchFamily="34" charset="-122"/>
                <a:ea typeface="微软雅黑" panose="020B0503020204020204" pitchFamily="34" charset="-122"/>
              </a:rPr>
              <a:t>, </a:t>
            </a:r>
            <a:r>
              <a:rPr lang="en-US" altLang="zh-CN" b="0" i="0" dirty="0" err="1">
                <a:solidFill>
                  <a:srgbClr val="060A26"/>
                </a:solidFill>
                <a:effectLst/>
                <a:latin typeface="微软雅黑" panose="020B0503020204020204" pitchFamily="34" charset="-122"/>
                <a:ea typeface="微软雅黑" panose="020B0503020204020204" pitchFamily="34" charset="-122"/>
              </a:rPr>
              <a:t>PaLM</a:t>
            </a:r>
            <a:r>
              <a:rPr lang="en-US" altLang="zh-CN" b="0" i="0" dirty="0">
                <a:solidFill>
                  <a:srgbClr val="060A26"/>
                </a:solidFill>
                <a:effectLst/>
                <a:latin typeface="微软雅黑" panose="020B0503020204020204" pitchFamily="34" charset="-122"/>
                <a:ea typeface="微软雅黑" panose="020B0503020204020204" pitchFamily="34" charset="-122"/>
              </a:rPr>
              <a:t>, T5</a:t>
            </a:r>
            <a:r>
              <a:rPr lang="zh-CN" altLang="en-US" b="0" i="0" dirty="0">
                <a:solidFill>
                  <a:srgbClr val="060A26"/>
                </a:solidFill>
                <a:effectLst/>
                <a:latin typeface="微软雅黑" panose="020B0503020204020204" pitchFamily="34" charset="-122"/>
                <a:ea typeface="微软雅黑" panose="020B0503020204020204" pitchFamily="34" charset="-122"/>
              </a:rPr>
              <a:t>）将原始文本转化为高质量语义向量，提升模型输入质量与特征表达能力，是下游任务性能提升的关键基础。</a:t>
            </a:r>
          </a:p>
        </p:txBody>
      </p:sp>
      <p:pic>
        <p:nvPicPr>
          <p:cNvPr id="6" name="图片 5">
            <a:extLst>
              <a:ext uri="{FF2B5EF4-FFF2-40B4-BE49-F238E27FC236}">
                <a16:creationId xmlns:a16="http://schemas.microsoft.com/office/drawing/2014/main" id="{0075AA14-3458-B245-3EE3-A98FF2BE89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6132" y="1176206"/>
            <a:ext cx="3183277" cy="3967887"/>
          </a:xfrm>
          <a:prstGeom prst="rect">
            <a:avLst/>
          </a:prstGeom>
          <a:effectLst>
            <a:outerShdw blurRad="114300" dist="63500" dir="2700000" sx="103000" sy="103000" algn="tl" rotWithShape="0">
              <a:prstClr val="black">
                <a:alpha val="39000"/>
              </a:prstClr>
            </a:outerShdw>
          </a:effectLst>
        </p:spPr>
      </p:pic>
      <p:sp>
        <p:nvSpPr>
          <p:cNvPr id="9" name="文本框 8">
            <a:extLst>
              <a:ext uri="{FF2B5EF4-FFF2-40B4-BE49-F238E27FC236}">
                <a16:creationId xmlns:a16="http://schemas.microsoft.com/office/drawing/2014/main" id="{47A390CD-519D-065D-BDDF-70D36C1D0106}"/>
              </a:ext>
            </a:extLst>
          </p:cNvPr>
          <p:cNvSpPr txBox="1"/>
          <p:nvPr/>
        </p:nvSpPr>
        <p:spPr>
          <a:xfrm>
            <a:off x="5743853" y="5503054"/>
            <a:ext cx="6107836" cy="923330"/>
          </a:xfrm>
          <a:prstGeom prst="rect">
            <a:avLst/>
          </a:prstGeom>
          <a:noFill/>
        </p:spPr>
        <p:txBody>
          <a:bodyPr wrap="square">
            <a:spAutoFit/>
          </a:bodyPr>
          <a:lstStyle/>
          <a:p>
            <a:pPr algn="ctr"/>
            <a:r>
              <a:rPr lang="zh-CN" altLang="en-US" dirty="0">
                <a:solidFill>
                  <a:schemeClr val="bg2">
                    <a:lumMod val="10000"/>
                  </a:schemeClr>
                </a:solidFill>
                <a:latin typeface="微软雅黑" panose="020B0503020204020204" pitchFamily="34" charset="-122"/>
                <a:ea typeface="微软雅黑" panose="020B0503020204020204" pitchFamily="34" charset="-122"/>
              </a:rPr>
              <a:t>LGB: Language Model and Graph Neural  Network-Driven Social Bot Detection（</a:t>
            </a:r>
            <a:r>
              <a:rPr lang="en-US" altLang="zh-CN" dirty="0">
                <a:solidFill>
                  <a:schemeClr val="bg2">
                    <a:lumMod val="10000"/>
                  </a:schemeClr>
                </a:solidFill>
                <a:latin typeface="微软雅黑" panose="020B0503020204020204" pitchFamily="34" charset="-122"/>
                <a:ea typeface="微软雅黑" panose="020B0503020204020204" pitchFamily="34" charset="-122"/>
              </a:rPr>
              <a:t>TKDE</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CCF-A</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a:p>
            <a:pPr algn="ctr"/>
            <a:r>
              <a:rPr lang="zh-CN" altLang="en-US" dirty="0">
                <a:solidFill>
                  <a:schemeClr val="bg2">
                    <a:lumMod val="10000"/>
                  </a:schemeClr>
                </a:solidFill>
                <a:latin typeface="微软雅黑" panose="020B0503020204020204" pitchFamily="34" charset="-122"/>
                <a:ea typeface="微软雅黑" panose="020B0503020204020204" pitchFamily="34" charset="-122"/>
              </a:rPr>
              <a:t>清华大学，计算机科学与技术系</a:t>
            </a:r>
          </a:p>
        </p:txBody>
      </p:sp>
    </p:spTree>
    <p:extLst>
      <p:ext uri="{BB962C8B-B14F-4D97-AF65-F5344CB8AC3E}">
        <p14:creationId xmlns:p14="http://schemas.microsoft.com/office/powerpoint/2010/main" val="2046623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AD2DA-D781-55D2-4CB9-E1166BEB2758}"/>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7BFCBBC1-FF41-42F5-80A2-8C91CCC42E1D}"/>
              </a:ext>
            </a:extLst>
          </p:cNvPr>
          <p:cNvSpPr>
            <a:spLocks noGrp="1"/>
          </p:cNvSpPr>
          <p:nvPr>
            <p:ph type="sldNum" sz="quarter" idx="10"/>
          </p:nvPr>
        </p:nvSpPr>
        <p:spPr/>
        <p:txBody>
          <a:bodyPr/>
          <a:lstStyle/>
          <a:p>
            <a:fld id="{023126B9-07AC-4BAF-B3D7-FAC1D3999DA4}" type="slidenum">
              <a:rPr lang="zh-CN" altLang="en-US" smtClean="0"/>
              <a:t>5</a:t>
            </a:fld>
            <a:endParaRPr lang="zh-CN" altLang="en-US" dirty="0"/>
          </a:p>
        </p:txBody>
      </p:sp>
      <p:sp>
        <p:nvSpPr>
          <p:cNvPr id="15" name="任意多边形 14">
            <a:extLst>
              <a:ext uri="{FF2B5EF4-FFF2-40B4-BE49-F238E27FC236}">
                <a16:creationId xmlns:a16="http://schemas.microsoft.com/office/drawing/2014/main" id="{C984BBF2-6180-2DC9-8BA7-1CAC99963F3E}"/>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38985760-FE30-A457-9AF5-66E63A8AECD4}"/>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5B15682D-D825-73F7-C8CE-D05BA3D3E20D}"/>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语义理解与特征增强</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4" name="文本框 3">
            <a:extLst>
              <a:ext uri="{FF2B5EF4-FFF2-40B4-BE49-F238E27FC236}">
                <a16:creationId xmlns:a16="http://schemas.microsoft.com/office/drawing/2014/main" id="{8F124FE2-0827-98D2-16C6-AB169628374B}"/>
              </a:ext>
            </a:extLst>
          </p:cNvPr>
          <p:cNvSpPr txBox="1"/>
          <p:nvPr/>
        </p:nvSpPr>
        <p:spPr>
          <a:xfrm>
            <a:off x="908938" y="1536037"/>
            <a:ext cx="10584562" cy="4613892"/>
          </a:xfrm>
          <a:prstGeom prst="rect">
            <a:avLst/>
          </a:prstGeom>
          <a:noFill/>
        </p:spPr>
        <p:txBody>
          <a:bodyPr wrap="square">
            <a:spAutoFit/>
          </a:bodyPr>
          <a:lstStyle/>
          <a:p>
            <a:pPr algn="just">
              <a:lnSpc>
                <a:spcPct val="150000"/>
              </a:lnSpc>
              <a:spcBef>
                <a:spcPts val="300"/>
              </a:spcBef>
              <a:spcAft>
                <a:spcPts val="300"/>
              </a:spcAft>
              <a:buNone/>
            </a:pPr>
            <a:r>
              <a:rPr lang="zh-CN" altLang="en-US" b="1" i="0" dirty="0">
                <a:solidFill>
                  <a:srgbClr val="060A26"/>
                </a:solidFill>
                <a:effectLst/>
                <a:latin typeface="微软雅黑" panose="020B0503020204020204" pitchFamily="34" charset="-122"/>
                <a:ea typeface="微软雅黑" panose="020B0503020204020204" pitchFamily="34" charset="-122"/>
              </a:rPr>
              <a:t>摘要</a:t>
            </a:r>
            <a:r>
              <a:rPr lang="zh-CN" altLang="en-US" i="0" dirty="0">
                <a:solidFill>
                  <a:srgbClr val="060A26"/>
                </a:solidFill>
                <a:effectLst/>
                <a:latin typeface="微软雅黑" panose="020B0503020204020204" pitchFamily="34" charset="-122"/>
                <a:ea typeface="微软雅黑" panose="020B0503020204020204" pitchFamily="34" charset="-122"/>
              </a:rPr>
              <a:t>：恶意社交机器人通过散布虚假信息和煽动社会舆论来实现其恶意目的，严重危害社会安全，使其检测成为至关重要的关注点。近年来，基于图的机器人检测方法已取得了最先进的（</a:t>
            </a:r>
            <a:r>
              <a:rPr lang="en-US" altLang="zh-CN" i="0" dirty="0">
                <a:solidFill>
                  <a:srgbClr val="060A26"/>
                </a:solidFill>
                <a:effectLst/>
                <a:latin typeface="微软雅黑" panose="020B0503020204020204" pitchFamily="34" charset="-122"/>
                <a:ea typeface="微软雅黑" panose="020B0503020204020204" pitchFamily="34" charset="-122"/>
              </a:rPr>
              <a:t>SOTA</a:t>
            </a:r>
            <a:r>
              <a:rPr lang="zh-CN" altLang="en-US" i="0" dirty="0">
                <a:solidFill>
                  <a:srgbClr val="060A26"/>
                </a:solidFill>
                <a:effectLst/>
                <a:latin typeface="微软雅黑" panose="020B0503020204020204" pitchFamily="34" charset="-122"/>
                <a:ea typeface="微软雅黑" panose="020B0503020204020204" pitchFamily="34" charset="-122"/>
              </a:rPr>
              <a:t>）性能。然而，</a:t>
            </a:r>
            <a:r>
              <a:rPr lang="zh-CN" altLang="en-US" b="1" i="0" dirty="0">
                <a:solidFill>
                  <a:srgbClr val="060A26"/>
                </a:solidFill>
                <a:latin typeface="微软雅黑" panose="020B0503020204020204" pitchFamily="34" charset="-122"/>
                <a:ea typeface="微软雅黑" panose="020B0503020204020204" pitchFamily="34" charset="-122"/>
              </a:rPr>
              <a:t>我们的研究发现社交网络中存在许多孤立且链接稀疏的节点（如图</a:t>
            </a:r>
            <a:r>
              <a:rPr lang="en-US" altLang="zh-CN" b="1" i="0" dirty="0">
                <a:solidFill>
                  <a:srgbClr val="060A26"/>
                </a:solidFill>
                <a:latin typeface="微软雅黑" panose="020B0503020204020204" pitchFamily="34" charset="-122"/>
                <a:ea typeface="微软雅黑" panose="020B0503020204020204" pitchFamily="34" charset="-122"/>
              </a:rPr>
              <a:t>1</a:t>
            </a:r>
            <a:r>
              <a:rPr lang="zh-CN" altLang="en-US" b="1" i="0" dirty="0">
                <a:solidFill>
                  <a:srgbClr val="060A26"/>
                </a:solidFill>
                <a:latin typeface="微软雅黑" panose="020B0503020204020204" pitchFamily="34" charset="-122"/>
                <a:ea typeface="微软雅黑" panose="020B0503020204020204" pitchFamily="34" charset="-122"/>
              </a:rPr>
              <a:t>所示），图基方法无法有效检测此类节点</a:t>
            </a:r>
            <a:r>
              <a:rPr lang="zh-CN" altLang="en-US" i="0" dirty="0">
                <a:solidFill>
                  <a:srgbClr val="060A26"/>
                </a:solidFill>
                <a:effectLst/>
                <a:latin typeface="微软雅黑" panose="020B0503020204020204" pitchFamily="34" charset="-122"/>
                <a:ea typeface="微软雅黑" panose="020B0503020204020204" pitchFamily="34" charset="-122"/>
              </a:rPr>
              <a:t>。为解决这一问题，我们的研究侧重于有效利用节点语义和网络结构来共同检测稀疏链接节点。鉴于语言模型（</a:t>
            </a:r>
            <a:r>
              <a:rPr lang="en-US" altLang="zh-CN" i="0" dirty="0">
                <a:solidFill>
                  <a:srgbClr val="060A26"/>
                </a:solidFill>
                <a:effectLst/>
                <a:latin typeface="微软雅黑" panose="020B0503020204020204" pitchFamily="34" charset="-122"/>
                <a:ea typeface="微软雅黑" panose="020B0503020204020204" pitchFamily="34" charset="-122"/>
              </a:rPr>
              <a:t>LM</a:t>
            </a:r>
            <a:r>
              <a:rPr lang="zh-CN" altLang="en-US" i="0" dirty="0">
                <a:solidFill>
                  <a:srgbClr val="060A26"/>
                </a:solidFill>
                <a:effectLst/>
                <a:latin typeface="微软雅黑" panose="020B0503020204020204" pitchFamily="34" charset="-122"/>
                <a:ea typeface="微软雅黑" panose="020B0503020204020204" pitchFamily="34" charset="-122"/>
              </a:rPr>
              <a:t>）在自然语言理解（</a:t>
            </a:r>
            <a:r>
              <a:rPr lang="en-US" altLang="zh-CN" i="0" dirty="0">
                <a:solidFill>
                  <a:srgbClr val="060A26"/>
                </a:solidFill>
                <a:effectLst/>
                <a:latin typeface="微软雅黑" panose="020B0503020204020204" pitchFamily="34" charset="-122"/>
                <a:ea typeface="微软雅黑" panose="020B0503020204020204" pitchFamily="34" charset="-122"/>
              </a:rPr>
              <a:t>NLU</a:t>
            </a:r>
            <a:r>
              <a:rPr lang="zh-CN" altLang="en-US" i="0" dirty="0">
                <a:solidFill>
                  <a:srgbClr val="060A26"/>
                </a:solidFill>
                <a:effectLst/>
                <a:latin typeface="微软雅黑" panose="020B0503020204020204" pitchFamily="34" charset="-122"/>
                <a:ea typeface="微软雅黑" panose="020B0503020204020204" pitchFamily="34" charset="-122"/>
              </a:rPr>
              <a:t>）方面的优异表现，我们提出了一种新颖的社交机器人检测框架 </a:t>
            </a:r>
            <a:r>
              <a:rPr lang="en-US" altLang="zh-CN" i="0" dirty="0">
                <a:solidFill>
                  <a:srgbClr val="060A26"/>
                </a:solidFill>
                <a:effectLst/>
                <a:latin typeface="微软雅黑" panose="020B0503020204020204" pitchFamily="34" charset="-122"/>
                <a:ea typeface="微软雅黑" panose="020B0503020204020204" pitchFamily="34" charset="-122"/>
              </a:rPr>
              <a:t>LGB</a:t>
            </a:r>
            <a:r>
              <a:rPr lang="zh-CN" altLang="en-US" i="0" dirty="0">
                <a:solidFill>
                  <a:srgbClr val="060A26"/>
                </a:solidFill>
                <a:effectLst/>
                <a:latin typeface="微软雅黑" panose="020B0503020204020204" pitchFamily="34" charset="-122"/>
                <a:ea typeface="微软雅黑" panose="020B0503020204020204" pitchFamily="34" charset="-122"/>
              </a:rPr>
              <a:t>，该框架包含两个主要组件：语言模型（</a:t>
            </a:r>
            <a:r>
              <a:rPr lang="en-US" altLang="zh-CN" i="0" dirty="0">
                <a:solidFill>
                  <a:srgbClr val="060A26"/>
                </a:solidFill>
                <a:effectLst/>
                <a:latin typeface="微软雅黑" panose="020B0503020204020204" pitchFamily="34" charset="-122"/>
                <a:ea typeface="微软雅黑" panose="020B0503020204020204" pitchFamily="34" charset="-122"/>
              </a:rPr>
              <a:t>LM</a:t>
            </a:r>
            <a:r>
              <a:rPr lang="zh-CN" altLang="en-US" i="0" dirty="0">
                <a:solidFill>
                  <a:srgbClr val="060A26"/>
                </a:solidFill>
                <a:effectLst/>
                <a:latin typeface="微软雅黑" panose="020B0503020204020204" pitchFamily="34" charset="-122"/>
                <a:ea typeface="微软雅黑" panose="020B0503020204020204" pitchFamily="34" charset="-122"/>
              </a:rPr>
              <a:t>）和图神经网络（</a:t>
            </a:r>
            <a:r>
              <a:rPr lang="en-US" altLang="zh-CN" i="0" dirty="0">
                <a:solidFill>
                  <a:srgbClr val="060A26"/>
                </a:solidFill>
                <a:effectLst/>
                <a:latin typeface="微软雅黑" panose="020B0503020204020204" pitchFamily="34" charset="-122"/>
                <a:ea typeface="微软雅黑" panose="020B0503020204020204" pitchFamily="34" charset="-122"/>
              </a:rPr>
              <a:t>GNN</a:t>
            </a:r>
            <a:r>
              <a:rPr lang="zh-CN" altLang="en-US" i="0" dirty="0">
                <a:solidFill>
                  <a:srgbClr val="060A26"/>
                </a:solidFill>
                <a:effectLst/>
                <a:latin typeface="微软雅黑" panose="020B0503020204020204" pitchFamily="34" charset="-122"/>
                <a:ea typeface="微软雅黑" panose="020B0503020204020204" pitchFamily="34" charset="-122"/>
              </a:rPr>
              <a:t>）。具体而言，</a:t>
            </a:r>
            <a:r>
              <a:rPr lang="zh-CN" altLang="en-US" b="1" i="0" dirty="0">
                <a:solidFill>
                  <a:srgbClr val="060A2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首先将社交账户信息提取为统一的用户文本序列，并以此对语言模型进行监督微调（</a:t>
            </a:r>
            <a:r>
              <a:rPr lang="en-US" altLang="zh-CN" b="1" i="0" dirty="0">
                <a:solidFill>
                  <a:srgbClr val="060A2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SFT</a:t>
            </a:r>
            <a:r>
              <a:rPr lang="zh-CN" altLang="en-US" b="1" i="0" dirty="0">
                <a:solidFill>
                  <a:srgbClr val="060A2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），以提升其理解社交账户语义的能力。</a:t>
            </a:r>
            <a:r>
              <a:rPr lang="zh-CN" altLang="en-US" i="0" dirty="0">
                <a:solidFill>
                  <a:srgbClr val="060A26"/>
                </a:solidFill>
                <a:effectLst/>
                <a:latin typeface="微软雅黑" panose="020B0503020204020204" pitchFamily="34" charset="-122"/>
                <a:ea typeface="微软雅黑" panose="020B0503020204020204" pitchFamily="34" charset="-122"/>
              </a:rPr>
              <a:t>接着，将语义丰富的节点表示输入预训练的 </a:t>
            </a:r>
            <a:r>
              <a:rPr lang="en-US" altLang="zh-CN" i="0" dirty="0">
                <a:solidFill>
                  <a:srgbClr val="060A26"/>
                </a:solidFill>
                <a:effectLst/>
                <a:latin typeface="微软雅黑" panose="020B0503020204020204" pitchFamily="34" charset="-122"/>
                <a:ea typeface="微软雅黑" panose="020B0503020204020204" pitchFamily="34" charset="-122"/>
              </a:rPr>
              <a:t>GNN </a:t>
            </a:r>
            <a:r>
              <a:rPr lang="zh-CN" altLang="en-US" i="0" dirty="0">
                <a:solidFill>
                  <a:srgbClr val="060A26"/>
                </a:solidFill>
                <a:effectLst/>
                <a:latin typeface="微软雅黑" panose="020B0503020204020204" pitchFamily="34" charset="-122"/>
                <a:ea typeface="微软雅黑" panose="020B0503020204020204" pitchFamily="34" charset="-122"/>
              </a:rPr>
              <a:t>中，通过聚合邻居信息进一步增强节点表示。最后，</a:t>
            </a:r>
            <a:r>
              <a:rPr lang="en-US" altLang="zh-CN" i="0" dirty="0">
                <a:solidFill>
                  <a:srgbClr val="060A26"/>
                </a:solidFill>
                <a:effectLst/>
                <a:latin typeface="微软雅黑" panose="020B0503020204020204" pitchFamily="34" charset="-122"/>
                <a:ea typeface="微软雅黑" panose="020B0503020204020204" pitchFamily="34" charset="-122"/>
              </a:rPr>
              <a:t>LGB </a:t>
            </a:r>
            <a:r>
              <a:rPr lang="zh-CN" altLang="en-US" i="0" dirty="0">
                <a:solidFill>
                  <a:srgbClr val="060A26"/>
                </a:solidFill>
                <a:effectLst/>
                <a:latin typeface="微软雅黑" panose="020B0503020204020204" pitchFamily="34" charset="-122"/>
                <a:ea typeface="微软雅黑" panose="020B0503020204020204" pitchFamily="34" charset="-122"/>
              </a:rPr>
              <a:t>融合这两种模态的信息以提升稀疏链接节点的检测性能。在两个真实世界数据集上的大量实验证明，</a:t>
            </a:r>
            <a:r>
              <a:rPr lang="en-US" altLang="zh-CN" i="0" dirty="0">
                <a:solidFill>
                  <a:srgbClr val="060A26"/>
                </a:solidFill>
                <a:effectLst/>
                <a:latin typeface="微软雅黑" panose="020B0503020204020204" pitchFamily="34" charset="-122"/>
                <a:ea typeface="微软雅黑" panose="020B0503020204020204" pitchFamily="34" charset="-122"/>
              </a:rPr>
              <a:t>LGB </a:t>
            </a:r>
            <a:r>
              <a:rPr lang="zh-CN" altLang="en-US" i="0" dirty="0">
                <a:solidFill>
                  <a:srgbClr val="060A26"/>
                </a:solidFill>
                <a:effectLst/>
                <a:latin typeface="微软雅黑" panose="020B0503020204020204" pitchFamily="34" charset="-122"/>
                <a:ea typeface="微软雅黑" panose="020B0503020204020204" pitchFamily="34" charset="-122"/>
              </a:rPr>
              <a:t>始终优于最先进的基线模型，最高提升达 </a:t>
            </a:r>
            <a:r>
              <a:rPr lang="en-US" altLang="zh-CN" i="0" dirty="0">
                <a:solidFill>
                  <a:srgbClr val="060A26"/>
                </a:solidFill>
                <a:effectLst/>
                <a:latin typeface="微软雅黑" panose="020B0503020204020204" pitchFamily="34" charset="-122"/>
                <a:ea typeface="微软雅黑" panose="020B0503020204020204" pitchFamily="34" charset="-122"/>
              </a:rPr>
              <a:t>10.95%</a:t>
            </a:r>
            <a:r>
              <a:rPr lang="zh-CN" altLang="en-US" i="0" dirty="0">
                <a:solidFill>
                  <a:srgbClr val="060A26"/>
                </a:solidFill>
                <a:effectLst/>
                <a:latin typeface="微软雅黑" panose="020B0503020204020204" pitchFamily="34" charset="-122"/>
                <a:ea typeface="微软雅黑" panose="020B0503020204020204" pitchFamily="34" charset="-122"/>
              </a:rPr>
              <a:t>。</a:t>
            </a:r>
            <a:r>
              <a:rPr lang="en-US" altLang="zh-CN" i="0" dirty="0">
                <a:solidFill>
                  <a:srgbClr val="060A26"/>
                </a:solidFill>
                <a:effectLst/>
                <a:latin typeface="微软雅黑" panose="020B0503020204020204" pitchFamily="34" charset="-122"/>
                <a:ea typeface="微软雅黑" panose="020B0503020204020204" pitchFamily="34" charset="-122"/>
              </a:rPr>
              <a:t>LGB </a:t>
            </a:r>
            <a:r>
              <a:rPr lang="zh-CN" altLang="en-US" i="0" dirty="0">
                <a:solidFill>
                  <a:srgbClr val="060A26"/>
                </a:solidFill>
                <a:effectLst/>
                <a:latin typeface="微软雅黑" panose="020B0503020204020204" pitchFamily="34" charset="-122"/>
                <a:ea typeface="微软雅黑" panose="020B0503020204020204" pitchFamily="34" charset="-122"/>
              </a:rPr>
              <a:t>已上线：</a:t>
            </a:r>
            <a:r>
              <a:rPr lang="en-US" altLang="zh-CN" i="0" dirty="0">
                <a:solidFill>
                  <a:srgbClr val="060A26"/>
                </a:solidFill>
                <a:effectLst/>
                <a:latin typeface="微软雅黑" panose="020B0503020204020204" pitchFamily="34" charset="-122"/>
                <a:ea typeface="微软雅黑" panose="020B0503020204020204" pitchFamily="34" charset="-122"/>
              </a:rPr>
              <a:t>https://botdetection.aminer.cn/robotmain.</a:t>
            </a:r>
            <a:endParaRPr lang="zh-CN" altLang="en-US" i="0" dirty="0">
              <a:solidFill>
                <a:srgbClr val="060A26"/>
              </a:solidFill>
              <a:effectLst/>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46F3F462-B1EE-D180-613D-0F45FEBC2DB9}"/>
              </a:ext>
            </a:extLst>
          </p:cNvPr>
          <p:cNvSpPr txBox="1"/>
          <p:nvPr/>
        </p:nvSpPr>
        <p:spPr>
          <a:xfrm>
            <a:off x="908938" y="1157895"/>
            <a:ext cx="10584562" cy="369332"/>
          </a:xfrm>
          <a:prstGeom prst="rect">
            <a:avLst/>
          </a:prstGeom>
          <a:noFill/>
        </p:spPr>
        <p:txBody>
          <a:bodyPr wrap="square">
            <a:spAutoFit/>
          </a:bodyPr>
          <a:lstStyle/>
          <a:p>
            <a:pPr algn="ctr"/>
            <a:r>
              <a:rPr lang="zh-CN" altLang="en-US" dirty="0">
                <a:solidFill>
                  <a:schemeClr val="bg2">
                    <a:lumMod val="10000"/>
                  </a:schemeClr>
                </a:solidFill>
                <a:latin typeface="微软雅黑" panose="020B0503020204020204" pitchFamily="34" charset="-122"/>
                <a:ea typeface="微软雅黑" panose="020B0503020204020204" pitchFamily="34" charset="-122"/>
              </a:rPr>
              <a:t>LGB: Language Model and Graph Neural  Network-Driven Social Bot Detection（</a:t>
            </a:r>
            <a:r>
              <a:rPr lang="en-US" altLang="zh-CN" dirty="0">
                <a:solidFill>
                  <a:schemeClr val="bg2">
                    <a:lumMod val="10000"/>
                  </a:schemeClr>
                </a:solidFill>
                <a:latin typeface="微软雅黑" panose="020B0503020204020204" pitchFamily="34" charset="-122"/>
                <a:ea typeface="微软雅黑" panose="020B0503020204020204" pitchFamily="34" charset="-122"/>
              </a:rPr>
              <a:t>TKDE</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CCF-A</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139977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7D273-340A-6094-69C5-98E9DE1E967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76B4B50-A0BB-76A7-8E0B-26ADDA78C5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2675" y="1527227"/>
            <a:ext cx="8806649" cy="4710954"/>
          </a:xfrm>
          <a:prstGeom prst="rect">
            <a:avLst/>
          </a:prstGeom>
        </p:spPr>
      </p:pic>
      <p:sp>
        <p:nvSpPr>
          <p:cNvPr id="13" name="灯片编号占位符 12">
            <a:extLst>
              <a:ext uri="{FF2B5EF4-FFF2-40B4-BE49-F238E27FC236}">
                <a16:creationId xmlns:a16="http://schemas.microsoft.com/office/drawing/2014/main" id="{BB0A4A67-B5C3-D6D2-C064-DC9F34191631}"/>
              </a:ext>
            </a:extLst>
          </p:cNvPr>
          <p:cNvSpPr>
            <a:spLocks noGrp="1"/>
          </p:cNvSpPr>
          <p:nvPr>
            <p:ph type="sldNum" sz="quarter" idx="10"/>
          </p:nvPr>
        </p:nvSpPr>
        <p:spPr/>
        <p:txBody>
          <a:bodyPr/>
          <a:lstStyle/>
          <a:p>
            <a:fld id="{023126B9-07AC-4BAF-B3D7-FAC1D3999DA4}" type="slidenum">
              <a:rPr lang="zh-CN" altLang="en-US" smtClean="0"/>
              <a:t>6</a:t>
            </a:fld>
            <a:endParaRPr lang="zh-CN" altLang="en-US" dirty="0"/>
          </a:p>
        </p:txBody>
      </p:sp>
      <p:sp>
        <p:nvSpPr>
          <p:cNvPr id="15" name="任意多边形 14">
            <a:extLst>
              <a:ext uri="{FF2B5EF4-FFF2-40B4-BE49-F238E27FC236}">
                <a16:creationId xmlns:a16="http://schemas.microsoft.com/office/drawing/2014/main" id="{F39566FF-05A7-0B8B-E23B-5455C7089A31}"/>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9212E3A9-1E2D-CF74-B7B9-AFFB7F226848}"/>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86C21A70-CF39-631B-6C14-AE72B0344C82}"/>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语义理解与特征增强</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9" name="文本框 8">
            <a:extLst>
              <a:ext uri="{FF2B5EF4-FFF2-40B4-BE49-F238E27FC236}">
                <a16:creationId xmlns:a16="http://schemas.microsoft.com/office/drawing/2014/main" id="{67FE9F48-617D-C4F7-8889-F67D0AB13B8E}"/>
              </a:ext>
            </a:extLst>
          </p:cNvPr>
          <p:cNvSpPr txBox="1"/>
          <p:nvPr/>
        </p:nvSpPr>
        <p:spPr>
          <a:xfrm>
            <a:off x="908938" y="1157895"/>
            <a:ext cx="10584562" cy="369332"/>
          </a:xfrm>
          <a:prstGeom prst="rect">
            <a:avLst/>
          </a:prstGeom>
          <a:noFill/>
        </p:spPr>
        <p:txBody>
          <a:bodyPr wrap="square">
            <a:spAutoFit/>
          </a:bodyPr>
          <a:lstStyle/>
          <a:p>
            <a:pPr algn="ctr"/>
            <a:r>
              <a:rPr lang="zh-CN" altLang="en-US" dirty="0">
                <a:solidFill>
                  <a:schemeClr val="bg2">
                    <a:lumMod val="10000"/>
                  </a:schemeClr>
                </a:solidFill>
                <a:latin typeface="微软雅黑" panose="020B0503020204020204" pitchFamily="34" charset="-122"/>
                <a:ea typeface="微软雅黑" panose="020B0503020204020204" pitchFamily="34" charset="-122"/>
              </a:rPr>
              <a:t>LGB: Language Model and Graph Neural  Network-Driven Social Bot Detection（</a:t>
            </a:r>
            <a:r>
              <a:rPr lang="en-US" altLang="zh-CN" dirty="0">
                <a:solidFill>
                  <a:schemeClr val="bg2">
                    <a:lumMod val="10000"/>
                  </a:schemeClr>
                </a:solidFill>
                <a:latin typeface="微软雅黑" panose="020B0503020204020204" pitchFamily="34" charset="-122"/>
                <a:ea typeface="微软雅黑" panose="020B0503020204020204" pitchFamily="34" charset="-122"/>
              </a:rPr>
              <a:t>TKDE</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CC- A</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p>
        </p:txBody>
      </p:sp>
      <p:sp>
        <p:nvSpPr>
          <p:cNvPr id="5" name="矩形 4">
            <a:extLst>
              <a:ext uri="{FF2B5EF4-FFF2-40B4-BE49-F238E27FC236}">
                <a16:creationId xmlns:a16="http://schemas.microsoft.com/office/drawing/2014/main" id="{EA145BFB-425C-CC8E-3BAE-67BE3D67AB74}"/>
              </a:ext>
            </a:extLst>
          </p:cNvPr>
          <p:cNvSpPr/>
          <p:nvPr/>
        </p:nvSpPr>
        <p:spPr>
          <a:xfrm>
            <a:off x="1997476" y="1890944"/>
            <a:ext cx="3080551" cy="1757778"/>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078198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573FC-D67A-A081-3B02-A07FBC26919B}"/>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098F30CA-1DC6-5BEB-2500-49B30C82EB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938" y="1682257"/>
            <a:ext cx="4182083" cy="4674093"/>
          </a:xfrm>
          <a:prstGeom prst="rect">
            <a:avLst/>
          </a:prstGeom>
        </p:spPr>
      </p:pic>
      <p:sp>
        <p:nvSpPr>
          <p:cNvPr id="13" name="灯片编号占位符 12">
            <a:extLst>
              <a:ext uri="{FF2B5EF4-FFF2-40B4-BE49-F238E27FC236}">
                <a16:creationId xmlns:a16="http://schemas.microsoft.com/office/drawing/2014/main" id="{7447C77B-4BC0-37BC-F0B1-0D97B897B048}"/>
              </a:ext>
            </a:extLst>
          </p:cNvPr>
          <p:cNvSpPr>
            <a:spLocks noGrp="1"/>
          </p:cNvSpPr>
          <p:nvPr>
            <p:ph type="sldNum" sz="quarter" idx="10"/>
          </p:nvPr>
        </p:nvSpPr>
        <p:spPr/>
        <p:txBody>
          <a:bodyPr/>
          <a:lstStyle/>
          <a:p>
            <a:fld id="{023126B9-07AC-4BAF-B3D7-FAC1D3999DA4}" type="slidenum">
              <a:rPr lang="zh-CN" altLang="en-US" smtClean="0"/>
              <a:t>7</a:t>
            </a:fld>
            <a:endParaRPr lang="zh-CN" altLang="en-US" dirty="0"/>
          </a:p>
        </p:txBody>
      </p:sp>
      <p:sp>
        <p:nvSpPr>
          <p:cNvPr id="15" name="任意多边形 14">
            <a:extLst>
              <a:ext uri="{FF2B5EF4-FFF2-40B4-BE49-F238E27FC236}">
                <a16:creationId xmlns:a16="http://schemas.microsoft.com/office/drawing/2014/main" id="{CA1F0F0A-0131-7C6E-2F40-BA18B6E83442}"/>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6BCCAA2E-7152-60D8-2DE6-170C703420ED}"/>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2BAD462B-8C54-5B08-8541-37DF41E570CA}"/>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语义理解与特征增强</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9" name="文本框 8">
            <a:extLst>
              <a:ext uri="{FF2B5EF4-FFF2-40B4-BE49-F238E27FC236}">
                <a16:creationId xmlns:a16="http://schemas.microsoft.com/office/drawing/2014/main" id="{7616B9C7-A14E-6E0C-34E0-AD9ACDB2A72F}"/>
              </a:ext>
            </a:extLst>
          </p:cNvPr>
          <p:cNvSpPr txBox="1"/>
          <p:nvPr/>
        </p:nvSpPr>
        <p:spPr>
          <a:xfrm>
            <a:off x="908938" y="1157895"/>
            <a:ext cx="10584562" cy="369332"/>
          </a:xfrm>
          <a:prstGeom prst="rect">
            <a:avLst/>
          </a:prstGeom>
          <a:noFill/>
        </p:spPr>
        <p:txBody>
          <a:bodyPr wrap="square">
            <a:spAutoFit/>
          </a:bodyPr>
          <a:lstStyle/>
          <a:p>
            <a:pPr algn="ctr"/>
            <a:r>
              <a:rPr lang="zh-CN" altLang="en-US" dirty="0">
                <a:solidFill>
                  <a:schemeClr val="bg2">
                    <a:lumMod val="10000"/>
                  </a:schemeClr>
                </a:solidFill>
                <a:latin typeface="微软雅黑" panose="020B0503020204020204" pitchFamily="34" charset="-122"/>
                <a:ea typeface="微软雅黑" panose="020B0503020204020204" pitchFamily="34" charset="-122"/>
              </a:rPr>
              <a:t>LGB: Language Model and Graph Neural  Network-Driven Social Bot Detection（</a:t>
            </a:r>
            <a:r>
              <a:rPr lang="en-US" altLang="zh-CN" dirty="0">
                <a:solidFill>
                  <a:schemeClr val="bg2">
                    <a:lumMod val="10000"/>
                  </a:schemeClr>
                </a:solidFill>
                <a:latin typeface="微软雅黑" panose="020B0503020204020204" pitchFamily="34" charset="-122"/>
                <a:ea typeface="微软雅黑" panose="020B0503020204020204" pitchFamily="34" charset="-122"/>
              </a:rPr>
              <a:t>TKDE</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CCF-A</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p>
        </p:txBody>
      </p:sp>
      <p:sp>
        <p:nvSpPr>
          <p:cNvPr id="17" name="文本框 16">
            <a:extLst>
              <a:ext uri="{FF2B5EF4-FFF2-40B4-BE49-F238E27FC236}">
                <a16:creationId xmlns:a16="http://schemas.microsoft.com/office/drawing/2014/main" id="{2F4474B2-023E-FCBB-9B5B-CDBD474A0C21}"/>
              </a:ext>
            </a:extLst>
          </p:cNvPr>
          <p:cNvSpPr txBox="1"/>
          <p:nvPr/>
        </p:nvSpPr>
        <p:spPr>
          <a:xfrm>
            <a:off x="5202314" y="1882020"/>
            <a:ext cx="6291186" cy="4324261"/>
          </a:xfrm>
          <a:prstGeom prst="rect">
            <a:avLst/>
          </a:prstGeom>
          <a:noFill/>
        </p:spPr>
        <p:txBody>
          <a:bodyPr wrap="square">
            <a:spAutoFit/>
          </a:bodyPr>
          <a:lstStyle/>
          <a:p>
            <a:pPr algn="just">
              <a:spcBef>
                <a:spcPts val="300"/>
              </a:spcBef>
              <a:spcAft>
                <a:spcPts val="300"/>
              </a:spcAft>
            </a:pPr>
            <a:r>
              <a:rPr lang="en-US" altLang="zh-CN" b="1" dirty="0">
                <a:solidFill>
                  <a:srgbClr val="060A26"/>
                </a:solidFill>
                <a:latin typeface="微软雅黑" panose="020B0503020204020204" pitchFamily="34" charset="-122"/>
                <a:ea typeface="微软雅黑" panose="020B0503020204020204" pitchFamily="34" charset="-122"/>
              </a:rPr>
              <a:t>Ablation Study</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w/o LM Supervised Fine-tuning (SFT)</a:t>
            </a:r>
            <a:r>
              <a:rPr lang="zh-CN" altLang="en-US" sz="1600" i="0" dirty="0">
                <a:solidFill>
                  <a:srgbClr val="060A26"/>
                </a:solidFill>
                <a:effectLst/>
                <a:latin typeface="微软雅黑" panose="020B0503020204020204" pitchFamily="34" charset="-122"/>
                <a:ea typeface="微软雅黑" panose="020B0503020204020204" pitchFamily="34" charset="-122"/>
              </a:rPr>
              <a:t>：在 </a:t>
            </a:r>
            <a:r>
              <a:rPr lang="en-US" altLang="zh-CN" sz="1600" i="0" dirty="0">
                <a:solidFill>
                  <a:srgbClr val="060A26"/>
                </a:solidFill>
                <a:effectLst/>
                <a:latin typeface="微软雅黑" panose="020B0503020204020204" pitchFamily="34" charset="-122"/>
                <a:ea typeface="微软雅黑" panose="020B0503020204020204" pitchFamily="34" charset="-122"/>
              </a:rPr>
              <a:t>LGB </a:t>
            </a:r>
            <a:r>
              <a:rPr lang="zh-CN" altLang="en-US" sz="1600" i="0" dirty="0">
                <a:solidFill>
                  <a:srgbClr val="060A26"/>
                </a:solidFill>
                <a:effectLst/>
                <a:latin typeface="微软雅黑" panose="020B0503020204020204" pitchFamily="34" charset="-122"/>
                <a:ea typeface="微软雅黑" panose="020B0503020204020204" pitchFamily="34" charset="-122"/>
              </a:rPr>
              <a:t>训练过程中，不使用语言模型进行监督微调以适配社交机器人检测任务。</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w/o GNN Fine-tuning</a:t>
            </a:r>
            <a:r>
              <a:rPr lang="zh-CN" altLang="en-US" sz="1600" i="0" dirty="0">
                <a:solidFill>
                  <a:srgbClr val="060A26"/>
                </a:solidFill>
                <a:effectLst/>
                <a:latin typeface="微软雅黑" panose="020B0503020204020204" pitchFamily="34" charset="-122"/>
                <a:ea typeface="微软雅黑" panose="020B0503020204020204" pitchFamily="34" charset="-122"/>
              </a:rPr>
              <a:t>：在 </a:t>
            </a:r>
            <a:r>
              <a:rPr lang="en-US" altLang="zh-CN" sz="1600" i="0" dirty="0">
                <a:solidFill>
                  <a:srgbClr val="060A26"/>
                </a:solidFill>
                <a:effectLst/>
                <a:latin typeface="微软雅黑" panose="020B0503020204020204" pitchFamily="34" charset="-122"/>
                <a:ea typeface="微软雅黑" panose="020B0503020204020204" pitchFamily="34" charset="-122"/>
              </a:rPr>
              <a:t>LGB </a:t>
            </a:r>
            <a:r>
              <a:rPr lang="zh-CN" altLang="en-US" sz="1600" i="0" dirty="0">
                <a:solidFill>
                  <a:srgbClr val="060A26"/>
                </a:solidFill>
                <a:effectLst/>
                <a:latin typeface="微软雅黑" panose="020B0503020204020204" pitchFamily="34" charset="-122"/>
                <a:ea typeface="微软雅黑" panose="020B0503020204020204" pitchFamily="34" charset="-122"/>
              </a:rPr>
              <a:t>训练过程中，移除对图神经网络的微调操作。</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w/o GNN Pre-training</a:t>
            </a:r>
            <a:r>
              <a:rPr lang="zh-CN" altLang="en-US" sz="1600" i="0" dirty="0">
                <a:solidFill>
                  <a:srgbClr val="060A26"/>
                </a:solidFill>
                <a:effectLst/>
                <a:latin typeface="微软雅黑" panose="020B0503020204020204" pitchFamily="34" charset="-122"/>
                <a:ea typeface="微软雅黑" panose="020B0503020204020204" pitchFamily="34" charset="-122"/>
              </a:rPr>
              <a:t>：在 </a:t>
            </a:r>
            <a:r>
              <a:rPr lang="en-US" altLang="zh-CN" sz="1600" i="0" dirty="0">
                <a:solidFill>
                  <a:srgbClr val="060A26"/>
                </a:solidFill>
                <a:effectLst/>
                <a:latin typeface="微软雅黑" panose="020B0503020204020204" pitchFamily="34" charset="-122"/>
                <a:ea typeface="微软雅黑" panose="020B0503020204020204" pitchFamily="34" charset="-122"/>
              </a:rPr>
              <a:t>LGB </a:t>
            </a:r>
            <a:r>
              <a:rPr lang="zh-CN" altLang="en-US" sz="1600" i="0" dirty="0">
                <a:solidFill>
                  <a:srgbClr val="060A26"/>
                </a:solidFill>
                <a:effectLst/>
                <a:latin typeface="微软雅黑" panose="020B0503020204020204" pitchFamily="34" charset="-122"/>
                <a:ea typeface="微软雅黑" panose="020B0503020204020204" pitchFamily="34" charset="-122"/>
              </a:rPr>
              <a:t>训练过程中，移除图神经网络的预训练操作。</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w/o </a:t>
            </a:r>
            <a:r>
              <a:rPr lang="en-US" altLang="zh-CN" sz="1600" i="0" dirty="0" err="1">
                <a:solidFill>
                  <a:srgbClr val="060A26"/>
                </a:solidFill>
                <a:effectLst/>
                <a:latin typeface="微软雅黑" panose="020B0503020204020204" pitchFamily="34" charset="-122"/>
                <a:ea typeface="微软雅黑" panose="020B0503020204020204" pitchFamily="34" charset="-122"/>
              </a:rPr>
              <a:t>Concat</a:t>
            </a:r>
            <a:r>
              <a:rPr lang="zh-CN" altLang="en-US" sz="1600" i="0" dirty="0">
                <a:solidFill>
                  <a:srgbClr val="060A26"/>
                </a:solidFill>
                <a:effectLst/>
                <a:latin typeface="微软雅黑" panose="020B0503020204020204" pitchFamily="34" charset="-122"/>
                <a:ea typeface="微软雅黑" panose="020B0503020204020204" pitchFamily="34" charset="-122"/>
              </a:rPr>
              <a:t>：在 </a:t>
            </a:r>
            <a:r>
              <a:rPr lang="en-US" altLang="zh-CN" sz="1600" i="0" dirty="0">
                <a:solidFill>
                  <a:srgbClr val="060A26"/>
                </a:solidFill>
                <a:effectLst/>
                <a:latin typeface="微软雅黑" panose="020B0503020204020204" pitchFamily="34" charset="-122"/>
                <a:ea typeface="微软雅黑" panose="020B0503020204020204" pitchFamily="34" charset="-122"/>
              </a:rPr>
              <a:t>LGB </a:t>
            </a:r>
            <a:r>
              <a:rPr lang="zh-CN" altLang="en-US" sz="1600" i="0" dirty="0">
                <a:solidFill>
                  <a:srgbClr val="060A26"/>
                </a:solidFill>
                <a:effectLst/>
                <a:latin typeface="微软雅黑" panose="020B0503020204020204" pitchFamily="34" charset="-122"/>
                <a:ea typeface="微软雅黑" panose="020B0503020204020204" pitchFamily="34" charset="-122"/>
              </a:rPr>
              <a:t>训练过程中，不使用拼接操作来融合语义信息和网络结构信息。</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w/ Average</a:t>
            </a:r>
            <a:r>
              <a:rPr lang="zh-CN" altLang="en-US" sz="1600" i="0" dirty="0">
                <a:solidFill>
                  <a:srgbClr val="060A26"/>
                </a:solidFill>
                <a:effectLst/>
                <a:latin typeface="微软雅黑" panose="020B0503020204020204" pitchFamily="34" charset="-122"/>
                <a:ea typeface="微软雅黑" panose="020B0503020204020204" pitchFamily="34" charset="-122"/>
              </a:rPr>
              <a:t>：在 </a:t>
            </a:r>
            <a:r>
              <a:rPr lang="en-US" altLang="zh-CN" sz="1600" i="0" dirty="0">
                <a:solidFill>
                  <a:srgbClr val="060A26"/>
                </a:solidFill>
                <a:effectLst/>
                <a:latin typeface="微软雅黑" panose="020B0503020204020204" pitchFamily="34" charset="-122"/>
                <a:ea typeface="微软雅黑" panose="020B0503020204020204" pitchFamily="34" charset="-122"/>
              </a:rPr>
              <a:t>LGB </a:t>
            </a:r>
            <a:r>
              <a:rPr lang="zh-CN" altLang="en-US" sz="1600" i="0" dirty="0">
                <a:solidFill>
                  <a:srgbClr val="060A26"/>
                </a:solidFill>
                <a:effectLst/>
                <a:latin typeface="微软雅黑" panose="020B0503020204020204" pitchFamily="34" charset="-122"/>
                <a:ea typeface="微软雅黑" panose="020B0503020204020204" pitchFamily="34" charset="-122"/>
              </a:rPr>
              <a:t>训练过程中，使用平均操作替代拼接操作来融合语义信息和网络结构信息。</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w/ Max</a:t>
            </a:r>
            <a:r>
              <a:rPr lang="zh-CN" altLang="en-US" sz="1600" i="0" dirty="0">
                <a:solidFill>
                  <a:srgbClr val="060A26"/>
                </a:solidFill>
                <a:effectLst/>
                <a:latin typeface="微软雅黑" panose="020B0503020204020204" pitchFamily="34" charset="-122"/>
                <a:ea typeface="微软雅黑" panose="020B0503020204020204" pitchFamily="34" charset="-122"/>
              </a:rPr>
              <a:t>：在 </a:t>
            </a:r>
            <a:r>
              <a:rPr lang="en-US" altLang="zh-CN" sz="1600" i="0" dirty="0">
                <a:solidFill>
                  <a:srgbClr val="060A26"/>
                </a:solidFill>
                <a:effectLst/>
                <a:latin typeface="微软雅黑" panose="020B0503020204020204" pitchFamily="34" charset="-122"/>
                <a:ea typeface="微软雅黑" panose="020B0503020204020204" pitchFamily="34" charset="-122"/>
              </a:rPr>
              <a:t>LGB </a:t>
            </a:r>
            <a:r>
              <a:rPr lang="zh-CN" altLang="en-US" sz="1600" i="0" dirty="0">
                <a:solidFill>
                  <a:srgbClr val="060A26"/>
                </a:solidFill>
                <a:effectLst/>
                <a:latin typeface="微软雅黑" panose="020B0503020204020204" pitchFamily="34" charset="-122"/>
                <a:ea typeface="微软雅黑" panose="020B0503020204020204" pitchFamily="34" charset="-122"/>
              </a:rPr>
              <a:t>训练过程中，使用最大值操作替代拼接操作来融合多模态信息。</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w/ Supervised Fine-tuned LM</a:t>
            </a:r>
            <a:r>
              <a:rPr lang="zh-CN" altLang="en-US" sz="1600" i="0" dirty="0">
                <a:solidFill>
                  <a:srgbClr val="060A26"/>
                </a:solidFill>
                <a:effectLst/>
                <a:latin typeface="微软雅黑" panose="020B0503020204020204" pitchFamily="34" charset="-122"/>
                <a:ea typeface="微软雅黑" panose="020B0503020204020204" pitchFamily="34" charset="-122"/>
              </a:rPr>
              <a:t>：仅使用 </a:t>
            </a:r>
            <a:r>
              <a:rPr lang="en-US" altLang="zh-CN" sz="1600" i="0" dirty="0">
                <a:solidFill>
                  <a:srgbClr val="060A26"/>
                </a:solidFill>
                <a:effectLst/>
                <a:latin typeface="微软雅黑" panose="020B0503020204020204" pitchFamily="34" charset="-122"/>
                <a:ea typeface="微软雅黑" panose="020B0503020204020204" pitchFamily="34" charset="-122"/>
              </a:rPr>
              <a:t>LGB </a:t>
            </a:r>
            <a:r>
              <a:rPr lang="zh-CN" altLang="en-US" sz="1600" i="0" dirty="0">
                <a:solidFill>
                  <a:srgbClr val="060A26"/>
                </a:solidFill>
                <a:effectLst/>
                <a:latin typeface="微软雅黑" panose="020B0503020204020204" pitchFamily="34" charset="-122"/>
                <a:ea typeface="微软雅黑" panose="020B0503020204020204" pitchFamily="34" charset="-122"/>
              </a:rPr>
              <a:t>模型中经过监督微调的语言模型进行账户检测。</a:t>
            </a:r>
          </a:p>
        </p:txBody>
      </p:sp>
      <p:sp>
        <p:nvSpPr>
          <p:cNvPr id="19" name="矩形 18">
            <a:extLst>
              <a:ext uri="{FF2B5EF4-FFF2-40B4-BE49-F238E27FC236}">
                <a16:creationId xmlns:a16="http://schemas.microsoft.com/office/drawing/2014/main" id="{AADEA60E-CB5C-E0EA-7A39-FB49963976A2}"/>
              </a:ext>
            </a:extLst>
          </p:cNvPr>
          <p:cNvSpPr/>
          <p:nvPr/>
        </p:nvSpPr>
        <p:spPr>
          <a:xfrm>
            <a:off x="760934" y="2619108"/>
            <a:ext cx="4280382" cy="18643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115261E4-E714-E6EE-5654-552F7481F929}"/>
              </a:ext>
            </a:extLst>
          </p:cNvPr>
          <p:cNvSpPr/>
          <p:nvPr/>
        </p:nvSpPr>
        <p:spPr>
          <a:xfrm>
            <a:off x="760934" y="3799725"/>
            <a:ext cx="4280382" cy="18643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4CD7669-50EB-BE9A-B5A6-54A20737F43D}"/>
              </a:ext>
            </a:extLst>
          </p:cNvPr>
          <p:cNvSpPr/>
          <p:nvPr/>
        </p:nvSpPr>
        <p:spPr>
          <a:xfrm>
            <a:off x="756461" y="4980342"/>
            <a:ext cx="4280382" cy="18643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3DC4C2E-E9D5-C424-6EBE-B171604B7D03}"/>
              </a:ext>
            </a:extLst>
          </p:cNvPr>
          <p:cNvSpPr/>
          <p:nvPr/>
        </p:nvSpPr>
        <p:spPr>
          <a:xfrm>
            <a:off x="756461" y="6019850"/>
            <a:ext cx="4280382" cy="18643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72798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33853-DFC2-907E-843A-9A297E877120}"/>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2694F9D9-C6AC-08B8-8535-619847C61AC8}"/>
              </a:ext>
            </a:extLst>
          </p:cNvPr>
          <p:cNvSpPr>
            <a:spLocks noGrp="1"/>
          </p:cNvSpPr>
          <p:nvPr>
            <p:ph type="sldNum" sz="quarter" idx="10"/>
          </p:nvPr>
        </p:nvSpPr>
        <p:spPr/>
        <p:txBody>
          <a:bodyPr/>
          <a:lstStyle/>
          <a:p>
            <a:fld id="{023126B9-07AC-4BAF-B3D7-FAC1D3999DA4}" type="slidenum">
              <a:rPr lang="zh-CN" altLang="en-US" smtClean="0"/>
              <a:t>8</a:t>
            </a:fld>
            <a:endParaRPr lang="zh-CN" altLang="en-US" dirty="0"/>
          </a:p>
        </p:txBody>
      </p:sp>
      <p:sp>
        <p:nvSpPr>
          <p:cNvPr id="15" name="任意多边形 14">
            <a:extLst>
              <a:ext uri="{FF2B5EF4-FFF2-40B4-BE49-F238E27FC236}">
                <a16:creationId xmlns:a16="http://schemas.microsoft.com/office/drawing/2014/main" id="{25E4551C-E16C-5363-3071-A44B35B7C308}"/>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D89F9FC1-FE43-D0C8-BBCC-40E2A1ECB4B0}"/>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0BFBF74D-2743-C4F7-B19D-A3D813BF2403}"/>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语义理解与特征增强</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4" name="文本框 3">
            <a:extLst>
              <a:ext uri="{FF2B5EF4-FFF2-40B4-BE49-F238E27FC236}">
                <a16:creationId xmlns:a16="http://schemas.microsoft.com/office/drawing/2014/main" id="{3E8F97AA-274D-0A5E-7414-F14A733A8152}"/>
              </a:ext>
            </a:extLst>
          </p:cNvPr>
          <p:cNvSpPr txBox="1"/>
          <p:nvPr/>
        </p:nvSpPr>
        <p:spPr>
          <a:xfrm>
            <a:off x="1011862" y="1668357"/>
            <a:ext cx="4862195" cy="3521285"/>
          </a:xfrm>
          <a:prstGeom prst="rect">
            <a:avLst/>
          </a:prstGeom>
          <a:noFill/>
        </p:spPr>
        <p:txBody>
          <a:bodyPr wrap="square">
            <a:spAutoFit/>
          </a:bodyPr>
          <a:lstStyle/>
          <a:p>
            <a:pPr algn="l">
              <a:lnSpc>
                <a:spcPct val="150000"/>
              </a:lnSpc>
              <a:spcBef>
                <a:spcPts val="300"/>
              </a:spcBef>
              <a:spcAft>
                <a:spcPts val="300"/>
              </a:spcAft>
              <a:buNone/>
            </a:pPr>
            <a:r>
              <a:rPr lang="zh-CN" altLang="en-US" b="1" i="0" dirty="0">
                <a:solidFill>
                  <a:srgbClr val="060A26"/>
                </a:solidFill>
                <a:effectLst/>
                <a:latin typeface="微软雅黑" panose="020B0503020204020204" pitchFamily="34" charset="-122"/>
                <a:ea typeface="微软雅黑" panose="020B0503020204020204" pitchFamily="34" charset="-122"/>
              </a:rPr>
              <a:t>语义理解与特征增强 </a:t>
            </a:r>
            <a:r>
              <a:rPr lang="en-US" altLang="zh-CN" b="1" i="0" dirty="0">
                <a:solidFill>
                  <a:srgbClr val="060A26"/>
                </a:solidFill>
                <a:effectLst/>
                <a:latin typeface="微软雅黑" panose="020B0503020204020204" pitchFamily="34" charset="-122"/>
                <a:ea typeface="微软雅黑" panose="020B0503020204020204" pitchFamily="34" charset="-122"/>
              </a:rPr>
              <a:t>(Semantic Understanding)</a:t>
            </a:r>
            <a:endParaRPr lang="zh-CN" altLang="en-US" b="0" i="0" dirty="0">
              <a:solidFill>
                <a:srgbClr val="060A26"/>
              </a:solidFill>
              <a:effectLst/>
              <a:latin typeface="微软雅黑" panose="020B0503020204020204" pitchFamily="34" charset="-122"/>
              <a:ea typeface="微软雅黑" panose="020B0503020204020204" pitchFamily="34" charset="-122"/>
            </a:endParaRPr>
          </a:p>
          <a:p>
            <a:pPr marL="285750" indent="-285750" algn="l">
              <a:lnSpc>
                <a:spcPct val="150000"/>
              </a:lnSpc>
              <a:spcBef>
                <a:spcPts val="300"/>
              </a:spcBef>
              <a:spcAft>
                <a:spcPts val="300"/>
              </a:spcAft>
              <a:buFont typeface="Wingdings" panose="05000000000000000000" pitchFamily="2" charset="2"/>
              <a:buChar char="l"/>
            </a:pPr>
            <a:r>
              <a:rPr lang="zh-CN" altLang="en-US" b="0" i="0" dirty="0">
                <a:solidFill>
                  <a:srgbClr val="060A26"/>
                </a:solidFill>
                <a:effectLst/>
                <a:latin typeface="微软雅黑" panose="020B0503020204020204" pitchFamily="34" charset="-122"/>
                <a:ea typeface="微软雅黑" panose="020B0503020204020204" pitchFamily="34" charset="-122"/>
              </a:rPr>
              <a:t>核心痛点：传统模型（如</a:t>
            </a:r>
            <a:r>
              <a:rPr lang="en-US" altLang="zh-CN" b="0" i="0" dirty="0">
                <a:solidFill>
                  <a:srgbClr val="060A26"/>
                </a:solidFill>
                <a:effectLst/>
                <a:latin typeface="微软雅黑" panose="020B0503020204020204" pitchFamily="34" charset="-122"/>
                <a:ea typeface="微软雅黑" panose="020B0503020204020204" pitchFamily="34" charset="-122"/>
              </a:rPr>
              <a:t>LSTM</a:t>
            </a:r>
            <a:r>
              <a:rPr lang="zh-CN" altLang="en-US" b="0" i="0" dirty="0">
                <a:solidFill>
                  <a:srgbClr val="060A26"/>
                </a:solidFill>
                <a:effectLst/>
                <a:latin typeface="微软雅黑" panose="020B0503020204020204" pitchFamily="34" charset="-122"/>
                <a:ea typeface="微软雅黑" panose="020B0503020204020204" pitchFamily="34" charset="-122"/>
              </a:rPr>
              <a:t>）难以处理短文本、多语言或代码的深层语义。</a:t>
            </a:r>
          </a:p>
          <a:p>
            <a:pPr marL="285750" indent="-285750" algn="l">
              <a:lnSpc>
                <a:spcPct val="150000"/>
              </a:lnSpc>
              <a:spcBef>
                <a:spcPts val="300"/>
              </a:spcBef>
              <a:spcAft>
                <a:spcPts val="300"/>
              </a:spcAft>
              <a:buFont typeface="Wingdings" panose="05000000000000000000" pitchFamily="2" charset="2"/>
              <a:buChar char="l"/>
            </a:pPr>
            <a:r>
              <a:rPr lang="zh-CN" altLang="en-US" b="0" i="0" dirty="0">
                <a:solidFill>
                  <a:srgbClr val="060A26"/>
                </a:solidFill>
                <a:effectLst/>
                <a:latin typeface="微软雅黑" panose="020B0503020204020204" pitchFamily="34" charset="-122"/>
                <a:ea typeface="微软雅黑" panose="020B0503020204020204" pitchFamily="34" charset="-122"/>
              </a:rPr>
              <a:t>解决方案：利用</a:t>
            </a:r>
            <a:r>
              <a:rPr lang="en-US" altLang="zh-CN" b="0" i="0" dirty="0">
                <a:solidFill>
                  <a:srgbClr val="060A26"/>
                </a:solidFill>
                <a:effectLst/>
                <a:latin typeface="微软雅黑" panose="020B0503020204020204" pitchFamily="34" charset="-122"/>
                <a:ea typeface="微软雅黑" panose="020B0503020204020204" pitchFamily="34" charset="-122"/>
              </a:rPr>
              <a:t>LLM</a:t>
            </a:r>
            <a:r>
              <a:rPr lang="zh-CN" altLang="en-US" b="0" i="0" dirty="0">
                <a:solidFill>
                  <a:srgbClr val="060A26"/>
                </a:solidFill>
                <a:effectLst/>
                <a:latin typeface="微软雅黑" panose="020B0503020204020204" pitchFamily="34" charset="-122"/>
                <a:ea typeface="微软雅黑" panose="020B0503020204020204" pitchFamily="34" charset="-122"/>
              </a:rPr>
              <a:t>（如</a:t>
            </a:r>
            <a:r>
              <a:rPr lang="en-US" altLang="zh-CN" b="0" i="0" dirty="0" err="1">
                <a:solidFill>
                  <a:srgbClr val="060A26"/>
                </a:solidFill>
                <a:effectLst/>
                <a:latin typeface="微软雅黑" panose="020B0503020204020204" pitchFamily="34" charset="-122"/>
                <a:ea typeface="微软雅黑" panose="020B0503020204020204" pitchFamily="34" charset="-122"/>
              </a:rPr>
              <a:t>RoBERTa</a:t>
            </a:r>
            <a:r>
              <a:rPr lang="en-US" altLang="zh-CN" b="0" i="0" dirty="0">
                <a:solidFill>
                  <a:srgbClr val="060A26"/>
                </a:solidFill>
                <a:effectLst/>
                <a:latin typeface="微软雅黑" panose="020B0503020204020204" pitchFamily="34" charset="-122"/>
                <a:ea typeface="微软雅黑" panose="020B0503020204020204" pitchFamily="34" charset="-122"/>
              </a:rPr>
              <a:t>, </a:t>
            </a:r>
            <a:r>
              <a:rPr lang="en-US" altLang="zh-CN" b="0" i="0" dirty="0" err="1">
                <a:solidFill>
                  <a:srgbClr val="060A26"/>
                </a:solidFill>
                <a:effectLst/>
                <a:latin typeface="微软雅黑" panose="020B0503020204020204" pitchFamily="34" charset="-122"/>
                <a:ea typeface="微软雅黑" panose="020B0503020204020204" pitchFamily="34" charset="-122"/>
              </a:rPr>
              <a:t>PaLM</a:t>
            </a:r>
            <a:r>
              <a:rPr lang="en-US" altLang="zh-CN" b="0" i="0" dirty="0">
                <a:solidFill>
                  <a:srgbClr val="060A26"/>
                </a:solidFill>
                <a:effectLst/>
                <a:latin typeface="微软雅黑" panose="020B0503020204020204" pitchFamily="34" charset="-122"/>
                <a:ea typeface="微软雅黑" panose="020B0503020204020204" pitchFamily="34" charset="-122"/>
              </a:rPr>
              <a:t>, T5</a:t>
            </a:r>
            <a:r>
              <a:rPr lang="zh-CN" altLang="en-US" b="0" i="0" dirty="0">
                <a:solidFill>
                  <a:srgbClr val="060A26"/>
                </a:solidFill>
                <a:effectLst/>
                <a:latin typeface="微软雅黑" panose="020B0503020204020204" pitchFamily="34" charset="-122"/>
                <a:ea typeface="微软雅黑" panose="020B0503020204020204" pitchFamily="34" charset="-122"/>
              </a:rPr>
              <a:t>）利用</a:t>
            </a:r>
            <a:r>
              <a:rPr lang="en-US" altLang="zh-CN" b="0" i="0" dirty="0">
                <a:solidFill>
                  <a:srgbClr val="060A26"/>
                </a:solidFill>
                <a:effectLst/>
                <a:latin typeface="微软雅黑" panose="020B0503020204020204" pitchFamily="34" charset="-122"/>
                <a:ea typeface="微软雅黑" panose="020B0503020204020204" pitchFamily="34" charset="-122"/>
              </a:rPr>
              <a:t>LLM</a:t>
            </a:r>
            <a:r>
              <a:rPr lang="zh-CN" altLang="en-US" b="0" i="0" dirty="0">
                <a:solidFill>
                  <a:srgbClr val="060A26"/>
                </a:solidFill>
                <a:effectLst/>
                <a:latin typeface="微软雅黑" panose="020B0503020204020204" pitchFamily="34" charset="-122"/>
                <a:ea typeface="微软雅黑" panose="020B0503020204020204" pitchFamily="34" charset="-122"/>
              </a:rPr>
              <a:t>将原始文本转化为高质量语义向量，提升模型输入质量与特征表达能力，是下游任务性能提升的关键基础。</a:t>
            </a:r>
          </a:p>
        </p:txBody>
      </p:sp>
      <p:sp>
        <p:nvSpPr>
          <p:cNvPr id="9" name="文本框 8">
            <a:extLst>
              <a:ext uri="{FF2B5EF4-FFF2-40B4-BE49-F238E27FC236}">
                <a16:creationId xmlns:a16="http://schemas.microsoft.com/office/drawing/2014/main" id="{DEF0DE79-00A0-D4F7-4B71-3ACF4298A3E9}"/>
              </a:ext>
            </a:extLst>
          </p:cNvPr>
          <p:cNvSpPr txBox="1"/>
          <p:nvPr/>
        </p:nvSpPr>
        <p:spPr>
          <a:xfrm>
            <a:off x="5743853" y="5503054"/>
            <a:ext cx="6107836" cy="923330"/>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LLM-LADE: Large language model-based log anomaly detection with explanation</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KBS</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CCF-C</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a:p>
            <a:pPr algn="ctr"/>
            <a:r>
              <a:rPr lang="zh-CN" altLang="en-US" dirty="0">
                <a:solidFill>
                  <a:schemeClr val="bg2">
                    <a:lumMod val="10000"/>
                  </a:schemeClr>
                </a:solidFill>
                <a:latin typeface="微软雅黑" panose="020B0503020204020204" pitchFamily="34" charset="-122"/>
                <a:ea typeface="微软雅黑" panose="020B0503020204020204" pitchFamily="34" charset="-122"/>
              </a:rPr>
              <a:t>西南交通大学，信息科学与技术学院</a:t>
            </a:r>
          </a:p>
        </p:txBody>
      </p:sp>
      <p:pic>
        <p:nvPicPr>
          <p:cNvPr id="3" name="图片 2">
            <a:extLst>
              <a:ext uri="{FF2B5EF4-FFF2-40B4-BE49-F238E27FC236}">
                <a16:creationId xmlns:a16="http://schemas.microsoft.com/office/drawing/2014/main" id="{367054C2-0201-7C0A-03A4-AA392AF880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9486" y="1130657"/>
            <a:ext cx="3096570" cy="3967200"/>
          </a:xfrm>
          <a:prstGeom prst="rect">
            <a:avLst/>
          </a:prstGeom>
          <a:effectLst>
            <a:outerShdw blurRad="114300" dist="63500" dir="2700000" sx="103000" sy="103000" algn="tl" rotWithShape="0">
              <a:prstClr val="black">
                <a:alpha val="39000"/>
              </a:prstClr>
            </a:outerShdw>
          </a:effectLst>
        </p:spPr>
      </p:pic>
    </p:spTree>
    <p:extLst>
      <p:ext uri="{BB962C8B-B14F-4D97-AF65-F5344CB8AC3E}">
        <p14:creationId xmlns:p14="http://schemas.microsoft.com/office/powerpoint/2010/main" val="3316377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F0A5C-23DA-90C5-6327-64BE98BAFEB9}"/>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65ACB314-1308-6A48-6786-4F6B5D62EF39}"/>
              </a:ext>
            </a:extLst>
          </p:cNvPr>
          <p:cNvSpPr>
            <a:spLocks noGrp="1"/>
          </p:cNvSpPr>
          <p:nvPr>
            <p:ph type="sldNum" sz="quarter" idx="10"/>
          </p:nvPr>
        </p:nvSpPr>
        <p:spPr/>
        <p:txBody>
          <a:bodyPr/>
          <a:lstStyle/>
          <a:p>
            <a:fld id="{023126B9-07AC-4BAF-B3D7-FAC1D3999DA4}" type="slidenum">
              <a:rPr lang="zh-CN" altLang="en-US" smtClean="0"/>
              <a:t>9</a:t>
            </a:fld>
            <a:endParaRPr lang="zh-CN" altLang="en-US" dirty="0"/>
          </a:p>
        </p:txBody>
      </p:sp>
      <p:sp>
        <p:nvSpPr>
          <p:cNvPr id="15" name="任意多边形 14">
            <a:extLst>
              <a:ext uri="{FF2B5EF4-FFF2-40B4-BE49-F238E27FC236}">
                <a16:creationId xmlns:a16="http://schemas.microsoft.com/office/drawing/2014/main" id="{9560B42E-DE79-4F11-55A0-EE7D53EA5824}"/>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C678A4C7-AEA0-352F-0BD7-E0E404C00D9F}"/>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AC8E4E6F-8E54-7EE4-57F7-339FA3CADE3A}"/>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语义理解与特征增强</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4" name="文本框 3">
            <a:extLst>
              <a:ext uri="{FF2B5EF4-FFF2-40B4-BE49-F238E27FC236}">
                <a16:creationId xmlns:a16="http://schemas.microsoft.com/office/drawing/2014/main" id="{3BF9B4A1-B458-FC09-19C1-3335428B4982}"/>
              </a:ext>
            </a:extLst>
          </p:cNvPr>
          <p:cNvSpPr txBox="1"/>
          <p:nvPr/>
        </p:nvSpPr>
        <p:spPr>
          <a:xfrm>
            <a:off x="815783" y="1536037"/>
            <a:ext cx="10770872" cy="3782895"/>
          </a:xfrm>
          <a:prstGeom prst="rect">
            <a:avLst/>
          </a:prstGeom>
          <a:noFill/>
        </p:spPr>
        <p:txBody>
          <a:bodyPr wrap="square">
            <a:spAutoFit/>
          </a:bodyPr>
          <a:lstStyle/>
          <a:p>
            <a:pPr algn="just">
              <a:lnSpc>
                <a:spcPct val="150000"/>
              </a:lnSpc>
              <a:spcBef>
                <a:spcPts val="300"/>
              </a:spcBef>
              <a:spcAft>
                <a:spcPts val="300"/>
              </a:spcAft>
              <a:buNone/>
            </a:pPr>
            <a:r>
              <a:rPr lang="zh-CN" altLang="en-US" b="1" i="0" dirty="0">
                <a:solidFill>
                  <a:srgbClr val="060A26"/>
                </a:solidFill>
                <a:effectLst/>
                <a:latin typeface="微软雅黑" panose="020B0503020204020204" pitchFamily="34" charset="-122"/>
                <a:ea typeface="微软雅黑" panose="020B0503020204020204" pitchFamily="34" charset="-122"/>
              </a:rPr>
              <a:t>摘要</a:t>
            </a:r>
            <a:r>
              <a:rPr lang="zh-CN" altLang="en-US" i="0" dirty="0">
                <a:solidFill>
                  <a:srgbClr val="060A26"/>
                </a:solidFill>
                <a:effectLst/>
                <a:latin typeface="微软雅黑" panose="020B0503020204020204" pitchFamily="34" charset="-122"/>
                <a:ea typeface="微软雅黑" panose="020B0503020204020204" pitchFamily="34" charset="-122"/>
              </a:rPr>
              <a:t>：软件系统日益复杂，日志数据呈指数级增长，这使得从海量日志中进行异常检测和故障定位成为了一个关键的研究领域。然而，</a:t>
            </a:r>
            <a:r>
              <a:rPr lang="zh-CN" altLang="en-US" b="1" i="0" dirty="0">
                <a:solidFill>
                  <a:srgbClr val="060A26"/>
                </a:solidFill>
                <a:effectLst/>
                <a:latin typeface="微软雅黑" panose="020B0503020204020204" pitchFamily="34" charset="-122"/>
                <a:ea typeface="微软雅黑" panose="020B0503020204020204" pitchFamily="34" charset="-122"/>
              </a:rPr>
              <a:t>现有的日志异常检测方法难以捕捉非结构化日志中存在的上下文依赖语义关系，且缺乏可解释的决策机制，这极大地限制了它们在复杂系统中的适用性</a:t>
            </a:r>
            <a:r>
              <a:rPr lang="zh-CN" altLang="en-US" i="0" dirty="0">
                <a:solidFill>
                  <a:srgbClr val="060A26"/>
                </a:solidFill>
                <a:effectLst/>
                <a:latin typeface="微软雅黑" panose="020B0503020204020204" pitchFamily="34" charset="-122"/>
                <a:ea typeface="微软雅黑" panose="020B0503020204020204" pitchFamily="34" charset="-122"/>
              </a:rPr>
              <a:t>。本研究提出了 </a:t>
            </a:r>
            <a:r>
              <a:rPr lang="en-US" altLang="zh-CN" i="0" dirty="0">
                <a:solidFill>
                  <a:srgbClr val="060A26"/>
                </a:solidFill>
                <a:effectLst/>
                <a:latin typeface="微软雅黑" panose="020B0503020204020204" pitchFamily="34" charset="-122"/>
                <a:ea typeface="微软雅黑" panose="020B0503020204020204" pitchFamily="34" charset="-122"/>
              </a:rPr>
              <a:t>LLM-LADE</a:t>
            </a:r>
            <a:r>
              <a:rPr lang="zh-CN" altLang="en-US" i="0" dirty="0">
                <a:solidFill>
                  <a:srgbClr val="060A26"/>
                </a:solidFill>
                <a:effectLst/>
                <a:latin typeface="微软雅黑" panose="020B0503020204020204" pitchFamily="34" charset="-122"/>
                <a:ea typeface="微软雅黑" panose="020B0503020204020204" pitchFamily="34" charset="-122"/>
              </a:rPr>
              <a:t>，这是一个基于大语言模型（</a:t>
            </a:r>
            <a:r>
              <a:rPr lang="en-US" altLang="zh-CN" i="0" dirty="0">
                <a:solidFill>
                  <a:srgbClr val="060A26"/>
                </a:solidFill>
                <a:effectLst/>
                <a:latin typeface="微软雅黑" panose="020B0503020204020204" pitchFamily="34" charset="-122"/>
                <a:ea typeface="微软雅黑" panose="020B0503020204020204" pitchFamily="34" charset="-122"/>
              </a:rPr>
              <a:t>LLM</a:t>
            </a:r>
            <a:r>
              <a:rPr lang="zh-CN" altLang="en-US" i="0" dirty="0">
                <a:solidFill>
                  <a:srgbClr val="060A26"/>
                </a:solidFill>
                <a:effectLst/>
                <a:latin typeface="微软雅黑" panose="020B0503020204020204" pitchFamily="34" charset="-122"/>
                <a:ea typeface="微软雅黑" panose="020B0503020204020204" pitchFamily="34" charset="-122"/>
              </a:rPr>
              <a:t>）的日志异常检测与解释新框架。</a:t>
            </a:r>
            <a:r>
              <a:rPr lang="en-US" altLang="zh-CN" i="0" dirty="0">
                <a:solidFill>
                  <a:srgbClr val="060A26"/>
                </a:solidFill>
                <a:effectLst/>
                <a:latin typeface="微软雅黑" panose="020B0503020204020204" pitchFamily="34" charset="-122"/>
                <a:ea typeface="微软雅黑" panose="020B0503020204020204" pitchFamily="34" charset="-122"/>
              </a:rPr>
              <a:t>LLM-LADE </a:t>
            </a:r>
            <a:r>
              <a:rPr lang="zh-CN" altLang="en-US" b="1" i="0" dirty="0">
                <a:solidFill>
                  <a:srgbClr val="060A26"/>
                </a:solidFill>
                <a:effectLst/>
                <a:latin typeface="微软雅黑" panose="020B0503020204020204" pitchFamily="34" charset="-122"/>
                <a:ea typeface="微软雅黑" panose="020B0503020204020204" pitchFamily="34" charset="-122"/>
              </a:rPr>
              <a:t>引入了一个包含“数据增强 </a:t>
            </a:r>
            <a:r>
              <a:rPr lang="en-US" altLang="zh-CN" b="1" i="0" dirty="0">
                <a:solidFill>
                  <a:srgbClr val="060A26"/>
                </a:solidFill>
                <a:effectLst/>
                <a:latin typeface="微软雅黑" panose="020B0503020204020204" pitchFamily="34" charset="-122"/>
                <a:ea typeface="微软雅黑" panose="020B0503020204020204" pitchFamily="34" charset="-122"/>
              </a:rPr>
              <a:t>- </a:t>
            </a:r>
            <a:r>
              <a:rPr lang="zh-CN" altLang="en-US" b="1" i="0" dirty="0">
                <a:solidFill>
                  <a:srgbClr val="060A26"/>
                </a:solidFill>
                <a:effectLst/>
                <a:latin typeface="微软雅黑" panose="020B0503020204020204" pitchFamily="34" charset="-122"/>
                <a:ea typeface="微软雅黑" panose="020B0503020204020204" pitchFamily="34" charset="-122"/>
              </a:rPr>
              <a:t>参数高效微调（</a:t>
            </a:r>
            <a:r>
              <a:rPr lang="en-US" altLang="zh-CN" b="1" i="0" dirty="0">
                <a:solidFill>
                  <a:srgbClr val="060A26"/>
                </a:solidFill>
                <a:effectLst/>
                <a:latin typeface="微软雅黑" panose="020B0503020204020204" pitchFamily="34" charset="-122"/>
                <a:ea typeface="微软雅黑" panose="020B0503020204020204" pitchFamily="34" charset="-122"/>
              </a:rPr>
              <a:t>PEFT</a:t>
            </a:r>
            <a:r>
              <a:rPr lang="zh-CN" altLang="en-US" b="1" i="0" dirty="0">
                <a:solidFill>
                  <a:srgbClr val="060A26"/>
                </a:solidFill>
                <a:effectLst/>
                <a:latin typeface="微软雅黑" panose="020B0503020204020204" pitchFamily="34" charset="-122"/>
                <a:ea typeface="微软雅黑" panose="020B0503020204020204" pitchFamily="34" charset="-122"/>
              </a:rPr>
              <a:t>）</a:t>
            </a:r>
            <a:r>
              <a:rPr lang="en-US" altLang="zh-CN" b="1" i="0" dirty="0">
                <a:solidFill>
                  <a:srgbClr val="060A26"/>
                </a:solidFill>
                <a:effectLst/>
                <a:latin typeface="微软雅黑" panose="020B0503020204020204" pitchFamily="34" charset="-122"/>
                <a:ea typeface="微软雅黑" panose="020B0503020204020204" pitchFamily="34" charset="-122"/>
              </a:rPr>
              <a:t>- </a:t>
            </a:r>
            <a:r>
              <a:rPr lang="zh-CN" altLang="en-US" b="1" i="0" dirty="0">
                <a:solidFill>
                  <a:srgbClr val="060A26"/>
                </a:solidFill>
                <a:effectLst/>
                <a:latin typeface="微软雅黑" panose="020B0503020204020204" pitchFamily="34" charset="-122"/>
                <a:ea typeface="微软雅黑" panose="020B0503020204020204" pitchFamily="34" charset="-122"/>
              </a:rPr>
              <a:t>在线优化”的三阶段协同架构，这是首次实现利用大语言模型对日志序列进行异常判别和解释生成。该框架通过“标签</a:t>
            </a:r>
            <a:r>
              <a:rPr lang="en-US" altLang="zh-CN" b="1" i="0" dirty="0">
                <a:solidFill>
                  <a:srgbClr val="060A26"/>
                </a:solidFill>
                <a:effectLst/>
                <a:latin typeface="微软雅黑" panose="020B0503020204020204" pitchFamily="34" charset="-122"/>
                <a:ea typeface="微软雅黑" panose="020B0503020204020204" pitchFamily="34" charset="-122"/>
              </a:rPr>
              <a:t>-</a:t>
            </a:r>
            <a:r>
              <a:rPr lang="zh-CN" altLang="en-US" b="1" i="0" dirty="0">
                <a:solidFill>
                  <a:srgbClr val="060A26"/>
                </a:solidFill>
                <a:effectLst/>
                <a:latin typeface="微软雅黑" panose="020B0503020204020204" pitchFamily="34" charset="-122"/>
                <a:ea typeface="微软雅黑" panose="020B0503020204020204" pitchFamily="34" charset="-122"/>
              </a:rPr>
              <a:t>原因”对的联合学习目标，克服了传统方法在可解释性方面的局限</a:t>
            </a:r>
            <a:r>
              <a:rPr lang="zh-CN" altLang="en-US" i="0" dirty="0">
                <a:solidFill>
                  <a:srgbClr val="060A26"/>
                </a:solidFill>
                <a:effectLst/>
                <a:latin typeface="微软雅黑" panose="020B0503020204020204" pitchFamily="34" charset="-122"/>
                <a:ea typeface="微软雅黑" panose="020B0503020204020204" pitchFamily="34" charset="-122"/>
              </a:rPr>
              <a:t>。此外，还设计了一种增量匹配的知识库机制，通过实时捕获误判样本，实现零参数更新的在线优化，从而确保模型能够持续适应动态变化的日志环境。在三个基准数据集上的实验结果表明，</a:t>
            </a:r>
            <a:r>
              <a:rPr lang="en-US" altLang="zh-CN" i="0" dirty="0">
                <a:solidFill>
                  <a:srgbClr val="060A26"/>
                </a:solidFill>
                <a:effectLst/>
                <a:latin typeface="微软雅黑" panose="020B0503020204020204" pitchFamily="34" charset="-122"/>
                <a:ea typeface="微软雅黑" panose="020B0503020204020204" pitchFamily="34" charset="-122"/>
              </a:rPr>
              <a:t>LLM-LADE </a:t>
            </a:r>
            <a:r>
              <a:rPr lang="zh-CN" altLang="en-US" i="0" dirty="0">
                <a:solidFill>
                  <a:srgbClr val="060A26"/>
                </a:solidFill>
                <a:effectLst/>
                <a:latin typeface="微软雅黑" panose="020B0503020204020204" pitchFamily="34" charset="-122"/>
                <a:ea typeface="微软雅黑" panose="020B0503020204020204" pitchFamily="34" charset="-122"/>
              </a:rPr>
              <a:t>在检测性能上优于当前最先进的算法，其生成的解释在信息量和可读性方面均表现出专业级的可用性。</a:t>
            </a:r>
          </a:p>
        </p:txBody>
      </p:sp>
      <p:sp>
        <p:nvSpPr>
          <p:cNvPr id="9" name="文本框 8">
            <a:extLst>
              <a:ext uri="{FF2B5EF4-FFF2-40B4-BE49-F238E27FC236}">
                <a16:creationId xmlns:a16="http://schemas.microsoft.com/office/drawing/2014/main" id="{61AA9A71-B647-4BD4-862D-7DDA98DC50FB}"/>
              </a:ext>
            </a:extLst>
          </p:cNvPr>
          <p:cNvSpPr txBox="1"/>
          <p:nvPr/>
        </p:nvSpPr>
        <p:spPr>
          <a:xfrm>
            <a:off x="815783" y="1144950"/>
            <a:ext cx="10770872" cy="369332"/>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LLM-LADE: Large language model-based log anomaly detection with explanation</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KBS</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CCF-C</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897734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D577B-BCDE-E07B-904F-2AB34050167F}"/>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917894E4-1653-86A2-020B-B9BCBC44B90E}"/>
              </a:ext>
            </a:extLst>
          </p:cNvPr>
          <p:cNvSpPr>
            <a:spLocks noGrp="1"/>
          </p:cNvSpPr>
          <p:nvPr>
            <p:ph type="sldNum" sz="quarter" idx="10"/>
          </p:nvPr>
        </p:nvSpPr>
        <p:spPr/>
        <p:txBody>
          <a:bodyPr/>
          <a:lstStyle/>
          <a:p>
            <a:fld id="{023126B9-07AC-4BAF-B3D7-FAC1D3999DA4}" type="slidenum">
              <a:rPr lang="zh-CN" altLang="en-US" smtClean="0"/>
              <a:t>10</a:t>
            </a:fld>
            <a:endParaRPr lang="zh-CN" altLang="en-US" dirty="0"/>
          </a:p>
        </p:txBody>
      </p:sp>
      <p:sp>
        <p:nvSpPr>
          <p:cNvPr id="15" name="任意多边形 14">
            <a:extLst>
              <a:ext uri="{FF2B5EF4-FFF2-40B4-BE49-F238E27FC236}">
                <a16:creationId xmlns:a16="http://schemas.microsoft.com/office/drawing/2014/main" id="{2A47383E-3C3C-DB8A-9AD9-D601791741D0}"/>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48EF2C7E-F670-5EFA-7A36-2183DC7EC659}"/>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075C94B1-1989-0912-71A0-722F08CB746E}"/>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语义理解与特征增强</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9" name="文本框 8">
            <a:extLst>
              <a:ext uri="{FF2B5EF4-FFF2-40B4-BE49-F238E27FC236}">
                <a16:creationId xmlns:a16="http://schemas.microsoft.com/office/drawing/2014/main" id="{55CBBC5E-8BED-6852-62A1-070B27F6722F}"/>
              </a:ext>
            </a:extLst>
          </p:cNvPr>
          <p:cNvSpPr txBox="1"/>
          <p:nvPr/>
        </p:nvSpPr>
        <p:spPr>
          <a:xfrm>
            <a:off x="815783" y="1144950"/>
            <a:ext cx="10770872" cy="369332"/>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LLM-LADE: Large language model-based log anomaly detection with explanation</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KBS</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CCF-C</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p>
        </p:txBody>
      </p:sp>
      <p:pic>
        <p:nvPicPr>
          <p:cNvPr id="3" name="图片 2">
            <a:extLst>
              <a:ext uri="{FF2B5EF4-FFF2-40B4-BE49-F238E27FC236}">
                <a16:creationId xmlns:a16="http://schemas.microsoft.com/office/drawing/2014/main" id="{C8282228-D47B-0674-27D5-149BD6E21D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38606" y="1514282"/>
            <a:ext cx="9514788" cy="4747163"/>
          </a:xfrm>
          <a:prstGeom prst="rect">
            <a:avLst/>
          </a:prstGeom>
        </p:spPr>
      </p:pic>
    </p:spTree>
    <p:extLst>
      <p:ext uri="{BB962C8B-B14F-4D97-AF65-F5344CB8AC3E}">
        <p14:creationId xmlns:p14="http://schemas.microsoft.com/office/powerpoint/2010/main" val="3314232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03CC9-7624-5DBC-0C7F-C1F60E8981DF}"/>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7287751B-4FF5-CD32-D085-80CDFF84703A}"/>
              </a:ext>
            </a:extLst>
          </p:cNvPr>
          <p:cNvSpPr>
            <a:spLocks noGrp="1"/>
          </p:cNvSpPr>
          <p:nvPr>
            <p:ph type="sldNum" sz="quarter" idx="10"/>
          </p:nvPr>
        </p:nvSpPr>
        <p:spPr/>
        <p:txBody>
          <a:bodyPr/>
          <a:lstStyle/>
          <a:p>
            <a:fld id="{023126B9-07AC-4BAF-B3D7-FAC1D3999DA4}" type="slidenum">
              <a:rPr lang="zh-CN" altLang="en-US" smtClean="0"/>
              <a:t>11</a:t>
            </a:fld>
            <a:endParaRPr lang="zh-CN" altLang="en-US" dirty="0"/>
          </a:p>
        </p:txBody>
      </p:sp>
      <p:sp>
        <p:nvSpPr>
          <p:cNvPr id="15" name="任意多边形 14">
            <a:extLst>
              <a:ext uri="{FF2B5EF4-FFF2-40B4-BE49-F238E27FC236}">
                <a16:creationId xmlns:a16="http://schemas.microsoft.com/office/drawing/2014/main" id="{ABF9194F-A480-5E2C-D440-8537C5C122CB}"/>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875242D0-2A88-51CF-4379-D1BF4F82CC0F}"/>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5D6BBC99-BA7A-21F3-58EE-C08B71E10E4D}"/>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语义理解与特征增强</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9" name="文本框 8">
            <a:extLst>
              <a:ext uri="{FF2B5EF4-FFF2-40B4-BE49-F238E27FC236}">
                <a16:creationId xmlns:a16="http://schemas.microsoft.com/office/drawing/2014/main" id="{DDDB850E-76FE-3E2D-5D15-237D778597CE}"/>
              </a:ext>
            </a:extLst>
          </p:cNvPr>
          <p:cNvSpPr txBox="1"/>
          <p:nvPr/>
        </p:nvSpPr>
        <p:spPr>
          <a:xfrm>
            <a:off x="815783" y="1144950"/>
            <a:ext cx="10770872" cy="369332"/>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LLM-LADE: Large language model-based log anomaly detection with explanation</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KBS</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CCF-C</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p>
        </p:txBody>
      </p:sp>
      <p:pic>
        <p:nvPicPr>
          <p:cNvPr id="6" name="图片 5">
            <a:extLst>
              <a:ext uri="{FF2B5EF4-FFF2-40B4-BE49-F238E27FC236}">
                <a16:creationId xmlns:a16="http://schemas.microsoft.com/office/drawing/2014/main" id="{8394919C-B894-74F1-9DD3-88B726A8FE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844" y="1644060"/>
            <a:ext cx="10330311" cy="4024063"/>
          </a:xfrm>
          <a:prstGeom prst="rect">
            <a:avLst/>
          </a:prstGeom>
        </p:spPr>
      </p:pic>
      <p:sp>
        <p:nvSpPr>
          <p:cNvPr id="2" name="矩形 1">
            <a:extLst>
              <a:ext uri="{FF2B5EF4-FFF2-40B4-BE49-F238E27FC236}">
                <a16:creationId xmlns:a16="http://schemas.microsoft.com/office/drawing/2014/main" id="{D476DCC0-D398-CFFE-06AA-6A307899D114}"/>
              </a:ext>
            </a:extLst>
          </p:cNvPr>
          <p:cNvSpPr/>
          <p:nvPr/>
        </p:nvSpPr>
        <p:spPr>
          <a:xfrm>
            <a:off x="1166966" y="5027509"/>
            <a:ext cx="9927754" cy="18643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20169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8E7D6-BE6B-95A5-D2E1-6C6C9C89C40D}"/>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9676FF00-6CB1-5CE1-3808-4E3E3569986B}"/>
              </a:ext>
            </a:extLst>
          </p:cNvPr>
          <p:cNvSpPr>
            <a:spLocks noGrp="1"/>
          </p:cNvSpPr>
          <p:nvPr>
            <p:ph type="sldNum" sz="quarter" idx="10"/>
          </p:nvPr>
        </p:nvSpPr>
        <p:spPr/>
        <p:txBody>
          <a:bodyPr/>
          <a:lstStyle/>
          <a:p>
            <a:fld id="{023126B9-07AC-4BAF-B3D7-FAC1D3999DA4}" type="slidenum">
              <a:rPr lang="zh-CN" altLang="en-US" smtClean="0"/>
              <a:t>12</a:t>
            </a:fld>
            <a:endParaRPr lang="zh-CN" altLang="en-US" dirty="0"/>
          </a:p>
        </p:txBody>
      </p:sp>
      <p:sp>
        <p:nvSpPr>
          <p:cNvPr id="15" name="任意多边形 14">
            <a:extLst>
              <a:ext uri="{FF2B5EF4-FFF2-40B4-BE49-F238E27FC236}">
                <a16:creationId xmlns:a16="http://schemas.microsoft.com/office/drawing/2014/main" id="{B9286B1B-30B6-0DDD-7F25-0FAB8C18A481}"/>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2133612F-E87A-B016-409E-AA910A8AF465}"/>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9554AE10-7550-987E-249E-10248CDE0091}"/>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后处理校验与错误修正</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4" name="文本框 3">
            <a:extLst>
              <a:ext uri="{FF2B5EF4-FFF2-40B4-BE49-F238E27FC236}">
                <a16:creationId xmlns:a16="http://schemas.microsoft.com/office/drawing/2014/main" id="{DE347DE7-4F8A-F8A1-E8D3-0F625E7CB268}"/>
              </a:ext>
            </a:extLst>
          </p:cNvPr>
          <p:cNvSpPr txBox="1"/>
          <p:nvPr/>
        </p:nvSpPr>
        <p:spPr>
          <a:xfrm>
            <a:off x="1011862" y="1856135"/>
            <a:ext cx="4862195" cy="3198120"/>
          </a:xfrm>
          <a:prstGeom prst="rect">
            <a:avLst/>
          </a:prstGeom>
          <a:noFill/>
        </p:spPr>
        <p:txBody>
          <a:bodyPr wrap="square">
            <a:spAutoFit/>
          </a:bodyPr>
          <a:lstStyle/>
          <a:p>
            <a:pPr algn="just">
              <a:lnSpc>
                <a:spcPct val="150000"/>
              </a:lnSpc>
              <a:spcBef>
                <a:spcPts val="300"/>
              </a:spcBef>
              <a:spcAft>
                <a:spcPts val="300"/>
              </a:spcAft>
              <a:buNone/>
            </a:pPr>
            <a:r>
              <a:rPr lang="zh-CN" altLang="en-US" sz="2000" b="1" i="0" dirty="0">
                <a:solidFill>
                  <a:srgbClr val="060A26"/>
                </a:solidFill>
                <a:effectLst/>
                <a:latin typeface="微软雅黑" panose="020B0503020204020204" pitchFamily="34" charset="-122"/>
                <a:ea typeface="微软雅黑" panose="020B0503020204020204" pitchFamily="34" charset="-122"/>
              </a:rPr>
              <a:t>后处理校验与错误修正 </a:t>
            </a:r>
            <a:r>
              <a:rPr lang="en-US" altLang="zh-CN" sz="2000" b="1" i="0" dirty="0">
                <a:solidFill>
                  <a:srgbClr val="060A26"/>
                </a:solidFill>
                <a:effectLst/>
                <a:latin typeface="微软雅黑" panose="020B0503020204020204" pitchFamily="34" charset="-122"/>
                <a:ea typeface="微软雅黑" panose="020B0503020204020204" pitchFamily="34" charset="-122"/>
              </a:rPr>
              <a:t>(Post-hoc Validation)</a:t>
            </a:r>
          </a:p>
          <a:p>
            <a:pPr marL="285750" indent="-285750" algn="just">
              <a:lnSpc>
                <a:spcPct val="150000"/>
              </a:lnSpc>
              <a:spcBef>
                <a:spcPts val="300"/>
              </a:spcBef>
              <a:spcAft>
                <a:spcPts val="300"/>
              </a:spcAft>
              <a:buFont typeface="Wingdings" panose="05000000000000000000" pitchFamily="2" charset="2"/>
              <a:buChar char="l"/>
            </a:pPr>
            <a:r>
              <a:rPr lang="zh-CN" altLang="en-US" b="0" i="0" dirty="0">
                <a:solidFill>
                  <a:srgbClr val="060A26"/>
                </a:solidFill>
                <a:effectLst/>
                <a:latin typeface="微软雅黑" panose="020B0503020204020204" pitchFamily="34" charset="-122"/>
                <a:ea typeface="微软雅黑" panose="020B0503020204020204" pitchFamily="34" charset="-122"/>
              </a:rPr>
              <a:t>核心痛点：传统模型容易在讽刺、反语等复杂语义上误判。</a:t>
            </a:r>
          </a:p>
          <a:p>
            <a:pPr marL="285750" indent="-285750" algn="just">
              <a:lnSpc>
                <a:spcPct val="150000"/>
              </a:lnSpc>
              <a:spcBef>
                <a:spcPts val="300"/>
              </a:spcBef>
              <a:spcAft>
                <a:spcPts val="300"/>
              </a:spcAft>
              <a:buFont typeface="Wingdings" panose="05000000000000000000" pitchFamily="2" charset="2"/>
              <a:buChar char="l"/>
            </a:pPr>
            <a:r>
              <a:rPr lang="zh-CN" altLang="en-US" b="0" i="0" dirty="0">
                <a:solidFill>
                  <a:srgbClr val="060A26"/>
                </a:solidFill>
                <a:effectLst/>
                <a:latin typeface="微软雅黑" panose="020B0503020204020204" pitchFamily="34" charset="-122"/>
                <a:ea typeface="微软雅黑" panose="020B0503020204020204" pitchFamily="34" charset="-122"/>
              </a:rPr>
              <a:t>解决方案：</a:t>
            </a:r>
            <a:r>
              <a:rPr lang="en-US" altLang="zh-CN" b="0" i="0" dirty="0">
                <a:solidFill>
                  <a:srgbClr val="060A26"/>
                </a:solidFill>
                <a:effectLst/>
                <a:latin typeface="微软雅黑" panose="020B0503020204020204" pitchFamily="34" charset="-122"/>
                <a:ea typeface="微软雅黑" panose="020B0503020204020204" pitchFamily="34" charset="-122"/>
              </a:rPr>
              <a:t>LLMs</a:t>
            </a:r>
            <a:r>
              <a:rPr lang="zh-CN" altLang="en-US" b="0" i="0" dirty="0">
                <a:solidFill>
                  <a:srgbClr val="060A26"/>
                </a:solidFill>
                <a:effectLst/>
                <a:latin typeface="微软雅黑" panose="020B0503020204020204" pitchFamily="34" charset="-122"/>
                <a:ea typeface="微软雅黑" panose="020B0503020204020204" pitchFamily="34" charset="-122"/>
              </a:rPr>
              <a:t>作为“智能校验器”，对传统模型的输出进行语义层面的合理性判断与修正，提升系统鲁棒性。</a:t>
            </a:r>
          </a:p>
        </p:txBody>
      </p:sp>
      <p:sp>
        <p:nvSpPr>
          <p:cNvPr id="9" name="文本框 8">
            <a:extLst>
              <a:ext uri="{FF2B5EF4-FFF2-40B4-BE49-F238E27FC236}">
                <a16:creationId xmlns:a16="http://schemas.microsoft.com/office/drawing/2014/main" id="{85745063-7B57-61FB-EEBF-21D20FFD5B87}"/>
              </a:ext>
            </a:extLst>
          </p:cNvPr>
          <p:cNvSpPr txBox="1"/>
          <p:nvPr/>
        </p:nvSpPr>
        <p:spPr>
          <a:xfrm>
            <a:off x="5446875" y="5433020"/>
            <a:ext cx="6701790" cy="923330"/>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Social Robot Detection Based on LLM and  LSTM-LDA Model</a:t>
            </a:r>
            <a:r>
              <a:rPr lang="zh-CN" altLang="en-US" dirty="0">
                <a:solidFill>
                  <a:schemeClr val="bg2">
                    <a:lumMod val="10000"/>
                  </a:schemeClr>
                </a:solidFill>
                <a:latin typeface="微软雅黑" panose="020B0503020204020204" pitchFamily="34" charset="-122"/>
                <a:ea typeface="微软雅黑" panose="020B0503020204020204" pitchFamily="34" charset="-122"/>
              </a:rPr>
              <a:t> （</a:t>
            </a:r>
            <a:r>
              <a:rPr lang="en-US" altLang="zh-CN" dirty="0">
                <a:solidFill>
                  <a:schemeClr val="bg2">
                    <a:lumMod val="10000"/>
                  </a:schemeClr>
                </a:solidFill>
                <a:latin typeface="微软雅黑" panose="020B0503020204020204" pitchFamily="34" charset="-122"/>
                <a:ea typeface="微软雅黑" panose="020B0503020204020204" pitchFamily="34" charset="-122"/>
              </a:rPr>
              <a:t>WI-IAT, CCF-C )</a:t>
            </a:r>
          </a:p>
          <a:p>
            <a:pPr algn="ctr"/>
            <a:r>
              <a:rPr lang="zh-CN" altLang="en-US" dirty="0">
                <a:solidFill>
                  <a:schemeClr val="bg2">
                    <a:lumMod val="10000"/>
                  </a:schemeClr>
                </a:solidFill>
                <a:latin typeface="微软雅黑" panose="020B0503020204020204" pitchFamily="34" charset="-122"/>
                <a:ea typeface="微软雅黑" panose="020B0503020204020204" pitchFamily="34" charset="-122"/>
              </a:rPr>
              <a:t>北京工商大学，计算机与人工智能学院</a:t>
            </a:r>
          </a:p>
        </p:txBody>
      </p:sp>
      <p:pic>
        <p:nvPicPr>
          <p:cNvPr id="11" name="图片 10">
            <a:extLst>
              <a:ext uri="{FF2B5EF4-FFF2-40B4-BE49-F238E27FC236}">
                <a16:creationId xmlns:a16="http://schemas.microsoft.com/office/drawing/2014/main" id="{CAA96DBE-4EF5-4163-FAC6-5BD6549B61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5631" y="1276438"/>
            <a:ext cx="3204277" cy="3967200"/>
          </a:xfrm>
          <a:prstGeom prst="rect">
            <a:avLst/>
          </a:prstGeom>
          <a:effectLst>
            <a:outerShdw blurRad="114300" dist="63500" dir="2700000" sx="103000" sy="103000" algn="tl" rotWithShape="0">
              <a:prstClr val="black">
                <a:alpha val="39000"/>
              </a:prstClr>
            </a:outerShdw>
          </a:effectLst>
        </p:spPr>
      </p:pic>
    </p:spTree>
    <p:extLst>
      <p:ext uri="{BB962C8B-B14F-4D97-AF65-F5344CB8AC3E}">
        <p14:creationId xmlns:p14="http://schemas.microsoft.com/office/powerpoint/2010/main" val="1678333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A2F65-4B74-6119-67A1-BDDDEC426010}"/>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A1BE08E7-A60C-137F-5FD1-EF2B941F0BBE}"/>
              </a:ext>
            </a:extLst>
          </p:cNvPr>
          <p:cNvSpPr>
            <a:spLocks noGrp="1"/>
          </p:cNvSpPr>
          <p:nvPr>
            <p:ph type="sldNum" sz="quarter" idx="10"/>
          </p:nvPr>
        </p:nvSpPr>
        <p:spPr/>
        <p:txBody>
          <a:bodyPr/>
          <a:lstStyle/>
          <a:p>
            <a:fld id="{023126B9-07AC-4BAF-B3D7-FAC1D3999DA4}" type="slidenum">
              <a:rPr lang="zh-CN" altLang="en-US" smtClean="0"/>
              <a:t>13</a:t>
            </a:fld>
            <a:endParaRPr lang="zh-CN" altLang="en-US" dirty="0"/>
          </a:p>
        </p:txBody>
      </p:sp>
      <p:sp>
        <p:nvSpPr>
          <p:cNvPr id="15" name="任意多边形 14">
            <a:extLst>
              <a:ext uri="{FF2B5EF4-FFF2-40B4-BE49-F238E27FC236}">
                <a16:creationId xmlns:a16="http://schemas.microsoft.com/office/drawing/2014/main" id="{A81639AD-BAE3-8AB6-621B-165A68C4E04E}"/>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6FF924AC-1EA0-DF65-C3C0-648E53052D25}"/>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4" name="文本框 3">
            <a:extLst>
              <a:ext uri="{FF2B5EF4-FFF2-40B4-BE49-F238E27FC236}">
                <a16:creationId xmlns:a16="http://schemas.microsoft.com/office/drawing/2014/main" id="{526B18C3-9650-F9C4-A6E0-BE3CCFB7BFFF}"/>
              </a:ext>
            </a:extLst>
          </p:cNvPr>
          <p:cNvSpPr txBox="1"/>
          <p:nvPr/>
        </p:nvSpPr>
        <p:spPr>
          <a:xfrm>
            <a:off x="815783" y="1536037"/>
            <a:ext cx="10770872" cy="4352282"/>
          </a:xfrm>
          <a:prstGeom prst="rect">
            <a:avLst/>
          </a:prstGeom>
          <a:noFill/>
        </p:spPr>
        <p:txBody>
          <a:bodyPr wrap="square">
            <a:spAutoFit/>
          </a:bodyPr>
          <a:lstStyle/>
          <a:p>
            <a:pPr algn="just">
              <a:lnSpc>
                <a:spcPct val="150000"/>
              </a:lnSpc>
              <a:spcBef>
                <a:spcPts val="300"/>
              </a:spcBef>
              <a:spcAft>
                <a:spcPts val="300"/>
              </a:spcAft>
              <a:buNone/>
            </a:pPr>
            <a:r>
              <a:rPr lang="zh-CN" altLang="en-US" b="1" i="0" dirty="0">
                <a:solidFill>
                  <a:srgbClr val="060A26"/>
                </a:solidFill>
                <a:effectLst/>
                <a:latin typeface="微软雅黑" panose="020B0503020204020204" pitchFamily="34" charset="-122"/>
                <a:ea typeface="微软雅黑" panose="020B0503020204020204" pitchFamily="34" charset="-122"/>
              </a:rPr>
              <a:t>摘要</a:t>
            </a:r>
            <a:r>
              <a:rPr lang="zh-CN" altLang="en-US" i="0" dirty="0">
                <a:solidFill>
                  <a:srgbClr val="060A26"/>
                </a:solidFill>
                <a:effectLst/>
                <a:latin typeface="微软雅黑" panose="020B0503020204020204" pitchFamily="34" charset="-122"/>
                <a:ea typeface="微软雅黑" panose="020B0503020204020204" pitchFamily="34" charset="-122"/>
              </a:rPr>
              <a:t>：近年来，短视频平台发展迅猛，用户数量也呈爆发式增长。与传统社交平台不同，短视频平台凭借其精准的推送功能和独特的互动方式，吸引了大量用户加入，在社交生态中扮演着举足轻重的角色。然而，</a:t>
            </a:r>
            <a:r>
              <a:rPr lang="zh-CN" altLang="en-US" b="1" i="0" dirty="0">
                <a:solidFill>
                  <a:srgbClr val="060A26"/>
                </a:solidFill>
                <a:effectLst/>
                <a:latin typeface="微软雅黑" panose="020B0503020204020204" pitchFamily="34" charset="-122"/>
                <a:ea typeface="微软雅黑" panose="020B0503020204020204" pitchFamily="34" charset="-122"/>
              </a:rPr>
              <a:t>大量社交机器人也随之涌入短视频平台，它们被用来散布虚假信息、谣言或误导性内容，造成了负面影响</a:t>
            </a:r>
            <a:r>
              <a:rPr lang="zh-CN" altLang="en-US" i="0" dirty="0">
                <a:solidFill>
                  <a:srgbClr val="060A26"/>
                </a:solidFill>
                <a:effectLst/>
                <a:latin typeface="微软雅黑" panose="020B0503020204020204" pitchFamily="34" charset="-122"/>
                <a:ea typeface="微软雅黑" panose="020B0503020204020204" pitchFamily="34" charset="-122"/>
              </a:rPr>
              <a:t>。为了更好地检测这些社交机器人，我们从排名前二的短视频平台之一</a:t>
            </a:r>
            <a:r>
              <a:rPr lang="en-US" altLang="zh-CN" i="0" dirty="0">
                <a:solidFill>
                  <a:srgbClr val="060A26"/>
                </a:solidFill>
                <a:effectLst/>
                <a:latin typeface="微软雅黑" panose="020B0503020204020204" pitchFamily="34" charset="-122"/>
                <a:ea typeface="微软雅黑" panose="020B0503020204020204" pitchFamily="34" charset="-122"/>
              </a:rPr>
              <a:t>——</a:t>
            </a:r>
            <a:r>
              <a:rPr lang="zh-CN" altLang="en-US" i="0" dirty="0">
                <a:solidFill>
                  <a:srgbClr val="060A26"/>
                </a:solidFill>
                <a:effectLst/>
                <a:latin typeface="微软雅黑" panose="020B0503020204020204" pitchFamily="34" charset="-122"/>
                <a:ea typeface="微软雅黑" panose="020B0503020204020204" pitchFamily="34" charset="-122"/>
              </a:rPr>
              <a:t>快手，收集了约</a:t>
            </a:r>
            <a:r>
              <a:rPr lang="en-US" altLang="zh-CN" i="0" dirty="0">
                <a:solidFill>
                  <a:srgbClr val="060A26"/>
                </a:solidFill>
                <a:effectLst/>
                <a:latin typeface="微软雅黑" panose="020B0503020204020204" pitchFamily="34" charset="-122"/>
                <a:ea typeface="微软雅黑" panose="020B0503020204020204" pitchFamily="34" charset="-122"/>
              </a:rPr>
              <a:t>50</a:t>
            </a:r>
            <a:r>
              <a:rPr lang="zh-CN" altLang="en-US" i="0" dirty="0">
                <a:solidFill>
                  <a:srgbClr val="060A26"/>
                </a:solidFill>
                <a:effectLst/>
                <a:latin typeface="微软雅黑" panose="020B0503020204020204" pitchFamily="34" charset="-122"/>
                <a:ea typeface="微软雅黑" panose="020B0503020204020204" pitchFamily="34" charset="-122"/>
              </a:rPr>
              <a:t>万用户的数据，并提取了短视频平台社交机器人独有的四个特征：异常的日发布频率、异常的发帖间隔、发帖与评论内容的异常相似度，以及异常的活动数量。我们使用</a:t>
            </a:r>
            <a:r>
              <a:rPr lang="en-US" altLang="zh-CN" i="0" dirty="0">
                <a:solidFill>
                  <a:srgbClr val="060A26"/>
                </a:solidFill>
                <a:effectLst/>
                <a:latin typeface="微软雅黑" panose="020B0503020204020204" pitchFamily="34" charset="-122"/>
                <a:ea typeface="微软雅黑" panose="020B0503020204020204" pitchFamily="34" charset="-122"/>
              </a:rPr>
              <a:t>LSTM</a:t>
            </a:r>
            <a:r>
              <a:rPr lang="zh-CN" altLang="en-US" i="0" dirty="0">
                <a:solidFill>
                  <a:srgbClr val="060A26"/>
                </a:solidFill>
                <a:effectLst/>
                <a:latin typeface="微软雅黑" panose="020B0503020204020204" pitchFamily="34" charset="-122"/>
                <a:ea typeface="微软雅黑" panose="020B0503020204020204" pitchFamily="34" charset="-122"/>
              </a:rPr>
              <a:t>和</a:t>
            </a:r>
            <a:r>
              <a:rPr lang="en-US" altLang="zh-CN" i="0" dirty="0">
                <a:solidFill>
                  <a:srgbClr val="060A26"/>
                </a:solidFill>
                <a:effectLst/>
                <a:latin typeface="微软雅黑" panose="020B0503020204020204" pitchFamily="34" charset="-122"/>
                <a:ea typeface="微软雅黑" panose="020B0503020204020204" pitchFamily="34" charset="-122"/>
              </a:rPr>
              <a:t>LDA</a:t>
            </a:r>
            <a:r>
              <a:rPr lang="zh-CN" altLang="en-US" i="0" dirty="0">
                <a:solidFill>
                  <a:srgbClr val="060A26"/>
                </a:solidFill>
                <a:effectLst/>
                <a:latin typeface="微软雅黑" panose="020B0503020204020204" pitchFamily="34" charset="-122"/>
                <a:ea typeface="微软雅黑" panose="020B0503020204020204" pitchFamily="34" charset="-122"/>
              </a:rPr>
              <a:t>模型来捕捉用户评论的情感倾向，以及原创视频内容与其评论之间的主题相似性，这有助于更准确地识别社交机器人。同时，</a:t>
            </a:r>
            <a:r>
              <a:rPr lang="zh-CN" altLang="en-US" b="1" i="0" dirty="0">
                <a:solidFill>
                  <a:srgbClr val="060A2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我们还利用大语言模型（</a:t>
            </a:r>
            <a:r>
              <a:rPr lang="en-US" altLang="zh-CN" b="1" i="0" dirty="0">
                <a:solidFill>
                  <a:srgbClr val="060A2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LLM</a:t>
            </a:r>
            <a:r>
              <a:rPr lang="zh-CN" altLang="en-US" b="1" i="0" dirty="0">
                <a:solidFill>
                  <a:srgbClr val="060A2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）对获取的情感倾向进行验证，以确保其准确性。</a:t>
            </a:r>
            <a:r>
              <a:rPr lang="zh-CN" altLang="en-US" i="0" dirty="0">
                <a:solidFill>
                  <a:srgbClr val="060A26"/>
                </a:solidFill>
                <a:effectLst/>
                <a:latin typeface="微软雅黑" panose="020B0503020204020204" pitchFamily="34" charset="-122"/>
                <a:ea typeface="微软雅黑" panose="020B0503020204020204" pitchFamily="34" charset="-122"/>
              </a:rPr>
              <a:t>与仅使用随机森林模型获得的其他检测结果相比，我们提出的基于</a:t>
            </a:r>
            <a:r>
              <a:rPr lang="en-US" altLang="zh-CN" i="0" dirty="0">
                <a:solidFill>
                  <a:srgbClr val="060A26"/>
                </a:solidFill>
                <a:effectLst/>
                <a:latin typeface="微软雅黑" panose="020B0503020204020204" pitchFamily="34" charset="-122"/>
                <a:ea typeface="微软雅黑" panose="020B0503020204020204" pitchFamily="34" charset="-122"/>
              </a:rPr>
              <a:t>LSTM</a:t>
            </a:r>
            <a:r>
              <a:rPr lang="zh-CN" altLang="en-US" i="0" dirty="0">
                <a:solidFill>
                  <a:srgbClr val="060A26"/>
                </a:solidFill>
                <a:effectLst/>
                <a:latin typeface="微软雅黑" panose="020B0503020204020204" pitchFamily="34" charset="-122"/>
                <a:ea typeface="微软雅黑" panose="020B0503020204020204" pitchFamily="34" charset="-122"/>
              </a:rPr>
              <a:t>和</a:t>
            </a:r>
            <a:r>
              <a:rPr lang="en-US" altLang="zh-CN" i="0" dirty="0">
                <a:solidFill>
                  <a:srgbClr val="060A26"/>
                </a:solidFill>
                <a:effectLst/>
                <a:latin typeface="微软雅黑" panose="020B0503020204020204" pitchFamily="34" charset="-122"/>
                <a:ea typeface="微软雅黑" panose="020B0503020204020204" pitchFamily="34" charset="-122"/>
              </a:rPr>
              <a:t>LDA</a:t>
            </a:r>
            <a:r>
              <a:rPr lang="zh-CN" altLang="en-US" i="0" dirty="0">
                <a:solidFill>
                  <a:srgbClr val="060A26"/>
                </a:solidFill>
                <a:effectLst/>
                <a:latin typeface="微软雅黑" panose="020B0503020204020204" pitchFamily="34" charset="-122"/>
                <a:ea typeface="微软雅黑" panose="020B0503020204020204" pitchFamily="34" charset="-122"/>
              </a:rPr>
              <a:t>模型的短视频平台社交机器人检测方法，其召回率提高了约</a:t>
            </a:r>
            <a:r>
              <a:rPr lang="en-US" altLang="zh-CN" i="0" dirty="0">
                <a:solidFill>
                  <a:srgbClr val="060A26"/>
                </a:solidFill>
                <a:effectLst/>
                <a:latin typeface="微软雅黑" panose="020B0503020204020204" pitchFamily="34" charset="-122"/>
                <a:ea typeface="微软雅黑" panose="020B0503020204020204" pitchFamily="34" charset="-122"/>
              </a:rPr>
              <a:t>4%</a:t>
            </a:r>
            <a:r>
              <a:rPr lang="zh-CN" altLang="en-US" i="0" dirty="0">
                <a:solidFill>
                  <a:srgbClr val="060A26"/>
                </a:solidFill>
                <a:effectLst/>
                <a:latin typeface="微软雅黑" panose="020B0503020204020204" pitchFamily="34" charset="-122"/>
                <a:ea typeface="微软雅黑" panose="020B0503020204020204" pitchFamily="34" charset="-122"/>
              </a:rPr>
              <a:t>，</a:t>
            </a:r>
            <a:r>
              <a:rPr lang="en-US" altLang="zh-CN" i="0" dirty="0">
                <a:solidFill>
                  <a:srgbClr val="060A26"/>
                </a:solidFill>
                <a:effectLst/>
                <a:latin typeface="微软雅黑" panose="020B0503020204020204" pitchFamily="34" charset="-122"/>
                <a:ea typeface="微软雅黑" panose="020B0503020204020204" pitchFamily="34" charset="-122"/>
              </a:rPr>
              <a:t>F1</a:t>
            </a:r>
            <a:r>
              <a:rPr lang="zh-CN" altLang="en-US" i="0" dirty="0">
                <a:solidFill>
                  <a:srgbClr val="060A26"/>
                </a:solidFill>
                <a:effectLst/>
                <a:latin typeface="微软雅黑" panose="020B0503020204020204" pitchFamily="34" charset="-122"/>
                <a:ea typeface="微软雅黑" panose="020B0503020204020204" pitchFamily="34" charset="-122"/>
              </a:rPr>
              <a:t>分数也提高了约</a:t>
            </a:r>
            <a:r>
              <a:rPr lang="en-US" altLang="zh-CN" i="0" dirty="0">
                <a:solidFill>
                  <a:srgbClr val="060A26"/>
                </a:solidFill>
                <a:effectLst/>
                <a:latin typeface="微软雅黑" panose="020B0503020204020204" pitchFamily="34" charset="-122"/>
                <a:ea typeface="微软雅黑" panose="020B0503020204020204" pitchFamily="34" charset="-122"/>
              </a:rPr>
              <a:t>4%</a:t>
            </a:r>
            <a:r>
              <a:rPr lang="zh-CN" altLang="en-US" i="0" dirty="0">
                <a:solidFill>
                  <a:srgbClr val="060A26"/>
                </a:solidFill>
                <a:effectLst/>
                <a:latin typeface="微软雅黑" panose="020B0503020204020204" pitchFamily="34" charset="-122"/>
                <a:ea typeface="微软雅黑" panose="020B0503020204020204" pitchFamily="34" charset="-122"/>
              </a:rPr>
              <a:t>。</a:t>
            </a:r>
          </a:p>
        </p:txBody>
      </p:sp>
      <p:sp>
        <p:nvSpPr>
          <p:cNvPr id="9" name="文本框 8">
            <a:extLst>
              <a:ext uri="{FF2B5EF4-FFF2-40B4-BE49-F238E27FC236}">
                <a16:creationId xmlns:a16="http://schemas.microsoft.com/office/drawing/2014/main" id="{2161D3C2-CB0A-C22F-DECC-2A406AA8233C}"/>
              </a:ext>
            </a:extLst>
          </p:cNvPr>
          <p:cNvSpPr txBox="1"/>
          <p:nvPr/>
        </p:nvSpPr>
        <p:spPr>
          <a:xfrm>
            <a:off x="-173381" y="1064855"/>
            <a:ext cx="12538762" cy="369332"/>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Social Robot Detection Based on LLM and  LSTM-LDA Model</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WI-IAT, CCF-C)</a:t>
            </a:r>
          </a:p>
        </p:txBody>
      </p:sp>
      <p:sp>
        <p:nvSpPr>
          <p:cNvPr id="2" name="文本框 1">
            <a:extLst>
              <a:ext uri="{FF2B5EF4-FFF2-40B4-BE49-F238E27FC236}">
                <a16:creationId xmlns:a16="http://schemas.microsoft.com/office/drawing/2014/main" id="{53BD2DB8-D52F-BCA2-2DF6-C7C16900A6A5}"/>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模型微调与任务适配</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2716477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739C9-318E-807C-7680-BEEF4EA726E8}"/>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21F88D32-1064-F032-8E5A-FE04DB0F14B0}"/>
              </a:ext>
            </a:extLst>
          </p:cNvPr>
          <p:cNvSpPr>
            <a:spLocks noGrp="1"/>
          </p:cNvSpPr>
          <p:nvPr>
            <p:ph type="sldNum" sz="quarter" idx="10"/>
          </p:nvPr>
        </p:nvSpPr>
        <p:spPr/>
        <p:txBody>
          <a:bodyPr/>
          <a:lstStyle/>
          <a:p>
            <a:fld id="{023126B9-07AC-4BAF-B3D7-FAC1D3999DA4}" type="slidenum">
              <a:rPr lang="zh-CN" altLang="en-US" smtClean="0"/>
              <a:t>14</a:t>
            </a:fld>
            <a:endParaRPr lang="zh-CN" altLang="en-US" dirty="0"/>
          </a:p>
        </p:txBody>
      </p:sp>
      <p:sp>
        <p:nvSpPr>
          <p:cNvPr id="15" name="任意多边形 14">
            <a:extLst>
              <a:ext uri="{FF2B5EF4-FFF2-40B4-BE49-F238E27FC236}">
                <a16:creationId xmlns:a16="http://schemas.microsoft.com/office/drawing/2014/main" id="{2FFB83EC-87ED-9E90-6741-D4BDAD31A9B2}"/>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1CC00CDB-1D8C-1F0D-E0E5-FD83D9016C6B}"/>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2" name="文本框 1">
            <a:extLst>
              <a:ext uri="{FF2B5EF4-FFF2-40B4-BE49-F238E27FC236}">
                <a16:creationId xmlns:a16="http://schemas.microsoft.com/office/drawing/2014/main" id="{B76E4F86-E8D3-CD36-CCAE-77F70CE04BDB}"/>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模型微调与任务适配</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6" name="文本框 5">
            <a:extLst>
              <a:ext uri="{FF2B5EF4-FFF2-40B4-BE49-F238E27FC236}">
                <a16:creationId xmlns:a16="http://schemas.microsoft.com/office/drawing/2014/main" id="{127564D3-D35F-D9BE-65BA-8924FF73F07C}"/>
              </a:ext>
            </a:extLst>
          </p:cNvPr>
          <p:cNvSpPr txBox="1"/>
          <p:nvPr/>
        </p:nvSpPr>
        <p:spPr>
          <a:xfrm>
            <a:off x="-173381" y="1064855"/>
            <a:ext cx="12538762" cy="369332"/>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Social Robot Detection Based on LLM and  LSTM-LDA Model</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a:solidFill>
                  <a:schemeClr val="bg2">
                    <a:lumMod val="10000"/>
                  </a:schemeClr>
                </a:solidFill>
                <a:latin typeface="微软雅黑" panose="020B0503020204020204" pitchFamily="34" charset="-122"/>
                <a:ea typeface="微软雅黑" panose="020B0503020204020204" pitchFamily="34" charset="-122"/>
              </a:rPr>
              <a:t>WI-IAT, CCF-C</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7A1884CF-0A05-26E0-EE8C-71B5C73525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6965" y="1681796"/>
            <a:ext cx="4278858" cy="4680000"/>
          </a:xfrm>
          <a:prstGeom prst="rect">
            <a:avLst/>
          </a:prstGeom>
        </p:spPr>
      </p:pic>
      <p:pic>
        <p:nvPicPr>
          <p:cNvPr id="11" name="图片 10">
            <a:extLst>
              <a:ext uri="{FF2B5EF4-FFF2-40B4-BE49-F238E27FC236}">
                <a16:creationId xmlns:a16="http://schemas.microsoft.com/office/drawing/2014/main" id="{41B1080D-3766-B5EF-55D2-D26F560A2D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82617" y="1756374"/>
            <a:ext cx="3635622" cy="4680000"/>
          </a:xfrm>
          <a:prstGeom prst="rect">
            <a:avLst/>
          </a:prstGeom>
        </p:spPr>
      </p:pic>
    </p:spTree>
    <p:extLst>
      <p:ext uri="{BB962C8B-B14F-4D97-AF65-F5344CB8AC3E}">
        <p14:creationId xmlns:p14="http://schemas.microsoft.com/office/powerpoint/2010/main" val="2490616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53D84-E7C6-4F98-3D0F-070BBCA8C1C4}"/>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4F1881B6-CEDC-EECB-65F6-188BDF4654C7}"/>
              </a:ext>
            </a:extLst>
          </p:cNvPr>
          <p:cNvSpPr>
            <a:spLocks noGrp="1"/>
          </p:cNvSpPr>
          <p:nvPr>
            <p:ph type="sldNum" sz="quarter" idx="10"/>
          </p:nvPr>
        </p:nvSpPr>
        <p:spPr/>
        <p:txBody>
          <a:bodyPr/>
          <a:lstStyle/>
          <a:p>
            <a:fld id="{023126B9-07AC-4BAF-B3D7-FAC1D3999DA4}" type="slidenum">
              <a:rPr lang="zh-CN" altLang="en-US" smtClean="0"/>
              <a:t>15</a:t>
            </a:fld>
            <a:endParaRPr lang="zh-CN" altLang="en-US" dirty="0"/>
          </a:p>
        </p:txBody>
      </p:sp>
      <p:sp>
        <p:nvSpPr>
          <p:cNvPr id="15" name="任意多边形 14">
            <a:extLst>
              <a:ext uri="{FF2B5EF4-FFF2-40B4-BE49-F238E27FC236}">
                <a16:creationId xmlns:a16="http://schemas.microsoft.com/office/drawing/2014/main" id="{B85E3537-CE05-92A0-42E3-DC52F8348CD1}"/>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9DA68C97-4390-594C-F14B-CED2454D41D9}"/>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C66AD116-EB1F-044F-C303-C012B1843ECB}"/>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逻辑推理与可解释性</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4" name="文本框 3">
            <a:extLst>
              <a:ext uri="{FF2B5EF4-FFF2-40B4-BE49-F238E27FC236}">
                <a16:creationId xmlns:a16="http://schemas.microsoft.com/office/drawing/2014/main" id="{E7F68CE2-8B4D-064B-A33E-E8AE9E11D7FB}"/>
              </a:ext>
            </a:extLst>
          </p:cNvPr>
          <p:cNvSpPr txBox="1"/>
          <p:nvPr/>
        </p:nvSpPr>
        <p:spPr>
          <a:xfrm>
            <a:off x="1011862" y="1856135"/>
            <a:ext cx="4862195" cy="3198120"/>
          </a:xfrm>
          <a:prstGeom prst="rect">
            <a:avLst/>
          </a:prstGeom>
          <a:noFill/>
        </p:spPr>
        <p:txBody>
          <a:bodyPr wrap="square">
            <a:spAutoFit/>
          </a:bodyPr>
          <a:lstStyle/>
          <a:p>
            <a:pPr algn="just">
              <a:lnSpc>
                <a:spcPct val="150000"/>
              </a:lnSpc>
              <a:spcBef>
                <a:spcPts val="300"/>
              </a:spcBef>
              <a:spcAft>
                <a:spcPts val="300"/>
              </a:spcAft>
              <a:buNone/>
            </a:pPr>
            <a:r>
              <a:rPr lang="zh-CN" altLang="en-US" sz="2000" b="1" i="0" dirty="0">
                <a:solidFill>
                  <a:srgbClr val="060A26"/>
                </a:solidFill>
                <a:effectLst/>
                <a:latin typeface="微软雅黑" panose="020B0503020204020204" pitchFamily="34" charset="-122"/>
                <a:ea typeface="微软雅黑" panose="020B0503020204020204" pitchFamily="34" charset="-122"/>
              </a:rPr>
              <a:t>逻辑推理与可解释性 </a:t>
            </a:r>
            <a:r>
              <a:rPr lang="en-US" altLang="zh-CN" sz="2000" b="1" i="0" dirty="0">
                <a:solidFill>
                  <a:srgbClr val="060A26"/>
                </a:solidFill>
                <a:effectLst/>
                <a:latin typeface="微软雅黑" panose="020B0503020204020204" pitchFamily="34" charset="-122"/>
                <a:ea typeface="微软雅黑" panose="020B0503020204020204" pitchFamily="34" charset="-122"/>
              </a:rPr>
              <a:t>(Reasoning &amp; Explainability)</a:t>
            </a:r>
          </a:p>
          <a:p>
            <a:pPr marL="285750" indent="-285750" algn="just">
              <a:lnSpc>
                <a:spcPct val="150000"/>
              </a:lnSpc>
              <a:spcBef>
                <a:spcPts val="300"/>
              </a:spcBef>
              <a:spcAft>
                <a:spcPts val="300"/>
              </a:spcAft>
              <a:buFont typeface="Wingdings" panose="05000000000000000000" pitchFamily="2" charset="2"/>
              <a:buChar char="l"/>
            </a:pPr>
            <a:r>
              <a:rPr lang="zh-CN" altLang="en-US" b="0" i="0" dirty="0">
                <a:solidFill>
                  <a:srgbClr val="060A26"/>
                </a:solidFill>
                <a:effectLst/>
                <a:latin typeface="微软雅黑" panose="020B0503020204020204" pitchFamily="34" charset="-122"/>
                <a:ea typeface="微软雅黑" panose="020B0503020204020204" pitchFamily="34" charset="-122"/>
              </a:rPr>
              <a:t>核心痛点：传统检测是“黑箱”，无法解释为什么是假新闻或漏洞。</a:t>
            </a:r>
            <a:endParaRPr lang="en-US" altLang="zh-CN" b="0" i="0" dirty="0">
              <a:solidFill>
                <a:srgbClr val="060A26"/>
              </a:solidFill>
              <a:effectLst/>
              <a:latin typeface="微软雅黑" panose="020B0503020204020204" pitchFamily="34" charset="-122"/>
              <a:ea typeface="微软雅黑" panose="020B0503020204020204" pitchFamily="34" charset="-122"/>
            </a:endParaRPr>
          </a:p>
          <a:p>
            <a:pPr marL="285750" indent="-285750" algn="just">
              <a:lnSpc>
                <a:spcPct val="150000"/>
              </a:lnSpc>
              <a:spcBef>
                <a:spcPts val="300"/>
              </a:spcBef>
              <a:spcAft>
                <a:spcPts val="300"/>
              </a:spcAft>
              <a:buFont typeface="Wingdings" panose="05000000000000000000" pitchFamily="2" charset="2"/>
              <a:buChar char="l"/>
            </a:pPr>
            <a:r>
              <a:rPr lang="zh-CN" altLang="en-US" b="0" i="0" dirty="0">
                <a:solidFill>
                  <a:srgbClr val="060A26"/>
                </a:solidFill>
                <a:effectLst/>
                <a:latin typeface="微软雅黑" panose="020B0503020204020204" pitchFamily="34" charset="-122"/>
                <a:ea typeface="微软雅黑" panose="020B0503020204020204" pitchFamily="34" charset="-122"/>
              </a:rPr>
              <a:t>解决方案：</a:t>
            </a:r>
            <a:r>
              <a:rPr lang="en-US" altLang="zh-CN" b="0" i="0" dirty="0">
                <a:solidFill>
                  <a:srgbClr val="060A26"/>
                </a:solidFill>
                <a:effectLst/>
                <a:latin typeface="微软雅黑" panose="020B0503020204020204" pitchFamily="34" charset="-122"/>
                <a:ea typeface="微软雅黑" panose="020B0503020204020204" pitchFamily="34" charset="-122"/>
              </a:rPr>
              <a:t>LLMs</a:t>
            </a:r>
            <a:r>
              <a:rPr lang="zh-CN" altLang="en-US" b="0" i="0" dirty="0">
                <a:solidFill>
                  <a:srgbClr val="060A26"/>
                </a:solidFill>
                <a:effectLst/>
                <a:latin typeface="微软雅黑" panose="020B0503020204020204" pitchFamily="34" charset="-122"/>
                <a:ea typeface="微软雅黑" panose="020B0503020204020204" pitchFamily="34" charset="-122"/>
              </a:rPr>
              <a:t>通过自然语言推理，生成检测决策的解释性理由，将“黑箱预测”转变为“可解释决策”。</a:t>
            </a:r>
          </a:p>
        </p:txBody>
      </p:sp>
      <p:sp>
        <p:nvSpPr>
          <p:cNvPr id="9" name="文本框 8">
            <a:extLst>
              <a:ext uri="{FF2B5EF4-FFF2-40B4-BE49-F238E27FC236}">
                <a16:creationId xmlns:a16="http://schemas.microsoft.com/office/drawing/2014/main" id="{41324EA0-B0B5-A78B-5FF0-26F8DC46015F}"/>
              </a:ext>
            </a:extLst>
          </p:cNvPr>
          <p:cNvSpPr txBox="1"/>
          <p:nvPr/>
        </p:nvSpPr>
        <p:spPr>
          <a:xfrm>
            <a:off x="5658887" y="5433020"/>
            <a:ext cx="6277765" cy="923330"/>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LLM-Enhanced multimodal detection of fake  news</a:t>
            </a:r>
          </a:p>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a:t>
            </a:r>
            <a:r>
              <a:rPr lang="en-US" altLang="zh-CN" dirty="0" err="1">
                <a:solidFill>
                  <a:schemeClr val="bg2">
                    <a:lumMod val="10000"/>
                  </a:schemeClr>
                </a:solidFill>
                <a:latin typeface="微软雅黑" panose="020B0503020204020204" pitchFamily="34" charset="-122"/>
                <a:ea typeface="微软雅黑" panose="020B0503020204020204" pitchFamily="34" charset="-122"/>
              </a:rPr>
              <a:t>PloS</a:t>
            </a:r>
            <a:r>
              <a:rPr lang="en-US" altLang="zh-CN" dirty="0">
                <a:solidFill>
                  <a:schemeClr val="bg2">
                    <a:lumMod val="10000"/>
                  </a:schemeClr>
                </a:solidFill>
                <a:latin typeface="微软雅黑" panose="020B0503020204020204" pitchFamily="34" charset="-122"/>
                <a:ea typeface="微软雅黑" panose="020B0503020204020204" pitchFamily="34" charset="-122"/>
              </a:rPr>
              <a:t> one</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a:p>
            <a:pPr algn="ctr"/>
            <a:r>
              <a:rPr lang="zh-CN" altLang="en-US" dirty="0">
                <a:solidFill>
                  <a:schemeClr val="bg2">
                    <a:lumMod val="10000"/>
                  </a:schemeClr>
                </a:solidFill>
                <a:latin typeface="微软雅黑" panose="020B0503020204020204" pitchFamily="34" charset="-122"/>
                <a:ea typeface="微软雅黑" panose="020B0503020204020204" pitchFamily="34" charset="-122"/>
              </a:rPr>
              <a:t>浙江工商大学，人文与传播学院</a:t>
            </a:r>
          </a:p>
        </p:txBody>
      </p:sp>
      <p:pic>
        <p:nvPicPr>
          <p:cNvPr id="3" name="图片 2">
            <a:extLst>
              <a:ext uri="{FF2B5EF4-FFF2-40B4-BE49-F238E27FC236}">
                <a16:creationId xmlns:a16="http://schemas.microsoft.com/office/drawing/2014/main" id="{A021278D-70EC-EEBF-AA92-F2F5A77FD7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9350" y="1276438"/>
            <a:ext cx="3316840" cy="3967200"/>
          </a:xfrm>
          <a:prstGeom prst="rect">
            <a:avLst/>
          </a:prstGeom>
          <a:effectLst>
            <a:outerShdw blurRad="114300" dist="63500" dir="2700000" sx="103000" sy="103000" algn="tl" rotWithShape="0">
              <a:prstClr val="black">
                <a:alpha val="39000"/>
              </a:prstClr>
            </a:outerShdw>
          </a:effectLst>
        </p:spPr>
      </p:pic>
    </p:spTree>
    <p:extLst>
      <p:ext uri="{BB962C8B-B14F-4D97-AF65-F5344CB8AC3E}">
        <p14:creationId xmlns:p14="http://schemas.microsoft.com/office/powerpoint/2010/main" val="1506849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43ED2-7B5C-EBE9-D0B2-C9AC2CF41480}"/>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D6FA5291-F39E-03B1-5B21-571040DD208A}"/>
              </a:ext>
            </a:extLst>
          </p:cNvPr>
          <p:cNvSpPr>
            <a:spLocks noGrp="1"/>
          </p:cNvSpPr>
          <p:nvPr>
            <p:ph type="sldNum" sz="quarter" idx="10"/>
          </p:nvPr>
        </p:nvSpPr>
        <p:spPr/>
        <p:txBody>
          <a:bodyPr/>
          <a:lstStyle/>
          <a:p>
            <a:fld id="{023126B9-07AC-4BAF-B3D7-FAC1D3999DA4}" type="slidenum">
              <a:rPr lang="zh-CN" altLang="en-US" smtClean="0"/>
              <a:t>16</a:t>
            </a:fld>
            <a:endParaRPr lang="zh-CN" altLang="en-US" dirty="0"/>
          </a:p>
        </p:txBody>
      </p:sp>
      <p:sp>
        <p:nvSpPr>
          <p:cNvPr id="15" name="任意多边形 14">
            <a:extLst>
              <a:ext uri="{FF2B5EF4-FFF2-40B4-BE49-F238E27FC236}">
                <a16:creationId xmlns:a16="http://schemas.microsoft.com/office/drawing/2014/main" id="{B4EE9E19-B7B5-D9CC-D6E0-329B0EDD464A}"/>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3B5C8E95-C9D1-4176-B41B-A8E447AAAA84}"/>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4" name="文本框 3">
            <a:extLst>
              <a:ext uri="{FF2B5EF4-FFF2-40B4-BE49-F238E27FC236}">
                <a16:creationId xmlns:a16="http://schemas.microsoft.com/office/drawing/2014/main" id="{F1884E4D-FD3C-BA1F-52CC-883D5771423D}"/>
              </a:ext>
            </a:extLst>
          </p:cNvPr>
          <p:cNvSpPr txBox="1"/>
          <p:nvPr/>
        </p:nvSpPr>
        <p:spPr>
          <a:xfrm>
            <a:off x="815783" y="1536037"/>
            <a:ext cx="10770872" cy="4690836"/>
          </a:xfrm>
          <a:prstGeom prst="rect">
            <a:avLst/>
          </a:prstGeom>
          <a:noFill/>
        </p:spPr>
        <p:txBody>
          <a:bodyPr wrap="square">
            <a:spAutoFit/>
          </a:bodyPr>
          <a:lstStyle/>
          <a:p>
            <a:pPr algn="just">
              <a:lnSpc>
                <a:spcPct val="150000"/>
              </a:lnSpc>
              <a:spcBef>
                <a:spcPts val="300"/>
              </a:spcBef>
              <a:spcAft>
                <a:spcPts val="300"/>
              </a:spcAft>
              <a:buNone/>
            </a:pPr>
            <a:r>
              <a:rPr lang="zh-CN" altLang="en-US" b="1" i="0" dirty="0">
                <a:solidFill>
                  <a:srgbClr val="060A26"/>
                </a:solidFill>
                <a:effectLst/>
                <a:latin typeface="微软雅黑" panose="020B0503020204020204" pitchFamily="34" charset="-122"/>
                <a:ea typeface="微软雅黑" panose="020B0503020204020204" pitchFamily="34" charset="-122"/>
              </a:rPr>
              <a:t>摘要</a:t>
            </a:r>
            <a:r>
              <a:rPr lang="zh-CN" altLang="en-US" i="0" dirty="0">
                <a:solidFill>
                  <a:srgbClr val="060A26"/>
                </a:solidFill>
                <a:effectLst/>
                <a:latin typeface="微软雅黑" panose="020B0503020204020204" pitchFamily="34" charset="-122"/>
                <a:ea typeface="微软雅黑" panose="020B0503020204020204" pitchFamily="34" charset="-122"/>
              </a:rPr>
              <a:t>：随着信息时代的到来，假新闻检测作为一个关键议题，其重要性日益凸显。然而，</a:t>
            </a:r>
            <a:r>
              <a:rPr lang="zh-CN" altLang="en-US" b="1" i="0" dirty="0">
                <a:solidFill>
                  <a:srgbClr val="060A26"/>
                </a:solidFill>
                <a:effectLst/>
                <a:latin typeface="微软雅黑" panose="020B0503020204020204" pitchFamily="34" charset="-122"/>
                <a:ea typeface="微软雅黑" panose="020B0503020204020204" pitchFamily="34" charset="-122"/>
              </a:rPr>
              <a:t>目前大多数方法主要依赖于预训练的小型语言模型，这些模型在处理需要专业知识支撑的新闻内容时存在显著局限，从而制约了假新闻检测的效率</a:t>
            </a:r>
            <a:r>
              <a:rPr lang="zh-CN" altLang="en-US" i="0" dirty="0">
                <a:solidFill>
                  <a:srgbClr val="060A26"/>
                </a:solidFill>
                <a:effectLst/>
                <a:latin typeface="微软雅黑" panose="020B0503020204020204" pitchFamily="34" charset="-122"/>
                <a:ea typeface="微软雅黑" panose="020B0503020204020204" pitchFamily="34" charset="-122"/>
              </a:rPr>
              <a:t>。为了突破这些限制，我们提出了 </a:t>
            </a:r>
            <a:r>
              <a:rPr lang="en-US" altLang="zh-CN" i="0" dirty="0">
                <a:solidFill>
                  <a:srgbClr val="060A26"/>
                </a:solidFill>
                <a:effectLst/>
                <a:latin typeface="微软雅黑" panose="020B0503020204020204" pitchFamily="34" charset="-122"/>
                <a:ea typeface="微软雅黑" panose="020B0503020204020204" pitchFamily="34" charset="-122"/>
              </a:rPr>
              <a:t>FND-LLM </a:t>
            </a:r>
            <a:r>
              <a:rPr lang="zh-CN" altLang="en-US" i="0" dirty="0">
                <a:solidFill>
                  <a:srgbClr val="060A26"/>
                </a:solidFill>
                <a:effectLst/>
                <a:latin typeface="微软雅黑" panose="020B0503020204020204" pitchFamily="34" charset="-122"/>
                <a:ea typeface="微软雅黑" panose="020B0503020204020204" pitchFamily="34" charset="-122"/>
              </a:rPr>
              <a:t>框架。该框架有效地结合了小型语言模型和大语言模型，旨在增强两者的互补优势，并深入探索大语言模型在多模态假新闻检测中的潜力</a:t>
            </a:r>
            <a:r>
              <a:rPr lang="en-US" altLang="zh-CN" i="0" dirty="0">
                <a:solidFill>
                  <a:srgbClr val="060A26"/>
                </a:solidFill>
                <a:effectLst/>
                <a:latin typeface="微软雅黑" panose="020B0503020204020204" pitchFamily="34" charset="-122"/>
                <a:ea typeface="微软雅黑" panose="020B0503020204020204" pitchFamily="34" charset="-122"/>
              </a:rPr>
              <a:t>FND-LLM </a:t>
            </a:r>
            <a:r>
              <a:rPr lang="zh-CN" altLang="en-US" i="0" dirty="0">
                <a:solidFill>
                  <a:srgbClr val="060A26"/>
                </a:solidFill>
                <a:effectLst/>
                <a:latin typeface="微软雅黑" panose="020B0503020204020204" pitchFamily="34" charset="-122"/>
                <a:ea typeface="微软雅黑" panose="020B0503020204020204" pitchFamily="34" charset="-122"/>
              </a:rPr>
              <a:t>框架集成了文本特征分支、视觉语义分支、视觉篡改分支、协同注意力网络、跨模态特征分支以及大语言模型分支。其中：文本特征分支和视觉语义分支分别负责提取新闻内容的文本和视觉信息；协同注意力网络用于精炼文本与视觉信息之间的相互关系；视觉篡改分支负责提取新闻图像的篡改特征；跨模态特征分支通过 </a:t>
            </a:r>
            <a:r>
              <a:rPr lang="en-US" altLang="zh-CN" i="0" dirty="0">
                <a:solidFill>
                  <a:srgbClr val="060A26"/>
                </a:solidFill>
                <a:effectLst/>
                <a:latin typeface="微软雅黑" panose="020B0503020204020204" pitchFamily="34" charset="-122"/>
                <a:ea typeface="微软雅黑" panose="020B0503020204020204" pitchFamily="34" charset="-122"/>
              </a:rPr>
              <a:t>CLIP </a:t>
            </a:r>
            <a:r>
              <a:rPr lang="zh-CN" altLang="en-US" i="0" dirty="0">
                <a:solidFill>
                  <a:srgbClr val="060A26"/>
                </a:solidFill>
                <a:effectLst/>
                <a:latin typeface="微软雅黑" panose="020B0503020204020204" pitchFamily="34" charset="-122"/>
                <a:ea typeface="微软雅黑" panose="020B0503020204020204" pitchFamily="34" charset="-122"/>
              </a:rPr>
              <a:t>模型增强模态间的互补性</a:t>
            </a:r>
            <a:r>
              <a:rPr lang="zh-CN" altLang="en-US" b="1" i="0" dirty="0">
                <a:solidFill>
                  <a:srgbClr val="060A2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；大语言模型分支则利用大语言模型的推理能力，为检测过程提供辅助解释</a:t>
            </a:r>
            <a:r>
              <a:rPr lang="zh-CN" altLang="en-US" i="0" dirty="0">
                <a:solidFill>
                  <a:srgbClr val="060A26"/>
                </a:solidFill>
                <a:effectLst/>
                <a:latin typeface="微软雅黑" panose="020B0503020204020204" pitchFamily="34" charset="-122"/>
                <a:ea typeface="微软雅黑" panose="020B0503020204020204" pitchFamily="34" charset="-122"/>
              </a:rPr>
              <a:t>。我们的实验结果表明，</a:t>
            </a:r>
            <a:r>
              <a:rPr lang="en-US" altLang="zh-CN" i="0" dirty="0">
                <a:solidFill>
                  <a:srgbClr val="060A26"/>
                </a:solidFill>
                <a:effectLst/>
                <a:latin typeface="微软雅黑" panose="020B0503020204020204" pitchFamily="34" charset="-122"/>
                <a:ea typeface="微软雅黑" panose="020B0503020204020204" pitchFamily="34" charset="-122"/>
              </a:rPr>
              <a:t>FND-LLM </a:t>
            </a:r>
            <a:r>
              <a:rPr lang="zh-CN" altLang="en-US" i="0" dirty="0">
                <a:solidFill>
                  <a:srgbClr val="060A26"/>
                </a:solidFill>
                <a:effectLst/>
                <a:latin typeface="微软雅黑" panose="020B0503020204020204" pitchFamily="34" charset="-122"/>
                <a:ea typeface="微软雅黑" panose="020B0503020204020204" pitchFamily="34" charset="-122"/>
              </a:rPr>
              <a:t>框架优于现有模型，在 </a:t>
            </a:r>
            <a:r>
              <a:rPr lang="en-US" altLang="zh-CN" i="0" dirty="0">
                <a:solidFill>
                  <a:srgbClr val="060A26"/>
                </a:solidFill>
                <a:effectLst/>
                <a:latin typeface="微软雅黑" panose="020B0503020204020204" pitchFamily="34" charset="-122"/>
                <a:ea typeface="微软雅黑" panose="020B0503020204020204" pitchFamily="34" charset="-122"/>
              </a:rPr>
              <a:t>Weibo</a:t>
            </a:r>
            <a:r>
              <a:rPr lang="zh-CN" altLang="en-US" i="0" dirty="0">
                <a:solidFill>
                  <a:srgbClr val="060A26"/>
                </a:solidFill>
                <a:effectLst/>
                <a:latin typeface="微软雅黑" panose="020B0503020204020204" pitchFamily="34" charset="-122"/>
                <a:ea typeface="微软雅黑" panose="020B0503020204020204" pitchFamily="34" charset="-122"/>
              </a:rPr>
              <a:t>、</a:t>
            </a:r>
            <a:r>
              <a:rPr lang="en-US" altLang="zh-CN" i="0" dirty="0" err="1">
                <a:solidFill>
                  <a:srgbClr val="060A26"/>
                </a:solidFill>
                <a:effectLst/>
                <a:latin typeface="微软雅黑" panose="020B0503020204020204" pitchFamily="34" charset="-122"/>
                <a:ea typeface="微软雅黑" panose="020B0503020204020204" pitchFamily="34" charset="-122"/>
              </a:rPr>
              <a:t>Gossipcop</a:t>
            </a:r>
            <a:r>
              <a:rPr lang="en-US" altLang="zh-CN" i="0" dirty="0">
                <a:solidFill>
                  <a:srgbClr val="060A26"/>
                </a:solidFill>
                <a:effectLst/>
                <a:latin typeface="微软雅黑" panose="020B0503020204020204" pitchFamily="34" charset="-122"/>
                <a:ea typeface="微软雅黑" panose="020B0503020204020204" pitchFamily="34" charset="-122"/>
              </a:rPr>
              <a:t> </a:t>
            </a:r>
            <a:r>
              <a:rPr lang="zh-CN" altLang="en-US" i="0" dirty="0">
                <a:solidFill>
                  <a:srgbClr val="060A26"/>
                </a:solidFill>
                <a:effectLst/>
                <a:latin typeface="微软雅黑" panose="020B0503020204020204" pitchFamily="34" charset="-122"/>
                <a:ea typeface="微软雅黑" panose="020B0503020204020204" pitchFamily="34" charset="-122"/>
              </a:rPr>
              <a:t>和 </a:t>
            </a:r>
            <a:r>
              <a:rPr lang="en-US" altLang="zh-CN" i="0" dirty="0" err="1">
                <a:solidFill>
                  <a:srgbClr val="060A26"/>
                </a:solidFill>
                <a:effectLst/>
                <a:latin typeface="微软雅黑" panose="020B0503020204020204" pitchFamily="34" charset="-122"/>
                <a:ea typeface="微软雅黑" panose="020B0503020204020204" pitchFamily="34" charset="-122"/>
              </a:rPr>
              <a:t>Politifact</a:t>
            </a:r>
            <a:r>
              <a:rPr lang="en-US" altLang="zh-CN" i="0" dirty="0">
                <a:solidFill>
                  <a:srgbClr val="060A26"/>
                </a:solidFill>
                <a:effectLst/>
                <a:latin typeface="微软雅黑" panose="020B0503020204020204" pitchFamily="34" charset="-122"/>
                <a:ea typeface="微软雅黑" panose="020B0503020204020204" pitchFamily="34" charset="-122"/>
              </a:rPr>
              <a:t> </a:t>
            </a:r>
            <a:r>
              <a:rPr lang="zh-CN" altLang="en-US" i="0" dirty="0">
                <a:solidFill>
                  <a:srgbClr val="060A26"/>
                </a:solidFill>
                <a:effectLst/>
                <a:latin typeface="微软雅黑" panose="020B0503020204020204" pitchFamily="34" charset="-122"/>
                <a:ea typeface="微软雅黑" panose="020B0503020204020204" pitchFamily="34" charset="-122"/>
              </a:rPr>
              <a:t>数据集上的整体准确率分别提升了 </a:t>
            </a:r>
            <a:r>
              <a:rPr lang="en-US" altLang="zh-CN" i="0" dirty="0">
                <a:solidFill>
                  <a:srgbClr val="060A26"/>
                </a:solidFill>
                <a:effectLst/>
                <a:latin typeface="微软雅黑" panose="020B0503020204020204" pitchFamily="34" charset="-122"/>
                <a:ea typeface="微软雅黑" panose="020B0503020204020204" pitchFamily="34" charset="-122"/>
              </a:rPr>
              <a:t>0.7%</a:t>
            </a:r>
            <a:r>
              <a:rPr lang="zh-CN" altLang="en-US" i="0" dirty="0">
                <a:solidFill>
                  <a:srgbClr val="060A26"/>
                </a:solidFill>
                <a:effectLst/>
                <a:latin typeface="微软雅黑" panose="020B0503020204020204" pitchFamily="34" charset="-122"/>
                <a:ea typeface="微软雅黑" panose="020B0503020204020204" pitchFamily="34" charset="-122"/>
              </a:rPr>
              <a:t>、</a:t>
            </a:r>
            <a:r>
              <a:rPr lang="en-US" altLang="zh-CN" i="0" dirty="0">
                <a:solidFill>
                  <a:srgbClr val="060A26"/>
                </a:solidFill>
                <a:effectLst/>
                <a:latin typeface="微软雅黑" panose="020B0503020204020204" pitchFamily="34" charset="-122"/>
                <a:ea typeface="微软雅黑" panose="020B0503020204020204" pitchFamily="34" charset="-122"/>
              </a:rPr>
              <a:t>6.8% </a:t>
            </a:r>
            <a:r>
              <a:rPr lang="zh-CN" altLang="en-US" i="0" dirty="0">
                <a:solidFill>
                  <a:srgbClr val="060A26"/>
                </a:solidFill>
                <a:effectLst/>
                <a:latin typeface="微软雅黑" panose="020B0503020204020204" pitchFamily="34" charset="-122"/>
                <a:ea typeface="微软雅黑" panose="020B0503020204020204" pitchFamily="34" charset="-122"/>
              </a:rPr>
              <a:t>和 </a:t>
            </a:r>
            <a:r>
              <a:rPr lang="en-US" altLang="zh-CN" i="0" dirty="0">
                <a:solidFill>
                  <a:srgbClr val="060A26"/>
                </a:solidFill>
                <a:effectLst/>
                <a:latin typeface="微软雅黑" panose="020B0503020204020204" pitchFamily="34" charset="-122"/>
                <a:ea typeface="微软雅黑" panose="020B0503020204020204" pitchFamily="34" charset="-122"/>
              </a:rPr>
              <a:t>1.3%</a:t>
            </a:r>
            <a:r>
              <a:rPr lang="zh-CN" altLang="en-US" i="0" dirty="0">
                <a:solidFill>
                  <a:srgbClr val="060A26"/>
                </a:solidFill>
                <a:effectLst/>
                <a:latin typeface="微软雅黑" panose="020B0503020204020204" pitchFamily="34" charset="-122"/>
                <a:ea typeface="微软雅黑" panose="020B0503020204020204" pitchFamily="34" charset="-122"/>
              </a:rPr>
              <a:t>。</a:t>
            </a:r>
          </a:p>
          <a:p>
            <a:pPr algn="just">
              <a:lnSpc>
                <a:spcPct val="150000"/>
              </a:lnSpc>
              <a:spcBef>
                <a:spcPts val="300"/>
              </a:spcBef>
              <a:spcAft>
                <a:spcPts val="300"/>
              </a:spcAft>
              <a:buNone/>
            </a:pPr>
            <a:endParaRPr lang="zh-CN" altLang="en-US" i="0" dirty="0">
              <a:solidFill>
                <a:srgbClr val="060A26"/>
              </a:solidFill>
              <a:effectLst/>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54A99E3E-AEBA-8FBC-6948-24C62D51EECB}"/>
              </a:ext>
            </a:extLst>
          </p:cNvPr>
          <p:cNvSpPr txBox="1"/>
          <p:nvPr/>
        </p:nvSpPr>
        <p:spPr>
          <a:xfrm>
            <a:off x="-173381" y="1064855"/>
            <a:ext cx="12538762" cy="369332"/>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LLM-Enhanced multimodal detection of fake  news (</a:t>
            </a:r>
            <a:r>
              <a:rPr lang="en-US" altLang="zh-CN" dirty="0" err="1">
                <a:solidFill>
                  <a:schemeClr val="bg2">
                    <a:lumMod val="10000"/>
                  </a:schemeClr>
                </a:solidFill>
                <a:latin typeface="微软雅黑" panose="020B0503020204020204" pitchFamily="34" charset="-122"/>
                <a:ea typeface="微软雅黑" panose="020B0503020204020204" pitchFamily="34" charset="-122"/>
              </a:rPr>
              <a:t>PloS</a:t>
            </a:r>
            <a:r>
              <a:rPr lang="en-US" altLang="zh-CN" dirty="0">
                <a:solidFill>
                  <a:schemeClr val="bg2">
                    <a:lumMod val="10000"/>
                  </a:schemeClr>
                </a:solidFill>
                <a:latin typeface="微软雅黑" panose="020B0503020204020204" pitchFamily="34" charset="-122"/>
                <a:ea typeface="微软雅黑" panose="020B0503020204020204" pitchFamily="34" charset="-122"/>
              </a:rPr>
              <a:t> one</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5394DAF7-5F75-2F90-64E5-6D33AC768FAD}"/>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逻辑推理与可解释性</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127323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5A0AE-F310-5326-CEFD-98D345AE3ECF}"/>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CE845839-AA5C-3053-E344-328395EE2A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5769" y="1434187"/>
            <a:ext cx="9740461" cy="5134625"/>
          </a:xfrm>
          <a:prstGeom prst="rect">
            <a:avLst/>
          </a:prstGeom>
        </p:spPr>
      </p:pic>
      <p:sp>
        <p:nvSpPr>
          <p:cNvPr id="13" name="灯片编号占位符 12">
            <a:extLst>
              <a:ext uri="{FF2B5EF4-FFF2-40B4-BE49-F238E27FC236}">
                <a16:creationId xmlns:a16="http://schemas.microsoft.com/office/drawing/2014/main" id="{7880AFE0-AD13-0ED6-7222-1B76B9D8DD3D}"/>
              </a:ext>
            </a:extLst>
          </p:cNvPr>
          <p:cNvSpPr>
            <a:spLocks noGrp="1"/>
          </p:cNvSpPr>
          <p:nvPr>
            <p:ph type="sldNum" sz="quarter" idx="10"/>
          </p:nvPr>
        </p:nvSpPr>
        <p:spPr/>
        <p:txBody>
          <a:bodyPr/>
          <a:lstStyle/>
          <a:p>
            <a:fld id="{023126B9-07AC-4BAF-B3D7-FAC1D3999DA4}" type="slidenum">
              <a:rPr lang="zh-CN" altLang="en-US" smtClean="0"/>
              <a:t>17</a:t>
            </a:fld>
            <a:endParaRPr lang="zh-CN" altLang="en-US" dirty="0"/>
          </a:p>
        </p:txBody>
      </p:sp>
      <p:sp>
        <p:nvSpPr>
          <p:cNvPr id="15" name="任意多边形 14">
            <a:extLst>
              <a:ext uri="{FF2B5EF4-FFF2-40B4-BE49-F238E27FC236}">
                <a16:creationId xmlns:a16="http://schemas.microsoft.com/office/drawing/2014/main" id="{E8303E2B-36AA-8A39-8067-86355A5EE27F}"/>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93D0CCCA-B54B-B8F4-73CF-306287FD5ACA}"/>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9" name="文本框 8">
            <a:extLst>
              <a:ext uri="{FF2B5EF4-FFF2-40B4-BE49-F238E27FC236}">
                <a16:creationId xmlns:a16="http://schemas.microsoft.com/office/drawing/2014/main" id="{2604C11E-F5E5-9959-D463-BE220BF669A8}"/>
              </a:ext>
            </a:extLst>
          </p:cNvPr>
          <p:cNvSpPr txBox="1"/>
          <p:nvPr/>
        </p:nvSpPr>
        <p:spPr>
          <a:xfrm>
            <a:off x="-173381" y="1064855"/>
            <a:ext cx="12538762" cy="369332"/>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LLM-Enhanced multimodal detection of fake  news (</a:t>
            </a:r>
            <a:r>
              <a:rPr lang="en-US" altLang="zh-CN" dirty="0" err="1">
                <a:solidFill>
                  <a:schemeClr val="bg2">
                    <a:lumMod val="10000"/>
                  </a:schemeClr>
                </a:solidFill>
                <a:latin typeface="微软雅黑" panose="020B0503020204020204" pitchFamily="34" charset="-122"/>
                <a:ea typeface="微软雅黑" panose="020B0503020204020204" pitchFamily="34" charset="-122"/>
              </a:rPr>
              <a:t>PloS</a:t>
            </a:r>
            <a:r>
              <a:rPr lang="en-US" altLang="zh-CN" dirty="0">
                <a:solidFill>
                  <a:schemeClr val="bg2">
                    <a:lumMod val="10000"/>
                  </a:schemeClr>
                </a:solidFill>
                <a:latin typeface="微软雅黑" panose="020B0503020204020204" pitchFamily="34" charset="-122"/>
                <a:ea typeface="微软雅黑" panose="020B0503020204020204" pitchFamily="34" charset="-122"/>
              </a:rPr>
              <a:t> one</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A5F5AD6-4E8D-1295-DA9D-F79B1D68796D}"/>
              </a:ext>
            </a:extLst>
          </p:cNvPr>
          <p:cNvSpPr/>
          <p:nvPr/>
        </p:nvSpPr>
        <p:spPr>
          <a:xfrm>
            <a:off x="3170956" y="1362151"/>
            <a:ext cx="3080551" cy="882736"/>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55735CA4-01BD-6B62-3C73-81C65E1D4508}"/>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逻辑推理与可解释性</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68568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894F2-DBEA-6447-DCED-4398BCD700F9}"/>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C6C312FC-99D3-BF24-714C-A9979BBDD10F}"/>
              </a:ext>
            </a:extLst>
          </p:cNvPr>
          <p:cNvSpPr>
            <a:spLocks noGrp="1"/>
          </p:cNvSpPr>
          <p:nvPr>
            <p:ph type="sldNum" sz="quarter" idx="10"/>
          </p:nvPr>
        </p:nvSpPr>
        <p:spPr/>
        <p:txBody>
          <a:bodyPr/>
          <a:lstStyle/>
          <a:p>
            <a:fld id="{023126B9-07AC-4BAF-B3D7-FAC1D3999DA4}" type="slidenum">
              <a:rPr lang="zh-CN" altLang="en-US" smtClean="0"/>
              <a:t>18</a:t>
            </a:fld>
            <a:endParaRPr lang="zh-CN" altLang="en-US" dirty="0"/>
          </a:p>
        </p:txBody>
      </p:sp>
      <p:sp>
        <p:nvSpPr>
          <p:cNvPr id="15" name="任意多边形 14">
            <a:extLst>
              <a:ext uri="{FF2B5EF4-FFF2-40B4-BE49-F238E27FC236}">
                <a16:creationId xmlns:a16="http://schemas.microsoft.com/office/drawing/2014/main" id="{19929B2D-5A9F-1FEE-ECB6-DD179A589E51}"/>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A0FFD17C-8A41-1221-2C53-D96FE66A4421}"/>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9" name="文本框 8">
            <a:extLst>
              <a:ext uri="{FF2B5EF4-FFF2-40B4-BE49-F238E27FC236}">
                <a16:creationId xmlns:a16="http://schemas.microsoft.com/office/drawing/2014/main" id="{2C1A5558-B4ED-3B66-1BAF-60879AC1AF61}"/>
              </a:ext>
            </a:extLst>
          </p:cNvPr>
          <p:cNvSpPr txBox="1"/>
          <p:nvPr/>
        </p:nvSpPr>
        <p:spPr>
          <a:xfrm>
            <a:off x="-173381" y="1064855"/>
            <a:ext cx="12538762" cy="369332"/>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LLM-Enhanced multimodal detection of fake  news (</a:t>
            </a:r>
            <a:r>
              <a:rPr lang="en-US" altLang="zh-CN" dirty="0" err="1">
                <a:solidFill>
                  <a:schemeClr val="bg2">
                    <a:lumMod val="10000"/>
                  </a:schemeClr>
                </a:solidFill>
                <a:latin typeface="微软雅黑" panose="020B0503020204020204" pitchFamily="34" charset="-122"/>
                <a:ea typeface="微软雅黑" panose="020B0503020204020204" pitchFamily="34" charset="-122"/>
              </a:rPr>
              <a:t>PloS</a:t>
            </a:r>
            <a:r>
              <a:rPr lang="en-US" altLang="zh-CN" dirty="0">
                <a:solidFill>
                  <a:schemeClr val="bg2">
                    <a:lumMod val="10000"/>
                  </a:schemeClr>
                </a:solidFill>
                <a:latin typeface="微软雅黑" panose="020B0503020204020204" pitchFamily="34" charset="-122"/>
                <a:ea typeface="微软雅黑" panose="020B0503020204020204" pitchFamily="34" charset="-122"/>
              </a:rPr>
              <a:t> one</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A561A3E6-548E-5CF9-56E9-06FF35E2B0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00240" y="1517956"/>
            <a:ext cx="6999360" cy="4851408"/>
          </a:xfrm>
          <a:prstGeom prst="rect">
            <a:avLst/>
          </a:prstGeom>
        </p:spPr>
      </p:pic>
      <p:sp>
        <p:nvSpPr>
          <p:cNvPr id="3" name="文本框 2">
            <a:extLst>
              <a:ext uri="{FF2B5EF4-FFF2-40B4-BE49-F238E27FC236}">
                <a16:creationId xmlns:a16="http://schemas.microsoft.com/office/drawing/2014/main" id="{E71D690A-3739-5C7E-ED26-829EFDB8AA3A}"/>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逻辑推理与可解释性</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1318608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49CC6-1B8B-F44F-B3A9-7F361294BB4B}"/>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1B315EFA-8FCC-AA15-0BB3-495FC82BF1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60" y="1876919"/>
            <a:ext cx="6626922" cy="3249122"/>
          </a:xfrm>
          <a:prstGeom prst="rect">
            <a:avLst/>
          </a:prstGeom>
        </p:spPr>
      </p:pic>
      <p:sp>
        <p:nvSpPr>
          <p:cNvPr id="13" name="灯片编号占位符 12">
            <a:extLst>
              <a:ext uri="{FF2B5EF4-FFF2-40B4-BE49-F238E27FC236}">
                <a16:creationId xmlns:a16="http://schemas.microsoft.com/office/drawing/2014/main" id="{6F92D4F2-C442-A22D-4C6C-00D1EEBC2DBB}"/>
              </a:ext>
            </a:extLst>
          </p:cNvPr>
          <p:cNvSpPr>
            <a:spLocks noGrp="1"/>
          </p:cNvSpPr>
          <p:nvPr>
            <p:ph type="sldNum" sz="quarter" idx="10"/>
          </p:nvPr>
        </p:nvSpPr>
        <p:spPr/>
        <p:txBody>
          <a:bodyPr/>
          <a:lstStyle/>
          <a:p>
            <a:fld id="{023126B9-07AC-4BAF-B3D7-FAC1D3999DA4}" type="slidenum">
              <a:rPr lang="zh-CN" altLang="en-US" smtClean="0"/>
              <a:t>19</a:t>
            </a:fld>
            <a:endParaRPr lang="zh-CN" altLang="en-US" dirty="0"/>
          </a:p>
        </p:txBody>
      </p:sp>
      <p:sp>
        <p:nvSpPr>
          <p:cNvPr id="15" name="任意多边形 14">
            <a:extLst>
              <a:ext uri="{FF2B5EF4-FFF2-40B4-BE49-F238E27FC236}">
                <a16:creationId xmlns:a16="http://schemas.microsoft.com/office/drawing/2014/main" id="{00DA2279-3090-4BA6-872B-A8661BA7B0F1}"/>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7ABA085D-0E92-32BB-1857-514D1766B009}"/>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9" name="文本框 8">
            <a:extLst>
              <a:ext uri="{FF2B5EF4-FFF2-40B4-BE49-F238E27FC236}">
                <a16:creationId xmlns:a16="http://schemas.microsoft.com/office/drawing/2014/main" id="{E87B1A82-0604-095E-64D1-0822C05B15E1}"/>
              </a:ext>
            </a:extLst>
          </p:cNvPr>
          <p:cNvSpPr txBox="1"/>
          <p:nvPr/>
        </p:nvSpPr>
        <p:spPr>
          <a:xfrm>
            <a:off x="-173381" y="1064855"/>
            <a:ext cx="12538762" cy="369332"/>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LLM-Enhanced multimodal detection of fake  news (</a:t>
            </a:r>
            <a:r>
              <a:rPr lang="en-US" altLang="zh-CN" dirty="0" err="1">
                <a:solidFill>
                  <a:schemeClr val="bg2">
                    <a:lumMod val="10000"/>
                  </a:schemeClr>
                </a:solidFill>
                <a:latin typeface="微软雅黑" panose="020B0503020204020204" pitchFamily="34" charset="-122"/>
                <a:ea typeface="微软雅黑" panose="020B0503020204020204" pitchFamily="34" charset="-122"/>
              </a:rPr>
              <a:t>PloS</a:t>
            </a:r>
            <a:r>
              <a:rPr lang="en-US" altLang="zh-CN" dirty="0">
                <a:solidFill>
                  <a:schemeClr val="bg2">
                    <a:lumMod val="10000"/>
                  </a:schemeClr>
                </a:solidFill>
                <a:latin typeface="微软雅黑" panose="020B0503020204020204" pitchFamily="34" charset="-122"/>
                <a:ea typeface="微软雅黑" panose="020B0503020204020204" pitchFamily="34" charset="-122"/>
              </a:rPr>
              <a:t> one</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4654CAE-0588-E4EC-D0B1-22BF32A0C910}"/>
              </a:ext>
            </a:extLst>
          </p:cNvPr>
          <p:cNvSpPr txBox="1"/>
          <p:nvPr/>
        </p:nvSpPr>
        <p:spPr>
          <a:xfrm>
            <a:off x="6870762" y="1909776"/>
            <a:ext cx="4924998" cy="3216265"/>
          </a:xfrm>
          <a:prstGeom prst="rect">
            <a:avLst/>
          </a:prstGeom>
          <a:noFill/>
        </p:spPr>
        <p:txBody>
          <a:bodyPr wrap="square">
            <a:spAutoFit/>
          </a:bodyPr>
          <a:lstStyle/>
          <a:p>
            <a:pPr algn="just">
              <a:spcBef>
                <a:spcPts val="300"/>
              </a:spcBef>
              <a:spcAft>
                <a:spcPts val="300"/>
              </a:spcAft>
            </a:pPr>
            <a:r>
              <a:rPr lang="en-US" altLang="zh-CN" b="1" dirty="0">
                <a:solidFill>
                  <a:srgbClr val="060A26"/>
                </a:solidFill>
                <a:latin typeface="微软雅黑" panose="020B0503020204020204" pitchFamily="34" charset="-122"/>
                <a:ea typeface="微软雅黑" panose="020B0503020204020204" pitchFamily="34" charset="-122"/>
              </a:rPr>
              <a:t>Ablation Study</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Text</a:t>
            </a:r>
            <a:r>
              <a:rPr lang="zh-CN" altLang="en-US" sz="1600" i="0" dirty="0">
                <a:solidFill>
                  <a:srgbClr val="060A26"/>
                </a:solidFill>
                <a:effectLst/>
                <a:latin typeface="微软雅黑" panose="020B0503020204020204" pitchFamily="34" charset="-122"/>
                <a:ea typeface="微软雅黑" panose="020B0503020204020204" pitchFamily="34" charset="-122"/>
              </a:rPr>
              <a:t>（仅文本）：仅使用由 </a:t>
            </a:r>
            <a:r>
              <a:rPr lang="en-US" altLang="zh-CN" sz="1600" i="0" dirty="0">
                <a:solidFill>
                  <a:srgbClr val="060A26"/>
                </a:solidFill>
                <a:effectLst/>
                <a:latin typeface="微软雅黑" panose="020B0503020204020204" pitchFamily="34" charset="-122"/>
                <a:ea typeface="微软雅黑" panose="020B0503020204020204" pitchFamily="34" charset="-122"/>
              </a:rPr>
              <a:t>BERT </a:t>
            </a:r>
            <a:r>
              <a:rPr lang="zh-CN" altLang="en-US" sz="1600" i="0" dirty="0">
                <a:solidFill>
                  <a:srgbClr val="060A26"/>
                </a:solidFill>
                <a:effectLst/>
                <a:latin typeface="微软雅黑" panose="020B0503020204020204" pitchFamily="34" charset="-122"/>
                <a:ea typeface="微软雅黑" panose="020B0503020204020204" pitchFamily="34" charset="-122"/>
              </a:rPr>
              <a:t>提取的单模态文本特征进行检测。</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Image</a:t>
            </a:r>
            <a:r>
              <a:rPr lang="zh-CN" altLang="en-US" sz="1600" i="0" dirty="0">
                <a:solidFill>
                  <a:srgbClr val="060A26"/>
                </a:solidFill>
                <a:effectLst/>
                <a:latin typeface="微软雅黑" panose="020B0503020204020204" pitchFamily="34" charset="-122"/>
                <a:ea typeface="微软雅黑" panose="020B0503020204020204" pitchFamily="34" charset="-122"/>
              </a:rPr>
              <a:t>（仅图像）：仅使用由 </a:t>
            </a:r>
            <a:r>
              <a:rPr lang="en-US" altLang="zh-CN" sz="1600" i="0" dirty="0" err="1">
                <a:solidFill>
                  <a:srgbClr val="060A26"/>
                </a:solidFill>
                <a:effectLst/>
                <a:latin typeface="微软雅黑" panose="020B0503020204020204" pitchFamily="34" charset="-122"/>
                <a:ea typeface="微软雅黑" panose="020B0503020204020204" pitchFamily="34" charset="-122"/>
              </a:rPr>
              <a:t>ViT</a:t>
            </a:r>
            <a:r>
              <a:rPr lang="en-US" altLang="zh-CN" sz="1600" i="0" dirty="0">
                <a:solidFill>
                  <a:srgbClr val="060A26"/>
                </a:solidFill>
                <a:effectLst/>
                <a:latin typeface="微软雅黑" panose="020B0503020204020204" pitchFamily="34" charset="-122"/>
                <a:ea typeface="微软雅黑" panose="020B0503020204020204" pitchFamily="34" charset="-122"/>
              </a:rPr>
              <a:t> </a:t>
            </a:r>
            <a:r>
              <a:rPr lang="zh-CN" altLang="en-US" sz="1600" i="0" dirty="0">
                <a:solidFill>
                  <a:srgbClr val="060A26"/>
                </a:solidFill>
                <a:effectLst/>
                <a:latin typeface="微软雅黑" panose="020B0503020204020204" pitchFamily="34" charset="-122"/>
                <a:ea typeface="微软雅黑" panose="020B0503020204020204" pitchFamily="34" charset="-122"/>
              </a:rPr>
              <a:t>提取的单模态视觉特征进行检测。</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FND-LLM-C</a:t>
            </a:r>
            <a:r>
              <a:rPr lang="zh-CN" altLang="en-US" sz="1600" i="0" dirty="0">
                <a:solidFill>
                  <a:srgbClr val="060A26"/>
                </a:solidFill>
                <a:effectLst/>
                <a:latin typeface="微软雅黑" panose="020B0503020204020204" pitchFamily="34" charset="-122"/>
                <a:ea typeface="微软雅黑" panose="020B0503020204020204" pitchFamily="34" charset="-122"/>
              </a:rPr>
              <a:t>：移除所有与 </a:t>
            </a:r>
            <a:r>
              <a:rPr lang="en-US" altLang="zh-CN" sz="1600" i="0" dirty="0">
                <a:solidFill>
                  <a:srgbClr val="060A26"/>
                </a:solidFill>
                <a:effectLst/>
                <a:latin typeface="微软雅黑" panose="020B0503020204020204" pitchFamily="34" charset="-122"/>
                <a:ea typeface="微软雅黑" panose="020B0503020204020204" pitchFamily="34" charset="-122"/>
              </a:rPr>
              <a:t>CLIP </a:t>
            </a:r>
            <a:r>
              <a:rPr lang="zh-CN" altLang="en-US" sz="1600" i="0" dirty="0">
                <a:solidFill>
                  <a:srgbClr val="060A26"/>
                </a:solidFill>
                <a:effectLst/>
                <a:latin typeface="微软雅黑" panose="020B0503020204020204" pitchFamily="34" charset="-122"/>
                <a:ea typeface="微软雅黑" panose="020B0503020204020204" pitchFamily="34" charset="-122"/>
              </a:rPr>
              <a:t>相关的分支，仅保留 </a:t>
            </a:r>
            <a:r>
              <a:rPr lang="en-US" altLang="zh-CN" sz="1600" i="0" dirty="0">
                <a:solidFill>
                  <a:srgbClr val="060A26"/>
                </a:solidFill>
                <a:effectLst/>
                <a:latin typeface="微软雅黑" panose="020B0503020204020204" pitchFamily="34" charset="-122"/>
                <a:ea typeface="微软雅黑" panose="020B0503020204020204" pitchFamily="34" charset="-122"/>
              </a:rPr>
              <a:t>BERT </a:t>
            </a:r>
            <a:r>
              <a:rPr lang="zh-CN" altLang="en-US" sz="1600" i="0" dirty="0">
                <a:solidFill>
                  <a:srgbClr val="060A26"/>
                </a:solidFill>
                <a:effectLst/>
                <a:latin typeface="微软雅黑" panose="020B0503020204020204" pitchFamily="34" charset="-122"/>
                <a:ea typeface="微软雅黑" panose="020B0503020204020204" pitchFamily="34" charset="-122"/>
              </a:rPr>
              <a:t>和 </a:t>
            </a:r>
            <a:r>
              <a:rPr lang="en-US" altLang="zh-CN" sz="1600" i="0" dirty="0" err="1">
                <a:solidFill>
                  <a:srgbClr val="060A26"/>
                </a:solidFill>
                <a:effectLst/>
                <a:latin typeface="微软雅黑" panose="020B0503020204020204" pitchFamily="34" charset="-122"/>
                <a:ea typeface="微软雅黑" panose="020B0503020204020204" pitchFamily="34" charset="-122"/>
              </a:rPr>
              <a:t>ViT</a:t>
            </a:r>
            <a:r>
              <a:rPr lang="en-US" altLang="zh-CN" sz="1600" i="0" dirty="0">
                <a:solidFill>
                  <a:srgbClr val="060A26"/>
                </a:solidFill>
                <a:effectLst/>
                <a:latin typeface="微软雅黑" panose="020B0503020204020204" pitchFamily="34" charset="-122"/>
                <a:ea typeface="微软雅黑" panose="020B0503020204020204" pitchFamily="34" charset="-122"/>
              </a:rPr>
              <a:t> </a:t>
            </a:r>
            <a:r>
              <a:rPr lang="zh-CN" altLang="en-US" sz="1600" i="0" dirty="0">
                <a:solidFill>
                  <a:srgbClr val="060A26"/>
                </a:solidFill>
                <a:effectLst/>
                <a:latin typeface="微软雅黑" panose="020B0503020204020204" pitchFamily="34" charset="-122"/>
                <a:ea typeface="微软雅黑" panose="020B0503020204020204" pitchFamily="34" charset="-122"/>
              </a:rPr>
              <a:t>来提取文本和视觉特征。</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FND-LLM-A</a:t>
            </a:r>
            <a:r>
              <a:rPr lang="zh-CN" altLang="en-US" sz="1600" i="0" dirty="0">
                <a:solidFill>
                  <a:srgbClr val="060A26"/>
                </a:solidFill>
                <a:effectLst/>
                <a:latin typeface="微软雅黑" panose="020B0503020204020204" pitchFamily="34" charset="-122"/>
                <a:ea typeface="微软雅黑" panose="020B0503020204020204" pitchFamily="34" charset="-122"/>
              </a:rPr>
              <a:t>：移除联合注意力分支，直接使用单模态的文本和视觉特征。</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FND-LLM-L</a:t>
            </a:r>
            <a:r>
              <a:rPr lang="zh-CN" altLang="en-US" sz="1600" i="0" dirty="0">
                <a:solidFill>
                  <a:srgbClr val="060A26"/>
                </a:solidFill>
                <a:effectLst/>
                <a:latin typeface="微软雅黑" panose="020B0503020204020204" pitchFamily="34" charset="-122"/>
                <a:ea typeface="微软雅黑" panose="020B0503020204020204" pitchFamily="34" charset="-122"/>
              </a:rPr>
              <a:t>：移除大语言模型分支，仅依靠文本和视觉特征进行检测。</a:t>
            </a:r>
          </a:p>
        </p:txBody>
      </p:sp>
      <p:sp>
        <p:nvSpPr>
          <p:cNvPr id="7" name="矩形 6">
            <a:extLst>
              <a:ext uri="{FF2B5EF4-FFF2-40B4-BE49-F238E27FC236}">
                <a16:creationId xmlns:a16="http://schemas.microsoft.com/office/drawing/2014/main" id="{1B490DBE-07CB-FD48-A963-C5EB344F4D86}"/>
              </a:ext>
            </a:extLst>
          </p:cNvPr>
          <p:cNvSpPr/>
          <p:nvPr/>
        </p:nvSpPr>
        <p:spPr>
          <a:xfrm>
            <a:off x="1477820" y="4582210"/>
            <a:ext cx="5156659" cy="18643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4CF6528-137B-A9E6-8613-FBD726DA5F92}"/>
              </a:ext>
            </a:extLst>
          </p:cNvPr>
          <p:cNvSpPr/>
          <p:nvPr/>
        </p:nvSpPr>
        <p:spPr>
          <a:xfrm>
            <a:off x="1477820" y="2805551"/>
            <a:ext cx="5156659" cy="18643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9EBB643A-D001-7D08-CC1D-30C821F2DDB0}"/>
              </a:ext>
            </a:extLst>
          </p:cNvPr>
          <p:cNvSpPr/>
          <p:nvPr/>
        </p:nvSpPr>
        <p:spPr>
          <a:xfrm>
            <a:off x="1477820" y="3708837"/>
            <a:ext cx="5156659" cy="18643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7930EE28-B961-A846-4B1C-1C81B9F805F2}"/>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逻辑推理与可解释性</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340035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BD7C8-23E2-2E27-8A94-CD0868A60C8B}"/>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3C137065-2023-3DE0-4F21-BD891391C6F5}"/>
              </a:ext>
            </a:extLst>
          </p:cNvPr>
          <p:cNvSpPr>
            <a:spLocks noGrp="1"/>
          </p:cNvSpPr>
          <p:nvPr>
            <p:ph type="sldNum" sz="quarter" idx="10"/>
          </p:nvPr>
        </p:nvSpPr>
        <p:spPr/>
        <p:txBody>
          <a:bodyPr/>
          <a:lstStyle/>
          <a:p>
            <a:fld id="{023126B9-07AC-4BAF-B3D7-FAC1D3999DA4}" type="slidenum">
              <a:rPr lang="zh-CN" altLang="en-US" smtClean="0"/>
              <a:t>20</a:t>
            </a:fld>
            <a:endParaRPr lang="zh-CN" altLang="en-US" dirty="0"/>
          </a:p>
        </p:txBody>
      </p:sp>
      <p:sp>
        <p:nvSpPr>
          <p:cNvPr id="15" name="任意多边形 14">
            <a:extLst>
              <a:ext uri="{FF2B5EF4-FFF2-40B4-BE49-F238E27FC236}">
                <a16:creationId xmlns:a16="http://schemas.microsoft.com/office/drawing/2014/main" id="{BAA40A0C-097C-8116-9E10-23F24B171357}"/>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69950323-BFE3-3433-F6BB-3AE6077ACB30}"/>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7" name="文本框 6">
            <a:extLst>
              <a:ext uri="{FF2B5EF4-FFF2-40B4-BE49-F238E27FC236}">
                <a16:creationId xmlns:a16="http://schemas.microsoft.com/office/drawing/2014/main" id="{024D04DD-513C-B1FB-1F38-ABDA7C4835E7}"/>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意图推断与知识注入 </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4" name="文本框 3">
            <a:extLst>
              <a:ext uri="{FF2B5EF4-FFF2-40B4-BE49-F238E27FC236}">
                <a16:creationId xmlns:a16="http://schemas.microsoft.com/office/drawing/2014/main" id="{E082A4C2-680E-A5FE-D018-79436DE38766}"/>
              </a:ext>
            </a:extLst>
          </p:cNvPr>
          <p:cNvSpPr txBox="1"/>
          <p:nvPr/>
        </p:nvSpPr>
        <p:spPr>
          <a:xfrm>
            <a:off x="1011862" y="1856135"/>
            <a:ext cx="4862195" cy="3198120"/>
          </a:xfrm>
          <a:prstGeom prst="rect">
            <a:avLst/>
          </a:prstGeom>
          <a:noFill/>
        </p:spPr>
        <p:txBody>
          <a:bodyPr wrap="square">
            <a:spAutoFit/>
          </a:bodyPr>
          <a:lstStyle/>
          <a:p>
            <a:pPr algn="just">
              <a:lnSpc>
                <a:spcPct val="150000"/>
              </a:lnSpc>
              <a:spcBef>
                <a:spcPts val="300"/>
              </a:spcBef>
              <a:spcAft>
                <a:spcPts val="300"/>
              </a:spcAft>
              <a:buNone/>
            </a:pPr>
            <a:r>
              <a:rPr lang="zh-CN" altLang="en-US" sz="2000" b="1" i="0" dirty="0">
                <a:solidFill>
                  <a:srgbClr val="060A26"/>
                </a:solidFill>
                <a:effectLst/>
                <a:latin typeface="微软雅黑" panose="020B0503020204020204" pitchFamily="34" charset="-122"/>
                <a:ea typeface="微软雅黑" panose="020B0503020204020204" pitchFamily="34" charset="-122"/>
              </a:rPr>
              <a:t>意图推断与知识注入 </a:t>
            </a:r>
            <a:r>
              <a:rPr lang="en-US" altLang="zh-CN" sz="2000" b="1" i="0" dirty="0">
                <a:solidFill>
                  <a:srgbClr val="060A26"/>
                </a:solidFill>
                <a:effectLst/>
                <a:latin typeface="微软雅黑" panose="020B0503020204020204" pitchFamily="34" charset="-122"/>
                <a:ea typeface="微软雅黑" panose="020B0503020204020204" pitchFamily="34" charset="-122"/>
              </a:rPr>
              <a:t>(Intention Inference)</a:t>
            </a:r>
          </a:p>
          <a:p>
            <a:pPr marL="285750" indent="-285750" algn="just">
              <a:lnSpc>
                <a:spcPct val="150000"/>
              </a:lnSpc>
              <a:spcBef>
                <a:spcPts val="300"/>
              </a:spcBef>
              <a:spcAft>
                <a:spcPts val="300"/>
              </a:spcAft>
              <a:buFont typeface="Wingdings" panose="05000000000000000000" pitchFamily="2" charset="2"/>
              <a:buChar char="l"/>
            </a:pPr>
            <a:r>
              <a:rPr lang="zh-CN" altLang="en-US" b="0" i="0" dirty="0">
                <a:solidFill>
                  <a:srgbClr val="060A26"/>
                </a:solidFill>
                <a:effectLst/>
                <a:latin typeface="微软雅黑" panose="020B0503020204020204" pitchFamily="34" charset="-122"/>
                <a:ea typeface="微软雅黑" panose="020B0503020204020204" pitchFamily="34" charset="-122"/>
              </a:rPr>
              <a:t>核心痛点：传统静态分析依赖预定义规则，无法覆盖长尾或新型</a:t>
            </a:r>
            <a:r>
              <a:rPr lang="en-US" altLang="zh-CN" b="0" i="0" dirty="0">
                <a:solidFill>
                  <a:srgbClr val="060A26"/>
                </a:solidFill>
                <a:effectLst/>
                <a:latin typeface="微软雅黑" panose="020B0503020204020204" pitchFamily="34" charset="-122"/>
                <a:ea typeface="微软雅黑" panose="020B0503020204020204" pitchFamily="34" charset="-122"/>
              </a:rPr>
              <a:t>API</a:t>
            </a:r>
            <a:r>
              <a:rPr lang="zh-CN" altLang="en-US" b="0" i="0" dirty="0">
                <a:solidFill>
                  <a:srgbClr val="060A26"/>
                </a:solidFill>
                <a:effectLst/>
                <a:latin typeface="微软雅黑" panose="020B0503020204020204" pitchFamily="34" charset="-122"/>
                <a:ea typeface="微软雅黑" panose="020B0503020204020204" pitchFamily="34" charset="-122"/>
              </a:rPr>
              <a:t>。</a:t>
            </a:r>
            <a:endParaRPr lang="en-US" altLang="zh-CN" b="0" i="0" dirty="0">
              <a:solidFill>
                <a:srgbClr val="060A26"/>
              </a:solidFill>
              <a:effectLst/>
              <a:latin typeface="微软雅黑" panose="020B0503020204020204" pitchFamily="34" charset="-122"/>
              <a:ea typeface="微软雅黑" panose="020B0503020204020204" pitchFamily="34" charset="-122"/>
            </a:endParaRPr>
          </a:p>
          <a:p>
            <a:pPr marL="285750" indent="-285750" algn="just">
              <a:lnSpc>
                <a:spcPct val="150000"/>
              </a:lnSpc>
              <a:spcBef>
                <a:spcPts val="300"/>
              </a:spcBef>
              <a:spcAft>
                <a:spcPts val="300"/>
              </a:spcAft>
              <a:buFont typeface="Wingdings" panose="05000000000000000000" pitchFamily="2" charset="2"/>
              <a:buChar char="l"/>
            </a:pPr>
            <a:r>
              <a:rPr lang="zh-CN" altLang="en-US" b="0" i="0" dirty="0">
                <a:solidFill>
                  <a:srgbClr val="060A26"/>
                </a:solidFill>
                <a:effectLst/>
                <a:latin typeface="微软雅黑" panose="020B0503020204020204" pitchFamily="34" charset="-122"/>
                <a:ea typeface="微软雅黑" panose="020B0503020204020204" pitchFamily="34" charset="-122"/>
              </a:rPr>
              <a:t>解决方案：</a:t>
            </a:r>
            <a:r>
              <a:rPr lang="en-US" altLang="zh-CN" b="0" i="0" dirty="0">
                <a:solidFill>
                  <a:srgbClr val="060A26"/>
                </a:solidFill>
                <a:effectLst/>
                <a:latin typeface="微软雅黑" panose="020B0503020204020204" pitchFamily="34" charset="-122"/>
                <a:ea typeface="微软雅黑" panose="020B0503020204020204" pitchFamily="34" charset="-122"/>
              </a:rPr>
              <a:t>LLMs</a:t>
            </a:r>
            <a:r>
              <a:rPr lang="zh-CN" altLang="en-US" b="0" i="0" dirty="0">
                <a:solidFill>
                  <a:srgbClr val="060A26"/>
                </a:solidFill>
                <a:effectLst/>
                <a:latin typeface="微软雅黑" panose="020B0503020204020204" pitchFamily="34" charset="-122"/>
                <a:ea typeface="微软雅黑" panose="020B0503020204020204" pitchFamily="34" charset="-122"/>
              </a:rPr>
              <a:t>利用世界知识与上下文理解能力，推断隐含意图或补充领域知识，实现“理解式检测”。</a:t>
            </a:r>
          </a:p>
        </p:txBody>
      </p:sp>
      <p:sp>
        <p:nvSpPr>
          <p:cNvPr id="9" name="文本框 8">
            <a:extLst>
              <a:ext uri="{FF2B5EF4-FFF2-40B4-BE49-F238E27FC236}">
                <a16:creationId xmlns:a16="http://schemas.microsoft.com/office/drawing/2014/main" id="{73FD4C74-AC30-0851-F56A-188BC9849115}"/>
              </a:ext>
            </a:extLst>
          </p:cNvPr>
          <p:cNvSpPr txBox="1"/>
          <p:nvPr/>
        </p:nvSpPr>
        <p:spPr>
          <a:xfrm>
            <a:off x="5531212" y="5411016"/>
            <a:ext cx="6533113" cy="923330"/>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Boosting Static Resource Leak Detection via  LLM-based Resource-Oriented Intention Inference (ICSE, CCF-A</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a:p>
            <a:pPr algn="ctr"/>
            <a:r>
              <a:rPr lang="zh-CN" altLang="en-US" dirty="0">
                <a:solidFill>
                  <a:schemeClr val="bg2">
                    <a:lumMod val="10000"/>
                  </a:schemeClr>
                </a:solidFill>
                <a:latin typeface="微软雅黑" panose="020B0503020204020204" pitchFamily="34" charset="-122"/>
                <a:ea typeface="微软雅黑" panose="020B0503020204020204" pitchFamily="34" charset="-122"/>
              </a:rPr>
              <a:t>复旦大学，计算机科学技术学院</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6D357526-176A-61F7-F1EC-D75E1CA94D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52493" y="1276438"/>
            <a:ext cx="3290552" cy="3967200"/>
          </a:xfrm>
          <a:prstGeom prst="rect">
            <a:avLst/>
          </a:prstGeom>
          <a:effectLst>
            <a:outerShdw blurRad="114300" dist="63500" dir="2700000" sx="103000" sy="103000" algn="tl" rotWithShape="0">
              <a:prstClr val="black">
                <a:alpha val="39000"/>
              </a:prstClr>
            </a:outerShdw>
          </a:effectLst>
        </p:spPr>
      </p:pic>
    </p:spTree>
    <p:extLst>
      <p:ext uri="{BB962C8B-B14F-4D97-AF65-F5344CB8AC3E}">
        <p14:creationId xmlns:p14="http://schemas.microsoft.com/office/powerpoint/2010/main" val="3437296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F7646-82DF-F7AD-EA2F-61756B26FA0B}"/>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386B06C7-6889-2097-41E3-D57CD5F5FBB3}"/>
              </a:ext>
            </a:extLst>
          </p:cNvPr>
          <p:cNvSpPr>
            <a:spLocks noGrp="1"/>
          </p:cNvSpPr>
          <p:nvPr>
            <p:ph type="sldNum" sz="quarter" idx="10"/>
          </p:nvPr>
        </p:nvSpPr>
        <p:spPr/>
        <p:txBody>
          <a:bodyPr/>
          <a:lstStyle/>
          <a:p>
            <a:fld id="{023126B9-07AC-4BAF-B3D7-FAC1D3999DA4}" type="slidenum">
              <a:rPr lang="zh-CN" altLang="en-US" smtClean="0"/>
              <a:t>21</a:t>
            </a:fld>
            <a:endParaRPr lang="zh-CN" altLang="en-US" dirty="0"/>
          </a:p>
        </p:txBody>
      </p:sp>
      <p:sp>
        <p:nvSpPr>
          <p:cNvPr id="15" name="任意多边形 14">
            <a:extLst>
              <a:ext uri="{FF2B5EF4-FFF2-40B4-BE49-F238E27FC236}">
                <a16:creationId xmlns:a16="http://schemas.microsoft.com/office/drawing/2014/main" id="{3BD9D7F7-80AE-D851-F116-629A0DE7DC6B}"/>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3C849FBB-3572-29D7-80E0-06323C42CD90}"/>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4" name="文本框 3">
            <a:extLst>
              <a:ext uri="{FF2B5EF4-FFF2-40B4-BE49-F238E27FC236}">
                <a16:creationId xmlns:a16="http://schemas.microsoft.com/office/drawing/2014/main" id="{DEDCC4E1-45D1-C2EC-4D91-FD8A21297AC0}"/>
              </a:ext>
            </a:extLst>
          </p:cNvPr>
          <p:cNvSpPr txBox="1"/>
          <p:nvPr/>
        </p:nvSpPr>
        <p:spPr>
          <a:xfrm>
            <a:off x="354902" y="1326480"/>
            <a:ext cx="11501818" cy="5444888"/>
          </a:xfrm>
          <a:prstGeom prst="rect">
            <a:avLst/>
          </a:prstGeom>
          <a:noFill/>
        </p:spPr>
        <p:txBody>
          <a:bodyPr wrap="square">
            <a:spAutoFit/>
          </a:bodyPr>
          <a:lstStyle/>
          <a:p>
            <a:pPr algn="just">
              <a:lnSpc>
                <a:spcPct val="150000"/>
              </a:lnSpc>
              <a:spcBef>
                <a:spcPts val="300"/>
              </a:spcBef>
              <a:spcAft>
                <a:spcPts val="300"/>
              </a:spcAft>
              <a:buNone/>
            </a:pPr>
            <a:r>
              <a:rPr lang="zh-CN" altLang="en-US" b="1" i="0" dirty="0">
                <a:solidFill>
                  <a:srgbClr val="060A26"/>
                </a:solidFill>
                <a:effectLst/>
                <a:latin typeface="微软雅黑" panose="020B0503020204020204" pitchFamily="34" charset="-122"/>
                <a:ea typeface="微软雅黑" panose="020B0503020204020204" pitchFamily="34" charset="-122"/>
              </a:rPr>
              <a:t>摘要</a:t>
            </a:r>
            <a:r>
              <a:rPr lang="zh-CN" altLang="en-US" i="0" dirty="0">
                <a:solidFill>
                  <a:srgbClr val="060A26"/>
                </a:solidFill>
                <a:effectLst/>
                <a:latin typeface="微软雅黑" panose="020B0503020204020204" pitchFamily="34" charset="-122"/>
                <a:ea typeface="微软雅黑" panose="020B0503020204020204" pitchFamily="34" charset="-122"/>
              </a:rPr>
              <a:t>：资源泄露是指资源在获取后未被释放，这通常会导致性能问题甚至系统崩溃。现有的静态检测技术主要依赖于对预定义的资源获取</a:t>
            </a:r>
            <a:r>
              <a:rPr lang="en-US" altLang="zh-CN" i="0" dirty="0">
                <a:solidFill>
                  <a:srgbClr val="060A26"/>
                </a:solidFill>
                <a:effectLst/>
                <a:latin typeface="微软雅黑" panose="020B0503020204020204" pitchFamily="34" charset="-122"/>
                <a:ea typeface="微软雅黑" panose="020B0503020204020204" pitchFamily="34" charset="-122"/>
              </a:rPr>
              <a:t>/</a:t>
            </a:r>
            <a:r>
              <a:rPr lang="zh-CN" altLang="en-US" i="0" dirty="0">
                <a:solidFill>
                  <a:srgbClr val="060A26"/>
                </a:solidFill>
                <a:effectLst/>
                <a:latin typeface="微软雅黑" panose="020B0503020204020204" pitchFamily="34" charset="-122"/>
                <a:ea typeface="微软雅黑" panose="020B0503020204020204" pitchFamily="34" charset="-122"/>
              </a:rPr>
              <a:t>释放 </a:t>
            </a:r>
            <a:r>
              <a:rPr lang="en-US" altLang="zh-CN" i="0" dirty="0">
                <a:solidFill>
                  <a:srgbClr val="060A26"/>
                </a:solidFill>
                <a:effectLst/>
                <a:latin typeface="微软雅黑" panose="020B0503020204020204" pitchFamily="34" charset="-122"/>
                <a:ea typeface="微软雅黑" panose="020B0503020204020204" pitchFamily="34" charset="-122"/>
              </a:rPr>
              <a:t>API </a:t>
            </a:r>
            <a:r>
              <a:rPr lang="zh-CN" altLang="en-US" i="0" dirty="0">
                <a:solidFill>
                  <a:srgbClr val="060A26"/>
                </a:solidFill>
                <a:effectLst/>
                <a:latin typeface="微软雅黑" panose="020B0503020204020204" pitchFamily="34" charset="-122"/>
                <a:ea typeface="微软雅黑" panose="020B0503020204020204" pitchFamily="34" charset="-122"/>
              </a:rPr>
              <a:t>和空值检查条件进行机械匹配来查找未释放的资源，但这种方法存在两个主要缺陷：</a:t>
            </a:r>
            <a:r>
              <a:rPr lang="en-US" altLang="zh-CN" b="1" i="0" dirty="0">
                <a:solidFill>
                  <a:srgbClr val="060A26"/>
                </a:solidFill>
                <a:effectLst/>
                <a:latin typeface="微软雅黑" panose="020B0503020204020204" pitchFamily="34" charset="-122"/>
                <a:ea typeface="微软雅黑" panose="020B0503020204020204" pitchFamily="34" charset="-122"/>
              </a:rPr>
              <a:t>(1) </a:t>
            </a:r>
            <a:r>
              <a:rPr lang="zh-CN" altLang="en-US" b="1" i="0" dirty="0">
                <a:solidFill>
                  <a:srgbClr val="060A26"/>
                </a:solidFill>
                <a:effectLst/>
                <a:latin typeface="微软雅黑" panose="020B0503020204020204" pitchFamily="34" charset="-122"/>
                <a:ea typeface="微软雅黑" panose="020B0503020204020204" pitchFamily="34" charset="-122"/>
              </a:rPr>
              <a:t>由于预定义的 </a:t>
            </a:r>
            <a:r>
              <a:rPr lang="en-US" altLang="zh-CN" b="1" i="0" dirty="0">
                <a:solidFill>
                  <a:srgbClr val="060A26"/>
                </a:solidFill>
                <a:effectLst/>
                <a:latin typeface="微软雅黑" panose="020B0503020204020204" pitchFamily="34" charset="-122"/>
                <a:ea typeface="微软雅黑" panose="020B0503020204020204" pitchFamily="34" charset="-122"/>
              </a:rPr>
              <a:t>API </a:t>
            </a:r>
            <a:r>
              <a:rPr lang="zh-CN" altLang="en-US" b="1" i="0" dirty="0">
                <a:solidFill>
                  <a:srgbClr val="060A26"/>
                </a:solidFill>
                <a:effectLst/>
                <a:latin typeface="微软雅黑" panose="020B0503020204020204" pitchFamily="34" charset="-122"/>
                <a:ea typeface="微软雅黑" panose="020B0503020204020204" pitchFamily="34" charset="-122"/>
              </a:rPr>
              <a:t>列表不完整，导致漏报；</a:t>
            </a:r>
            <a:r>
              <a:rPr lang="en-US" altLang="zh-CN" b="1" i="0" dirty="0">
                <a:solidFill>
                  <a:srgbClr val="060A26"/>
                </a:solidFill>
                <a:effectLst/>
                <a:latin typeface="微软雅黑" panose="020B0503020204020204" pitchFamily="34" charset="-122"/>
                <a:ea typeface="微软雅黑" panose="020B0503020204020204" pitchFamily="34" charset="-122"/>
              </a:rPr>
              <a:t>(2) </a:t>
            </a:r>
            <a:r>
              <a:rPr lang="zh-CN" altLang="en-US" b="1" i="0" dirty="0">
                <a:solidFill>
                  <a:srgbClr val="060A26"/>
                </a:solidFill>
                <a:effectLst/>
                <a:latin typeface="微软雅黑" panose="020B0503020204020204" pitchFamily="34" charset="-122"/>
                <a:ea typeface="微软雅黑" panose="020B0503020204020204" pitchFamily="34" charset="-122"/>
              </a:rPr>
              <a:t>由于资源可达性验证识别不完整，导致误报</a:t>
            </a:r>
            <a:r>
              <a:rPr lang="zh-CN" altLang="en-US" i="0" dirty="0">
                <a:solidFill>
                  <a:srgbClr val="060A26"/>
                </a:solidFill>
                <a:effectLst/>
                <a:latin typeface="微软雅黑" panose="020B0503020204020204" pitchFamily="34" charset="-122"/>
                <a:ea typeface="微软雅黑" panose="020B0503020204020204" pitchFamily="34" charset="-122"/>
              </a:rPr>
              <a:t>。为了克服这些挑战，我们提出了 </a:t>
            </a:r>
            <a:r>
              <a:rPr lang="en-US" altLang="zh-CN" i="0" dirty="0">
                <a:solidFill>
                  <a:srgbClr val="060A26"/>
                </a:solidFill>
                <a:effectLst/>
                <a:latin typeface="微软雅黑" panose="020B0503020204020204" pitchFamily="34" charset="-122"/>
                <a:ea typeface="微软雅黑" panose="020B0503020204020204" pitchFamily="34" charset="-122"/>
              </a:rPr>
              <a:t>INFERROI</a:t>
            </a:r>
            <a:r>
              <a:rPr lang="zh-CN" altLang="en-US" i="0" dirty="0">
                <a:solidFill>
                  <a:srgbClr val="060A26"/>
                </a:solidFill>
                <a:effectLst/>
                <a:latin typeface="微软雅黑" panose="020B0503020204020204" pitchFamily="34" charset="-122"/>
                <a:ea typeface="微软雅黑" panose="020B0503020204020204" pitchFamily="34" charset="-122"/>
              </a:rPr>
              <a:t>，这是一种新颖的方法，</a:t>
            </a:r>
            <a:r>
              <a:rPr lang="zh-CN" altLang="en-US" b="1" i="0" dirty="0">
                <a:solidFill>
                  <a:srgbClr val="060A2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利用大语言模型（</a:t>
            </a:r>
            <a:r>
              <a:rPr lang="en-US" altLang="zh-CN" b="1" i="0" dirty="0">
                <a:solidFill>
                  <a:srgbClr val="060A2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LLM</a:t>
            </a:r>
            <a:r>
              <a:rPr lang="zh-CN" altLang="en-US" b="1" i="0" dirty="0">
                <a:solidFill>
                  <a:srgbClr val="060A2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）卓越的代码理解能力，直接推断代码中面向资源的意图（获取、释放和可达性验证</a:t>
            </a:r>
            <a:r>
              <a:rPr lang="zh-CN" altLang="en-US" i="0" dirty="0">
                <a:solidFill>
                  <a:srgbClr val="060A26"/>
                </a:solidFill>
                <a:effectLst/>
                <a:latin typeface="微软雅黑" panose="020B0503020204020204" pitchFamily="34" charset="-122"/>
                <a:ea typeface="微软雅黑" panose="020B0503020204020204" pitchFamily="34" charset="-122"/>
              </a:rPr>
              <a:t>）。</a:t>
            </a:r>
            <a:r>
              <a:rPr lang="en-US" altLang="zh-CN" i="0" dirty="0">
                <a:solidFill>
                  <a:srgbClr val="060A26"/>
                </a:solidFill>
                <a:effectLst/>
                <a:latin typeface="微软雅黑" panose="020B0503020204020204" pitchFamily="34" charset="-122"/>
                <a:ea typeface="微软雅黑" panose="020B0503020204020204" pitchFamily="34" charset="-122"/>
              </a:rPr>
              <a:t>INFERROI </a:t>
            </a:r>
            <a:r>
              <a:rPr lang="zh-CN" altLang="en-US" i="0" dirty="0">
                <a:solidFill>
                  <a:srgbClr val="060A26"/>
                </a:solidFill>
                <a:effectLst/>
                <a:latin typeface="微软雅黑" panose="020B0503020204020204" pitchFamily="34" charset="-122"/>
                <a:ea typeface="微软雅黑" panose="020B0503020204020204" pitchFamily="34" charset="-122"/>
              </a:rPr>
              <a:t>首先提示 </a:t>
            </a:r>
            <a:r>
              <a:rPr lang="en-US" altLang="zh-CN" i="0" dirty="0">
                <a:solidFill>
                  <a:srgbClr val="060A26"/>
                </a:solidFill>
                <a:effectLst/>
                <a:latin typeface="微软雅黑" panose="020B0503020204020204" pitchFamily="34" charset="-122"/>
                <a:ea typeface="微软雅黑" panose="020B0503020204020204" pitchFamily="34" charset="-122"/>
              </a:rPr>
              <a:t>LLM </a:t>
            </a:r>
            <a:r>
              <a:rPr lang="zh-CN" altLang="en-US" i="0" dirty="0">
                <a:solidFill>
                  <a:srgbClr val="060A26"/>
                </a:solidFill>
                <a:effectLst/>
                <a:latin typeface="微软雅黑" panose="020B0503020204020204" pitchFamily="34" charset="-122"/>
                <a:ea typeface="微软雅黑" panose="020B0503020204020204" pitchFamily="34" charset="-122"/>
              </a:rPr>
              <a:t>推断给定代码片段中涉及的意图，然后结合两阶段静态分析方法，基于推断出的意图检查控制流路径以检测资源泄露。我们评估了 </a:t>
            </a:r>
            <a:r>
              <a:rPr lang="en-US" altLang="zh-CN" i="0" dirty="0">
                <a:solidFill>
                  <a:srgbClr val="060A26"/>
                </a:solidFill>
                <a:effectLst/>
                <a:latin typeface="微软雅黑" panose="020B0503020204020204" pitchFamily="34" charset="-122"/>
                <a:ea typeface="微软雅黑" panose="020B0503020204020204" pitchFamily="34" charset="-122"/>
              </a:rPr>
              <a:t>INFERROI </a:t>
            </a:r>
            <a:r>
              <a:rPr lang="zh-CN" altLang="en-US" i="0" dirty="0">
                <a:solidFill>
                  <a:srgbClr val="060A26"/>
                </a:solidFill>
                <a:effectLst/>
                <a:latin typeface="微软雅黑" panose="020B0503020204020204" pitchFamily="34" charset="-122"/>
                <a:ea typeface="微软雅黑" panose="020B0503020204020204" pitchFamily="34" charset="-122"/>
              </a:rPr>
              <a:t>在面向资源的意图推断和资源泄露检测方面的有效性。在 </a:t>
            </a:r>
            <a:r>
              <a:rPr lang="en-US" altLang="zh-CN" i="0" dirty="0" err="1">
                <a:solidFill>
                  <a:srgbClr val="060A26"/>
                </a:solidFill>
                <a:effectLst/>
                <a:latin typeface="微软雅黑" panose="020B0503020204020204" pitchFamily="34" charset="-122"/>
                <a:ea typeface="微软雅黑" panose="020B0503020204020204" pitchFamily="34" charset="-122"/>
              </a:rPr>
              <a:t>DroidLeaks</a:t>
            </a:r>
            <a:r>
              <a:rPr lang="en-US" altLang="zh-CN" i="0" dirty="0">
                <a:solidFill>
                  <a:srgbClr val="060A26"/>
                </a:solidFill>
                <a:effectLst/>
                <a:latin typeface="微软雅黑" panose="020B0503020204020204" pitchFamily="34" charset="-122"/>
                <a:ea typeface="微软雅黑" panose="020B0503020204020204" pitchFamily="34" charset="-122"/>
              </a:rPr>
              <a:t> </a:t>
            </a:r>
            <a:r>
              <a:rPr lang="zh-CN" altLang="en-US" i="0" dirty="0">
                <a:solidFill>
                  <a:srgbClr val="060A26"/>
                </a:solidFill>
                <a:effectLst/>
                <a:latin typeface="微软雅黑" panose="020B0503020204020204" pitchFamily="34" charset="-122"/>
                <a:ea typeface="微软雅黑" panose="020B0503020204020204" pitchFamily="34" charset="-122"/>
              </a:rPr>
              <a:t>和 </a:t>
            </a:r>
            <a:r>
              <a:rPr lang="en-US" altLang="zh-CN" i="0" dirty="0" err="1">
                <a:solidFill>
                  <a:srgbClr val="060A26"/>
                </a:solidFill>
                <a:effectLst/>
                <a:latin typeface="微软雅黑" panose="020B0503020204020204" pitchFamily="34" charset="-122"/>
                <a:ea typeface="微软雅黑" panose="020B0503020204020204" pitchFamily="34" charset="-122"/>
              </a:rPr>
              <a:t>JLeaks</a:t>
            </a:r>
            <a:r>
              <a:rPr lang="en-US" altLang="zh-CN" i="0" dirty="0">
                <a:solidFill>
                  <a:srgbClr val="060A26"/>
                </a:solidFill>
                <a:effectLst/>
                <a:latin typeface="微软雅黑" panose="020B0503020204020204" pitchFamily="34" charset="-122"/>
                <a:ea typeface="微软雅黑" panose="020B0503020204020204" pitchFamily="34" charset="-122"/>
              </a:rPr>
              <a:t> </a:t>
            </a:r>
            <a:r>
              <a:rPr lang="zh-CN" altLang="en-US" i="0" dirty="0">
                <a:solidFill>
                  <a:srgbClr val="060A26"/>
                </a:solidFill>
                <a:effectLst/>
                <a:latin typeface="微软雅黑" panose="020B0503020204020204" pitchFamily="34" charset="-122"/>
                <a:ea typeface="微软雅黑" panose="020B0503020204020204" pitchFamily="34" charset="-122"/>
              </a:rPr>
              <a:t>数据集上的实验结果表明，</a:t>
            </a:r>
            <a:r>
              <a:rPr lang="en-US" altLang="zh-CN" i="0" dirty="0">
                <a:solidFill>
                  <a:srgbClr val="060A26"/>
                </a:solidFill>
                <a:effectLst/>
                <a:latin typeface="微软雅黑" panose="020B0503020204020204" pitchFamily="34" charset="-122"/>
                <a:ea typeface="微软雅黑" panose="020B0503020204020204" pitchFamily="34" charset="-122"/>
              </a:rPr>
              <a:t>INFERROI </a:t>
            </a:r>
            <a:r>
              <a:rPr lang="zh-CN" altLang="en-US" i="0" dirty="0">
                <a:solidFill>
                  <a:srgbClr val="060A26"/>
                </a:solidFill>
                <a:effectLst/>
                <a:latin typeface="微软雅黑" panose="020B0503020204020204" pitchFamily="34" charset="-122"/>
                <a:ea typeface="微软雅黑" panose="020B0503020204020204" pitchFamily="34" charset="-122"/>
              </a:rPr>
              <a:t>取得了令人瞩目的漏洞检测率（分别为 </a:t>
            </a:r>
            <a:r>
              <a:rPr lang="en-US" altLang="zh-CN" i="0" dirty="0">
                <a:solidFill>
                  <a:srgbClr val="060A26"/>
                </a:solidFill>
                <a:effectLst/>
                <a:latin typeface="微软雅黑" panose="020B0503020204020204" pitchFamily="34" charset="-122"/>
                <a:ea typeface="微软雅黑" panose="020B0503020204020204" pitchFamily="34" charset="-122"/>
              </a:rPr>
              <a:t>59.3% </a:t>
            </a:r>
            <a:r>
              <a:rPr lang="zh-CN" altLang="en-US" i="0" dirty="0">
                <a:solidFill>
                  <a:srgbClr val="060A26"/>
                </a:solidFill>
                <a:effectLst/>
                <a:latin typeface="微软雅黑" panose="020B0503020204020204" pitchFamily="34" charset="-122"/>
                <a:ea typeface="微软雅黑" panose="020B0503020204020204" pitchFamily="34" charset="-122"/>
              </a:rPr>
              <a:t>和 </a:t>
            </a:r>
            <a:r>
              <a:rPr lang="en-US" altLang="zh-CN" i="0" dirty="0">
                <a:solidFill>
                  <a:srgbClr val="060A26"/>
                </a:solidFill>
                <a:effectLst/>
                <a:latin typeface="微软雅黑" panose="020B0503020204020204" pitchFamily="34" charset="-122"/>
                <a:ea typeface="微软雅黑" panose="020B0503020204020204" pitchFamily="34" charset="-122"/>
              </a:rPr>
              <a:t>62.5%</a:t>
            </a:r>
            <a:r>
              <a:rPr lang="zh-CN" altLang="en-US" i="0" dirty="0">
                <a:solidFill>
                  <a:srgbClr val="060A26"/>
                </a:solidFill>
                <a:effectLst/>
                <a:latin typeface="微软雅黑" panose="020B0503020204020204" pitchFamily="34" charset="-122"/>
                <a:ea typeface="微软雅黑" panose="020B0503020204020204" pitchFamily="34" charset="-122"/>
              </a:rPr>
              <a:t>）和误报率（分别为 </a:t>
            </a:r>
            <a:r>
              <a:rPr lang="en-US" altLang="zh-CN" i="0" dirty="0">
                <a:solidFill>
                  <a:srgbClr val="060A26"/>
                </a:solidFill>
                <a:effectLst/>
                <a:latin typeface="微软雅黑" panose="020B0503020204020204" pitchFamily="34" charset="-122"/>
                <a:ea typeface="微软雅黑" panose="020B0503020204020204" pitchFamily="34" charset="-122"/>
              </a:rPr>
              <a:t>18.6% </a:t>
            </a:r>
            <a:r>
              <a:rPr lang="zh-CN" altLang="en-US" i="0" dirty="0">
                <a:solidFill>
                  <a:srgbClr val="060A26"/>
                </a:solidFill>
                <a:effectLst/>
                <a:latin typeface="微软雅黑" panose="020B0503020204020204" pitchFamily="34" charset="-122"/>
                <a:ea typeface="微软雅黑" panose="020B0503020204020204" pitchFamily="34" charset="-122"/>
              </a:rPr>
              <a:t>和 </a:t>
            </a:r>
            <a:r>
              <a:rPr lang="en-US" altLang="zh-CN" i="0" dirty="0">
                <a:solidFill>
                  <a:srgbClr val="060A26"/>
                </a:solidFill>
                <a:effectLst/>
                <a:latin typeface="微软雅黑" panose="020B0503020204020204" pitchFamily="34" charset="-122"/>
                <a:ea typeface="微软雅黑" panose="020B0503020204020204" pitchFamily="34" charset="-122"/>
              </a:rPr>
              <a:t>19.5%</a:t>
            </a:r>
            <a:r>
              <a:rPr lang="zh-CN" altLang="en-US" i="0" dirty="0">
                <a:solidFill>
                  <a:srgbClr val="060A26"/>
                </a:solidFill>
                <a:effectLst/>
                <a:latin typeface="微软雅黑" panose="020B0503020204020204" pitchFamily="34" charset="-122"/>
                <a:ea typeface="微软雅黑" panose="020B0503020204020204" pitchFamily="34" charset="-122"/>
              </a:rPr>
              <a:t>）。与三种工业级静态检测器相比，</a:t>
            </a:r>
            <a:r>
              <a:rPr lang="en-US" altLang="zh-CN" i="0" dirty="0">
                <a:solidFill>
                  <a:srgbClr val="060A26"/>
                </a:solidFill>
                <a:effectLst/>
                <a:latin typeface="微软雅黑" panose="020B0503020204020204" pitchFamily="34" charset="-122"/>
                <a:ea typeface="微软雅黑" panose="020B0503020204020204" pitchFamily="34" charset="-122"/>
              </a:rPr>
              <a:t>INFERROI </a:t>
            </a:r>
            <a:r>
              <a:rPr lang="zh-CN" altLang="en-US" i="0" dirty="0">
                <a:solidFill>
                  <a:srgbClr val="060A26"/>
                </a:solidFill>
                <a:effectLst/>
                <a:latin typeface="微软雅黑" panose="020B0503020204020204" pitchFamily="34" charset="-122"/>
                <a:ea typeface="微软雅黑" panose="020B0503020204020204" pitchFamily="34" charset="-122"/>
              </a:rPr>
              <a:t>在 </a:t>
            </a:r>
            <a:r>
              <a:rPr lang="en-US" altLang="zh-CN" i="0" dirty="0" err="1">
                <a:solidFill>
                  <a:srgbClr val="060A26"/>
                </a:solidFill>
                <a:effectLst/>
                <a:latin typeface="微软雅黑" panose="020B0503020204020204" pitchFamily="34" charset="-122"/>
                <a:ea typeface="微软雅黑" panose="020B0503020204020204" pitchFamily="34" charset="-122"/>
              </a:rPr>
              <a:t>DroidLeaks</a:t>
            </a:r>
            <a:r>
              <a:rPr lang="en-US" altLang="zh-CN" i="0" dirty="0">
                <a:solidFill>
                  <a:srgbClr val="060A26"/>
                </a:solidFill>
                <a:effectLst/>
                <a:latin typeface="微软雅黑" panose="020B0503020204020204" pitchFamily="34" charset="-122"/>
                <a:ea typeface="微软雅黑" panose="020B0503020204020204" pitchFamily="34" charset="-122"/>
              </a:rPr>
              <a:t> </a:t>
            </a:r>
            <a:r>
              <a:rPr lang="zh-CN" altLang="en-US" i="0" dirty="0">
                <a:solidFill>
                  <a:srgbClr val="060A26"/>
                </a:solidFill>
                <a:effectLst/>
                <a:latin typeface="微软雅黑" panose="020B0503020204020204" pitchFamily="34" charset="-122"/>
                <a:ea typeface="微软雅黑" panose="020B0503020204020204" pitchFamily="34" charset="-122"/>
              </a:rPr>
              <a:t>和 </a:t>
            </a:r>
            <a:r>
              <a:rPr lang="en-US" altLang="zh-CN" i="0" dirty="0" err="1">
                <a:solidFill>
                  <a:srgbClr val="060A26"/>
                </a:solidFill>
                <a:effectLst/>
                <a:latin typeface="微软雅黑" panose="020B0503020204020204" pitchFamily="34" charset="-122"/>
                <a:ea typeface="微软雅黑" panose="020B0503020204020204" pitchFamily="34" charset="-122"/>
              </a:rPr>
              <a:t>JLeaks</a:t>
            </a:r>
            <a:r>
              <a:rPr lang="en-US" altLang="zh-CN" i="0" dirty="0">
                <a:solidFill>
                  <a:srgbClr val="060A26"/>
                </a:solidFill>
                <a:effectLst/>
                <a:latin typeface="微软雅黑" panose="020B0503020204020204" pitchFamily="34" charset="-122"/>
                <a:ea typeface="微软雅黑" panose="020B0503020204020204" pitchFamily="34" charset="-122"/>
              </a:rPr>
              <a:t> </a:t>
            </a:r>
            <a:r>
              <a:rPr lang="zh-CN" altLang="en-US" i="0" dirty="0">
                <a:solidFill>
                  <a:srgbClr val="060A26"/>
                </a:solidFill>
                <a:effectLst/>
                <a:latin typeface="微软雅黑" panose="020B0503020204020204" pitchFamily="34" charset="-122"/>
                <a:ea typeface="微软雅黑" panose="020B0503020204020204" pitchFamily="34" charset="-122"/>
              </a:rPr>
              <a:t>中分别多检测出了 </a:t>
            </a:r>
            <a:r>
              <a:rPr lang="en-US" altLang="zh-CN" i="0" dirty="0">
                <a:solidFill>
                  <a:srgbClr val="060A26"/>
                </a:solidFill>
                <a:effectLst/>
                <a:latin typeface="微软雅黑" panose="020B0503020204020204" pitchFamily="34" charset="-122"/>
                <a:ea typeface="微软雅黑" panose="020B0503020204020204" pitchFamily="34" charset="-122"/>
              </a:rPr>
              <a:t>14~45 </a:t>
            </a:r>
            <a:r>
              <a:rPr lang="zh-CN" altLang="en-US" i="0" dirty="0">
                <a:solidFill>
                  <a:srgbClr val="060A26"/>
                </a:solidFill>
                <a:effectLst/>
                <a:latin typeface="微软雅黑" panose="020B0503020204020204" pitchFamily="34" charset="-122"/>
                <a:ea typeface="微软雅黑" panose="020B0503020204020204" pitchFamily="34" charset="-122"/>
              </a:rPr>
              <a:t>个和 </a:t>
            </a:r>
            <a:r>
              <a:rPr lang="en-US" altLang="zh-CN" i="0" dirty="0">
                <a:solidFill>
                  <a:srgbClr val="060A26"/>
                </a:solidFill>
                <a:effectLst/>
                <a:latin typeface="微软雅黑" panose="020B0503020204020204" pitchFamily="34" charset="-122"/>
                <a:ea typeface="微软雅黑" panose="020B0503020204020204" pitchFamily="34" charset="-122"/>
              </a:rPr>
              <a:t>149~485 </a:t>
            </a:r>
            <a:r>
              <a:rPr lang="zh-CN" altLang="en-US" i="0" dirty="0">
                <a:solidFill>
                  <a:srgbClr val="060A26"/>
                </a:solidFill>
                <a:effectLst/>
                <a:latin typeface="微软雅黑" panose="020B0503020204020204" pitchFamily="34" charset="-122"/>
                <a:ea typeface="微软雅黑" panose="020B0503020204020204" pitchFamily="34" charset="-122"/>
              </a:rPr>
              <a:t>个漏洞。当应用于现实世界的开源项目时，</a:t>
            </a:r>
            <a:r>
              <a:rPr lang="en-US" altLang="zh-CN" i="0" dirty="0">
                <a:solidFill>
                  <a:srgbClr val="060A26"/>
                </a:solidFill>
                <a:effectLst/>
                <a:latin typeface="微软雅黑" panose="020B0503020204020204" pitchFamily="34" charset="-122"/>
                <a:ea typeface="微软雅黑" panose="020B0503020204020204" pitchFamily="34" charset="-122"/>
              </a:rPr>
              <a:t>INFERROI </a:t>
            </a:r>
            <a:r>
              <a:rPr lang="zh-CN" altLang="en-US" i="0" dirty="0">
                <a:solidFill>
                  <a:srgbClr val="060A26"/>
                </a:solidFill>
                <a:effectLst/>
                <a:latin typeface="微软雅黑" panose="020B0503020204020204" pitchFamily="34" charset="-122"/>
                <a:ea typeface="微软雅黑" panose="020B0503020204020204" pitchFamily="34" charset="-122"/>
              </a:rPr>
              <a:t>识别出了 </a:t>
            </a:r>
            <a:r>
              <a:rPr lang="en-US" altLang="zh-CN" i="0" dirty="0">
                <a:solidFill>
                  <a:srgbClr val="060A26"/>
                </a:solidFill>
                <a:effectLst/>
                <a:latin typeface="微软雅黑" panose="020B0503020204020204" pitchFamily="34" charset="-122"/>
                <a:ea typeface="微软雅黑" panose="020B0503020204020204" pitchFamily="34" charset="-122"/>
              </a:rPr>
              <a:t>29 </a:t>
            </a:r>
            <a:r>
              <a:rPr lang="zh-CN" altLang="en-US" i="0" dirty="0">
                <a:solidFill>
                  <a:srgbClr val="060A26"/>
                </a:solidFill>
                <a:effectLst/>
                <a:latin typeface="微软雅黑" panose="020B0503020204020204" pitchFamily="34" charset="-122"/>
                <a:ea typeface="微软雅黑" panose="020B0503020204020204" pitchFamily="34" charset="-122"/>
              </a:rPr>
              <a:t>个未知的资源泄露漏洞（经作者验证），其中 </a:t>
            </a:r>
            <a:r>
              <a:rPr lang="en-US" altLang="zh-CN" i="0" dirty="0">
                <a:solidFill>
                  <a:srgbClr val="060A26"/>
                </a:solidFill>
                <a:effectLst/>
                <a:latin typeface="微软雅黑" panose="020B0503020204020204" pitchFamily="34" charset="-122"/>
                <a:ea typeface="微软雅黑" panose="020B0503020204020204" pitchFamily="34" charset="-122"/>
              </a:rPr>
              <a:t>7 </a:t>
            </a:r>
            <a:r>
              <a:rPr lang="zh-CN" altLang="en-US" i="0" dirty="0">
                <a:solidFill>
                  <a:srgbClr val="060A26"/>
                </a:solidFill>
                <a:effectLst/>
                <a:latin typeface="微软雅黑" panose="020B0503020204020204" pitchFamily="34" charset="-122"/>
                <a:ea typeface="微软雅黑" panose="020B0503020204020204" pitchFamily="34" charset="-122"/>
              </a:rPr>
              <a:t>个已得到开发人员的确认。此外，消融研究的结果强调了将基于 </a:t>
            </a:r>
            <a:r>
              <a:rPr lang="en-US" altLang="zh-CN" i="0" dirty="0">
                <a:solidFill>
                  <a:srgbClr val="060A26"/>
                </a:solidFill>
                <a:effectLst/>
                <a:latin typeface="微软雅黑" panose="020B0503020204020204" pitchFamily="34" charset="-122"/>
                <a:ea typeface="微软雅黑" panose="020B0503020204020204" pitchFamily="34" charset="-122"/>
              </a:rPr>
              <a:t>LLM </a:t>
            </a:r>
            <a:r>
              <a:rPr lang="zh-CN" altLang="en-US" i="0" dirty="0">
                <a:solidFill>
                  <a:srgbClr val="060A26"/>
                </a:solidFill>
                <a:effectLst/>
                <a:latin typeface="微软雅黑" panose="020B0503020204020204" pitchFamily="34" charset="-122"/>
                <a:ea typeface="微软雅黑" panose="020B0503020204020204" pitchFamily="34" charset="-122"/>
              </a:rPr>
              <a:t>的推断与静态分析相结合的重要性。最后，人工标注表明，</a:t>
            </a:r>
            <a:r>
              <a:rPr lang="en-US" altLang="zh-CN" i="0" dirty="0">
                <a:solidFill>
                  <a:srgbClr val="060A26"/>
                </a:solidFill>
                <a:effectLst/>
                <a:latin typeface="微软雅黑" panose="020B0503020204020204" pitchFamily="34" charset="-122"/>
                <a:ea typeface="微软雅黑" panose="020B0503020204020204" pitchFamily="34" charset="-122"/>
              </a:rPr>
              <a:t>INFERROI </a:t>
            </a:r>
            <a:r>
              <a:rPr lang="zh-CN" altLang="en-US" i="0" dirty="0">
                <a:solidFill>
                  <a:srgbClr val="060A26"/>
                </a:solidFill>
                <a:effectLst/>
                <a:latin typeface="微软雅黑" panose="020B0503020204020204" pitchFamily="34" charset="-122"/>
                <a:ea typeface="微软雅黑" panose="020B0503020204020204" pitchFamily="34" charset="-122"/>
              </a:rPr>
              <a:t>在意图推断方面的精确率为 </a:t>
            </a:r>
            <a:r>
              <a:rPr lang="en-US" altLang="zh-CN" i="0" dirty="0">
                <a:solidFill>
                  <a:srgbClr val="060A26"/>
                </a:solidFill>
                <a:effectLst/>
                <a:latin typeface="微软雅黑" panose="020B0503020204020204" pitchFamily="34" charset="-122"/>
                <a:ea typeface="微软雅黑" panose="020B0503020204020204" pitchFamily="34" charset="-122"/>
              </a:rPr>
              <a:t>74.6%</a:t>
            </a:r>
            <a:r>
              <a:rPr lang="zh-CN" altLang="en-US" i="0" dirty="0">
                <a:solidFill>
                  <a:srgbClr val="060A26"/>
                </a:solidFill>
                <a:effectLst/>
                <a:latin typeface="微软雅黑" panose="020B0503020204020204" pitchFamily="34" charset="-122"/>
                <a:ea typeface="微软雅黑" panose="020B0503020204020204" pitchFamily="34" charset="-122"/>
              </a:rPr>
              <a:t>，召回率为 </a:t>
            </a:r>
            <a:r>
              <a:rPr lang="en-US" altLang="zh-CN" i="0" dirty="0">
                <a:solidFill>
                  <a:srgbClr val="060A26"/>
                </a:solidFill>
                <a:effectLst/>
                <a:latin typeface="微软雅黑" panose="020B0503020204020204" pitchFamily="34" charset="-122"/>
                <a:ea typeface="微软雅黑" panose="020B0503020204020204" pitchFamily="34" charset="-122"/>
              </a:rPr>
              <a:t>81.8%</a:t>
            </a:r>
            <a:r>
              <a:rPr lang="zh-CN" altLang="en-US" i="0" dirty="0">
                <a:solidFill>
                  <a:srgbClr val="060A26"/>
                </a:solidFill>
                <a:effectLst/>
                <a:latin typeface="微软雅黑" panose="020B0503020204020204" pitchFamily="34" charset="-122"/>
                <a:ea typeface="微软雅黑" panose="020B0503020204020204" pitchFamily="34" charset="-122"/>
              </a:rPr>
              <a:t>，覆盖了数据集中超过 </a:t>
            </a:r>
            <a:r>
              <a:rPr lang="en-US" altLang="zh-CN" i="0" dirty="0">
                <a:solidFill>
                  <a:srgbClr val="060A26"/>
                </a:solidFill>
                <a:effectLst/>
                <a:latin typeface="微软雅黑" panose="020B0503020204020204" pitchFamily="34" charset="-122"/>
                <a:ea typeface="微软雅黑" panose="020B0503020204020204" pitchFamily="34" charset="-122"/>
              </a:rPr>
              <a:t>60% </a:t>
            </a:r>
            <a:r>
              <a:rPr lang="zh-CN" altLang="en-US" i="0" dirty="0">
                <a:solidFill>
                  <a:srgbClr val="060A26"/>
                </a:solidFill>
                <a:effectLst/>
                <a:latin typeface="微软雅黑" panose="020B0503020204020204" pitchFamily="34" charset="-122"/>
                <a:ea typeface="微软雅黑" panose="020B0503020204020204" pitchFamily="34" charset="-122"/>
              </a:rPr>
              <a:t>的资源类型。</a:t>
            </a:r>
          </a:p>
        </p:txBody>
      </p:sp>
      <p:sp>
        <p:nvSpPr>
          <p:cNvPr id="9" name="文本框 8">
            <a:extLst>
              <a:ext uri="{FF2B5EF4-FFF2-40B4-BE49-F238E27FC236}">
                <a16:creationId xmlns:a16="http://schemas.microsoft.com/office/drawing/2014/main" id="{17A77E85-4046-E5D1-DAEE-11E31E507BD6}"/>
              </a:ext>
            </a:extLst>
          </p:cNvPr>
          <p:cNvSpPr txBox="1"/>
          <p:nvPr/>
        </p:nvSpPr>
        <p:spPr>
          <a:xfrm>
            <a:off x="-173381" y="830479"/>
            <a:ext cx="12538762" cy="646331"/>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Boosting Static Resource Leak Detection via  LLM-based Resource-Oriented </a:t>
            </a:r>
          </a:p>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Intention Inference (ICSE, CCF-A</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5808B2F-A66E-B015-DFB5-00FE81F8FFDF}"/>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意图推断与知识注入 </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2567509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666BD-9878-7DE4-9EAB-197C0E4650F4}"/>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70968CA7-6B36-688E-E82F-93F5FCB9413B}"/>
              </a:ext>
            </a:extLst>
          </p:cNvPr>
          <p:cNvSpPr>
            <a:spLocks noGrp="1"/>
          </p:cNvSpPr>
          <p:nvPr>
            <p:ph type="sldNum" sz="quarter" idx="10"/>
          </p:nvPr>
        </p:nvSpPr>
        <p:spPr/>
        <p:txBody>
          <a:bodyPr/>
          <a:lstStyle/>
          <a:p>
            <a:fld id="{023126B9-07AC-4BAF-B3D7-FAC1D3999DA4}" type="slidenum">
              <a:rPr lang="zh-CN" altLang="en-US" smtClean="0"/>
              <a:t>22</a:t>
            </a:fld>
            <a:endParaRPr lang="zh-CN" altLang="en-US" dirty="0"/>
          </a:p>
        </p:txBody>
      </p:sp>
      <p:sp>
        <p:nvSpPr>
          <p:cNvPr id="15" name="任意多边形 14">
            <a:extLst>
              <a:ext uri="{FF2B5EF4-FFF2-40B4-BE49-F238E27FC236}">
                <a16:creationId xmlns:a16="http://schemas.microsoft.com/office/drawing/2014/main" id="{2537BC97-A567-CAF3-E395-97A44B2159A3}"/>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2B39E283-B52C-4FD0-905C-1A92A3BA713E}"/>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3" name="文本框 2">
            <a:extLst>
              <a:ext uri="{FF2B5EF4-FFF2-40B4-BE49-F238E27FC236}">
                <a16:creationId xmlns:a16="http://schemas.microsoft.com/office/drawing/2014/main" id="{798783B7-09CD-5C14-BEA5-55B34D1999ED}"/>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意图推断与知识注入 </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pic>
        <p:nvPicPr>
          <p:cNvPr id="6" name="图片 5">
            <a:extLst>
              <a:ext uri="{FF2B5EF4-FFF2-40B4-BE49-F238E27FC236}">
                <a16:creationId xmlns:a16="http://schemas.microsoft.com/office/drawing/2014/main" id="{ED77A856-566D-5866-67A2-FA68C05D3B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0762" y="1785314"/>
            <a:ext cx="8390476" cy="3866667"/>
          </a:xfrm>
          <a:prstGeom prst="rect">
            <a:avLst/>
          </a:prstGeom>
        </p:spPr>
      </p:pic>
      <p:sp>
        <p:nvSpPr>
          <p:cNvPr id="7" name="文本框 6">
            <a:extLst>
              <a:ext uri="{FF2B5EF4-FFF2-40B4-BE49-F238E27FC236}">
                <a16:creationId xmlns:a16="http://schemas.microsoft.com/office/drawing/2014/main" id="{92441A4B-1E79-7344-E6C2-C3C77C1D089B}"/>
              </a:ext>
            </a:extLst>
          </p:cNvPr>
          <p:cNvSpPr txBox="1"/>
          <p:nvPr/>
        </p:nvSpPr>
        <p:spPr>
          <a:xfrm>
            <a:off x="-173381" y="1009506"/>
            <a:ext cx="12538762" cy="646331"/>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Boosting Static Resource Leak Detection via  LLM-based Resource-Oriented </a:t>
            </a:r>
          </a:p>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Intention Inference (ICSE, CCF-A</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1CC97E04-5635-32F8-6157-4ACE6315E2C4}"/>
              </a:ext>
            </a:extLst>
          </p:cNvPr>
          <p:cNvSpPr/>
          <p:nvPr/>
        </p:nvSpPr>
        <p:spPr>
          <a:xfrm>
            <a:off x="3201436" y="2103120"/>
            <a:ext cx="6633444" cy="2123439"/>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92376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D3553-368F-0434-C2EB-4C831F794B68}"/>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8DB32FD0-EF53-2CC5-7131-272C347B6160}"/>
              </a:ext>
            </a:extLst>
          </p:cNvPr>
          <p:cNvSpPr>
            <a:spLocks noGrp="1"/>
          </p:cNvSpPr>
          <p:nvPr>
            <p:ph type="sldNum" sz="quarter" idx="10"/>
          </p:nvPr>
        </p:nvSpPr>
        <p:spPr/>
        <p:txBody>
          <a:bodyPr/>
          <a:lstStyle/>
          <a:p>
            <a:fld id="{023126B9-07AC-4BAF-B3D7-FAC1D3999DA4}" type="slidenum">
              <a:rPr lang="zh-CN" altLang="en-US" smtClean="0"/>
              <a:t>23</a:t>
            </a:fld>
            <a:endParaRPr lang="zh-CN" altLang="en-US" dirty="0"/>
          </a:p>
        </p:txBody>
      </p:sp>
      <p:sp>
        <p:nvSpPr>
          <p:cNvPr id="15" name="任意多边形 14">
            <a:extLst>
              <a:ext uri="{FF2B5EF4-FFF2-40B4-BE49-F238E27FC236}">
                <a16:creationId xmlns:a16="http://schemas.microsoft.com/office/drawing/2014/main" id="{3ED78959-3E9A-4DB6-73DF-45E4044FE37B}"/>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943CEE65-4301-C8F7-3136-26AEB67EDA38}"/>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3" name="文本框 2">
            <a:extLst>
              <a:ext uri="{FF2B5EF4-FFF2-40B4-BE49-F238E27FC236}">
                <a16:creationId xmlns:a16="http://schemas.microsoft.com/office/drawing/2014/main" id="{D6F4DDFB-B974-4680-8E0A-BA7F06A04650}"/>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意图推断与知识注入 </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7" name="文本框 6">
            <a:extLst>
              <a:ext uri="{FF2B5EF4-FFF2-40B4-BE49-F238E27FC236}">
                <a16:creationId xmlns:a16="http://schemas.microsoft.com/office/drawing/2014/main" id="{7F373E47-D8E2-AC26-1D9F-5DA0F7B2769B}"/>
              </a:ext>
            </a:extLst>
          </p:cNvPr>
          <p:cNvSpPr txBox="1"/>
          <p:nvPr/>
        </p:nvSpPr>
        <p:spPr>
          <a:xfrm>
            <a:off x="-173381" y="1009506"/>
            <a:ext cx="12538762" cy="646331"/>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Boosting Static Resource Leak Detection via  LLM-based Resource-Oriented </a:t>
            </a:r>
          </a:p>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Intention Inference (ICSE, CCF-A</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0D5C55B-2B33-5D45-E88F-95F98D8D1F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9071" y="1655837"/>
            <a:ext cx="4839872" cy="4725544"/>
          </a:xfrm>
          <a:prstGeom prst="rect">
            <a:avLst/>
          </a:prstGeom>
        </p:spPr>
      </p:pic>
      <p:pic>
        <p:nvPicPr>
          <p:cNvPr id="9" name="图片 8">
            <a:extLst>
              <a:ext uri="{FF2B5EF4-FFF2-40B4-BE49-F238E27FC236}">
                <a16:creationId xmlns:a16="http://schemas.microsoft.com/office/drawing/2014/main" id="{E905F868-9228-8EAD-99E0-AFE1984807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01124" y="2470139"/>
            <a:ext cx="6180952" cy="3047619"/>
          </a:xfrm>
          <a:prstGeom prst="rect">
            <a:avLst/>
          </a:prstGeom>
        </p:spPr>
      </p:pic>
    </p:spTree>
    <p:extLst>
      <p:ext uri="{BB962C8B-B14F-4D97-AF65-F5344CB8AC3E}">
        <p14:creationId xmlns:p14="http://schemas.microsoft.com/office/powerpoint/2010/main" val="1156499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C5F7C-1DE6-5B00-46A7-6A609E5CE2D8}"/>
            </a:ext>
          </a:extLst>
        </p:cNvPr>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0C627BBE-C4A4-AEF0-F6E2-C4640B3B03B3}"/>
              </a:ext>
            </a:extLst>
          </p:cNvPr>
          <p:cNvSpPr>
            <a:spLocks noGrp="1"/>
          </p:cNvSpPr>
          <p:nvPr>
            <p:ph type="sldNum" sz="quarter" idx="10"/>
          </p:nvPr>
        </p:nvSpPr>
        <p:spPr/>
        <p:txBody>
          <a:bodyPr/>
          <a:lstStyle/>
          <a:p>
            <a:fld id="{023126B9-07AC-4BAF-B3D7-FAC1D3999DA4}" type="slidenum">
              <a:rPr lang="zh-CN" altLang="en-US" smtClean="0"/>
              <a:t>24</a:t>
            </a:fld>
            <a:endParaRPr lang="zh-CN" altLang="en-US" dirty="0"/>
          </a:p>
        </p:txBody>
      </p:sp>
      <p:sp>
        <p:nvSpPr>
          <p:cNvPr id="15" name="任意多边形 14">
            <a:extLst>
              <a:ext uri="{FF2B5EF4-FFF2-40B4-BE49-F238E27FC236}">
                <a16:creationId xmlns:a16="http://schemas.microsoft.com/office/drawing/2014/main" id="{D978C0B3-BEF7-B6DD-38F6-96ECAC8AD564}"/>
              </a:ext>
            </a:extLst>
          </p:cNvPr>
          <p:cNvSpPr/>
          <p:nvPr/>
        </p:nvSpPr>
        <p:spPr>
          <a:xfrm flipH="1">
            <a:off x="1341487" y="780336"/>
            <a:ext cx="2853178" cy="45719"/>
          </a:xfrm>
          <a:custGeom>
            <a:avLst/>
            <a:gdLst>
              <a:gd name="connsiteX0" fmla="*/ 7977051 w 7977051"/>
              <a:gd name="connsiteY0" fmla="*/ 0 h 31619"/>
              <a:gd name="connsiteX1" fmla="*/ 0 w 7977051"/>
              <a:gd name="connsiteY1" fmla="*/ 0 h 31619"/>
              <a:gd name="connsiteX2" fmla="*/ 0 w 7977051"/>
              <a:gd name="connsiteY2" fmla="*/ 31619 h 31619"/>
              <a:gd name="connsiteX3" fmla="*/ 7977051 w 7977051"/>
              <a:gd name="connsiteY3" fmla="*/ 31619 h 31619"/>
              <a:gd name="connsiteX4" fmla="*/ 7977051 w 7977051"/>
              <a:gd name="connsiteY4" fmla="*/ 15810 h 31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51" h="31619">
                <a:moveTo>
                  <a:pt x="7977051" y="0"/>
                </a:moveTo>
                <a:lnTo>
                  <a:pt x="0" y="0"/>
                </a:lnTo>
                <a:lnTo>
                  <a:pt x="0" y="31619"/>
                </a:lnTo>
                <a:lnTo>
                  <a:pt x="7977051" y="31619"/>
                </a:lnTo>
                <a:lnTo>
                  <a:pt x="7977051" y="1581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pic>
        <p:nvPicPr>
          <p:cNvPr id="16" name="图片 15">
            <a:extLst>
              <a:ext uri="{FF2B5EF4-FFF2-40B4-BE49-F238E27FC236}">
                <a16:creationId xmlns:a16="http://schemas.microsoft.com/office/drawing/2014/main" id="{8C2DB0E1-4E2E-8152-5573-61CCA73C728F}"/>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902" y="364144"/>
            <a:ext cx="812064" cy="812064"/>
          </a:xfrm>
          <a:prstGeom prst="rect">
            <a:avLst/>
          </a:prstGeom>
        </p:spPr>
      </p:pic>
      <p:sp>
        <p:nvSpPr>
          <p:cNvPr id="3" name="文本框 2">
            <a:extLst>
              <a:ext uri="{FF2B5EF4-FFF2-40B4-BE49-F238E27FC236}">
                <a16:creationId xmlns:a16="http://schemas.microsoft.com/office/drawing/2014/main" id="{7B5252E1-2BCC-6B68-F0DB-9ABD0B7FA789}"/>
              </a:ext>
            </a:extLst>
          </p:cNvPr>
          <p:cNvSpPr txBox="1"/>
          <p:nvPr/>
        </p:nvSpPr>
        <p:spPr>
          <a:xfrm>
            <a:off x="1233805" y="356870"/>
            <a:ext cx="6701790" cy="460375"/>
          </a:xfrm>
          <a:prstGeom prst="rect">
            <a:avLst/>
          </a:prstGeom>
          <a:noFill/>
        </p:spPr>
        <p:txBody>
          <a:bodyPr wrap="square" rtlCol="0">
            <a:spAutoFit/>
          </a:bodyPr>
          <a:lstStyle/>
          <a:p>
            <a:pPr algn="l">
              <a:buClrTx/>
              <a:buSzTx/>
              <a:buFontTx/>
            </a:pPr>
            <a:r>
              <a:rPr lang="zh-CN" altLang="en-US" sz="2400" b="1" dirty="0">
                <a:solidFill>
                  <a:schemeClr val="accent6">
                    <a:lumMod val="10000"/>
                  </a:schemeClr>
                </a:solidFill>
                <a:latin typeface="微软雅黑" panose="020B0503020204020204" pitchFamily="34" charset="-122"/>
                <a:ea typeface="微软雅黑" panose="020B0503020204020204" pitchFamily="34" charset="-122"/>
                <a:sym typeface="+mn-ea"/>
              </a:rPr>
              <a:t> 意图推断与知识注入 </a:t>
            </a:r>
            <a:endParaRPr lang="zh-CN" sz="2400" b="1" dirty="0">
              <a:solidFill>
                <a:schemeClr val="accent6">
                  <a:lumMod val="10000"/>
                </a:schemeClr>
              </a:solidFill>
              <a:latin typeface="微软雅黑" panose="020B0503020204020204" pitchFamily="34" charset="-122"/>
              <a:ea typeface="微软雅黑" panose="020B0503020204020204" pitchFamily="34" charset="-122"/>
              <a:sym typeface="+mn-ea"/>
            </a:endParaRPr>
          </a:p>
        </p:txBody>
      </p:sp>
      <p:sp>
        <p:nvSpPr>
          <p:cNvPr id="7" name="文本框 6">
            <a:extLst>
              <a:ext uri="{FF2B5EF4-FFF2-40B4-BE49-F238E27FC236}">
                <a16:creationId xmlns:a16="http://schemas.microsoft.com/office/drawing/2014/main" id="{445CB742-9CA9-0696-3DB7-9F43C319F46B}"/>
              </a:ext>
            </a:extLst>
          </p:cNvPr>
          <p:cNvSpPr txBox="1"/>
          <p:nvPr/>
        </p:nvSpPr>
        <p:spPr>
          <a:xfrm>
            <a:off x="-173381" y="1009506"/>
            <a:ext cx="12538762" cy="646331"/>
          </a:xfrm>
          <a:prstGeom prst="rect">
            <a:avLst/>
          </a:prstGeom>
          <a:noFill/>
        </p:spPr>
        <p:txBody>
          <a:bodyPr wrap="square">
            <a:spAutoFit/>
          </a:bodyPr>
          <a:lstStyle/>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Boosting Static Resource Leak Detection via  LLM-based Resource-Oriented </a:t>
            </a:r>
          </a:p>
          <a:p>
            <a:pPr algn="ctr"/>
            <a:r>
              <a:rPr lang="en-US" altLang="zh-CN" dirty="0">
                <a:solidFill>
                  <a:schemeClr val="bg2">
                    <a:lumMod val="10000"/>
                  </a:schemeClr>
                </a:solidFill>
                <a:latin typeface="微软雅黑" panose="020B0503020204020204" pitchFamily="34" charset="-122"/>
                <a:ea typeface="微软雅黑" panose="020B0503020204020204" pitchFamily="34" charset="-122"/>
              </a:rPr>
              <a:t>Intention Inference (ICSE, CCF-A</a:t>
            </a:r>
            <a:r>
              <a:rPr lang="zh-CN" altLang="en-US" dirty="0">
                <a:solidFill>
                  <a:schemeClr val="bg2">
                    <a:lumMod val="10000"/>
                  </a:schemeClr>
                </a:solidFill>
                <a:latin typeface="微软雅黑" panose="020B0503020204020204" pitchFamily="34" charset="-122"/>
                <a:ea typeface="微软雅黑" panose="020B0503020204020204" pitchFamily="34" charset="-122"/>
              </a:rPr>
              <a:t>）</a:t>
            </a:r>
            <a:endParaRPr lang="en-US" altLang="zh-CN" dirty="0">
              <a:solidFill>
                <a:schemeClr val="bg2">
                  <a:lumMod val="10000"/>
                </a:schemeClr>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5979320D-A96F-D412-FD2D-316C33B732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793" y="2485721"/>
            <a:ext cx="5286328" cy="1767859"/>
          </a:xfrm>
          <a:prstGeom prst="rect">
            <a:avLst/>
          </a:prstGeom>
        </p:spPr>
      </p:pic>
      <p:sp>
        <p:nvSpPr>
          <p:cNvPr id="6" name="文本框 5">
            <a:extLst>
              <a:ext uri="{FF2B5EF4-FFF2-40B4-BE49-F238E27FC236}">
                <a16:creationId xmlns:a16="http://schemas.microsoft.com/office/drawing/2014/main" id="{02AE0DFB-CF03-73FA-BA47-2CB1703A8B80}"/>
              </a:ext>
            </a:extLst>
          </p:cNvPr>
          <p:cNvSpPr txBox="1"/>
          <p:nvPr/>
        </p:nvSpPr>
        <p:spPr>
          <a:xfrm>
            <a:off x="6278880" y="2158959"/>
            <a:ext cx="5425439" cy="2569934"/>
          </a:xfrm>
          <a:prstGeom prst="rect">
            <a:avLst/>
          </a:prstGeom>
          <a:noFill/>
        </p:spPr>
        <p:txBody>
          <a:bodyPr wrap="square">
            <a:spAutoFit/>
          </a:bodyPr>
          <a:lstStyle/>
          <a:p>
            <a:pPr algn="just">
              <a:spcBef>
                <a:spcPts val="300"/>
              </a:spcBef>
              <a:spcAft>
                <a:spcPts val="300"/>
              </a:spcAft>
            </a:pPr>
            <a:r>
              <a:rPr lang="en-US" altLang="zh-CN" b="1" dirty="0">
                <a:solidFill>
                  <a:srgbClr val="060A26"/>
                </a:solidFill>
                <a:latin typeface="微软雅黑" panose="020B0503020204020204" pitchFamily="34" charset="-122"/>
                <a:ea typeface="微软雅黑" panose="020B0503020204020204" pitchFamily="34" charset="-122"/>
              </a:rPr>
              <a:t>Ablation Study</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GPTLEAK</a:t>
            </a:r>
            <a:r>
              <a:rPr lang="zh-CN" altLang="en-US" sz="1600" i="0" dirty="0">
                <a:solidFill>
                  <a:srgbClr val="060A26"/>
                </a:solidFill>
                <a:effectLst/>
                <a:latin typeface="微软雅黑" panose="020B0503020204020204" pitchFamily="34" charset="-122"/>
                <a:ea typeface="微软雅黑" panose="020B0503020204020204" pitchFamily="34" charset="-122"/>
              </a:rPr>
              <a:t>：采用直接的指令，直接识别所提供代码中的资源泄露。</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GPTLEAK-exp</a:t>
            </a:r>
            <a:r>
              <a:rPr lang="zh-CN" altLang="en-US" sz="1600" i="0" dirty="0">
                <a:solidFill>
                  <a:srgbClr val="060A26"/>
                </a:solidFill>
                <a:effectLst/>
                <a:latin typeface="微软雅黑" panose="020B0503020204020204" pitchFamily="34" charset="-122"/>
                <a:ea typeface="微软雅黑" panose="020B0503020204020204" pitchFamily="34" charset="-122"/>
              </a:rPr>
              <a:t>：采用额外的思维链（</a:t>
            </a:r>
            <a:r>
              <a:rPr lang="en-US" altLang="zh-CN" sz="1600" i="0" dirty="0" err="1">
                <a:solidFill>
                  <a:srgbClr val="060A26"/>
                </a:solidFill>
                <a:effectLst/>
                <a:latin typeface="微软雅黑" panose="020B0503020204020204" pitchFamily="34" charset="-122"/>
                <a:ea typeface="微软雅黑" panose="020B0503020204020204" pitchFamily="34" charset="-122"/>
              </a:rPr>
              <a:t>CoT</a:t>
            </a:r>
            <a:r>
              <a:rPr lang="zh-CN" altLang="en-US" sz="1600" i="0" dirty="0">
                <a:solidFill>
                  <a:srgbClr val="060A26"/>
                </a:solidFill>
                <a:effectLst/>
                <a:latin typeface="微软雅黑" panose="020B0503020204020204" pitchFamily="34" charset="-122"/>
                <a:ea typeface="微软雅黑" panose="020B0503020204020204" pitchFamily="34" charset="-122"/>
              </a:rPr>
              <a:t>）指令“首先，解释代码的行为”，以此来解释代码行为。之前的研究 </a:t>
            </a:r>
            <a:r>
              <a:rPr lang="en-US" altLang="zh-CN" sz="1600" i="0" dirty="0">
                <a:solidFill>
                  <a:srgbClr val="060A26"/>
                </a:solidFill>
                <a:effectLst/>
                <a:latin typeface="微软雅黑" panose="020B0503020204020204" pitchFamily="34" charset="-122"/>
                <a:ea typeface="微软雅黑" panose="020B0503020204020204" pitchFamily="34" charset="-122"/>
              </a:rPr>
              <a:t>[34] </a:t>
            </a:r>
            <a:r>
              <a:rPr lang="zh-CN" altLang="en-US" sz="1600" i="0" dirty="0">
                <a:solidFill>
                  <a:srgbClr val="060A26"/>
                </a:solidFill>
                <a:effectLst/>
                <a:latin typeface="微软雅黑" panose="020B0503020204020204" pitchFamily="34" charset="-122"/>
                <a:ea typeface="微软雅黑" panose="020B0503020204020204" pitchFamily="34" charset="-122"/>
              </a:rPr>
              <a:t>已证明这种方法在静态缺陷检测中是有效的。</a:t>
            </a:r>
          </a:p>
          <a:p>
            <a:pPr marL="285750" indent="-285750" algn="just">
              <a:spcBef>
                <a:spcPts val="300"/>
              </a:spcBef>
              <a:spcAft>
                <a:spcPts val="300"/>
              </a:spcAft>
              <a:buFont typeface="Arial" panose="020B0604020202020204" pitchFamily="34" charset="0"/>
              <a:buChar char="•"/>
            </a:pPr>
            <a:r>
              <a:rPr lang="en-US" altLang="zh-CN" sz="1600" i="0" dirty="0">
                <a:solidFill>
                  <a:srgbClr val="060A26"/>
                </a:solidFill>
                <a:effectLst/>
                <a:latin typeface="微软雅黑" panose="020B0503020204020204" pitchFamily="34" charset="-122"/>
                <a:ea typeface="微软雅黑" panose="020B0503020204020204" pitchFamily="34" charset="-122"/>
              </a:rPr>
              <a:t>GPTLEAK-</a:t>
            </a:r>
            <a:r>
              <a:rPr lang="en-US" altLang="zh-CN" sz="1600" i="0" dirty="0" err="1">
                <a:solidFill>
                  <a:srgbClr val="060A26"/>
                </a:solidFill>
                <a:effectLst/>
                <a:latin typeface="微软雅黑" panose="020B0503020204020204" pitchFamily="34" charset="-122"/>
                <a:ea typeface="微软雅黑" panose="020B0503020204020204" pitchFamily="34" charset="-122"/>
              </a:rPr>
              <a:t>roi</a:t>
            </a:r>
            <a:r>
              <a:rPr lang="zh-CN" altLang="en-US" sz="1600" i="0" dirty="0">
                <a:solidFill>
                  <a:srgbClr val="060A26"/>
                </a:solidFill>
                <a:effectLst/>
                <a:latin typeface="微软雅黑" panose="020B0503020204020204" pitchFamily="34" charset="-122"/>
                <a:ea typeface="微软雅黑" panose="020B0503020204020204" pitchFamily="34" charset="-122"/>
              </a:rPr>
              <a:t>：采用额外的 </a:t>
            </a:r>
            <a:r>
              <a:rPr lang="en-US" altLang="zh-CN" sz="1600" i="0" dirty="0" err="1">
                <a:solidFill>
                  <a:srgbClr val="060A26"/>
                </a:solidFill>
                <a:effectLst/>
                <a:latin typeface="微软雅黑" panose="020B0503020204020204" pitchFamily="34" charset="-122"/>
                <a:ea typeface="微软雅黑" panose="020B0503020204020204" pitchFamily="34" charset="-122"/>
              </a:rPr>
              <a:t>CoT</a:t>
            </a:r>
            <a:r>
              <a:rPr lang="en-US" altLang="zh-CN" sz="1600" i="0" dirty="0">
                <a:solidFill>
                  <a:srgbClr val="060A26"/>
                </a:solidFill>
                <a:effectLst/>
                <a:latin typeface="微软雅黑" panose="020B0503020204020204" pitchFamily="34" charset="-122"/>
                <a:ea typeface="微软雅黑" panose="020B0503020204020204" pitchFamily="34" charset="-122"/>
              </a:rPr>
              <a:t> </a:t>
            </a:r>
            <a:r>
              <a:rPr lang="zh-CN" altLang="en-US" sz="1600" i="0" dirty="0">
                <a:solidFill>
                  <a:srgbClr val="060A26"/>
                </a:solidFill>
                <a:effectLst/>
                <a:latin typeface="微软雅黑" panose="020B0503020204020204" pitchFamily="34" charset="-122"/>
                <a:ea typeface="微软雅黑" panose="020B0503020204020204" pitchFamily="34" charset="-122"/>
              </a:rPr>
              <a:t>指令，在识别资源泄露之前，先推断代码中面向资源的意图（</a:t>
            </a:r>
            <a:r>
              <a:rPr lang="en-US" altLang="zh-CN" sz="1600" i="0" dirty="0">
                <a:solidFill>
                  <a:srgbClr val="060A26"/>
                </a:solidFill>
                <a:effectLst/>
                <a:latin typeface="微软雅黑" panose="020B0503020204020204" pitchFamily="34" charset="-122"/>
                <a:ea typeface="微软雅黑" panose="020B0503020204020204" pitchFamily="34" charset="-122"/>
              </a:rPr>
              <a:t>ROIs</a:t>
            </a:r>
            <a:r>
              <a:rPr lang="zh-CN" altLang="en-US" sz="1600" i="0" dirty="0">
                <a:solidFill>
                  <a:srgbClr val="060A26"/>
                </a:solidFill>
                <a:effectLst/>
                <a:latin typeface="微软雅黑" panose="020B0503020204020204" pitchFamily="34" charset="-122"/>
                <a:ea typeface="微软雅黑" panose="020B0503020204020204" pitchFamily="34" charset="-122"/>
              </a:rPr>
              <a:t>），这一点与 </a:t>
            </a:r>
            <a:r>
              <a:rPr lang="en-US" altLang="zh-CN" sz="1600" i="0" dirty="0">
                <a:solidFill>
                  <a:srgbClr val="060A26"/>
                </a:solidFill>
                <a:effectLst/>
                <a:latin typeface="微软雅黑" panose="020B0503020204020204" pitchFamily="34" charset="-122"/>
                <a:ea typeface="微软雅黑" panose="020B0503020204020204" pitchFamily="34" charset="-122"/>
              </a:rPr>
              <a:t>INFERROI </a:t>
            </a:r>
            <a:r>
              <a:rPr lang="zh-CN" altLang="en-US" sz="1600" i="0" dirty="0">
                <a:solidFill>
                  <a:srgbClr val="060A26"/>
                </a:solidFill>
                <a:effectLst/>
                <a:latin typeface="微软雅黑" panose="020B0503020204020204" pitchFamily="34" charset="-122"/>
                <a:ea typeface="微软雅黑" panose="020B0503020204020204" pitchFamily="34" charset="-122"/>
              </a:rPr>
              <a:t>类似。</a:t>
            </a:r>
          </a:p>
        </p:txBody>
      </p:sp>
      <p:sp>
        <p:nvSpPr>
          <p:cNvPr id="8" name="矩形 7">
            <a:extLst>
              <a:ext uri="{FF2B5EF4-FFF2-40B4-BE49-F238E27FC236}">
                <a16:creationId xmlns:a16="http://schemas.microsoft.com/office/drawing/2014/main" id="{C7D38DD2-8B60-D3D9-6F6C-490DE4B54A25}"/>
              </a:ext>
            </a:extLst>
          </p:cNvPr>
          <p:cNvSpPr/>
          <p:nvPr/>
        </p:nvSpPr>
        <p:spPr>
          <a:xfrm>
            <a:off x="756462" y="3939540"/>
            <a:ext cx="5156659" cy="23982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968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extLst>
              <a:ext uri="{28A0092B-C50C-407E-A947-70E740481C1C}">
                <a14:useLocalDpi xmlns:a14="http://schemas.microsoft.com/office/drawing/2010/main" val="0"/>
              </a:ext>
            </a:extLst>
          </a:blip>
          <a:srcRect/>
          <a:stretch>
            <a:fillRect/>
          </a:stretch>
        </a:blipFill>
        <a:effectLst/>
      </p:bgPr>
    </p:bg>
    <p:spTree>
      <p:nvGrpSpPr>
        <p:cNvPr id="1" name="">
          <a:extLst>
            <a:ext uri="{FF2B5EF4-FFF2-40B4-BE49-F238E27FC236}">
              <a16:creationId xmlns:a16="http://schemas.microsoft.com/office/drawing/2014/main" id="{8FE68E28-52ED-A1DA-19B8-E211843056CD}"/>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id="{68C9AB31-6065-C1AF-8432-D43F392E6DDE}"/>
              </a:ext>
            </a:extLst>
          </p:cNvPr>
          <p:cNvSpPr/>
          <p:nvPr/>
        </p:nvSpPr>
        <p:spPr>
          <a:xfrm>
            <a:off x="-61571" y="1485900"/>
            <a:ext cx="12253546" cy="3886200"/>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19" name="文本框 8">
            <a:extLst>
              <a:ext uri="{FF2B5EF4-FFF2-40B4-BE49-F238E27FC236}">
                <a16:creationId xmlns:a16="http://schemas.microsoft.com/office/drawing/2014/main" id="{C1C2CE87-04CA-C6F4-9E2E-EBDE36A0A07C}"/>
              </a:ext>
            </a:extLst>
          </p:cNvPr>
          <p:cNvSpPr txBox="1">
            <a:spLocks noChangeArrowheads="1"/>
          </p:cNvSpPr>
          <p:nvPr/>
        </p:nvSpPr>
        <p:spPr bwMode="auto">
          <a:xfrm>
            <a:off x="918210" y="2857500"/>
            <a:ext cx="10293985" cy="65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ts val="5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C00000">
                    <a:lumMod val="75000"/>
                  </a:srgbClr>
                </a:solidFill>
                <a:effectLst/>
                <a:uLnTx/>
                <a:uFillTx/>
                <a:latin typeface="Times New Roman" panose="02020603050405020304" charset="0"/>
                <a:ea typeface="微软雅黑" panose="020B0503020204020204" pitchFamily="34" charset="-122"/>
                <a:cs typeface="Times New Roman" panose="02020603050405020304" charset="0"/>
                <a:sym typeface="+mn-ea"/>
              </a:rPr>
              <a:t>组会分享</a:t>
            </a:r>
            <a:endParaRPr kumimoji="0" lang="zh-CN" altLang="en-US" sz="2800" b="1" i="0" u="none" strike="noStrike" kern="1200" cap="none" spc="0" normalizeH="0" baseline="0" noProof="0" dirty="0">
              <a:ln>
                <a:noFill/>
              </a:ln>
              <a:solidFill>
                <a:srgbClr val="C00000">
                  <a:lumMod val="75000"/>
                </a:srgbClr>
              </a:solidFill>
              <a:effectLst/>
              <a:uLnTx/>
              <a:uFillTx/>
              <a:latin typeface="Times New Roman" panose="02020603050405020304" charset="0"/>
              <a:ea typeface="微软雅黑" panose="020B0503020204020204" pitchFamily="34" charset="-122"/>
              <a:cs typeface="Times New Roman" panose="02020603050405020304" charset="0"/>
            </a:endParaRPr>
          </a:p>
        </p:txBody>
      </p:sp>
      <p:sp>
        <p:nvSpPr>
          <p:cNvPr id="21" name="文本框 10">
            <a:extLst>
              <a:ext uri="{FF2B5EF4-FFF2-40B4-BE49-F238E27FC236}">
                <a16:creationId xmlns:a16="http://schemas.microsoft.com/office/drawing/2014/main" id="{7F10B8C6-4257-C741-5536-00B40B82A155}"/>
              </a:ext>
            </a:extLst>
          </p:cNvPr>
          <p:cNvSpPr txBox="1">
            <a:spLocks noChangeArrowheads="1"/>
          </p:cNvSpPr>
          <p:nvPr/>
        </p:nvSpPr>
        <p:spPr bwMode="auto">
          <a:xfrm>
            <a:off x="4142105" y="4585335"/>
            <a:ext cx="415480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8B0012"/>
                </a:solidFill>
                <a:effectLst/>
                <a:uLnTx/>
                <a:uFillTx/>
                <a:latin typeface="微软雅黑" panose="020B0503020204020204" pitchFamily="34" charset="-122"/>
                <a:ea typeface="微软雅黑" panose="020B0503020204020204" pitchFamily="34" charset="-122"/>
                <a:cs typeface="+mn-cs"/>
              </a:rPr>
              <a:t>报告人：王众伯</a:t>
            </a:r>
          </a:p>
        </p:txBody>
      </p:sp>
      <p:sp>
        <p:nvSpPr>
          <p:cNvPr id="22" name="圆角矩形 11">
            <a:extLst>
              <a:ext uri="{FF2B5EF4-FFF2-40B4-BE49-F238E27FC236}">
                <a16:creationId xmlns:a16="http://schemas.microsoft.com/office/drawing/2014/main" id="{E12C62DE-4793-0376-B282-9FE74C4CDD1E}"/>
              </a:ext>
            </a:extLst>
          </p:cNvPr>
          <p:cNvSpPr>
            <a:spLocks noChangeArrowheads="1"/>
          </p:cNvSpPr>
          <p:nvPr/>
        </p:nvSpPr>
        <p:spPr bwMode="auto">
          <a:xfrm>
            <a:off x="4111872" y="4547714"/>
            <a:ext cx="4223236" cy="443944"/>
          </a:xfrm>
          <a:prstGeom prst="roundRect">
            <a:avLst>
              <a:gd name="adj" fmla="val 16667"/>
            </a:avLst>
          </a:prstGeom>
          <a:noFill/>
          <a:ln w="12700">
            <a:solidFill>
              <a:srgbClr val="7F7F7F"/>
            </a:solidFill>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panose="02010600030101010101" pitchFamily="2" charset="-122"/>
              <a:cs typeface="+mn-cs"/>
            </a:endParaRPr>
          </a:p>
        </p:txBody>
      </p:sp>
      <p:pic>
        <p:nvPicPr>
          <p:cNvPr id="2" name="图片 1">
            <a:extLst>
              <a:ext uri="{FF2B5EF4-FFF2-40B4-BE49-F238E27FC236}">
                <a16:creationId xmlns:a16="http://schemas.microsoft.com/office/drawing/2014/main" id="{4B2CE85F-D6A6-AB56-331C-3F3FEE72F0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68440" y="1758407"/>
            <a:ext cx="1055120" cy="1055120"/>
          </a:xfrm>
          <a:prstGeom prst="rect">
            <a:avLst/>
          </a:prstGeom>
        </p:spPr>
      </p:pic>
      <p:sp>
        <p:nvSpPr>
          <p:cNvPr id="3" name="灯片编号占位符 2">
            <a:extLst>
              <a:ext uri="{FF2B5EF4-FFF2-40B4-BE49-F238E27FC236}">
                <a16:creationId xmlns:a16="http://schemas.microsoft.com/office/drawing/2014/main" id="{190440B6-5378-A740-02AE-3E1EDF9AE77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3126B9-07AC-4BAF-B3D7-FAC1D3999DA4}" type="slidenum">
              <a:rPr kumimoji="0" lang="zh-CN" altLang="en-US" sz="1200" b="0" i="0" u="none" strike="noStrike" kern="1200" cap="none" spc="0" normalizeH="0" baseline="0" noProof="0" smtClean="0">
                <a:ln>
                  <a:noFill/>
                </a:ln>
                <a:solidFill>
                  <a:srgbClr val="F0F0F0">
                    <a:lumMod val="2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dirty="0">
              <a:ln>
                <a:noFill/>
              </a:ln>
              <a:solidFill>
                <a:srgbClr val="F0F0F0">
                  <a:lumMod val="25000"/>
                </a:srgbClr>
              </a:solidFill>
              <a:effectLst/>
              <a:uLnTx/>
              <a:uFillTx/>
              <a:latin typeface="Calibri"/>
              <a:ea typeface="宋体" panose="02010600030101010101" pitchFamily="2" charset="-122"/>
              <a:cs typeface="+mn-cs"/>
            </a:endParaRPr>
          </a:p>
        </p:txBody>
      </p:sp>
      <p:sp>
        <p:nvSpPr>
          <p:cNvPr id="4" name="文本框 8">
            <a:extLst>
              <a:ext uri="{FF2B5EF4-FFF2-40B4-BE49-F238E27FC236}">
                <a16:creationId xmlns:a16="http://schemas.microsoft.com/office/drawing/2014/main" id="{50402EAD-756C-A238-F6D1-493730CF164C}"/>
              </a:ext>
            </a:extLst>
          </p:cNvPr>
          <p:cNvSpPr txBox="1">
            <a:spLocks noChangeArrowheads="1"/>
          </p:cNvSpPr>
          <p:nvPr/>
        </p:nvSpPr>
        <p:spPr bwMode="auto">
          <a:xfrm>
            <a:off x="949007" y="3515950"/>
            <a:ext cx="10293985" cy="682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ts val="5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C00000">
                    <a:lumMod val="75000"/>
                  </a:srgbClr>
                </a:solidFill>
                <a:effectLst/>
                <a:uLnTx/>
                <a:uFillTx/>
                <a:latin typeface="Times New Roman" panose="02020603050405020304" charset="0"/>
                <a:ea typeface="微软雅黑" panose="020B0503020204020204" pitchFamily="34" charset="-122"/>
                <a:cs typeface="Times New Roman" panose="02020603050405020304" charset="0"/>
              </a:rPr>
              <a:t>敬请批评指正！</a:t>
            </a:r>
          </a:p>
        </p:txBody>
      </p:sp>
    </p:spTree>
    <p:extLst>
      <p:ext uri="{BB962C8B-B14F-4D97-AF65-F5344CB8AC3E}">
        <p14:creationId xmlns:p14="http://schemas.microsoft.com/office/powerpoint/2010/main" val="20655412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1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1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1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1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1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1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1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1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1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1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2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2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2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ags/tag2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278.8409448818898,&quot;width&quot;:1278.8409448818898}"/>
</p:tagLst>
</file>

<file path=ppt/theme/theme1.xml><?xml version="1.0" encoding="utf-8"?>
<a:theme xmlns:a="http://schemas.openxmlformats.org/drawingml/2006/main" name="清风素材 https://12sc.taobao.com">
  <a:themeElements>
    <a:clrScheme name="自定义 7">
      <a:dk1>
        <a:srgbClr val="8B0012"/>
      </a:dk1>
      <a:lt1>
        <a:srgbClr val="FFFFFF"/>
      </a:lt1>
      <a:dk2>
        <a:srgbClr val="8B0012"/>
      </a:dk2>
      <a:lt2>
        <a:srgbClr val="F0F0F0"/>
      </a:lt2>
      <a:accent1>
        <a:srgbClr val="C00000"/>
      </a:accent1>
      <a:accent2>
        <a:srgbClr val="8B0012"/>
      </a:accent2>
      <a:accent3>
        <a:srgbClr val="C00000"/>
      </a:accent3>
      <a:accent4>
        <a:srgbClr val="8B0012"/>
      </a:accent4>
      <a:accent5>
        <a:srgbClr val="8B0012"/>
      </a:accent5>
      <a:accent6>
        <a:srgbClr val="FFB4BE"/>
      </a:accent6>
      <a:hlink>
        <a:srgbClr val="450009"/>
      </a:hlink>
      <a:folHlink>
        <a:srgbClr val="BFBFB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TotalTime>
  <Words>3863</Words>
  <Application>Microsoft Office PowerPoint</Application>
  <PresentationFormat>宽屏</PresentationFormat>
  <Paragraphs>184</Paragraphs>
  <Slides>25</Slides>
  <Notes>18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25</vt:i4>
      </vt:variant>
    </vt:vector>
  </HeadingPairs>
  <TitlesOfParts>
    <vt:vector size="31" baseType="lpstr">
      <vt:lpstr>Times New Roman</vt:lpstr>
      <vt:lpstr>微软雅黑</vt:lpstr>
      <vt:lpstr>Calibri</vt:lpstr>
      <vt:lpstr>Wingdings</vt:lpstr>
      <vt:lpstr>Arial</vt:lpstr>
      <vt:lpstr>清风素材 https://12sc.taobao.com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众伯 王</cp:lastModifiedBy>
  <cp:revision>844</cp:revision>
  <dcterms:created xsi:type="dcterms:W3CDTF">2026-01-08T07:30:00Z</dcterms:created>
  <dcterms:modified xsi:type="dcterms:W3CDTF">2026-04-07T03:07:55Z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938994F4ABD640CB8FF90C2768CC802D_13</vt:lpwstr>
  </property>
  <property fmtid="{D5CDD505-2E9C-101B-9397-08002B2CF9AE}" pid="3" name="KSOProductBuildVer">
    <vt:lpwstr>2052-12.1.0.23542</vt:lpwstr>
  </property>
</Properties>
</file>