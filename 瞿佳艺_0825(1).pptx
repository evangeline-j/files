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"/>
  </p:notesMasterIdLst>
  <p:handoutMasterIdLst>
    <p:handoutMasterId r:id="rId31"/>
  </p:handoutMasterIdLst>
  <p:sldIdLst>
    <p:sldId id="284" r:id="rId3"/>
    <p:sldId id="350" r:id="rId5"/>
    <p:sldId id="370" r:id="rId6"/>
    <p:sldId id="351" r:id="rId7"/>
    <p:sldId id="371" r:id="rId8"/>
    <p:sldId id="372" r:id="rId9"/>
    <p:sldId id="363" r:id="rId10"/>
    <p:sldId id="373" r:id="rId11"/>
    <p:sldId id="374" r:id="rId12"/>
    <p:sldId id="375" r:id="rId13"/>
    <p:sldId id="376" r:id="rId14"/>
    <p:sldId id="377" r:id="rId15"/>
    <p:sldId id="378" r:id="rId16"/>
    <p:sldId id="379" r:id="rId17"/>
    <p:sldId id="380" r:id="rId18"/>
    <p:sldId id="381" r:id="rId19"/>
    <p:sldId id="383" r:id="rId20"/>
    <p:sldId id="384" r:id="rId21"/>
    <p:sldId id="385" r:id="rId22"/>
    <p:sldId id="386" r:id="rId23"/>
    <p:sldId id="387" r:id="rId24"/>
    <p:sldId id="388" r:id="rId25"/>
    <p:sldId id="389" r:id="rId26"/>
    <p:sldId id="390" r:id="rId27"/>
    <p:sldId id="392" r:id="rId28"/>
    <p:sldId id="393" r:id="rId29"/>
    <p:sldId id="382" r:id="rId30"/>
  </p:sldIdLst>
  <p:sldSz cx="12192000" cy="6858000"/>
  <p:notesSz cx="6858000" cy="9144000"/>
  <p:embeddedFontLst>
    <p:embeddedFont>
      <p:font typeface="Calibri" panose="020F0502020204030204" pitchFamily="34" charset="0"/>
      <p:regular r:id="rId35"/>
      <p:bold r:id="rId36"/>
      <p:italic r:id="rId37"/>
      <p:boldItalic r:id="rId38"/>
    </p:embeddedFont>
    <p:embeddedFont>
      <p:font typeface="微软雅黑" panose="020B0503020204020204" pitchFamily="34" charset="-122"/>
      <p:regular r:id="rId39"/>
      <p:bold r:id="rId40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1" userDrawn="1">
          <p15:clr>
            <a:srgbClr val="A4A3A4"/>
          </p15:clr>
        </p15:guide>
        <p15:guide id="2" pos="385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10000"/>
    <a:srgbClr val="0081C8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194" autoAdjust="0"/>
    <p:restoredTop sz="94660"/>
  </p:normalViewPr>
  <p:slideViewPr>
    <p:cSldViewPr snapToGrid="0" showGuides="1">
      <p:cViewPr varScale="1">
        <p:scale>
          <a:sx n="125" d="100"/>
          <a:sy n="125" d="100"/>
        </p:scale>
        <p:origin x="160" y="304"/>
      </p:cViewPr>
      <p:guideLst>
        <p:guide orient="horz" pos="2161"/>
        <p:guide pos="385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54" d="100"/>
          <a:sy n="54" d="100"/>
        </p:scale>
        <p:origin x="2880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0" Type="http://schemas.openxmlformats.org/officeDocument/2006/relationships/font" Target="fonts/font6.fntdata"/><Relationship Id="rId4" Type="http://schemas.openxmlformats.org/officeDocument/2006/relationships/notesMaster" Target="notesMasters/notesMaster1.xml"/><Relationship Id="rId39" Type="http://schemas.openxmlformats.org/officeDocument/2006/relationships/font" Target="fonts/font5.fntdata"/><Relationship Id="rId38" Type="http://schemas.openxmlformats.org/officeDocument/2006/relationships/font" Target="fonts/font4.fntdata"/><Relationship Id="rId37" Type="http://schemas.openxmlformats.org/officeDocument/2006/relationships/font" Target="fonts/font3.fntdata"/><Relationship Id="rId36" Type="http://schemas.openxmlformats.org/officeDocument/2006/relationships/font" Target="fonts/font2.fntdata"/><Relationship Id="rId35" Type="http://schemas.openxmlformats.org/officeDocument/2006/relationships/font" Target="fonts/font1.fntdata"/><Relationship Id="rId34" Type="http://schemas.openxmlformats.org/officeDocument/2006/relationships/tableStyles" Target="tableStyles.xml"/><Relationship Id="rId33" Type="http://schemas.openxmlformats.org/officeDocument/2006/relationships/viewProps" Target="viewProps.xml"/><Relationship Id="rId32" Type="http://schemas.openxmlformats.org/officeDocument/2006/relationships/presProps" Target="presProps.xml"/><Relationship Id="rId31" Type="http://schemas.openxmlformats.org/officeDocument/2006/relationships/handoutMaster" Target="handoutMasters/handoutMaster1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DDBEE5-1F49-4E21-AA75-C1EB99554DBB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DDF900-46A4-4B55-A06F-548409280FC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07A637-8712-4E20-957A-998EEAA8639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403211-B18B-477D-A05F-14E4BC8723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FE403211-B18B-477D-A05F-14E4BC87236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FE403211-B18B-477D-A05F-14E4BC87236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FE403211-B18B-477D-A05F-14E4BC87236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>
          <a:xfrm>
            <a:off x="10774680" y="6356350"/>
            <a:ext cx="1437640" cy="365125"/>
          </a:xfrm>
        </p:spPr>
        <p:txBody>
          <a:bodyPr/>
          <a:lstStyle>
            <a:lvl1pPr algn="ctr">
              <a:defRPr sz="1800"/>
            </a:lvl1pPr>
          </a:lstStyle>
          <a:p>
            <a:fld id="{023126B9-07AC-4BAF-B3D7-FAC1D3999DA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灯片编号占位符 3"/>
          <p:cNvSpPr txBox="1"/>
          <p:nvPr userDrawn="1"/>
        </p:nvSpPr>
        <p:spPr>
          <a:xfrm>
            <a:off x="10495280" y="6356349"/>
            <a:ext cx="14376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800" kern="120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第     页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126B9-07AC-4BAF-B3D7-FAC1D3999DA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126B9-07AC-4BAF-B3D7-FAC1D3999DA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126B9-07AC-4BAF-B3D7-FAC1D3999DA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126B9-07AC-4BAF-B3D7-FAC1D3999DA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126B9-07AC-4BAF-B3D7-FAC1D3999DA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image" Target="../media/image1.jpeg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7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fld id="{023126B9-07AC-4BAF-B3D7-FAC1D3999DA4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tags" Target="../tags/tag3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tags" Target="../tags/tag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tags" Target="../tags/tag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14.xml"/><Relationship Id="rId8" Type="http://schemas.openxmlformats.org/officeDocument/2006/relationships/tags" Target="../tags/tag13.xml"/><Relationship Id="rId7" Type="http://schemas.openxmlformats.org/officeDocument/2006/relationships/tags" Target="../tags/tag12.xml"/><Relationship Id="rId6" Type="http://schemas.openxmlformats.org/officeDocument/2006/relationships/tags" Target="../tags/tag11.xml"/><Relationship Id="rId5" Type="http://schemas.openxmlformats.org/officeDocument/2006/relationships/tags" Target="../tags/tag10.xml"/><Relationship Id="rId4" Type="http://schemas.openxmlformats.org/officeDocument/2006/relationships/tags" Target="../tags/tag9.xml"/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2" Type="http://schemas.openxmlformats.org/officeDocument/2006/relationships/slideLayout" Target="../slideLayouts/slideLayout1.xml"/><Relationship Id="rId11" Type="http://schemas.openxmlformats.org/officeDocument/2006/relationships/image" Target="../media/image4.png"/><Relationship Id="rId10" Type="http://schemas.openxmlformats.org/officeDocument/2006/relationships/tags" Target="../tags/tag15.xml"/><Relationship Id="rId1" Type="http://schemas.openxmlformats.org/officeDocument/2006/relationships/tags" Target="../tags/tag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7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7.jpe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8.png"/><Relationship Id="rId1" Type="http://schemas.openxmlformats.org/officeDocument/2006/relationships/image" Target="../media/image7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7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7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7.jpeg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9.png"/><Relationship Id="rId1" Type="http://schemas.openxmlformats.org/officeDocument/2006/relationships/image" Target="../media/image7.jpeg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10.png"/><Relationship Id="rId1" Type="http://schemas.openxmlformats.org/officeDocument/2006/relationships/image" Target="../media/image7.jpeg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16.xml"/><Relationship Id="rId2" Type="http://schemas.openxmlformats.org/officeDocument/2006/relationships/image" Target="../media/image4.png"/><Relationship Id="rId1" Type="http://schemas.openxmlformats.org/officeDocument/2006/relationships/image" Target="../media/image7.jpe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/>
        </p:nvSpPr>
        <p:spPr>
          <a:xfrm>
            <a:off x="-61546" y="1468322"/>
            <a:ext cx="12253546" cy="3886200"/>
          </a:xfrm>
          <a:prstGeom prst="rect">
            <a:avLst/>
          </a:prstGeom>
          <a:solidFill>
            <a:schemeClr val="bg1">
              <a:alpha val="9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8"/>
          <p:cNvSpPr txBox="1">
            <a:spLocks noChangeArrowheads="1"/>
          </p:cNvSpPr>
          <p:nvPr/>
        </p:nvSpPr>
        <p:spPr bwMode="auto">
          <a:xfrm>
            <a:off x="918210" y="2857500"/>
            <a:ext cx="10293985" cy="7321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fontAlgn="auto">
              <a:lnSpc>
                <a:spcPts val="5000"/>
              </a:lnSpc>
              <a:buClrTx/>
              <a:buSzTx/>
              <a:buFontTx/>
            </a:pPr>
            <a:r>
              <a:rPr lang="en-US" altLang="zh-CN" sz="4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A-Mem: Agentic Memory for LLM Agents</a:t>
            </a:r>
            <a:endParaRPr lang="en-US" altLang="zh-CN" sz="4000" b="1" dirty="0">
              <a:solidFill>
                <a:schemeClr val="accent1">
                  <a:lumMod val="75000"/>
                </a:schemeClr>
              </a:solidFill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21" name="文本框 10"/>
          <p:cNvSpPr txBox="1">
            <a:spLocks noChangeArrowheads="1"/>
          </p:cNvSpPr>
          <p:nvPr/>
        </p:nvSpPr>
        <p:spPr bwMode="auto">
          <a:xfrm>
            <a:off x="4142105" y="4585335"/>
            <a:ext cx="4154805" cy="6019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报告人：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瞿佳艺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圆角矩形 11"/>
          <p:cNvSpPr>
            <a:spLocks noChangeArrowheads="1"/>
          </p:cNvSpPr>
          <p:nvPr/>
        </p:nvSpPr>
        <p:spPr bwMode="auto">
          <a:xfrm>
            <a:off x="4111625" y="4555490"/>
            <a:ext cx="4223385" cy="595630"/>
          </a:xfrm>
          <a:prstGeom prst="roundRect">
            <a:avLst>
              <a:gd name="adj" fmla="val 16667"/>
            </a:avLst>
          </a:prstGeom>
          <a:noFill/>
          <a:ln w="12700">
            <a:solidFill>
              <a:srgbClr val="7F7F7F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8440" y="1758407"/>
            <a:ext cx="1055120" cy="1055120"/>
          </a:xfrm>
          <a:prstGeom prst="rect">
            <a:avLst/>
          </a:prstGeom>
        </p:spPr>
      </p:pic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126B9-07AC-4BAF-B3D7-FAC1D3999DA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灯片编号占位符 1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126B9-07AC-4BAF-B3D7-FAC1D3999DA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4" name="文本框 13"/>
          <p:cNvSpPr txBox="1"/>
          <p:nvPr/>
        </p:nvSpPr>
        <p:spPr>
          <a:xfrm>
            <a:off x="1233805" y="356870"/>
            <a:ext cx="67017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accent6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zh-CN" sz="2400">
                <a:solidFill>
                  <a:schemeClr val="accent6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Motivation/Problem</a:t>
            </a:r>
            <a:endParaRPr lang="en-US" altLang="zh-CN" sz="2400" dirty="0">
              <a:solidFill>
                <a:schemeClr val="accent6">
                  <a:lumMod val="1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pitchFamily="49" charset="-122"/>
              <a:sym typeface="+mn-ea"/>
            </a:endParaRPr>
          </a:p>
        </p:txBody>
      </p:sp>
      <p:sp>
        <p:nvSpPr>
          <p:cNvPr id="15" name="任意多边形 14"/>
          <p:cNvSpPr/>
          <p:nvPr/>
        </p:nvSpPr>
        <p:spPr>
          <a:xfrm flipH="1">
            <a:off x="1341487" y="780336"/>
            <a:ext cx="2853178" cy="45719"/>
          </a:xfrm>
          <a:custGeom>
            <a:avLst/>
            <a:gdLst>
              <a:gd name="connsiteX0" fmla="*/ 7977051 w 7977051"/>
              <a:gd name="connsiteY0" fmla="*/ 0 h 31619"/>
              <a:gd name="connsiteX1" fmla="*/ 0 w 7977051"/>
              <a:gd name="connsiteY1" fmla="*/ 0 h 31619"/>
              <a:gd name="connsiteX2" fmla="*/ 0 w 7977051"/>
              <a:gd name="connsiteY2" fmla="*/ 31619 h 31619"/>
              <a:gd name="connsiteX3" fmla="*/ 7977051 w 7977051"/>
              <a:gd name="connsiteY3" fmla="*/ 31619 h 31619"/>
              <a:gd name="connsiteX4" fmla="*/ 7977051 w 7977051"/>
              <a:gd name="connsiteY4" fmla="*/ 15810 h 316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977051" h="31619">
                <a:moveTo>
                  <a:pt x="7977051" y="0"/>
                </a:moveTo>
                <a:lnTo>
                  <a:pt x="0" y="0"/>
                </a:lnTo>
                <a:lnTo>
                  <a:pt x="0" y="31619"/>
                </a:lnTo>
                <a:lnTo>
                  <a:pt x="7977051" y="31619"/>
                </a:lnTo>
                <a:lnTo>
                  <a:pt x="7977051" y="1581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6" name="图片 1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902" y="364144"/>
            <a:ext cx="812064" cy="812064"/>
          </a:xfrm>
          <a:prstGeom prst="rect">
            <a:avLst/>
          </a:prstGeom>
        </p:spPr>
      </p:pic>
      <p:sp>
        <p:nvSpPr>
          <p:cNvPr id="3" name="内容占位符 2"/>
          <p:cNvSpPr>
            <a:spLocks noGrp="1"/>
          </p:cNvSpPr>
          <p:nvPr/>
        </p:nvSpPr>
        <p:spPr>
          <a:xfrm>
            <a:off x="882015" y="1014730"/>
            <a:ext cx="10427970" cy="5706745"/>
          </a:xfrm>
          <a:prstGeom prst="rect">
            <a:avLst/>
          </a:prstGeom>
        </p:spPr>
        <p:txBody>
          <a:bodyPr vert="horz" lIns="91440" tIns="45720" rIns="91440" bIns="45720" rtlCol="0">
            <a:normAutofit fontScale="90000"/>
          </a:bodyPr>
          <a:lstStyle>
            <a:lvl1pPr marL="273050" indent="-273050" algn="l" defTabSz="385445" rtl="0" eaLnBrk="1" latinLnBrk="0" hangingPunct="1">
              <a:lnSpc>
                <a:spcPct val="12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sz="2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546100" indent="-355600" algn="l" defTabSz="385445" rtl="0" eaLnBrk="1" latinLnBrk="0" hangingPunct="1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Ø"/>
              <a:defRPr sz="2400" kern="120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668655" indent="-282575" algn="l" defTabSz="385445" rtl="0" eaLnBrk="1" latinLnBrk="0" hangingPunct="1">
              <a:lnSpc>
                <a:spcPct val="120000"/>
              </a:lnSpc>
              <a:spcBef>
                <a:spcPts val="300"/>
              </a:spcBef>
              <a:buSzPct val="50000"/>
              <a:buFont typeface="Wingdings" panose="05000000000000000000" pitchFamily="2" charset="2"/>
              <a:buChar char="l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846455" indent="-268605" algn="l" defTabSz="385445" rtl="0" eaLnBrk="1" latinLnBrk="0" hangingPunct="1">
              <a:lnSpc>
                <a:spcPct val="12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1078230" indent="-307975" algn="l" defTabSz="385445" rtl="0" eaLnBrk="1" latinLnBrk="0" hangingPunct="1">
              <a:lnSpc>
                <a:spcPct val="12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1061085" indent="-96520" algn="l" defTabSz="38544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84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53490" indent="-96520" algn="l" defTabSz="38544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84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46530" indent="-96520" algn="l" defTabSz="38544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84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39570" indent="-96520" algn="l" defTabSz="38544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84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ClrTx/>
              <a:buSzTx/>
              <a:buNone/>
            </a:pPr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</a:rPr>
              <a:t>LLM Agent </a:t>
            </a: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</a:rPr>
              <a:t>需要长期记忆，</a:t>
            </a: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</a:rPr>
              <a:t>利用历史交互经验</a:t>
            </a:r>
            <a:endParaRPr lang="zh-CN" altLang="en-US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l">
              <a:buClrTx/>
              <a:buSzTx/>
              <a:buNone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长期、多轮交互会产生大量历史信息 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l">
              <a:buClrTx/>
              <a:buSzTx/>
              <a:buNone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有效利用历史经验是构建长期 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Agent 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的关键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buClrTx/>
              <a:buSzTx/>
            </a:pP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l">
              <a:buClrTx/>
              <a:buSzTx/>
              <a:buNone/>
            </a:pP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</a:rPr>
              <a:t>现有 </a:t>
            </a:r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</a:rPr>
              <a:t>Memory </a:t>
            </a: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</a:rPr>
              <a:t>主要关注“存储 + 检索”</a:t>
            </a:r>
            <a:endParaRPr lang="en-US" altLang="zh-CN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l">
              <a:buClrTx/>
              <a:buSzTx/>
              <a:buNone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本文将历史信息作为独立 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Memory (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记忆条目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进行保存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l">
              <a:buClrTx/>
              <a:buSzTx/>
              <a:buNone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根据当前的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查询检索相关 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Memory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l">
              <a:buClrTx/>
              <a:buSzTx/>
              <a:buNone/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l">
              <a:buClrTx/>
              <a:buSzTx/>
              <a:buNone/>
            </a:pP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</a:rPr>
              <a:t>随着 </a:t>
            </a:r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</a:rPr>
              <a:t>Memory </a:t>
            </a: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</a:rPr>
              <a:t>数量增长，组织能力成为新的瓶颈</a:t>
            </a:r>
            <a:endParaRPr lang="zh-CN" altLang="en-US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l">
              <a:buClrTx/>
              <a:buSzTx/>
              <a:buNone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不同 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Memory 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之间缺少显式关联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l">
              <a:buClrTx/>
              <a:buSzTx/>
              <a:buNone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新信息难以帮助 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Agent 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重新理解已有 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Memory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l">
              <a:buClrTx/>
              <a:buSzTx/>
              <a:buNone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固定的 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Memory 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结构限制了系统的适应能力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/>
          </a:p>
        </p:txBody>
      </p:sp>
    </p:spTree>
  </p:cSld>
  <p:clrMapOvr>
    <a:masterClrMapping/>
  </p:clrMapOvr>
  <p:transition spd="slow"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灯片编号占位符 1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126B9-07AC-4BAF-B3D7-FAC1D3999DA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4" name="文本框 13"/>
          <p:cNvSpPr txBox="1"/>
          <p:nvPr/>
        </p:nvSpPr>
        <p:spPr>
          <a:xfrm>
            <a:off x="1233805" y="356870"/>
            <a:ext cx="67017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accent6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Goal</a:t>
            </a:r>
            <a:endParaRPr lang="en-US" altLang="zh-CN" sz="2400">
              <a:solidFill>
                <a:schemeClr val="accent6">
                  <a:lumMod val="1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5" name="任意多边形 14"/>
          <p:cNvSpPr/>
          <p:nvPr/>
        </p:nvSpPr>
        <p:spPr>
          <a:xfrm flipH="1">
            <a:off x="1341487" y="780336"/>
            <a:ext cx="2853178" cy="45719"/>
          </a:xfrm>
          <a:custGeom>
            <a:avLst/>
            <a:gdLst>
              <a:gd name="connsiteX0" fmla="*/ 7977051 w 7977051"/>
              <a:gd name="connsiteY0" fmla="*/ 0 h 31619"/>
              <a:gd name="connsiteX1" fmla="*/ 0 w 7977051"/>
              <a:gd name="connsiteY1" fmla="*/ 0 h 31619"/>
              <a:gd name="connsiteX2" fmla="*/ 0 w 7977051"/>
              <a:gd name="connsiteY2" fmla="*/ 31619 h 31619"/>
              <a:gd name="connsiteX3" fmla="*/ 7977051 w 7977051"/>
              <a:gd name="connsiteY3" fmla="*/ 31619 h 31619"/>
              <a:gd name="connsiteX4" fmla="*/ 7977051 w 7977051"/>
              <a:gd name="connsiteY4" fmla="*/ 15810 h 316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977051" h="31619">
                <a:moveTo>
                  <a:pt x="7977051" y="0"/>
                </a:moveTo>
                <a:lnTo>
                  <a:pt x="0" y="0"/>
                </a:lnTo>
                <a:lnTo>
                  <a:pt x="0" y="31619"/>
                </a:lnTo>
                <a:lnTo>
                  <a:pt x="7977051" y="31619"/>
                </a:lnTo>
                <a:lnTo>
                  <a:pt x="7977051" y="1581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6" name="图片 1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902" y="364144"/>
            <a:ext cx="812064" cy="812064"/>
          </a:xfrm>
          <a:prstGeom prst="rect">
            <a:avLst/>
          </a:prstGeom>
        </p:spPr>
      </p:pic>
      <p:sp>
        <p:nvSpPr>
          <p:cNvPr id="3" name="内容占位符 2"/>
          <p:cNvSpPr>
            <a:spLocks noGrp="1"/>
          </p:cNvSpPr>
          <p:nvPr/>
        </p:nvSpPr>
        <p:spPr>
          <a:xfrm>
            <a:off x="882015" y="1014730"/>
            <a:ext cx="10427970" cy="57067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73050" indent="-273050" algn="l" defTabSz="385445" rtl="0" eaLnBrk="1" latinLnBrk="0" hangingPunct="1">
              <a:lnSpc>
                <a:spcPct val="12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sz="2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546100" indent="-355600" algn="l" defTabSz="385445" rtl="0" eaLnBrk="1" latinLnBrk="0" hangingPunct="1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Ø"/>
              <a:defRPr sz="2400" kern="120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668655" indent="-282575" algn="l" defTabSz="385445" rtl="0" eaLnBrk="1" latinLnBrk="0" hangingPunct="1">
              <a:lnSpc>
                <a:spcPct val="120000"/>
              </a:lnSpc>
              <a:spcBef>
                <a:spcPts val="300"/>
              </a:spcBef>
              <a:buSzPct val="50000"/>
              <a:buFont typeface="Wingdings" panose="05000000000000000000" pitchFamily="2" charset="2"/>
              <a:buChar char="l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846455" indent="-268605" algn="l" defTabSz="385445" rtl="0" eaLnBrk="1" latinLnBrk="0" hangingPunct="1">
              <a:lnSpc>
                <a:spcPct val="12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1078230" indent="-307975" algn="l" defTabSz="385445" rtl="0" eaLnBrk="1" latinLnBrk="0" hangingPunct="1">
              <a:lnSpc>
                <a:spcPct val="12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1061085" indent="-96520" algn="l" defTabSz="38544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84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53490" indent="-96520" algn="l" defTabSz="38544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84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46530" indent="-96520" algn="l" defTabSz="38544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84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39570" indent="-96520" algn="l" defTabSz="38544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84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ClrTx/>
              <a:buSzTx/>
              <a:buNone/>
            </a:pP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</a:rPr>
              <a:t>让</a:t>
            </a:r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</a:rPr>
              <a:t>Memory</a:t>
            </a: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</a:rPr>
              <a:t>能够自主组织、建立联系并持续演化</a:t>
            </a:r>
            <a:endParaRPr lang="zh-CN" altLang="en-US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l">
              <a:buClrTx/>
              <a:buSzTx/>
              <a:buNone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将孤立的 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Memory 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转变为 </a:t>
            </a:r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</a:rPr>
              <a:t>Interconnected Memory Network</a:t>
            </a:r>
            <a:endParaRPr lang="en-US" altLang="zh-CN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l">
              <a:buClrTx/>
              <a:buSzTx/>
              <a:buNone/>
            </a:pP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</a:rPr>
              <a:t>核心思想：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Memory 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不只是被存储，还应能够被</a:t>
            </a: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</a:rPr>
              <a:t>动态组织和持续更新</a:t>
            </a:r>
            <a:endParaRPr lang="zh-CN" altLang="en-US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l">
              <a:buClrTx/>
              <a:buSzTx/>
              <a:buNone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从“存储并检索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走向“组织、连接和演化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305" y="3429000"/>
            <a:ext cx="8883015" cy="2021840"/>
          </a:xfrm>
          <a:prstGeom prst="rect">
            <a:avLst/>
          </a:prstGeom>
        </p:spPr>
      </p:pic>
    </p:spTree>
  </p:cSld>
  <p:clrMapOvr>
    <a:masterClrMapping/>
  </p:clrMapOvr>
  <p:transition spd="slow"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灯片编号占位符 1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126B9-07AC-4BAF-B3D7-FAC1D3999DA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4" name="文本框 13"/>
          <p:cNvSpPr txBox="1"/>
          <p:nvPr/>
        </p:nvSpPr>
        <p:spPr>
          <a:xfrm>
            <a:off x="1233805" y="356870"/>
            <a:ext cx="67017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zh-CN" sz="2400">
                <a:solidFill>
                  <a:schemeClr val="accent6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Related Work &amp; Challenges</a:t>
            </a:r>
            <a:endParaRPr lang="zh-CN" sz="2400">
              <a:solidFill>
                <a:schemeClr val="accent6">
                  <a:lumMod val="1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5" name="任意多边形 14"/>
          <p:cNvSpPr/>
          <p:nvPr/>
        </p:nvSpPr>
        <p:spPr>
          <a:xfrm flipH="1">
            <a:off x="1341487" y="780336"/>
            <a:ext cx="2853178" cy="45719"/>
          </a:xfrm>
          <a:custGeom>
            <a:avLst/>
            <a:gdLst>
              <a:gd name="connsiteX0" fmla="*/ 7977051 w 7977051"/>
              <a:gd name="connsiteY0" fmla="*/ 0 h 31619"/>
              <a:gd name="connsiteX1" fmla="*/ 0 w 7977051"/>
              <a:gd name="connsiteY1" fmla="*/ 0 h 31619"/>
              <a:gd name="connsiteX2" fmla="*/ 0 w 7977051"/>
              <a:gd name="connsiteY2" fmla="*/ 31619 h 31619"/>
              <a:gd name="connsiteX3" fmla="*/ 7977051 w 7977051"/>
              <a:gd name="connsiteY3" fmla="*/ 31619 h 31619"/>
              <a:gd name="connsiteX4" fmla="*/ 7977051 w 7977051"/>
              <a:gd name="connsiteY4" fmla="*/ 15810 h 316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977051" h="31619">
                <a:moveTo>
                  <a:pt x="7977051" y="0"/>
                </a:moveTo>
                <a:lnTo>
                  <a:pt x="0" y="0"/>
                </a:lnTo>
                <a:lnTo>
                  <a:pt x="0" y="31619"/>
                </a:lnTo>
                <a:lnTo>
                  <a:pt x="7977051" y="31619"/>
                </a:lnTo>
                <a:lnTo>
                  <a:pt x="7977051" y="1581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6" name="图片 1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902" y="364144"/>
            <a:ext cx="812064" cy="812064"/>
          </a:xfrm>
          <a:prstGeom prst="rect">
            <a:avLst/>
          </a:prstGeom>
        </p:spPr>
      </p:pic>
      <p:sp>
        <p:nvSpPr>
          <p:cNvPr id="19" name="文本占位符 2"/>
          <p:cNvSpPr>
            <a:spLocks noGrp="1"/>
          </p:cNvSpPr>
          <p:nvPr/>
        </p:nvSpPr>
        <p:spPr>
          <a:xfrm>
            <a:off x="541020" y="1153795"/>
            <a:ext cx="5441950" cy="74739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lvl="0" indent="0">
              <a:buNone/>
              <a:defRPr sz="2400" b="1"/>
            </a:lvl1pPr>
            <a:lvl2pPr marL="457200" lvl="1" indent="0">
              <a:buNone/>
              <a:defRPr sz="2000" b="1"/>
            </a:lvl2pPr>
            <a:lvl3pPr marL="914400" lvl="2" indent="0">
              <a:buNone/>
              <a:defRPr sz="1800" b="1"/>
            </a:lvl3pPr>
            <a:lvl4pPr marL="1371600" lvl="3" indent="0">
              <a:buNone/>
              <a:defRPr sz="1600" b="1"/>
            </a:lvl4pPr>
            <a:lvl5pPr marL="1828800" lvl="4" indent="0">
              <a:buNone/>
              <a:defRPr sz="1600" b="1"/>
            </a:lvl5pPr>
            <a:lvl6pPr marL="2286000" lvl="5" indent="0">
              <a:buNone/>
              <a:defRPr sz="1600" b="1"/>
            </a:lvl6pPr>
            <a:lvl7pPr marL="2743200" lvl="6" indent="0">
              <a:buNone/>
              <a:defRPr sz="1600" b="1"/>
            </a:lvl7pPr>
            <a:lvl8pPr marL="3200400" lvl="7" indent="0">
              <a:buNone/>
              <a:defRPr sz="1600" b="1"/>
            </a:lvl8pPr>
            <a:lvl9pPr marL="3657600" lvl="8" indent="0">
              <a:buNone/>
              <a:defRPr sz="1600" b="1"/>
            </a:lvl9pPr>
          </a:lstStyle>
          <a:p>
            <a:r>
              <a:rPr lang="zh-CN" sz="3200" dirty="0"/>
              <a:t>Related Work</a:t>
            </a:r>
            <a:endParaRPr lang="zh-CN" sz="3200" dirty="0"/>
          </a:p>
        </p:txBody>
      </p:sp>
      <p:sp>
        <p:nvSpPr>
          <p:cNvPr id="23" name="文本占位符 2"/>
          <p:cNvSpPr>
            <a:spLocks noGrp="1"/>
          </p:cNvSpPr>
          <p:nvPr/>
        </p:nvSpPr>
        <p:spPr>
          <a:xfrm>
            <a:off x="6108700" y="1153795"/>
            <a:ext cx="5257800" cy="74739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lvl="0" indent="0">
              <a:buNone/>
              <a:defRPr sz="2400" b="1"/>
            </a:lvl1pPr>
            <a:lvl2pPr marL="457200" lvl="1" indent="0">
              <a:buNone/>
              <a:defRPr sz="2000" b="1"/>
            </a:lvl2pPr>
            <a:lvl3pPr marL="914400" lvl="2" indent="0">
              <a:buNone/>
              <a:defRPr sz="1800" b="1"/>
            </a:lvl3pPr>
            <a:lvl4pPr marL="1371600" lvl="3" indent="0">
              <a:buNone/>
              <a:defRPr sz="1600" b="1"/>
            </a:lvl4pPr>
            <a:lvl5pPr marL="1828800" lvl="4" indent="0">
              <a:buNone/>
              <a:defRPr sz="1600" b="1"/>
            </a:lvl5pPr>
            <a:lvl6pPr marL="2286000" lvl="5" indent="0">
              <a:buNone/>
              <a:defRPr sz="1600" b="1"/>
            </a:lvl6pPr>
            <a:lvl7pPr marL="2743200" lvl="6" indent="0">
              <a:buNone/>
              <a:defRPr sz="1600" b="1"/>
            </a:lvl7pPr>
            <a:lvl8pPr marL="3200400" lvl="7" indent="0">
              <a:buNone/>
              <a:defRPr sz="1600" b="1"/>
            </a:lvl8pPr>
            <a:lvl9pPr marL="3657600" lvl="8" indent="0">
              <a:buNone/>
              <a:defRPr sz="1600" b="1"/>
            </a:lvl9pPr>
          </a:lstStyle>
          <a:p>
            <a:r>
              <a:rPr lang="zh-CN" sz="3200" dirty="0">
                <a:sym typeface="+mn-ea"/>
              </a:rPr>
              <a:t>Challenges</a:t>
            </a:r>
            <a:endParaRPr lang="zh-CN" sz="3200" dirty="0">
              <a:sym typeface="+mn-ea"/>
            </a:endParaRPr>
          </a:p>
        </p:txBody>
      </p:sp>
      <p:sp>
        <p:nvSpPr>
          <p:cNvPr id="24" name="内容占位符 2"/>
          <p:cNvSpPr>
            <a:spLocks noGrp="1"/>
          </p:cNvSpPr>
          <p:nvPr/>
        </p:nvSpPr>
        <p:spPr>
          <a:xfrm>
            <a:off x="541020" y="1901190"/>
            <a:ext cx="5441950" cy="420179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73050" indent="-273050" algn="l" defTabSz="385445" rtl="0" eaLnBrk="1" latinLnBrk="0" hangingPunct="1">
              <a:lnSpc>
                <a:spcPct val="12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sz="2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546100" indent="-355600" algn="l" defTabSz="385445" rtl="0" eaLnBrk="1" latinLnBrk="0" hangingPunct="1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Ø"/>
              <a:defRPr sz="2400" kern="120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668655" indent="-282575" algn="l" defTabSz="385445" rtl="0" eaLnBrk="1" latinLnBrk="0" hangingPunct="1">
              <a:lnSpc>
                <a:spcPct val="120000"/>
              </a:lnSpc>
              <a:spcBef>
                <a:spcPts val="300"/>
              </a:spcBef>
              <a:buSzPct val="50000"/>
              <a:buFont typeface="Wingdings" panose="05000000000000000000" pitchFamily="2" charset="2"/>
              <a:buChar char="l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846455" indent="-268605" algn="l" defTabSz="385445" rtl="0" eaLnBrk="1" latinLnBrk="0" hangingPunct="1">
              <a:lnSpc>
                <a:spcPct val="12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1078230" indent="-307975" algn="l" defTabSz="385445" rtl="0" eaLnBrk="1" latinLnBrk="0" hangingPunct="1">
              <a:lnSpc>
                <a:spcPct val="12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1061085" indent="-96520" algn="l" defTabSz="38544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84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53490" indent="-96520" algn="l" defTabSz="38544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84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46530" indent="-96520" algn="l" defTabSz="38544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84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39570" indent="-96520" algn="l" defTabSz="38544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84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sz="2400" dirty="0"/>
              <a:t>传统</a:t>
            </a:r>
            <a:r>
              <a:rPr lang="en-US" altLang="zh-CN" sz="2400" dirty="0"/>
              <a:t>memory</a:t>
            </a:r>
            <a:endParaRPr lang="zh-CN" sz="24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74700" lvl="1" indent="-387350" algn="l">
              <a:buClrTx/>
              <a:buSzTx/>
            </a:pPr>
            <a:r>
              <a:rPr lang="en-US" altLang="zh-CN" sz="2400">
                <a:solidFill>
                  <a:schemeClr val="accent5"/>
                </a:solidFill>
              </a:rPr>
              <a:t>MemoryBank</a:t>
            </a:r>
            <a:endParaRPr lang="en-US" altLang="zh-CN" sz="2400">
              <a:solidFill>
                <a:schemeClr val="accent5"/>
              </a:solidFill>
            </a:endParaRPr>
          </a:p>
          <a:p>
            <a:pPr marL="774700" lvl="1" indent="-387350" algn="l">
              <a:buClrTx/>
              <a:buSzTx/>
              <a:buFont typeface="Wingdings" panose="05000000000000000000" charset="0"/>
              <a:buChar char="Ø"/>
            </a:pPr>
            <a:r>
              <a:rPr lang="en-US" altLang="zh-CN" sz="2400">
                <a:solidFill>
                  <a:schemeClr val="accent5"/>
                </a:solidFill>
              </a:rPr>
              <a:t>MemGPT</a:t>
            </a:r>
            <a:endParaRPr lang="en-US" altLang="zh-CN" sz="2400">
              <a:solidFill>
                <a:schemeClr val="accent5"/>
              </a:solidFill>
            </a:endParaRPr>
          </a:p>
          <a:p>
            <a:pPr marL="774700" lvl="1" indent="-387350" algn="l">
              <a:buClrTx/>
              <a:buSzTx/>
              <a:buFont typeface="Wingdings" panose="05000000000000000000" charset="0"/>
              <a:buChar char="Ø"/>
            </a:pPr>
            <a:r>
              <a:rPr lang="en-US" altLang="zh-CN" sz="2400">
                <a:solidFill>
                  <a:schemeClr val="accent5"/>
                </a:solidFill>
              </a:rPr>
              <a:t>ReadAgent</a:t>
            </a:r>
            <a:endParaRPr lang="en-US" altLang="zh-CN" sz="2400">
              <a:solidFill>
                <a:schemeClr val="accent5"/>
              </a:solidFill>
            </a:endParaRPr>
          </a:p>
          <a:p>
            <a:pPr algn="l">
              <a:buClrTx/>
              <a:buSzTx/>
            </a:pPr>
            <a:r>
              <a:rPr lang="zh-CN" altLang="en-US" sz="2400">
                <a:solidFill>
                  <a:schemeClr val="accent5"/>
                </a:solidFill>
              </a:rPr>
              <a:t>结构化 / 图式 </a:t>
            </a:r>
            <a:r>
              <a:rPr lang="en-US" altLang="zh-CN" sz="2400">
                <a:solidFill>
                  <a:schemeClr val="accent5"/>
                </a:solidFill>
              </a:rPr>
              <a:t>Memory</a:t>
            </a:r>
            <a:endParaRPr lang="en-US" altLang="zh-CN" sz="2400">
              <a:solidFill>
                <a:schemeClr val="accent5"/>
              </a:solidFill>
            </a:endParaRPr>
          </a:p>
          <a:p>
            <a:pPr marL="774700" lvl="1" indent="-387350" algn="l">
              <a:buClrTx/>
              <a:buSzTx/>
            </a:pPr>
            <a:r>
              <a:rPr lang="en-US" altLang="zh-CN" sz="2400">
                <a:solidFill>
                  <a:schemeClr val="accent5"/>
                </a:solidFill>
              </a:rPr>
              <a:t>Graph-based Memory</a:t>
            </a:r>
            <a:endParaRPr lang="en-US" altLang="zh-CN" sz="2400">
              <a:solidFill>
                <a:schemeClr val="accent5"/>
              </a:solidFill>
            </a:endParaRPr>
          </a:p>
          <a:p>
            <a:pPr marL="774700" lvl="1" indent="-387350" algn="l">
              <a:buClrTx/>
              <a:buSzTx/>
              <a:buFont typeface="Wingdings" panose="05000000000000000000" charset="0"/>
              <a:buChar char="Ø"/>
            </a:pPr>
            <a:r>
              <a:rPr lang="en-US" altLang="zh-CN" sz="2400">
                <a:solidFill>
                  <a:schemeClr val="accent5"/>
                </a:solidFill>
              </a:rPr>
              <a:t>Knowledge Graph / GraphRAG</a:t>
            </a:r>
            <a:endParaRPr lang="zh-CN" altLang="en-US" sz="2400">
              <a:solidFill>
                <a:schemeClr val="accent5"/>
              </a:solidFill>
            </a:endParaRPr>
          </a:p>
        </p:txBody>
      </p:sp>
      <p:sp>
        <p:nvSpPr>
          <p:cNvPr id="25" name="内容占位符 2"/>
          <p:cNvSpPr>
            <a:spLocks noGrp="1"/>
          </p:cNvSpPr>
          <p:nvPr/>
        </p:nvSpPr>
        <p:spPr>
          <a:xfrm>
            <a:off x="6108700" y="2028190"/>
            <a:ext cx="5654040" cy="42017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73050" indent="-273050" algn="l" defTabSz="385445" rtl="0" eaLnBrk="1" latinLnBrk="0" hangingPunct="1">
              <a:lnSpc>
                <a:spcPct val="12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sz="2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546100" indent="-355600" algn="l" defTabSz="385445" rtl="0" eaLnBrk="1" latinLnBrk="0" hangingPunct="1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Ø"/>
              <a:defRPr sz="2400" kern="120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668655" indent="-282575" algn="l" defTabSz="385445" rtl="0" eaLnBrk="1" latinLnBrk="0" hangingPunct="1">
              <a:lnSpc>
                <a:spcPct val="120000"/>
              </a:lnSpc>
              <a:spcBef>
                <a:spcPts val="300"/>
              </a:spcBef>
              <a:buSzPct val="50000"/>
              <a:buFont typeface="Wingdings" panose="05000000000000000000" pitchFamily="2" charset="2"/>
              <a:buChar char="l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846455" indent="-268605" algn="l" defTabSz="385445" rtl="0" eaLnBrk="1" latinLnBrk="0" hangingPunct="1">
              <a:lnSpc>
                <a:spcPct val="12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1078230" indent="-307975" algn="l" defTabSz="385445" rtl="0" eaLnBrk="1" latinLnBrk="0" hangingPunct="1">
              <a:lnSpc>
                <a:spcPct val="12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1061085" indent="-96520" algn="l" defTabSz="38544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84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53490" indent="-96520" algn="l" defTabSz="38544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84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46530" indent="-96520" algn="l" defTabSz="38544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84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39570" indent="-96520" algn="l" defTabSz="38544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84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>
                <a:sym typeface="+mn-ea"/>
              </a:rPr>
              <a:t>大量的</a:t>
            </a:r>
            <a:r>
              <a:rPr lang="zh-CN" altLang="en-US" sz="2400">
                <a:sym typeface="+mn-ea"/>
              </a:rPr>
              <a:t>记忆如何形成有意义的结构？</a:t>
            </a:r>
            <a:endParaRPr lang="en-US" altLang="zh-CN" sz="2400">
              <a:sym typeface="+mn-ea"/>
            </a:endParaRPr>
          </a:p>
          <a:p>
            <a:r>
              <a:rPr lang="zh-CN" altLang="en-US" sz="2400">
                <a:sym typeface="+mn-ea"/>
              </a:rPr>
              <a:t>新记忆与历史</a:t>
            </a:r>
            <a:r>
              <a:rPr lang="zh-CN" altLang="en-US" sz="2400">
                <a:sym typeface="+mn-ea"/>
              </a:rPr>
              <a:t>记忆如何建立联系？</a:t>
            </a:r>
            <a:endParaRPr lang="en-US" altLang="zh-CN" sz="2400">
              <a:sym typeface="+mn-ea"/>
            </a:endParaRPr>
          </a:p>
          <a:p>
            <a:r>
              <a:rPr lang="zh-CN" altLang="en-US" sz="2400">
                <a:sym typeface="+mn-ea"/>
              </a:rPr>
              <a:t>新信息出现后，已有的记忆</a:t>
            </a:r>
            <a:r>
              <a:rPr lang="zh-CN" altLang="en-US" sz="2400">
                <a:sym typeface="+mn-ea"/>
              </a:rPr>
              <a:t>条目是否需要更新？</a:t>
            </a:r>
            <a:endParaRPr lang="zh-CN" altLang="en-US" sz="2400">
              <a:sym typeface="+mn-ea"/>
            </a:endParaRPr>
          </a:p>
          <a:p>
            <a:r>
              <a:rPr lang="zh-CN" altLang="en-US" sz="2400">
                <a:sym typeface="+mn-ea"/>
              </a:rPr>
              <a:t>如何避免固定的</a:t>
            </a:r>
            <a:r>
              <a:rPr lang="en-US" altLang="zh-CN" sz="2400">
                <a:sym typeface="+mn-ea"/>
              </a:rPr>
              <a:t>Memory</a:t>
            </a:r>
            <a:r>
              <a:rPr lang="zh-CN" altLang="en-US" sz="2400">
                <a:sym typeface="+mn-ea"/>
              </a:rPr>
              <a:t>操作和结构限制 </a:t>
            </a:r>
            <a:r>
              <a:rPr lang="en-US" altLang="zh-CN" sz="2400">
                <a:sym typeface="+mn-ea"/>
              </a:rPr>
              <a:t>Agent </a:t>
            </a:r>
            <a:r>
              <a:rPr lang="zh-CN" altLang="en-US" sz="2400">
                <a:sym typeface="+mn-ea"/>
              </a:rPr>
              <a:t>的适应能力？</a:t>
            </a:r>
            <a:r>
              <a:rPr lang="en-US" altLang="zh-CN" sz="2400">
                <a:sym typeface="+mn-ea"/>
              </a:rPr>
              <a:t> </a:t>
            </a:r>
            <a:endParaRPr lang="en-US" altLang="zh-CN" sz="2400">
              <a:sym typeface="+mn-ea"/>
            </a:endParaRPr>
          </a:p>
          <a:p>
            <a:pPr marL="0" indent="0">
              <a:buNone/>
            </a:pPr>
            <a:endParaRPr lang="en-US" altLang="zh-CN" sz="2000">
              <a:sym typeface="+mn-ea"/>
            </a:endParaRPr>
          </a:p>
          <a:p>
            <a:endParaRPr lang="zh-CN" sz="2000"/>
          </a:p>
        </p:txBody>
      </p:sp>
    </p:spTree>
  </p:cSld>
  <p:clrMapOvr>
    <a:masterClrMapping/>
  </p:clrMapOvr>
  <p:transition spd="slow"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灯片编号占位符 12"/>
          <p:cNvSpPr>
            <a:spLocks noGrp="1"/>
          </p:cNvSpPr>
          <p:nvPr>
            <p:ph type="sldNum" sz="quarter" idx="10"/>
          </p:nvPr>
        </p:nvSpPr>
        <p:spPr>
          <a:xfrm>
            <a:off x="10774680" y="6356350"/>
            <a:ext cx="1437640" cy="365125"/>
          </a:xfrm>
        </p:spPr>
        <p:txBody>
          <a:bodyPr/>
          <a:lstStyle/>
          <a:p>
            <a:fld id="{023126B9-07AC-4BAF-B3D7-FAC1D3999DA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4" name="文本框 13"/>
          <p:cNvSpPr txBox="1"/>
          <p:nvPr/>
        </p:nvSpPr>
        <p:spPr>
          <a:xfrm>
            <a:off x="1233805" y="356870"/>
            <a:ext cx="1051306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accent6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Intuition/Idea</a:t>
            </a:r>
            <a:endParaRPr lang="en-US" altLang="zh-CN" sz="2400" dirty="0">
              <a:solidFill>
                <a:schemeClr val="accent6">
                  <a:lumMod val="1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pitchFamily="49" charset="-122"/>
              <a:sym typeface="+mn-ea"/>
            </a:endParaRPr>
          </a:p>
        </p:txBody>
      </p:sp>
      <p:sp>
        <p:nvSpPr>
          <p:cNvPr id="15" name="任意多边形 14"/>
          <p:cNvSpPr/>
          <p:nvPr/>
        </p:nvSpPr>
        <p:spPr>
          <a:xfrm flipH="1">
            <a:off x="1341487" y="780336"/>
            <a:ext cx="2853178" cy="45719"/>
          </a:xfrm>
          <a:custGeom>
            <a:avLst/>
            <a:gdLst>
              <a:gd name="connsiteX0" fmla="*/ 7977051 w 7977051"/>
              <a:gd name="connsiteY0" fmla="*/ 0 h 31619"/>
              <a:gd name="connsiteX1" fmla="*/ 0 w 7977051"/>
              <a:gd name="connsiteY1" fmla="*/ 0 h 31619"/>
              <a:gd name="connsiteX2" fmla="*/ 0 w 7977051"/>
              <a:gd name="connsiteY2" fmla="*/ 31619 h 31619"/>
              <a:gd name="connsiteX3" fmla="*/ 7977051 w 7977051"/>
              <a:gd name="connsiteY3" fmla="*/ 31619 h 31619"/>
              <a:gd name="connsiteX4" fmla="*/ 7977051 w 7977051"/>
              <a:gd name="connsiteY4" fmla="*/ 15810 h 316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977051" h="31619">
                <a:moveTo>
                  <a:pt x="7977051" y="0"/>
                </a:moveTo>
                <a:lnTo>
                  <a:pt x="0" y="0"/>
                </a:lnTo>
                <a:lnTo>
                  <a:pt x="0" y="31619"/>
                </a:lnTo>
                <a:lnTo>
                  <a:pt x="7977051" y="31619"/>
                </a:lnTo>
                <a:lnTo>
                  <a:pt x="7977051" y="1581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6" name="图片 1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902" y="364144"/>
            <a:ext cx="812064" cy="812064"/>
          </a:xfrm>
          <a:prstGeom prst="rect">
            <a:avLst/>
          </a:prstGeom>
        </p:spPr>
      </p:pic>
      <p:sp>
        <p:nvSpPr>
          <p:cNvPr id="4" name="内容占位符 2"/>
          <p:cNvSpPr>
            <a:spLocks noGrp="1"/>
          </p:cNvSpPr>
          <p:nvPr/>
        </p:nvSpPr>
        <p:spPr>
          <a:xfrm>
            <a:off x="868680" y="1005840"/>
            <a:ext cx="5394960" cy="5166360"/>
          </a:xfrm>
          <a:prstGeom prst="rect">
            <a:avLst/>
          </a:prstGeom>
        </p:spPr>
        <p:txBody>
          <a:bodyPr vert="horz" wrap="square" lIns="73152" rIns="45720" rtlCol="0" anchor="t">
            <a:normAutofit/>
          </a:bodyPr>
          <a:lstStyle>
            <a:lvl1pPr marL="273050" indent="-273050" algn="l" defTabSz="385445" rtl="0" eaLnBrk="1" latinLnBrk="0" hangingPunct="1">
              <a:lnSpc>
                <a:spcPct val="12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sz="2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546100" indent="-355600" algn="l" defTabSz="385445" rtl="0" eaLnBrk="1" latinLnBrk="0" hangingPunct="1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Ø"/>
              <a:defRPr sz="2400" kern="120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668655" indent="-282575" algn="l" defTabSz="385445" rtl="0" eaLnBrk="1" latinLnBrk="0" hangingPunct="1">
              <a:lnSpc>
                <a:spcPct val="120000"/>
              </a:lnSpc>
              <a:spcBef>
                <a:spcPts val="300"/>
              </a:spcBef>
              <a:buSzPct val="50000"/>
              <a:buFont typeface="Wingdings" panose="05000000000000000000" pitchFamily="2" charset="2"/>
              <a:buChar char="l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846455" indent="-268605" algn="l" defTabSz="385445" rtl="0" eaLnBrk="1" latinLnBrk="0" hangingPunct="1">
              <a:lnSpc>
                <a:spcPct val="12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1078230" indent="-307975" algn="l" defTabSz="385445" rtl="0" eaLnBrk="1" latinLnBrk="0" hangingPunct="1">
              <a:lnSpc>
                <a:spcPct val="12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1061085" indent="-96520" algn="l" defTabSz="38544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84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53490" indent="-96520" algn="l" defTabSz="38544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84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46530" indent="-96520" algn="l" defTabSz="38544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84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39570" indent="-96520" algn="l" defTabSz="38544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84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2600" b="1">
                <a:solidFill>
                  <a:srgbClr val="910000"/>
                </a:solidFill>
                <a:latin typeface="微软雅黑" panose="020B0503020204020204" pitchFamily="34" charset="-122"/>
              </a:rPr>
              <a:t>Intuition</a:t>
            </a:r>
            <a:endParaRPr lang="zh-CN" sz="2600" dirty="0"/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2100" b="0">
                <a:solidFill>
                  <a:srgbClr val="910000"/>
                </a:solidFill>
                <a:latin typeface="微软雅黑" panose="020B0503020204020204" pitchFamily="34" charset="-122"/>
              </a:rPr>
              <a:t>借鉴 Zettelkasten 的“卡片关联”思想，将每条历史信息构造成结构化 Memory Note</a:t>
            </a:r>
            <a:endParaRPr sz="2100" b="0">
              <a:solidFill>
                <a:srgbClr val="910000"/>
              </a:solidFill>
              <a:latin typeface="微软雅黑" panose="020B0503020204020204" pitchFamily="34" charset="-122"/>
            </a:endParaRP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2100" b="0">
                <a:solidFill>
                  <a:srgbClr val="910000"/>
                </a:solidFill>
                <a:latin typeface="微软雅黑" panose="020B0503020204020204" pitchFamily="34" charset="-122"/>
              </a:rPr>
              <a:t>通过动态检索和语义分析建立 Memory 之间的联系</a:t>
            </a:r>
            <a:endParaRPr sz="2100" b="0">
              <a:solidFill>
                <a:srgbClr val="910000"/>
              </a:solidFill>
              <a:latin typeface="微软雅黑" panose="020B0503020204020204" pitchFamily="34" charset="-122"/>
            </a:endParaRP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2100" b="0">
                <a:solidFill>
                  <a:srgbClr val="910000"/>
                </a:solidFill>
                <a:latin typeface="微软雅黑" panose="020B0503020204020204" pitchFamily="34" charset="-122"/>
              </a:rPr>
              <a:t>通过 Memory Evolution 持续更新历史 Memory 的上下文和属性</a:t>
            </a:r>
            <a:endParaRPr sz="2100" b="0">
              <a:solidFill>
                <a:srgbClr val="910000"/>
              </a:solidFill>
              <a:latin typeface="微软雅黑" panose="020B0503020204020204" pitchFamily="34" charset="-122"/>
            </a:endParaRP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2100" b="1">
                <a:solidFill>
                  <a:srgbClr val="2D2D2D"/>
                </a:solidFill>
                <a:latin typeface="微软雅黑" panose="020B0503020204020204" pitchFamily="34" charset="-122"/>
              </a:rPr>
              <a:t>核心：新 Memory 不只是“加入”，还可能改变已有 Memory 的理解</a:t>
            </a:r>
            <a:endParaRPr sz="2100" b="1">
              <a:solidFill>
                <a:srgbClr val="2D2D2D"/>
              </a:solidFill>
              <a:latin typeface="微软雅黑" panose="020B0503020204020204" pitchFamily="3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537960" y="1417320"/>
            <a:ext cx="2057400" cy="658368"/>
          </a:xfrm>
          <a:prstGeom prst="roundRect">
            <a:avLst/>
          </a:prstGeom>
          <a:solidFill>
            <a:srgbClr val="F5F5F5"/>
          </a:solidFill>
          <a:ln w="1524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2D2D2D"/>
                </a:solidFill>
                <a:latin typeface="微软雅黑" panose="020B0503020204020204" pitchFamily="34" charset="-122"/>
              </a:rPr>
              <a:t>Interaction 1</a:t>
            </a:r>
            <a:endParaRPr sz="1800" b="1">
              <a:solidFill>
                <a:srgbClr val="2D2D2D"/>
              </a:solidFill>
              <a:latin typeface="微软雅黑" panose="020B0503020204020204" pitchFamily="3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9006840" y="1417320"/>
            <a:ext cx="2057400" cy="658368"/>
          </a:xfrm>
          <a:prstGeom prst="roundRect">
            <a:avLst/>
          </a:prstGeom>
          <a:solidFill>
            <a:srgbClr val="F5F5F5"/>
          </a:solidFill>
          <a:ln w="1524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2D2D2D"/>
                </a:solidFill>
                <a:latin typeface="微软雅黑" panose="020B0503020204020204" pitchFamily="34" charset="-122"/>
              </a:rPr>
              <a:t>Interaction 2</a:t>
            </a:r>
            <a:endParaRPr sz="1800" b="1">
              <a:solidFill>
                <a:srgbClr val="2D2D2D"/>
              </a:solidFill>
              <a:latin typeface="微软雅黑" panose="020B0503020204020204" pitchFamily="3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537960" y="2331720"/>
            <a:ext cx="2057400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91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0">
                <a:solidFill>
                  <a:srgbClr val="2D2D2D"/>
                </a:solidFill>
                <a:latin typeface="微软雅黑" panose="020B0503020204020204" pitchFamily="34" charset="-122"/>
              </a:rPr>
              <a:t>M1</a:t>
            </a:r>
            <a:br>
              <a:rPr sz="1800" b="0">
                <a:solidFill>
                  <a:srgbClr val="2D2D2D"/>
                </a:solidFill>
                <a:latin typeface="微软雅黑" panose="020B0503020204020204" pitchFamily="34" charset="-122"/>
              </a:rPr>
            </a:br>
            <a:r>
              <a:rPr sz="1800" b="0">
                <a:solidFill>
                  <a:srgbClr val="2D2D2D"/>
                </a:solidFill>
                <a:latin typeface="微软雅黑" panose="020B0503020204020204" pitchFamily="34" charset="-122"/>
              </a:rPr>
              <a:t>研究 LLM Agents</a:t>
            </a:r>
            <a:endParaRPr sz="1800" b="0">
              <a:solidFill>
                <a:srgbClr val="2D2D2D"/>
              </a:solidFill>
              <a:latin typeface="微软雅黑" panose="020B0503020204020204" pitchFamily="3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9006840" y="2331720"/>
            <a:ext cx="2057400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91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0">
                <a:solidFill>
                  <a:srgbClr val="2D2D2D"/>
                </a:solidFill>
                <a:latin typeface="微软雅黑" panose="020B0503020204020204" pitchFamily="34" charset="-122"/>
              </a:rPr>
              <a:t>M2</a:t>
            </a:r>
            <a:br>
              <a:rPr sz="1800" b="0">
                <a:solidFill>
                  <a:srgbClr val="2D2D2D"/>
                </a:solidFill>
                <a:latin typeface="微软雅黑" panose="020B0503020204020204" pitchFamily="34" charset="-122"/>
              </a:rPr>
            </a:br>
            <a:r>
              <a:rPr sz="1800" b="0">
                <a:solidFill>
                  <a:srgbClr val="2D2D2D"/>
                </a:solidFill>
                <a:latin typeface="微软雅黑" panose="020B0503020204020204" pitchFamily="34" charset="-122"/>
              </a:rPr>
              <a:t>研究 Agent Memory</a:t>
            </a:r>
            <a:endParaRPr sz="1800" b="0">
              <a:solidFill>
                <a:srgbClr val="2D2D2D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21" name="Connector 20"/>
          <p:cNvCxnSpPr/>
          <p:nvPr/>
        </p:nvCxnSpPr>
        <p:spPr>
          <a:xfrm>
            <a:off x="8595360" y="2852928"/>
            <a:ext cx="365760" cy="0"/>
          </a:xfrm>
          <a:prstGeom prst="line">
            <a:avLst/>
          </a:prstGeom>
          <a:ln w="22860">
            <a:solidFill>
              <a:srgbClr val="91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818120" y="3456432"/>
            <a:ext cx="2057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1">
                <a:solidFill>
                  <a:srgbClr val="910000"/>
                </a:solidFill>
                <a:latin typeface="微软雅黑" panose="020B0503020204020204" pitchFamily="34" charset="-122"/>
              </a:rPr>
              <a:t>建立语义连接</a:t>
            </a:r>
            <a:endParaRPr sz="1700" b="1">
              <a:solidFill>
                <a:srgbClr val="910000"/>
              </a:solidFill>
              <a:latin typeface="微软雅黑" panose="020B0503020204020204" pitchFamily="3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7315200" y="4069080"/>
            <a:ext cx="2926080" cy="1097280"/>
          </a:xfrm>
          <a:prstGeom prst="roundRect">
            <a:avLst/>
          </a:prstGeom>
          <a:solidFill>
            <a:srgbClr val="F5F5F5"/>
          </a:solidFill>
          <a:ln w="15240">
            <a:solidFill>
              <a:srgbClr val="91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0">
                <a:solidFill>
                  <a:srgbClr val="2D2D2D"/>
                </a:solidFill>
                <a:latin typeface="微软雅黑" panose="020B0503020204020204" pitchFamily="34" charset="-122"/>
              </a:rPr>
              <a:t>M1 Evolution</a:t>
            </a:r>
            <a:br>
              <a:rPr sz="1700" b="0">
                <a:solidFill>
                  <a:srgbClr val="2D2D2D"/>
                </a:solidFill>
                <a:latin typeface="微软雅黑" panose="020B0503020204020204" pitchFamily="34" charset="-122"/>
              </a:rPr>
            </a:br>
            <a:r>
              <a:rPr sz="1700" b="0">
                <a:solidFill>
                  <a:srgbClr val="2D2D2D"/>
                </a:solidFill>
                <a:latin typeface="微软雅黑" panose="020B0503020204020204" pitchFamily="34" charset="-122"/>
              </a:rPr>
              <a:t>“研究 LLM Agents”</a:t>
            </a:r>
            <a:br>
              <a:rPr sz="1700" b="0">
                <a:solidFill>
                  <a:srgbClr val="2D2D2D"/>
                </a:solidFill>
                <a:latin typeface="微软雅黑" panose="020B0503020204020204" pitchFamily="34" charset="-122"/>
              </a:rPr>
            </a:br>
            <a:r>
              <a:rPr sz="1700" b="0">
                <a:solidFill>
                  <a:srgbClr val="2D2D2D"/>
                </a:solidFill>
                <a:latin typeface="微软雅黑" panose="020B0503020204020204" pitchFamily="34" charset="-122"/>
              </a:rPr>
              <a:t>→ “关注 Agent Memory”</a:t>
            </a:r>
            <a:endParaRPr sz="1700" b="0">
              <a:solidFill>
                <a:srgbClr val="2D2D2D"/>
              </a:solidFill>
              <a:latin typeface="微软雅黑" panose="020B0503020204020204" pitchFamily="3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537960" y="5349240"/>
            <a:ext cx="45720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900" b="1">
                <a:solidFill>
                  <a:srgbClr val="910000"/>
                </a:solidFill>
                <a:latin typeface="微软雅黑" panose="020B0503020204020204" pitchFamily="34" charset="-122"/>
              </a:rPr>
              <a:t>New Memory → Link → Evolve</a:t>
            </a:r>
            <a:endParaRPr sz="1900" b="1">
              <a:solidFill>
                <a:srgbClr val="910000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灯片编号占位符 1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126B9-07AC-4BAF-B3D7-FAC1D3999DA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4" name="文本框 13"/>
          <p:cNvSpPr txBox="1"/>
          <p:nvPr/>
        </p:nvSpPr>
        <p:spPr>
          <a:xfrm>
            <a:off x="1233805" y="356870"/>
            <a:ext cx="1051306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accent6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Contributions</a:t>
            </a:r>
            <a:endParaRPr lang="en-US" altLang="zh-CN" sz="2400" dirty="0">
              <a:solidFill>
                <a:schemeClr val="accent6">
                  <a:lumMod val="1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pitchFamily="49" charset="-122"/>
              <a:sym typeface="+mn-ea"/>
            </a:endParaRPr>
          </a:p>
        </p:txBody>
      </p:sp>
      <p:sp>
        <p:nvSpPr>
          <p:cNvPr id="15" name="任意多边形 14"/>
          <p:cNvSpPr/>
          <p:nvPr/>
        </p:nvSpPr>
        <p:spPr>
          <a:xfrm flipH="1">
            <a:off x="1341487" y="780336"/>
            <a:ext cx="2853178" cy="45719"/>
          </a:xfrm>
          <a:custGeom>
            <a:avLst/>
            <a:gdLst>
              <a:gd name="connsiteX0" fmla="*/ 7977051 w 7977051"/>
              <a:gd name="connsiteY0" fmla="*/ 0 h 31619"/>
              <a:gd name="connsiteX1" fmla="*/ 0 w 7977051"/>
              <a:gd name="connsiteY1" fmla="*/ 0 h 31619"/>
              <a:gd name="connsiteX2" fmla="*/ 0 w 7977051"/>
              <a:gd name="connsiteY2" fmla="*/ 31619 h 31619"/>
              <a:gd name="connsiteX3" fmla="*/ 7977051 w 7977051"/>
              <a:gd name="connsiteY3" fmla="*/ 31619 h 31619"/>
              <a:gd name="connsiteX4" fmla="*/ 7977051 w 7977051"/>
              <a:gd name="connsiteY4" fmla="*/ 15810 h 316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977051" h="31619">
                <a:moveTo>
                  <a:pt x="7977051" y="0"/>
                </a:moveTo>
                <a:lnTo>
                  <a:pt x="0" y="0"/>
                </a:lnTo>
                <a:lnTo>
                  <a:pt x="0" y="31619"/>
                </a:lnTo>
                <a:lnTo>
                  <a:pt x="7977051" y="31619"/>
                </a:lnTo>
                <a:lnTo>
                  <a:pt x="7977051" y="1581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6" name="图片 1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902" y="364144"/>
            <a:ext cx="812064" cy="812064"/>
          </a:xfrm>
          <a:prstGeom prst="rect">
            <a:avLst/>
          </a:prstGeom>
        </p:spPr>
      </p:pic>
      <p:sp>
        <p:nvSpPr>
          <p:cNvPr id="3" name="内容占位符 2"/>
          <p:cNvSpPr>
            <a:spLocks noGrp="1"/>
          </p:cNvSpPr>
          <p:nvPr/>
        </p:nvSpPr>
        <p:spPr>
          <a:xfrm>
            <a:off x="1009015" y="1141730"/>
            <a:ext cx="10427970" cy="5088255"/>
          </a:xfrm>
          <a:prstGeom prst="rect">
            <a:avLst/>
          </a:prstGeom>
        </p:spPr>
        <p:txBody>
          <a:bodyPr vert="horz" wrap="square" lIns="73152" rIns="45720" rtlCol="0" anchor="t">
            <a:normAutofit/>
          </a:bodyPr>
          <a:lstStyle>
            <a:lvl1pPr marL="273050" indent="-273050" algn="l" defTabSz="385445" rtl="0" eaLnBrk="1" latinLnBrk="0" hangingPunct="1">
              <a:lnSpc>
                <a:spcPct val="12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sz="2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546100" indent="-355600" algn="l" defTabSz="385445" rtl="0" eaLnBrk="1" latinLnBrk="0" hangingPunct="1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Ø"/>
              <a:defRPr sz="2400" kern="120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668655" indent="-282575" algn="l" defTabSz="385445" rtl="0" eaLnBrk="1" latinLnBrk="0" hangingPunct="1">
              <a:lnSpc>
                <a:spcPct val="120000"/>
              </a:lnSpc>
              <a:spcBef>
                <a:spcPts val="300"/>
              </a:spcBef>
              <a:buSzPct val="50000"/>
              <a:buFont typeface="Wingdings" panose="05000000000000000000" pitchFamily="2" charset="2"/>
              <a:buChar char="l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846455" indent="-268605" algn="l" defTabSz="385445" rtl="0" eaLnBrk="1" latinLnBrk="0" hangingPunct="1">
              <a:lnSpc>
                <a:spcPct val="12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1078230" indent="-307975" algn="l" defTabSz="385445" rtl="0" eaLnBrk="1" latinLnBrk="0" hangingPunct="1">
              <a:lnSpc>
                <a:spcPct val="12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1061085" indent="-96520" algn="l" defTabSz="38544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84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53490" indent="-96520" algn="l" defTabSz="38544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84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46530" indent="-96520" algn="l" defTabSz="38544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84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39570" indent="-96520" algn="l" defTabSz="38544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84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2300" b="1">
                <a:solidFill>
                  <a:srgbClr val="910000"/>
                </a:solidFill>
                <a:latin typeface="微软雅黑" panose="020B0503020204020204" pitchFamily="34" charset="-122"/>
              </a:rPr>
              <a:t>Contribution 1. 提出 Agentic Memory Framework</a:t>
            </a:r>
            <a:endParaRPr lang="en-US" altLang="zh-CN"/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2000" b="0">
                <a:solidFill>
                  <a:srgbClr val="910000"/>
                </a:solidFill>
                <a:latin typeface="微软雅黑" panose="020B0503020204020204" pitchFamily="34" charset="-122"/>
              </a:rPr>
              <a:t>让 LLM Agent 能够动态组织和管理长期</a:t>
            </a:r>
            <a:r>
              <a:rPr lang="zh-CN" sz="2000" b="0">
                <a:solidFill>
                  <a:srgbClr val="910000"/>
                </a:solidFill>
                <a:latin typeface="微软雅黑" panose="020B0503020204020204" pitchFamily="34" charset="-122"/>
              </a:rPr>
              <a:t>记忆</a:t>
            </a:r>
            <a:endParaRPr lang="zh-CN" sz="2000" b="0">
              <a:solidFill>
                <a:srgbClr val="910000"/>
              </a:solidFill>
              <a:latin typeface="微软雅黑" panose="020B0503020204020204" pitchFamily="34" charset="-122"/>
            </a:endParaRP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2300" b="1">
                <a:solidFill>
                  <a:srgbClr val="910000"/>
                </a:solidFill>
                <a:latin typeface="微软雅黑" panose="020B0503020204020204" pitchFamily="34" charset="-122"/>
              </a:rPr>
              <a:t>Contribution 2. 结构化 Memory Note</a:t>
            </a:r>
            <a:endParaRPr sz="2300" b="1">
              <a:solidFill>
                <a:srgbClr val="910000"/>
              </a:solidFill>
              <a:latin typeface="微软雅黑" panose="020B0503020204020204" pitchFamily="34" charset="-122"/>
            </a:endParaRP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2000" b="0">
                <a:solidFill>
                  <a:srgbClr val="910000"/>
                </a:solidFill>
                <a:latin typeface="微软雅黑" panose="020B0503020204020204" pitchFamily="34" charset="-122"/>
              </a:rPr>
              <a:t>利用 Context、Keywords、Tags 等属性</a:t>
            </a:r>
            <a:r>
              <a:rPr lang="zh-CN" sz="2000" b="0">
                <a:solidFill>
                  <a:srgbClr val="910000"/>
                </a:solidFill>
                <a:latin typeface="微软雅黑" panose="020B0503020204020204" pitchFamily="34" charset="-122"/>
              </a:rPr>
              <a:t>，</a:t>
            </a:r>
            <a:r>
              <a:rPr sz="2000" b="0">
                <a:solidFill>
                  <a:srgbClr val="910000"/>
                </a:solidFill>
                <a:latin typeface="微软雅黑" panose="020B0503020204020204" pitchFamily="34" charset="-122"/>
              </a:rPr>
              <a:t>丰富</a:t>
            </a:r>
            <a:r>
              <a:rPr lang="zh-CN" sz="2000" b="0">
                <a:solidFill>
                  <a:srgbClr val="910000"/>
                </a:solidFill>
                <a:latin typeface="微软雅黑" panose="020B0503020204020204" pitchFamily="34" charset="-122"/>
              </a:rPr>
              <a:t>了</a:t>
            </a:r>
            <a:r>
              <a:rPr sz="2000" b="0">
                <a:solidFill>
                  <a:srgbClr val="910000"/>
                </a:solidFill>
                <a:latin typeface="微软雅黑" panose="020B0503020204020204" pitchFamily="34" charset="-122"/>
              </a:rPr>
              <a:t>Memory</a:t>
            </a:r>
            <a:r>
              <a:rPr lang="zh-CN" sz="2000" b="0">
                <a:solidFill>
                  <a:srgbClr val="910000"/>
                </a:solidFill>
                <a:latin typeface="微软雅黑" panose="020B0503020204020204" pitchFamily="34" charset="-122"/>
              </a:rPr>
              <a:t>的</a:t>
            </a:r>
            <a:r>
              <a:rPr sz="2000" b="0">
                <a:solidFill>
                  <a:srgbClr val="910000"/>
                </a:solidFill>
                <a:latin typeface="微软雅黑" panose="020B0503020204020204" pitchFamily="34" charset="-122"/>
              </a:rPr>
              <a:t>表示</a:t>
            </a:r>
            <a:endParaRPr sz="2000" b="0">
              <a:solidFill>
                <a:srgbClr val="910000"/>
              </a:solidFill>
              <a:latin typeface="微软雅黑" panose="020B0503020204020204" pitchFamily="34" charset="-122"/>
            </a:endParaRP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2300" b="1">
                <a:solidFill>
                  <a:srgbClr val="910000"/>
                </a:solidFill>
                <a:latin typeface="微软雅黑" panose="020B0503020204020204" pitchFamily="34" charset="-122"/>
              </a:rPr>
              <a:t>Contribution 3. Dynamic Linking + Memory Evolution</a:t>
            </a:r>
            <a:endParaRPr sz="2300" b="1">
              <a:solidFill>
                <a:srgbClr val="910000"/>
              </a:solidFill>
              <a:latin typeface="微软雅黑" panose="020B0503020204020204" pitchFamily="34" charset="-122"/>
            </a:endParaRP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2000" b="0">
                <a:solidFill>
                  <a:srgbClr val="910000"/>
                </a:solidFill>
                <a:latin typeface="微软雅黑" panose="020B0503020204020204" pitchFamily="34" charset="-122"/>
              </a:rPr>
              <a:t>自动发现</a:t>
            </a:r>
            <a:r>
              <a:rPr lang="zh-CN" sz="2000" b="0">
                <a:solidFill>
                  <a:srgbClr val="910000"/>
                </a:solidFill>
                <a:latin typeface="微软雅黑" panose="020B0503020204020204" pitchFamily="34" charset="-122"/>
              </a:rPr>
              <a:t>不同记忆</a:t>
            </a:r>
            <a:r>
              <a:rPr sz="2000" b="0">
                <a:solidFill>
                  <a:srgbClr val="910000"/>
                </a:solidFill>
                <a:latin typeface="微软雅黑" panose="020B0503020204020204" pitchFamily="34" charset="-122"/>
              </a:rPr>
              <a:t>之间的联系，并允许新信息更新历史</a:t>
            </a:r>
            <a:r>
              <a:rPr lang="zh-CN" sz="2000" b="0">
                <a:solidFill>
                  <a:srgbClr val="910000"/>
                </a:solidFill>
                <a:latin typeface="微软雅黑" panose="020B0503020204020204" pitchFamily="34" charset="-122"/>
              </a:rPr>
              <a:t>记忆，完成记忆演化</a:t>
            </a:r>
            <a:endParaRPr sz="2000" b="0">
              <a:solidFill>
                <a:srgbClr val="910000"/>
              </a:solidFill>
              <a:latin typeface="微软雅黑" panose="020B0503020204020204" pitchFamily="34" charset="-122"/>
            </a:endParaRP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2300" b="1">
                <a:solidFill>
                  <a:srgbClr val="910000"/>
                </a:solidFill>
                <a:latin typeface="微软雅黑" panose="020B0503020204020204" pitchFamily="34" charset="-122"/>
              </a:rPr>
              <a:t>Contribution 4. 系统性实验验证</a:t>
            </a:r>
            <a:endParaRPr sz="2300" b="1">
              <a:solidFill>
                <a:srgbClr val="910000"/>
              </a:solidFill>
              <a:latin typeface="微软雅黑" panose="020B0503020204020204" pitchFamily="34" charset="-122"/>
            </a:endParaRP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lang="zh-CN" altLang="en-US" sz="2000" b="0">
                <a:solidFill>
                  <a:srgbClr val="910000"/>
                </a:solidFill>
                <a:latin typeface="微软雅黑" panose="020B0503020204020204" pitchFamily="34" charset="-122"/>
              </a:rPr>
              <a:t>跨多个数据集与基础大语言模型进行系统评估，验证</a:t>
            </a:r>
            <a:r>
              <a:rPr lang="en-US" altLang="zh-CN" sz="2000" b="0">
                <a:solidFill>
                  <a:srgbClr val="910000"/>
                </a:solidFill>
                <a:latin typeface="微软雅黑" panose="020B0503020204020204" pitchFamily="34" charset="-122"/>
              </a:rPr>
              <a:t>A-Mem</a:t>
            </a:r>
            <a:r>
              <a:rPr lang="zh-CN" altLang="en-US" sz="2000" b="0">
                <a:solidFill>
                  <a:srgbClr val="910000"/>
                </a:solidFill>
                <a:latin typeface="微软雅黑" panose="020B0503020204020204" pitchFamily="34" charset="-122"/>
              </a:rPr>
              <a:t>的有效性与泛化能力</a:t>
            </a:r>
            <a:endParaRPr lang="zh-CN" altLang="en-US" sz="2000" b="0">
              <a:solidFill>
                <a:srgbClr val="910000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cov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灯片编号占位符 12"/>
          <p:cNvSpPr>
            <a:spLocks noGrp="1"/>
          </p:cNvSpPr>
          <p:nvPr>
            <p:ph type="sldNum" sz="quarter" idx="10"/>
          </p:nvPr>
        </p:nvSpPr>
        <p:spPr>
          <a:xfrm>
            <a:off x="10774680" y="6356350"/>
            <a:ext cx="1437640" cy="365125"/>
          </a:xfrm>
        </p:spPr>
        <p:txBody>
          <a:bodyPr/>
          <a:lstStyle/>
          <a:p>
            <a:fld id="{023126B9-07AC-4BAF-B3D7-FAC1D3999DA4}" type="slidenum">
              <a:rPr lang="zh-CN" altLang="en-US" smtClean="0">
                <a:latin typeface="Times New Roman" panose="02020603050405020304" charset="0"/>
              </a:rPr>
            </a:fld>
            <a:endParaRPr lang="zh-CN" altLang="en-US" dirty="0" smtClean="0">
              <a:latin typeface="Times New Roman" panose="02020603050405020304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233805" y="356870"/>
            <a:ext cx="1055687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>
                <a:solidFill>
                  <a:schemeClr val="accent6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A-Mem Framework</a:t>
            </a:r>
            <a:endParaRPr lang="en-US" altLang="zh-CN" sz="2400">
              <a:solidFill>
                <a:schemeClr val="accent6">
                  <a:lumMod val="1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5" name="任意多边形 14"/>
          <p:cNvSpPr/>
          <p:nvPr/>
        </p:nvSpPr>
        <p:spPr>
          <a:xfrm flipH="1">
            <a:off x="1341487" y="780336"/>
            <a:ext cx="2853178" cy="45719"/>
          </a:xfrm>
          <a:custGeom>
            <a:avLst/>
            <a:gdLst>
              <a:gd name="connsiteX0" fmla="*/ 7977051 w 7977051"/>
              <a:gd name="connsiteY0" fmla="*/ 0 h 31619"/>
              <a:gd name="connsiteX1" fmla="*/ 0 w 7977051"/>
              <a:gd name="connsiteY1" fmla="*/ 0 h 31619"/>
              <a:gd name="connsiteX2" fmla="*/ 0 w 7977051"/>
              <a:gd name="connsiteY2" fmla="*/ 31619 h 31619"/>
              <a:gd name="connsiteX3" fmla="*/ 7977051 w 7977051"/>
              <a:gd name="connsiteY3" fmla="*/ 31619 h 31619"/>
              <a:gd name="connsiteX4" fmla="*/ 7977051 w 7977051"/>
              <a:gd name="connsiteY4" fmla="*/ 15810 h 316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977051" h="31619">
                <a:moveTo>
                  <a:pt x="7977051" y="0"/>
                </a:moveTo>
                <a:lnTo>
                  <a:pt x="0" y="0"/>
                </a:lnTo>
                <a:lnTo>
                  <a:pt x="0" y="31619"/>
                </a:lnTo>
                <a:lnTo>
                  <a:pt x="7977051" y="31619"/>
                </a:lnTo>
                <a:lnTo>
                  <a:pt x="7977051" y="1581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902" y="364144"/>
            <a:ext cx="812064" cy="812064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115" y="1176020"/>
            <a:ext cx="11927205" cy="5544820"/>
          </a:xfrm>
          <a:prstGeom prst="rect">
            <a:avLst/>
          </a:prstGeom>
        </p:spPr>
      </p:pic>
    </p:spTree>
  </p:cSld>
  <p:clrMapOvr>
    <a:masterClrMapping/>
  </p:clrMapOvr>
  <p:transition spd="slow">
    <p:cov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/>
          <p:cNvSpPr txBox="1"/>
          <p:nvPr/>
        </p:nvSpPr>
        <p:spPr>
          <a:xfrm>
            <a:off x="1233805" y="356870"/>
            <a:ext cx="36620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accent6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Design Details</a:t>
            </a:r>
            <a:endParaRPr lang="en-US" altLang="zh-CN" sz="2400" kern="0" spc="-200" dirty="0">
              <a:solidFill>
                <a:schemeClr val="accent6">
                  <a:lumMod val="1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pitchFamily="49" charset="-122"/>
              <a:sym typeface="+mn-ea"/>
            </a:endParaRPr>
          </a:p>
        </p:txBody>
      </p:sp>
      <p:sp>
        <p:nvSpPr>
          <p:cNvPr id="15" name="任意多边形 14"/>
          <p:cNvSpPr/>
          <p:nvPr/>
        </p:nvSpPr>
        <p:spPr>
          <a:xfrm flipH="1">
            <a:off x="1341487" y="780336"/>
            <a:ext cx="2853178" cy="45719"/>
          </a:xfrm>
          <a:custGeom>
            <a:avLst/>
            <a:gdLst>
              <a:gd name="connsiteX0" fmla="*/ 7977051 w 7977051"/>
              <a:gd name="connsiteY0" fmla="*/ 0 h 31619"/>
              <a:gd name="connsiteX1" fmla="*/ 0 w 7977051"/>
              <a:gd name="connsiteY1" fmla="*/ 0 h 31619"/>
              <a:gd name="connsiteX2" fmla="*/ 0 w 7977051"/>
              <a:gd name="connsiteY2" fmla="*/ 31619 h 31619"/>
              <a:gd name="connsiteX3" fmla="*/ 7977051 w 7977051"/>
              <a:gd name="connsiteY3" fmla="*/ 31619 h 31619"/>
              <a:gd name="connsiteX4" fmla="*/ 7977051 w 7977051"/>
              <a:gd name="connsiteY4" fmla="*/ 15810 h 316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977051" h="31619">
                <a:moveTo>
                  <a:pt x="7977051" y="0"/>
                </a:moveTo>
                <a:lnTo>
                  <a:pt x="0" y="0"/>
                </a:lnTo>
                <a:lnTo>
                  <a:pt x="0" y="31619"/>
                </a:lnTo>
                <a:lnTo>
                  <a:pt x="7977051" y="31619"/>
                </a:lnTo>
                <a:lnTo>
                  <a:pt x="7977051" y="1581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kern="0" spc="-200" dirty="0">
              <a:solidFill>
                <a:schemeClr val="tx1"/>
              </a:solidFill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902" y="364144"/>
            <a:ext cx="812064" cy="812064"/>
          </a:xfrm>
          <a:prstGeom prst="rect">
            <a:avLst/>
          </a:prstGeom>
        </p:spPr>
      </p:pic>
      <p:sp>
        <p:nvSpPr>
          <p:cNvPr id="13" name="灯片编号占位符 1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126B9-07AC-4BAF-B3D7-FAC1D3999DA4}" type="slidenum">
              <a:rPr lang="zh-CN" altLang="en-US" kern="0" spc="-200" smtClean="0">
                <a:latin typeface="Times New Roman" panose="02020603050405020304" charset="0"/>
              </a:rPr>
            </a:fld>
            <a:endParaRPr lang="zh-CN" altLang="en-US" kern="0" spc="-200" dirty="0" smtClean="0">
              <a:latin typeface="Times New Roman" panose="02020603050405020304" charset="0"/>
            </a:endParaRPr>
          </a:p>
        </p:txBody>
      </p:sp>
      <p:sp>
        <p:nvSpPr>
          <p:cNvPr id="2" name="内容占位符 2"/>
          <p:cNvSpPr>
            <a:spLocks noGrp="1"/>
          </p:cNvSpPr>
          <p:nvPr/>
        </p:nvSpPr>
        <p:spPr>
          <a:xfrm>
            <a:off x="868680" y="1005840"/>
            <a:ext cx="5166360" cy="5257800"/>
          </a:xfrm>
          <a:prstGeom prst="rect">
            <a:avLst/>
          </a:prstGeom>
        </p:spPr>
        <p:txBody>
          <a:bodyPr vert="horz" wrap="square" lIns="73152" rIns="45720" rtlCol="0" anchor="t">
            <a:normAutofit/>
          </a:bodyPr>
          <a:lstStyle>
            <a:lvl1pPr marL="273050" indent="-273050" algn="l" defTabSz="385445" rtl="0" eaLnBrk="1" latinLnBrk="0" hangingPunct="1">
              <a:lnSpc>
                <a:spcPct val="12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sz="2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546100" indent="-355600" algn="l" defTabSz="385445" rtl="0" eaLnBrk="1" latinLnBrk="0" hangingPunct="1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Ø"/>
              <a:defRPr sz="2400" kern="120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668655" indent="-282575" algn="l" defTabSz="385445" rtl="0" eaLnBrk="1" latinLnBrk="0" hangingPunct="1">
              <a:lnSpc>
                <a:spcPct val="120000"/>
              </a:lnSpc>
              <a:spcBef>
                <a:spcPts val="300"/>
              </a:spcBef>
              <a:buSzPct val="50000"/>
              <a:buFont typeface="Wingdings" panose="05000000000000000000" pitchFamily="2" charset="2"/>
              <a:buChar char="l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846455" indent="-268605" algn="l" defTabSz="385445" rtl="0" eaLnBrk="1" latinLnBrk="0" hangingPunct="1">
              <a:lnSpc>
                <a:spcPct val="12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1078230" indent="-307975" algn="l" defTabSz="385445" rtl="0" eaLnBrk="1" latinLnBrk="0" hangingPunct="1">
              <a:lnSpc>
                <a:spcPct val="12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1061085" indent="-96520" algn="l" defTabSz="38544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84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53490" indent="-96520" algn="l" defTabSz="38544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84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46530" indent="-96520" algn="l" defTabSz="38544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84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39570" indent="-96520" algn="l" defTabSz="38544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84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0000"/>
              </a:lnSpc>
              <a:spcAft>
                <a:spcPts val="700"/>
              </a:spcAft>
              <a:buClrTx/>
              <a:buSzTx/>
              <a:buNone/>
            </a:pPr>
            <a:r>
              <a:rPr sz="2500" b="1">
                <a:solidFill>
                  <a:srgbClr val="910000"/>
                </a:solidFill>
                <a:latin typeface="微软雅黑" panose="020B0503020204020204" pitchFamily="34" charset="-122"/>
              </a:rPr>
              <a:t>Note Construction</a:t>
            </a:r>
            <a:endParaRPr lang="en-US" sz="2600">
              <a:solidFill>
                <a:schemeClr val="accent5"/>
              </a:solidFill>
              <a:sym typeface="+mn-ea"/>
            </a:endParaRP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2000" b="0">
                <a:solidFill>
                  <a:srgbClr val="910000"/>
                </a:solidFill>
                <a:latin typeface="微软雅黑" panose="020B0503020204020204" pitchFamily="34" charset="-122"/>
              </a:rPr>
              <a:t>将每次新交互转换为结构化 Memory Note</a:t>
            </a:r>
            <a:endParaRPr sz="2000" b="0">
              <a:solidFill>
                <a:srgbClr val="910000"/>
              </a:solidFill>
              <a:latin typeface="微软雅黑" panose="020B0503020204020204" pitchFamily="34" charset="-122"/>
            </a:endParaRP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2000" b="0">
                <a:solidFill>
                  <a:srgbClr val="910000"/>
                </a:solidFill>
                <a:latin typeface="微软雅黑" panose="020B0503020204020204" pitchFamily="34" charset="-122"/>
              </a:rPr>
              <a:t>Content：原始交互内容</a:t>
            </a:r>
            <a:endParaRPr sz="2000" b="0">
              <a:solidFill>
                <a:srgbClr val="910000"/>
              </a:solidFill>
              <a:latin typeface="微软雅黑" panose="020B0503020204020204" pitchFamily="34" charset="-122"/>
            </a:endParaRP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2000" b="0">
                <a:solidFill>
                  <a:srgbClr val="910000"/>
                </a:solidFill>
                <a:latin typeface="微软雅黑" panose="020B0503020204020204" pitchFamily="34" charset="-122"/>
              </a:rPr>
              <a:t>Context：LLM 生成的上下文描述</a:t>
            </a:r>
            <a:endParaRPr sz="2000" b="0">
              <a:solidFill>
                <a:srgbClr val="910000"/>
              </a:solidFill>
              <a:latin typeface="微软雅黑" panose="020B0503020204020204" pitchFamily="34" charset="-122"/>
            </a:endParaRP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2000" b="0">
                <a:solidFill>
                  <a:srgbClr val="910000"/>
                </a:solidFill>
                <a:latin typeface="微软雅黑" panose="020B0503020204020204" pitchFamily="34" charset="-122"/>
              </a:rPr>
              <a:t>Keywords / Tags：关键词与类别标签</a:t>
            </a:r>
            <a:endParaRPr sz="2000" b="0">
              <a:solidFill>
                <a:srgbClr val="910000"/>
              </a:solidFill>
              <a:latin typeface="微软雅黑" panose="020B0503020204020204" pitchFamily="34" charset="-122"/>
            </a:endParaRP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2000" b="0">
                <a:solidFill>
                  <a:srgbClr val="910000"/>
                </a:solidFill>
                <a:latin typeface="微软雅黑" panose="020B0503020204020204" pitchFamily="34" charset="-122"/>
              </a:rPr>
              <a:t>Timestamp：交互时间</a:t>
            </a:r>
            <a:endParaRPr sz="2000" b="0">
              <a:solidFill>
                <a:srgbClr val="910000"/>
              </a:solidFill>
              <a:latin typeface="微软雅黑" panose="020B0503020204020204" pitchFamily="34" charset="-122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2000" b="0">
                <a:solidFill>
                  <a:srgbClr val="910000"/>
                </a:solidFill>
                <a:latin typeface="微软雅黑" panose="020B0503020204020204" pitchFamily="34" charset="-122"/>
              </a:rPr>
              <a:t>Embedding：用于相似性检索与 Link Generation</a:t>
            </a:r>
            <a:endParaRPr sz="2000" b="0">
              <a:solidFill>
                <a:srgbClr val="910000"/>
              </a:solidFill>
              <a:latin typeface="微软雅黑" panose="020B0503020204020204" pitchFamily="34" charset="-122"/>
            </a:endParaRP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2000" b="1">
                <a:solidFill>
                  <a:srgbClr val="2D2D2D"/>
                </a:solidFill>
                <a:latin typeface="微软雅黑" panose="020B0503020204020204" pitchFamily="34" charset="-122"/>
              </a:rPr>
              <a:t>最终得到：丰富的语义表示 + 可检索的向量表示</a:t>
            </a:r>
            <a:endParaRPr sz="2000" b="1">
              <a:solidFill>
                <a:srgbClr val="2D2D2D"/>
              </a:solidFill>
              <a:latin typeface="微软雅黑" panose="020B0503020204020204" pitchFamily="3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537960" y="1417320"/>
            <a:ext cx="4617720" cy="530352"/>
          </a:xfrm>
          <a:prstGeom prst="roundRect">
            <a:avLst/>
          </a:prstGeom>
          <a:solidFill>
            <a:srgbClr val="F5F5F5"/>
          </a:solidFill>
          <a:ln w="15240">
            <a:solidFill>
              <a:srgbClr val="91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910000"/>
                </a:solidFill>
                <a:latin typeface="微软雅黑" panose="020B0503020204020204" pitchFamily="34" charset="-122"/>
              </a:rPr>
              <a:t>Memory Note</a:t>
            </a:r>
            <a:endParaRPr sz="2000" b="1">
              <a:solidFill>
                <a:srgbClr val="91000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537960" y="2057400"/>
            <a:ext cx="4617720" cy="5303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2000" b="0">
                <a:solidFill>
                  <a:srgbClr val="2D2D2D"/>
                </a:solidFill>
                <a:latin typeface="微软雅黑" panose="020B0503020204020204" pitchFamily="34" charset="-122"/>
              </a:rPr>
              <a:t>Content</a:t>
            </a:r>
            <a:endParaRPr sz="2000" b="0">
              <a:solidFill>
                <a:srgbClr val="2D2D2D"/>
              </a:solidFill>
              <a:latin typeface="微软雅黑" panose="020B0503020204020204" pitchFamily="3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537960" y="2697480"/>
            <a:ext cx="4617720" cy="5303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2000" b="0">
                <a:solidFill>
                  <a:srgbClr val="2D2D2D"/>
                </a:solidFill>
                <a:latin typeface="微软雅黑" panose="020B0503020204020204" pitchFamily="34" charset="-122"/>
              </a:rPr>
              <a:t>Context</a:t>
            </a:r>
            <a:endParaRPr sz="2000" b="0">
              <a:solidFill>
                <a:srgbClr val="2D2D2D"/>
              </a:solidFill>
              <a:latin typeface="微软雅黑" panose="020B0503020204020204" pitchFamily="3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537960" y="3337560"/>
            <a:ext cx="4617720" cy="5303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2000" b="0">
                <a:solidFill>
                  <a:srgbClr val="2D2D2D"/>
                </a:solidFill>
                <a:latin typeface="微软雅黑" panose="020B0503020204020204" pitchFamily="34" charset="-122"/>
              </a:rPr>
              <a:t>Keywords + Tags</a:t>
            </a:r>
            <a:endParaRPr sz="2000" b="0">
              <a:solidFill>
                <a:srgbClr val="2D2D2D"/>
              </a:solidFill>
              <a:latin typeface="微软雅黑" panose="020B0503020204020204" pitchFamily="3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537960" y="3977639"/>
            <a:ext cx="4617720" cy="5303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2000" b="0">
                <a:solidFill>
                  <a:srgbClr val="2D2D2D"/>
                </a:solidFill>
                <a:latin typeface="微软雅黑" panose="020B0503020204020204" pitchFamily="34" charset="-122"/>
              </a:rPr>
              <a:t>Timestamp</a:t>
            </a:r>
            <a:endParaRPr sz="2000" b="0">
              <a:solidFill>
                <a:srgbClr val="2D2D2D"/>
              </a:solidFill>
              <a:latin typeface="微软雅黑" panose="020B0503020204020204" pitchFamily="3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6537960" y="4617720"/>
            <a:ext cx="4617720" cy="5303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2000" b="0">
                <a:solidFill>
                  <a:srgbClr val="2D2D2D"/>
                </a:solidFill>
                <a:latin typeface="微软雅黑" panose="020B0503020204020204" pitchFamily="34" charset="-122"/>
              </a:rPr>
              <a:t>Embedding</a:t>
            </a:r>
            <a:endParaRPr sz="2000" b="0">
              <a:solidFill>
                <a:srgbClr val="2D2D2D"/>
              </a:solidFill>
              <a:latin typeface="微软雅黑" panose="020B0503020204020204" pitchFamily="3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474653" y="5285232"/>
            <a:ext cx="6744335" cy="3987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5F5F5F"/>
                </a:solidFill>
                <a:latin typeface="微软雅黑" panose="020B0503020204020204" pitchFamily="34" charset="-122"/>
              </a:rPr>
              <a:t>LLM enriches raw interaction into a structured note</a:t>
            </a:r>
            <a:endParaRPr sz="2000" b="1">
              <a:solidFill>
                <a:srgbClr val="5F5F5F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cover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灯片编号占位符 1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126B9-07AC-4BAF-B3D7-FAC1D3999DA4}" type="slidenum">
              <a:rPr lang="zh-CN" altLang="en-US" smtClean="0">
                <a:latin typeface="Times New Roman" panose="02020603050405020304" charset="0"/>
              </a:rPr>
            </a:fld>
            <a:endParaRPr lang="zh-CN" altLang="en-US" dirty="0" smtClean="0">
              <a:latin typeface="Times New Roman" panose="02020603050405020304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233805" y="356870"/>
            <a:ext cx="34112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accent6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Design Details</a:t>
            </a:r>
            <a:endParaRPr lang="en-US" altLang="zh-CN" sz="2400" dirty="0">
              <a:solidFill>
                <a:schemeClr val="accent6">
                  <a:lumMod val="1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pitchFamily="49" charset="-122"/>
              <a:sym typeface="+mn-ea"/>
            </a:endParaRPr>
          </a:p>
        </p:txBody>
      </p:sp>
      <p:sp>
        <p:nvSpPr>
          <p:cNvPr id="15" name="任意多边形 14"/>
          <p:cNvSpPr/>
          <p:nvPr/>
        </p:nvSpPr>
        <p:spPr>
          <a:xfrm flipH="1">
            <a:off x="1341487" y="780336"/>
            <a:ext cx="2853178" cy="45719"/>
          </a:xfrm>
          <a:custGeom>
            <a:avLst/>
            <a:gdLst>
              <a:gd name="connsiteX0" fmla="*/ 7977051 w 7977051"/>
              <a:gd name="connsiteY0" fmla="*/ 0 h 31619"/>
              <a:gd name="connsiteX1" fmla="*/ 0 w 7977051"/>
              <a:gd name="connsiteY1" fmla="*/ 0 h 31619"/>
              <a:gd name="connsiteX2" fmla="*/ 0 w 7977051"/>
              <a:gd name="connsiteY2" fmla="*/ 31619 h 31619"/>
              <a:gd name="connsiteX3" fmla="*/ 7977051 w 7977051"/>
              <a:gd name="connsiteY3" fmla="*/ 31619 h 31619"/>
              <a:gd name="connsiteX4" fmla="*/ 7977051 w 7977051"/>
              <a:gd name="connsiteY4" fmla="*/ 15810 h 316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977051" h="31619">
                <a:moveTo>
                  <a:pt x="7977051" y="0"/>
                </a:moveTo>
                <a:lnTo>
                  <a:pt x="0" y="0"/>
                </a:lnTo>
                <a:lnTo>
                  <a:pt x="0" y="31619"/>
                </a:lnTo>
                <a:lnTo>
                  <a:pt x="7977051" y="31619"/>
                </a:lnTo>
                <a:lnTo>
                  <a:pt x="7977051" y="1581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902" y="364144"/>
            <a:ext cx="812064" cy="812064"/>
          </a:xfrm>
          <a:prstGeom prst="rect">
            <a:avLst/>
          </a:prstGeom>
        </p:spPr>
      </p:pic>
      <p:sp>
        <p:nvSpPr>
          <p:cNvPr id="4" name="内容占位符 2"/>
          <p:cNvSpPr>
            <a:spLocks noGrp="1"/>
          </p:cNvSpPr>
          <p:nvPr/>
        </p:nvSpPr>
        <p:spPr>
          <a:xfrm>
            <a:off x="868680" y="1051560"/>
            <a:ext cx="5440680" cy="5257800"/>
          </a:xfrm>
          <a:prstGeom prst="rect">
            <a:avLst/>
          </a:prstGeom>
        </p:spPr>
        <p:txBody>
          <a:bodyPr vert="horz" wrap="square" lIns="73152" rIns="45720" rtlCol="0" anchor="t">
            <a:normAutofit lnSpcReduction="10000"/>
          </a:bodyPr>
          <a:lstStyle>
            <a:lvl1pPr marL="273050" indent="-273050" algn="l" defTabSz="385445" rtl="0" eaLnBrk="1" latinLnBrk="0" hangingPunct="1">
              <a:lnSpc>
                <a:spcPct val="12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sz="2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546100" indent="-355600" algn="l" defTabSz="385445" rtl="0" eaLnBrk="1" latinLnBrk="0" hangingPunct="1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Ø"/>
              <a:defRPr sz="2400" kern="120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668655" indent="-282575" algn="l" defTabSz="385445" rtl="0" eaLnBrk="1" latinLnBrk="0" hangingPunct="1">
              <a:lnSpc>
                <a:spcPct val="120000"/>
              </a:lnSpc>
              <a:spcBef>
                <a:spcPts val="300"/>
              </a:spcBef>
              <a:buSzPct val="50000"/>
              <a:buFont typeface="Wingdings" panose="05000000000000000000" pitchFamily="2" charset="2"/>
              <a:buChar char="l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846455" indent="-268605" algn="l" defTabSz="385445" rtl="0" eaLnBrk="1" latinLnBrk="0" hangingPunct="1">
              <a:lnSpc>
                <a:spcPct val="12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1078230" indent="-307975" algn="l" defTabSz="385445" rtl="0" eaLnBrk="1" latinLnBrk="0" hangingPunct="1">
              <a:lnSpc>
                <a:spcPct val="12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1061085" indent="-96520" algn="l" defTabSz="38544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84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53490" indent="-96520" algn="l" defTabSz="38544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84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46530" indent="-96520" algn="l" defTabSz="38544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84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39570" indent="-96520" algn="l" defTabSz="38544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84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0000"/>
              </a:lnSpc>
              <a:spcAft>
                <a:spcPts val="600"/>
              </a:spcAft>
              <a:buClrTx/>
              <a:buSzTx/>
              <a:buNone/>
            </a:pPr>
            <a:r>
              <a:rPr sz="2400" b="1">
                <a:solidFill>
                  <a:srgbClr val="910000"/>
                </a:solidFill>
                <a:latin typeface="微软雅黑" panose="020B0503020204020204" pitchFamily="34" charset="-122"/>
              </a:rPr>
              <a:t>Link Generation</a:t>
            </a:r>
            <a:endParaRPr lang="en-US" sz="2600">
              <a:solidFill>
                <a:schemeClr val="accent5"/>
              </a:solidFill>
              <a:sym typeface="+mn-ea"/>
            </a:endParaRP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2000" b="0">
                <a:solidFill>
                  <a:srgbClr val="910000"/>
                </a:solidFill>
                <a:latin typeface="微软雅黑" panose="020B0503020204020204" pitchFamily="34" charset="-122"/>
              </a:rPr>
              <a:t>① 根据 Embedding 检索 Top-k 历史</a:t>
            </a:r>
            <a:r>
              <a:rPr lang="zh-CN" sz="2000" b="0">
                <a:solidFill>
                  <a:srgbClr val="910000"/>
                </a:solidFill>
                <a:latin typeface="微软雅黑" panose="020B0503020204020204" pitchFamily="34" charset="-122"/>
              </a:rPr>
              <a:t>记忆</a:t>
            </a:r>
            <a:endParaRPr sz="2000" b="0">
              <a:solidFill>
                <a:srgbClr val="910000"/>
              </a:solidFill>
              <a:latin typeface="微软雅黑" panose="020B0503020204020204" pitchFamily="34" charset="-122"/>
            </a:endParaRP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2000" b="0">
                <a:solidFill>
                  <a:srgbClr val="910000"/>
                </a:solidFill>
                <a:latin typeface="微软雅黑" panose="020B0503020204020204" pitchFamily="34" charset="-122"/>
              </a:rPr>
              <a:t>② 使用 LLM 判断新旧</a:t>
            </a:r>
            <a:r>
              <a:rPr lang="zh-CN" altLang="en-US" sz="2000" b="0">
                <a:solidFill>
                  <a:srgbClr val="910000"/>
                </a:solidFill>
                <a:latin typeface="微软雅黑" panose="020B0503020204020204" pitchFamily="34" charset="-122"/>
              </a:rPr>
              <a:t>记忆</a:t>
            </a:r>
            <a:r>
              <a:rPr sz="2000" b="0">
                <a:solidFill>
                  <a:srgbClr val="910000"/>
                </a:solidFill>
                <a:latin typeface="微软雅黑" panose="020B0503020204020204" pitchFamily="34" charset="-122"/>
              </a:rPr>
              <a:t>是否存在有意义的联系</a:t>
            </a:r>
            <a:endParaRPr sz="2000" b="0">
              <a:solidFill>
                <a:srgbClr val="910000"/>
              </a:solidFill>
              <a:latin typeface="微软雅黑" panose="020B0503020204020204" pitchFamily="34" charset="-122"/>
            </a:endParaRPr>
          </a:p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2000" b="0">
                <a:solidFill>
                  <a:srgbClr val="910000"/>
                </a:solidFill>
                <a:latin typeface="微软雅黑" panose="020B0503020204020204" pitchFamily="34" charset="-122"/>
              </a:rPr>
              <a:t>③ 建立 Link，使相关</a:t>
            </a:r>
            <a:r>
              <a:rPr lang="zh-CN" sz="2000" b="0">
                <a:solidFill>
                  <a:srgbClr val="910000"/>
                </a:solidFill>
                <a:latin typeface="微软雅黑" panose="020B0503020204020204" pitchFamily="34" charset="-122"/>
              </a:rPr>
              <a:t>记忆</a:t>
            </a:r>
            <a:r>
              <a:rPr sz="2000" b="0">
                <a:solidFill>
                  <a:srgbClr val="910000"/>
                </a:solidFill>
                <a:latin typeface="微软雅黑" panose="020B0503020204020204" pitchFamily="34" charset="-122"/>
              </a:rPr>
              <a:t>形成可扩展的</a:t>
            </a:r>
            <a:r>
              <a:rPr sz="2000" b="1">
                <a:solidFill>
                  <a:srgbClr val="910000"/>
                </a:solidFill>
                <a:latin typeface="微软雅黑" panose="020B0503020204020204" pitchFamily="34" charset="-122"/>
              </a:rPr>
              <a:t>“Box”</a:t>
            </a:r>
            <a:r>
              <a:rPr lang="en-US" sz="2000" b="0">
                <a:solidFill>
                  <a:srgbClr val="910000"/>
                </a:solidFill>
                <a:latin typeface="微软雅黑" panose="020B0503020204020204" pitchFamily="34" charset="-122"/>
              </a:rPr>
              <a:t>(</a:t>
            </a:r>
            <a:r>
              <a:rPr lang="zh-CN" altLang="en-US" sz="2000" b="0">
                <a:solidFill>
                  <a:srgbClr val="910000"/>
                </a:solidFill>
                <a:latin typeface="微软雅黑" panose="020B0503020204020204" pitchFamily="34" charset="-122"/>
              </a:rPr>
              <a:t>由语义相关的</a:t>
            </a:r>
            <a:r>
              <a:rPr lang="zh-CN" altLang="en-US" sz="2000" b="0">
                <a:solidFill>
                  <a:srgbClr val="910000"/>
                </a:solidFill>
                <a:latin typeface="微软雅黑" panose="020B0503020204020204" pitchFamily="34" charset="-122"/>
              </a:rPr>
              <a:t>记忆通过动态链接形成的局部关联结构</a:t>
            </a:r>
            <a:r>
              <a:rPr lang="en-US" sz="2000" b="0">
                <a:solidFill>
                  <a:srgbClr val="910000"/>
                </a:solidFill>
                <a:latin typeface="微软雅黑" panose="020B0503020204020204" pitchFamily="34" charset="-122"/>
              </a:rPr>
              <a:t>)</a:t>
            </a:r>
            <a:endParaRPr sz="2000" b="0">
              <a:solidFill>
                <a:srgbClr val="910000"/>
              </a:solidFill>
              <a:latin typeface="微软雅黑" panose="020B0503020204020204" pitchFamily="34" charset="-122"/>
            </a:endParaRP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2400" b="1">
                <a:solidFill>
                  <a:srgbClr val="910000"/>
                </a:solidFill>
                <a:latin typeface="微软雅黑" panose="020B0503020204020204" pitchFamily="34" charset="-122"/>
              </a:rPr>
              <a:t>Memory Evolution</a:t>
            </a:r>
            <a:endParaRPr sz="2400" b="1">
              <a:solidFill>
                <a:srgbClr val="910000"/>
              </a:solidFill>
              <a:latin typeface="微软雅黑" panose="020B0503020204020204" pitchFamily="34" charset="-122"/>
            </a:endParaRPr>
          </a:p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2000" b="0">
                <a:solidFill>
                  <a:srgbClr val="910000"/>
                </a:solidFill>
                <a:latin typeface="微软雅黑" panose="020B0503020204020204" pitchFamily="34" charset="-122"/>
              </a:rPr>
              <a:t>新</a:t>
            </a:r>
            <a:r>
              <a:rPr lang="zh-CN" sz="2000" b="0">
                <a:solidFill>
                  <a:srgbClr val="910000"/>
                </a:solidFill>
                <a:latin typeface="微软雅黑" panose="020B0503020204020204" pitchFamily="34" charset="-122"/>
              </a:rPr>
              <a:t>记忆</a:t>
            </a:r>
            <a:r>
              <a:rPr sz="2000" b="0">
                <a:solidFill>
                  <a:srgbClr val="910000"/>
                </a:solidFill>
                <a:latin typeface="微软雅黑" panose="020B0503020204020204" pitchFamily="34" charset="-122"/>
              </a:rPr>
              <a:t>可触发相关历史 Memory 的 Context、Keywords、Tags </a:t>
            </a:r>
            <a:r>
              <a:rPr lang="zh-CN" sz="2000" b="0">
                <a:solidFill>
                  <a:srgbClr val="910000"/>
                </a:solidFill>
                <a:latin typeface="微软雅黑" panose="020B0503020204020204" pitchFamily="34" charset="-122"/>
              </a:rPr>
              <a:t>属性</a:t>
            </a:r>
            <a:r>
              <a:rPr sz="2000" b="0">
                <a:solidFill>
                  <a:srgbClr val="910000"/>
                </a:solidFill>
                <a:latin typeface="微软雅黑" panose="020B0503020204020204" pitchFamily="34" charset="-122"/>
              </a:rPr>
              <a:t>更新</a:t>
            </a:r>
            <a:endParaRPr sz="2000" b="0">
              <a:solidFill>
                <a:srgbClr val="910000"/>
              </a:solidFill>
              <a:latin typeface="微软雅黑" panose="020B0503020204020204" pitchFamily="34" charset="-122"/>
            </a:endParaRP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2400" b="1">
                <a:solidFill>
                  <a:srgbClr val="910000"/>
                </a:solidFill>
                <a:latin typeface="微软雅黑" panose="020B0503020204020204" pitchFamily="34" charset="-122"/>
              </a:rPr>
              <a:t>Memory Retrieval</a:t>
            </a:r>
            <a:endParaRPr sz="2400" b="1">
              <a:solidFill>
                <a:srgbClr val="910000"/>
              </a:solidFill>
              <a:latin typeface="微软雅黑" panose="020B0503020204020204" pitchFamily="34" charset="-122"/>
            </a:endParaRP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lang="zh-CN" sz="2000" b="0">
                <a:solidFill>
                  <a:srgbClr val="910000"/>
                </a:solidFill>
                <a:latin typeface="微软雅黑" panose="020B0503020204020204" pitchFamily="34" charset="-122"/>
              </a:rPr>
              <a:t>查询</a:t>
            </a:r>
            <a:r>
              <a:rPr sz="2000" b="0">
                <a:solidFill>
                  <a:srgbClr val="910000"/>
                </a:solidFill>
                <a:latin typeface="微软雅黑" panose="020B0503020204020204" pitchFamily="34" charset="-122"/>
              </a:rPr>
              <a:t>→ Embedding → Top-k Memory → 关联 Memory → Agent</a:t>
            </a:r>
            <a:endParaRPr sz="2000" b="0">
              <a:solidFill>
                <a:srgbClr val="91000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789420" y="1417320"/>
            <a:ext cx="1325880" cy="566928"/>
          </a:xfrm>
          <a:prstGeom prst="roundRect">
            <a:avLst/>
          </a:prstGeom>
          <a:solidFill>
            <a:srgbClr val="F5F5F5"/>
          </a:solidFill>
          <a:ln w="15240">
            <a:solidFill>
              <a:srgbClr val="91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910000"/>
                </a:solidFill>
                <a:latin typeface="微软雅黑" panose="020B0503020204020204" pitchFamily="34" charset="-122"/>
              </a:rPr>
              <a:t>New M</a:t>
            </a:r>
            <a:endParaRPr sz="2000" b="1">
              <a:solidFill>
                <a:srgbClr val="91000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572500" y="1417320"/>
            <a:ext cx="1325880" cy="5669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0">
                <a:solidFill>
                  <a:srgbClr val="2D2D2D"/>
                </a:solidFill>
                <a:latin typeface="微软雅黑" panose="020B0503020204020204" pitchFamily="34" charset="-122"/>
              </a:rPr>
              <a:t>M1</a:t>
            </a:r>
            <a:endParaRPr sz="2000" b="0">
              <a:solidFill>
                <a:srgbClr val="2D2D2D"/>
              </a:solidFill>
              <a:latin typeface="微软雅黑" panose="020B0503020204020204" pitchFamily="3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10355580" y="1417320"/>
            <a:ext cx="1325880" cy="5669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0">
                <a:solidFill>
                  <a:srgbClr val="2D2D2D"/>
                </a:solidFill>
                <a:latin typeface="微软雅黑" panose="020B0503020204020204" pitchFamily="34" charset="-122"/>
              </a:rPr>
              <a:t>M2</a:t>
            </a:r>
            <a:endParaRPr sz="2000" b="0">
              <a:solidFill>
                <a:srgbClr val="2D2D2D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20" name="Connector 19"/>
          <p:cNvCxnSpPr/>
          <p:nvPr/>
        </p:nvCxnSpPr>
        <p:spPr>
          <a:xfrm>
            <a:off x="8115300" y="1700784"/>
            <a:ext cx="384048" cy="0"/>
          </a:xfrm>
          <a:prstGeom prst="line">
            <a:avLst/>
          </a:prstGeom>
          <a:ln w="19050">
            <a:solidFill>
              <a:srgbClr val="91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898380" y="1700784"/>
            <a:ext cx="384048" cy="0"/>
          </a:xfrm>
          <a:prstGeom prst="line">
            <a:avLst/>
          </a:prstGeom>
          <a:ln w="19050">
            <a:solidFill>
              <a:srgbClr val="91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590983" y="2084831"/>
            <a:ext cx="5243195" cy="3987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5F5F5F"/>
                </a:solidFill>
                <a:latin typeface="微软雅黑" panose="020B0503020204020204" pitchFamily="34" charset="-122"/>
              </a:rPr>
              <a:t>Top-k Retrieval + LLM Relation Analysis</a:t>
            </a:r>
            <a:endParaRPr sz="2000" b="1">
              <a:solidFill>
                <a:srgbClr val="5F5F5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972300" y="2880360"/>
            <a:ext cx="1828800" cy="7132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0">
                <a:solidFill>
                  <a:srgbClr val="2D2D2D"/>
                </a:solidFill>
                <a:latin typeface="微软雅黑" panose="020B0503020204020204" pitchFamily="34" charset="-122"/>
              </a:rPr>
              <a:t>Old M1</a:t>
            </a:r>
            <a:br>
              <a:rPr sz="2000" b="0">
                <a:solidFill>
                  <a:srgbClr val="2D2D2D"/>
                </a:solidFill>
                <a:latin typeface="微软雅黑" panose="020B0503020204020204" pitchFamily="34" charset="-122"/>
              </a:rPr>
            </a:br>
            <a:r>
              <a:rPr sz="2000" b="0">
                <a:solidFill>
                  <a:srgbClr val="2D2D2D"/>
                </a:solidFill>
                <a:latin typeface="微软雅黑" panose="020B0503020204020204" pitchFamily="34" charset="-122"/>
              </a:rPr>
              <a:t>Context: …</a:t>
            </a:r>
            <a:endParaRPr sz="2000" b="0">
              <a:solidFill>
                <a:srgbClr val="2D2D2D"/>
              </a:solidFill>
              <a:latin typeface="微软雅黑" panose="020B0503020204020204" pitchFamily="34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9999345" y="2880360"/>
            <a:ext cx="1828800" cy="713232"/>
          </a:xfrm>
          <a:prstGeom prst="roundRect">
            <a:avLst/>
          </a:prstGeom>
          <a:solidFill>
            <a:srgbClr val="F5F5F5"/>
          </a:solidFill>
          <a:ln w="15240">
            <a:solidFill>
              <a:srgbClr val="91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0">
                <a:solidFill>
                  <a:srgbClr val="2D2D2D"/>
                </a:solidFill>
                <a:latin typeface="微软雅黑" panose="020B0503020204020204" pitchFamily="34" charset="-122"/>
              </a:rPr>
              <a:t>Updated M1</a:t>
            </a:r>
            <a:br>
              <a:rPr sz="2000" b="0">
                <a:solidFill>
                  <a:srgbClr val="2D2D2D"/>
                </a:solidFill>
                <a:latin typeface="微软雅黑" panose="020B0503020204020204" pitchFamily="34" charset="-122"/>
              </a:rPr>
            </a:br>
            <a:r>
              <a:rPr sz="2000" b="0">
                <a:solidFill>
                  <a:srgbClr val="2D2D2D"/>
                </a:solidFill>
                <a:latin typeface="微软雅黑" panose="020B0503020204020204" pitchFamily="34" charset="-122"/>
              </a:rPr>
              <a:t>Context: …</a:t>
            </a:r>
            <a:endParaRPr sz="2000" b="0">
              <a:solidFill>
                <a:srgbClr val="2D2D2D"/>
              </a:solidFill>
              <a:latin typeface="微软雅黑" panose="020B0503020204020204" pitchFamily="3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850948" y="2822067"/>
            <a:ext cx="1005205" cy="3987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910000"/>
                </a:solidFill>
                <a:latin typeface="微软雅黑" panose="020B0503020204020204" pitchFamily="34" charset="-122"/>
              </a:rPr>
              <a:t>Evolve</a:t>
            </a:r>
            <a:endParaRPr sz="2000" b="1">
              <a:solidFill>
                <a:srgbClr val="910000"/>
              </a:solidFill>
              <a:latin typeface="微软雅黑" panose="020B0503020204020204" pitchFamily="34" charset="-122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6972300" y="4241800"/>
            <a:ext cx="1508760" cy="631825"/>
          </a:xfrm>
          <a:prstGeom prst="roundRect">
            <a:avLst/>
          </a:prstGeom>
          <a:solidFill>
            <a:srgbClr val="F5F5F5"/>
          </a:solidFill>
          <a:ln w="1524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2D2D2D"/>
                </a:solidFill>
                <a:latin typeface="微软雅黑" panose="020B0503020204020204" pitchFamily="34" charset="-122"/>
              </a:rPr>
              <a:t>Query</a:t>
            </a:r>
            <a:endParaRPr sz="2000" b="1">
              <a:solidFill>
                <a:srgbClr val="2D2D2D"/>
              </a:solidFill>
              <a:latin typeface="微软雅黑" panose="020B0503020204020204" pitchFamily="34" charset="-122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8755380" y="4241800"/>
            <a:ext cx="1508760" cy="631825"/>
          </a:xfrm>
          <a:prstGeom prst="roundRect">
            <a:avLst/>
          </a:prstGeom>
          <a:solidFill>
            <a:srgbClr val="F5F5F5"/>
          </a:solidFill>
          <a:ln w="1524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2D2D2D"/>
                </a:solidFill>
                <a:latin typeface="微软雅黑" panose="020B0503020204020204" pitchFamily="34" charset="-122"/>
              </a:rPr>
              <a:t>Top-k</a:t>
            </a:r>
            <a:endParaRPr sz="2000" b="1">
              <a:solidFill>
                <a:srgbClr val="2D2D2D"/>
              </a:solidFill>
              <a:latin typeface="微软雅黑" panose="020B0503020204020204" pitchFamily="34" charset="-122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10538460" y="4241800"/>
            <a:ext cx="1508760" cy="631825"/>
          </a:xfrm>
          <a:prstGeom prst="roundRect">
            <a:avLst/>
          </a:prstGeom>
          <a:solidFill>
            <a:srgbClr val="F5F5F5"/>
          </a:solidFill>
          <a:ln w="1524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2D2D2D"/>
                </a:solidFill>
                <a:latin typeface="微软雅黑" panose="020B0503020204020204" pitchFamily="34" charset="-122"/>
              </a:rPr>
              <a:t>Relative Memory</a:t>
            </a:r>
            <a:endParaRPr sz="2000" b="1">
              <a:solidFill>
                <a:srgbClr val="2D2D2D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30" name="Connector 29"/>
          <p:cNvCxnSpPr/>
          <p:nvPr/>
        </p:nvCxnSpPr>
        <p:spPr>
          <a:xfrm>
            <a:off x="8481060" y="4608576"/>
            <a:ext cx="228600" cy="0"/>
          </a:xfrm>
          <a:prstGeom prst="line">
            <a:avLst/>
          </a:prstGeom>
          <a:ln w="19050">
            <a:solidFill>
              <a:srgbClr val="91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0264140" y="4608576"/>
            <a:ext cx="228600" cy="0"/>
          </a:xfrm>
          <a:prstGeom prst="line">
            <a:avLst/>
          </a:prstGeom>
          <a:ln w="19050">
            <a:solidFill>
              <a:srgbClr val="91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7431405" y="5074920"/>
            <a:ext cx="4156710" cy="70675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2D2D2D"/>
                </a:solidFill>
                <a:latin typeface="微软雅黑" panose="020B0503020204020204" pitchFamily="34" charset="-122"/>
              </a:rPr>
              <a:t>检索到一个 Memory 后，</a:t>
            </a:r>
            <a:endParaRPr sz="2000" b="1">
              <a:solidFill>
                <a:srgbClr val="2D2D2D"/>
              </a:solidFill>
              <a:latin typeface="微软雅黑" panose="020B0503020204020204" pitchFamily="34" charset="-122"/>
            </a:endParaRPr>
          </a:p>
          <a:p>
            <a:pPr algn="ctr"/>
            <a:r>
              <a:rPr sz="2000" b="1">
                <a:solidFill>
                  <a:srgbClr val="2D2D2D"/>
                </a:solidFill>
                <a:latin typeface="微软雅黑" panose="020B0503020204020204" pitchFamily="34" charset="-122"/>
              </a:rPr>
              <a:t>同时访问与其关联的相关 Memory</a:t>
            </a:r>
            <a:endParaRPr sz="2000" b="1">
              <a:solidFill>
                <a:srgbClr val="2D2D2D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2" name="直接箭头连接符 1"/>
          <p:cNvCxnSpPr>
            <a:stCxn id="23" idx="3"/>
            <a:endCxn id="24" idx="1"/>
          </p:cNvCxnSpPr>
          <p:nvPr/>
        </p:nvCxnSpPr>
        <p:spPr>
          <a:xfrm>
            <a:off x="8801100" y="3237230"/>
            <a:ext cx="1198245" cy="0"/>
          </a:xfrm>
          <a:prstGeom prst="straightConnector1">
            <a:avLst/>
          </a:prstGeom>
          <a:ln w="19050">
            <a:solidFill>
              <a:srgbClr val="91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cover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灯片编号占位符 1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126B9-07AC-4BAF-B3D7-FAC1D3999DA4}" type="slidenum">
              <a:rPr lang="zh-CN" altLang="en-US" smtClean="0">
                <a:latin typeface="Times New Roman" panose="02020603050405020304" charset="0"/>
              </a:rPr>
            </a:fld>
            <a:endParaRPr lang="zh-CN" altLang="en-US" dirty="0" smtClean="0">
              <a:latin typeface="Times New Roman" panose="02020603050405020304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233556" y="357012"/>
            <a:ext cx="6569324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accent6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Evaluation Design</a:t>
            </a:r>
            <a:endParaRPr lang="zh-CN" altLang="en-US" sz="2400">
              <a:solidFill>
                <a:schemeClr val="accent6">
                  <a:lumMod val="1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5" name="任意多边形 14"/>
          <p:cNvSpPr/>
          <p:nvPr/>
        </p:nvSpPr>
        <p:spPr>
          <a:xfrm flipH="1">
            <a:off x="1341487" y="780336"/>
            <a:ext cx="2853178" cy="45719"/>
          </a:xfrm>
          <a:custGeom>
            <a:avLst/>
            <a:gdLst>
              <a:gd name="connsiteX0" fmla="*/ 7977051 w 7977051"/>
              <a:gd name="connsiteY0" fmla="*/ 0 h 31619"/>
              <a:gd name="connsiteX1" fmla="*/ 0 w 7977051"/>
              <a:gd name="connsiteY1" fmla="*/ 0 h 31619"/>
              <a:gd name="connsiteX2" fmla="*/ 0 w 7977051"/>
              <a:gd name="connsiteY2" fmla="*/ 31619 h 31619"/>
              <a:gd name="connsiteX3" fmla="*/ 7977051 w 7977051"/>
              <a:gd name="connsiteY3" fmla="*/ 31619 h 31619"/>
              <a:gd name="connsiteX4" fmla="*/ 7977051 w 7977051"/>
              <a:gd name="connsiteY4" fmla="*/ 15810 h 316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977051" h="31619">
                <a:moveTo>
                  <a:pt x="7977051" y="0"/>
                </a:moveTo>
                <a:lnTo>
                  <a:pt x="0" y="0"/>
                </a:lnTo>
                <a:lnTo>
                  <a:pt x="0" y="31619"/>
                </a:lnTo>
                <a:lnTo>
                  <a:pt x="7977051" y="31619"/>
                </a:lnTo>
                <a:lnTo>
                  <a:pt x="7977051" y="1581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902" y="364144"/>
            <a:ext cx="812064" cy="812064"/>
          </a:xfrm>
          <a:prstGeom prst="rect">
            <a:avLst/>
          </a:prstGeom>
        </p:spPr>
      </p:pic>
      <p:sp>
        <p:nvSpPr>
          <p:cNvPr id="12" name="内容占位符 2"/>
          <p:cNvSpPr>
            <a:spLocks noGrp="1"/>
          </p:cNvSpPr>
          <p:nvPr/>
        </p:nvSpPr>
        <p:spPr>
          <a:xfrm>
            <a:off x="1009015" y="1141730"/>
            <a:ext cx="10427970" cy="5088255"/>
          </a:xfrm>
          <a:prstGeom prst="rect">
            <a:avLst/>
          </a:prstGeom>
        </p:spPr>
        <p:txBody>
          <a:bodyPr vert="horz" wrap="square" lIns="73152" rIns="45720" rtlCol="0" anchor="t">
            <a:normAutofit/>
          </a:bodyPr>
          <a:lstStyle>
            <a:lvl1pPr marL="273050" indent="-273050" algn="l" defTabSz="385445" rtl="0" eaLnBrk="1" latinLnBrk="0" hangingPunct="1">
              <a:lnSpc>
                <a:spcPct val="12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sz="2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546100" indent="-355600" algn="l" defTabSz="385445" rtl="0" eaLnBrk="1" latinLnBrk="0" hangingPunct="1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Ø"/>
              <a:defRPr sz="2400" kern="120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668655" indent="-282575" algn="l" defTabSz="385445" rtl="0" eaLnBrk="1" latinLnBrk="0" hangingPunct="1">
              <a:lnSpc>
                <a:spcPct val="120000"/>
              </a:lnSpc>
              <a:spcBef>
                <a:spcPts val="300"/>
              </a:spcBef>
              <a:buSzPct val="50000"/>
              <a:buFont typeface="Wingdings" panose="05000000000000000000" pitchFamily="2" charset="2"/>
              <a:buChar char="l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846455" indent="-268605" algn="l" defTabSz="385445" rtl="0" eaLnBrk="1" latinLnBrk="0" hangingPunct="1">
              <a:lnSpc>
                <a:spcPct val="12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1078230" indent="-307975" algn="l" defTabSz="385445" rtl="0" eaLnBrk="1" latinLnBrk="0" hangingPunct="1">
              <a:lnSpc>
                <a:spcPct val="12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1061085" indent="-96520" algn="l" defTabSz="38544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84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53490" indent="-96520" algn="l" defTabSz="38544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84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46530" indent="-96520" algn="l" defTabSz="38544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84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39570" indent="-96520" algn="l" defTabSz="38544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84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2000" b="0">
                <a:solidFill>
                  <a:srgbClr val="910000"/>
                </a:solidFill>
                <a:latin typeface="微软雅黑" panose="020B0503020204020204" pitchFamily="34" charset="-122"/>
              </a:rPr>
              <a:t>Benchmark：LoCoMo（</a:t>
            </a:r>
            <a:r>
              <a:rPr lang="zh-CN" altLang="en-US" sz="2000" b="0">
                <a:solidFill>
                  <a:srgbClr val="910000"/>
                </a:solidFill>
                <a:latin typeface="微软雅黑" panose="020B0503020204020204" pitchFamily="34" charset="-122"/>
              </a:rPr>
              <a:t>长期对话记忆评测基准，</a:t>
            </a:r>
            <a:r>
              <a:rPr sz="2000" b="0">
                <a:solidFill>
                  <a:srgbClr val="910000"/>
                </a:solidFill>
                <a:latin typeface="微软雅黑" panose="020B0503020204020204" pitchFamily="34" charset="-122"/>
              </a:rPr>
              <a:t>7,512 QA pairs</a:t>
            </a:r>
            <a:r>
              <a:rPr lang="zh-CN" sz="2000" b="0">
                <a:solidFill>
                  <a:srgbClr val="910000"/>
                </a:solidFill>
                <a:latin typeface="微软雅黑" panose="020B0503020204020204" pitchFamily="34" charset="-122"/>
              </a:rPr>
              <a:t>，</a:t>
            </a:r>
            <a:r>
              <a:rPr sz="2000" b="0">
                <a:solidFill>
                  <a:srgbClr val="910000"/>
                </a:solidFill>
                <a:latin typeface="微软雅黑" panose="020B0503020204020204" pitchFamily="34" charset="-122"/>
              </a:rPr>
              <a:t>5 类问题）</a:t>
            </a:r>
            <a:endParaRPr sz="2000" b="0">
              <a:solidFill>
                <a:srgbClr val="910000"/>
              </a:solidFill>
              <a:latin typeface="微软雅黑" panose="020B0503020204020204" pitchFamily="34" charset="-122"/>
            </a:endParaRP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900" b="0">
                <a:solidFill>
                  <a:srgbClr val="910000"/>
                </a:solidFill>
                <a:latin typeface="微软雅黑" panose="020B0503020204020204" pitchFamily="34" charset="-122"/>
              </a:rPr>
              <a:t>Question types：Single-hop / Multi-hop / Temporal / Open-domain / Adversarial</a:t>
            </a:r>
            <a:endParaRPr sz="1900" b="0">
              <a:solidFill>
                <a:srgbClr val="910000"/>
              </a:solidFill>
              <a:latin typeface="微软雅黑" panose="020B0503020204020204" pitchFamily="34" charset="-122"/>
            </a:endParaRP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2000" b="0">
                <a:solidFill>
                  <a:srgbClr val="910000"/>
                </a:solidFill>
                <a:latin typeface="微软雅黑" panose="020B0503020204020204" pitchFamily="34" charset="-122"/>
              </a:rPr>
              <a:t>Metrics：F1、BLEU-1；同时比较平均 Token Length</a:t>
            </a:r>
            <a:endParaRPr sz="2000" b="0">
              <a:solidFill>
                <a:srgbClr val="910000"/>
              </a:solidFill>
              <a:latin typeface="微软雅黑" panose="020B0503020204020204" pitchFamily="34" charset="-122"/>
            </a:endParaRP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2000" b="0">
                <a:solidFill>
                  <a:srgbClr val="910000"/>
                </a:solidFill>
                <a:latin typeface="微软雅黑" panose="020B0503020204020204" pitchFamily="34" charset="-122"/>
              </a:rPr>
              <a:t>Baselines：LoCoMo、ReadAgent、MemoryBank、MemGPT</a:t>
            </a:r>
            <a:endParaRPr sz="2000" b="0">
              <a:solidFill>
                <a:srgbClr val="910000"/>
              </a:solidFill>
              <a:latin typeface="微软雅黑" panose="020B0503020204020204" pitchFamily="34" charset="-122"/>
            </a:endParaRP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2000" b="0">
                <a:solidFill>
                  <a:srgbClr val="910000"/>
                </a:solidFill>
                <a:latin typeface="微软雅黑" panose="020B0503020204020204" pitchFamily="34" charset="-122"/>
              </a:rPr>
              <a:t>Models：6 个</a:t>
            </a:r>
            <a:r>
              <a:rPr lang="zh-CN" sz="2000" b="0">
                <a:solidFill>
                  <a:srgbClr val="910000"/>
                </a:solidFill>
                <a:latin typeface="微软雅黑" panose="020B0503020204020204" pitchFamily="34" charset="-122"/>
              </a:rPr>
              <a:t>基础</a:t>
            </a:r>
            <a:r>
              <a:rPr lang="zh-CN" sz="2000" b="0">
                <a:solidFill>
                  <a:srgbClr val="910000"/>
                </a:solidFill>
                <a:latin typeface="微软雅黑" panose="020B0503020204020204" pitchFamily="34" charset="-122"/>
              </a:rPr>
              <a:t>大模型</a:t>
            </a:r>
            <a:endParaRPr lang="zh-CN" sz="2000" b="0">
              <a:solidFill>
                <a:srgbClr val="910000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cover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灯片编号占位符 1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126B9-07AC-4BAF-B3D7-FAC1D3999DA4}" type="slidenum">
              <a:rPr lang="zh-CN" altLang="en-US" smtClean="0">
                <a:latin typeface="Times New Roman" panose="02020603050405020304" charset="0"/>
              </a:rPr>
            </a:fld>
            <a:endParaRPr lang="zh-CN" altLang="en-US" dirty="0" smtClean="0">
              <a:latin typeface="Times New Roman" panose="02020603050405020304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233556" y="357012"/>
            <a:ext cx="6569324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accent6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Evaluation Result</a:t>
            </a:r>
            <a:endParaRPr lang="en-US" altLang="zh-CN" sz="2400">
              <a:solidFill>
                <a:schemeClr val="accent6">
                  <a:lumMod val="1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5" name="任意多边形 14"/>
          <p:cNvSpPr/>
          <p:nvPr/>
        </p:nvSpPr>
        <p:spPr>
          <a:xfrm flipH="1">
            <a:off x="1341487" y="780336"/>
            <a:ext cx="2853178" cy="45719"/>
          </a:xfrm>
          <a:custGeom>
            <a:avLst/>
            <a:gdLst>
              <a:gd name="connsiteX0" fmla="*/ 7977051 w 7977051"/>
              <a:gd name="connsiteY0" fmla="*/ 0 h 31619"/>
              <a:gd name="connsiteX1" fmla="*/ 0 w 7977051"/>
              <a:gd name="connsiteY1" fmla="*/ 0 h 31619"/>
              <a:gd name="connsiteX2" fmla="*/ 0 w 7977051"/>
              <a:gd name="connsiteY2" fmla="*/ 31619 h 31619"/>
              <a:gd name="connsiteX3" fmla="*/ 7977051 w 7977051"/>
              <a:gd name="connsiteY3" fmla="*/ 31619 h 31619"/>
              <a:gd name="connsiteX4" fmla="*/ 7977051 w 7977051"/>
              <a:gd name="connsiteY4" fmla="*/ 15810 h 316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977051" h="31619">
                <a:moveTo>
                  <a:pt x="7977051" y="0"/>
                </a:moveTo>
                <a:lnTo>
                  <a:pt x="0" y="0"/>
                </a:lnTo>
                <a:lnTo>
                  <a:pt x="0" y="31619"/>
                </a:lnTo>
                <a:lnTo>
                  <a:pt x="7977051" y="31619"/>
                </a:lnTo>
                <a:lnTo>
                  <a:pt x="7977051" y="1581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902" y="364144"/>
            <a:ext cx="812064" cy="81206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08610" y="1180465"/>
            <a:ext cx="3646805" cy="4693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02000"/>
              </a:lnSpc>
              <a:spcAft>
                <a:spcPts val="700"/>
              </a:spcAft>
            </a:pPr>
            <a:r>
              <a:rPr sz="2000" b="0">
                <a:solidFill>
                  <a:srgbClr val="91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A-Mem 在多个问题类型上</a:t>
            </a:r>
            <a:r>
              <a:rPr lang="zh-CN" sz="2000" b="0">
                <a:solidFill>
                  <a:srgbClr val="91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都</a:t>
            </a:r>
            <a:r>
              <a:rPr sz="2000" b="0">
                <a:solidFill>
                  <a:srgbClr val="91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取得较强表现。</a:t>
            </a:r>
            <a:endParaRPr sz="2000" b="0">
              <a:solidFill>
                <a:srgbClr val="91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2000" b="1">
                <a:solidFill>
                  <a:srgbClr val="91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Temporal F1：45.85</a:t>
            </a:r>
            <a:endParaRPr sz="2000" b="1">
              <a:solidFill>
                <a:srgbClr val="91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02000"/>
              </a:lnSpc>
              <a:spcAft>
                <a:spcPts val="700"/>
              </a:spcAft>
            </a:pPr>
            <a:r>
              <a:rPr sz="2000" b="1">
                <a:solidFill>
                  <a:srgbClr val="91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Multi-hop F1：27.02</a:t>
            </a:r>
            <a:endParaRPr sz="2000" b="1">
              <a:solidFill>
                <a:srgbClr val="91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02000"/>
              </a:lnSpc>
              <a:spcAft>
                <a:spcPts val="1200"/>
              </a:spcAft>
            </a:pPr>
            <a:r>
              <a:rPr sz="2000" b="1">
                <a:solidFill>
                  <a:srgbClr val="91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平均 Token Length：2,520</a:t>
            </a:r>
            <a:endParaRPr sz="2000" b="0">
              <a:solidFill>
                <a:srgbClr val="2D2D2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2000" b="0">
                <a:solidFill>
                  <a:srgbClr val="2D2D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Dynamic Linking有助于</a:t>
            </a:r>
            <a:r>
              <a:rPr lang="zh-CN" altLang="en-US" sz="2000" b="0">
                <a:solidFill>
                  <a:srgbClr val="2D2D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跨 记忆的信息关联，为 </a:t>
            </a:r>
            <a:r>
              <a:rPr lang="en-US" altLang="zh-CN" sz="2000" b="0">
                <a:solidFill>
                  <a:srgbClr val="2D2D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Multi-hop reasoning </a:t>
            </a:r>
            <a:r>
              <a:rPr lang="zh-CN" altLang="en-US" sz="2000" b="0">
                <a:solidFill>
                  <a:srgbClr val="2D2D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提供支持。</a:t>
            </a:r>
            <a:r>
              <a:rPr sz="2000" b="0">
                <a:solidFill>
                  <a:srgbClr val="2D2D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Memory Evolution</a:t>
            </a:r>
            <a:r>
              <a:rPr lang="zh-CN" altLang="en-US" sz="2000" b="0">
                <a:solidFill>
                  <a:srgbClr val="2D2D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使历史 </a:t>
            </a:r>
            <a:r>
              <a:rPr lang="zh-CN" altLang="en-US" sz="2000" b="0">
                <a:solidFill>
                  <a:srgbClr val="2D2D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记忆能随新信息更新，</a:t>
            </a:r>
            <a:r>
              <a:rPr sz="2000" b="0">
                <a:solidFill>
                  <a:srgbClr val="2D2D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对时间相关问题有帮助。</a:t>
            </a:r>
            <a:endParaRPr sz="2000" b="0">
              <a:solidFill>
                <a:srgbClr val="2D2D2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02000"/>
              </a:lnSpc>
              <a:spcAft>
                <a:spcPts val="0"/>
              </a:spcAft>
            </a:pPr>
            <a:r>
              <a:rPr sz="2000" b="0">
                <a:solidFill>
                  <a:srgbClr val="2D2D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相比直接保留超长上下文，A-Mem 使用更短的有效上下文。</a:t>
            </a:r>
            <a:endParaRPr sz="2000" b="0">
              <a:solidFill>
                <a:srgbClr val="2D2D2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977640" y="998855"/>
          <a:ext cx="8096885" cy="41376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4920"/>
                <a:gridCol w="1163955"/>
                <a:gridCol w="1163955"/>
                <a:gridCol w="1163955"/>
                <a:gridCol w="1163955"/>
                <a:gridCol w="1163955"/>
                <a:gridCol w="1012190"/>
              </a:tblGrid>
              <a:tr h="689610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91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Method</a:t>
                      </a:r>
                      <a:endParaRPr sz="1800" b="1">
                        <a:solidFill>
                          <a:srgbClr val="91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7432" marR="27432" marT="27432" marB="27432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91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Single-Hop</a:t>
                      </a:r>
                      <a:endParaRPr sz="1800" b="1">
                        <a:solidFill>
                          <a:srgbClr val="91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7432" marR="27432" marT="27432" marB="27432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91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Multi-Hop</a:t>
                      </a:r>
                      <a:endParaRPr sz="1800" b="1">
                        <a:solidFill>
                          <a:srgbClr val="91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7432" marR="27432" marT="27432" marB="27432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91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Temporal</a:t>
                      </a:r>
                      <a:endParaRPr sz="1800" b="1">
                        <a:solidFill>
                          <a:srgbClr val="91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7432" marR="27432" marT="27432" marB="27432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91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Open-Domain</a:t>
                      </a:r>
                      <a:endParaRPr sz="1800" b="1">
                        <a:solidFill>
                          <a:srgbClr val="91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7432" marR="27432" marT="27432" marB="27432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91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Adver</a:t>
                      </a:r>
                      <a:r>
                        <a:rPr lang="en-US" sz="1800" b="1">
                          <a:solidFill>
                            <a:srgbClr val="91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</a:t>
                      </a:r>
                      <a:r>
                        <a:rPr sz="1800" b="1">
                          <a:solidFill>
                            <a:srgbClr val="91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sarial</a:t>
                      </a:r>
                      <a:endParaRPr sz="1800" b="1">
                        <a:solidFill>
                          <a:srgbClr val="91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7432" marR="27432" marT="27432" marB="27432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91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Token</a:t>
                      </a:r>
                      <a:endParaRPr sz="1800" b="1">
                        <a:solidFill>
                          <a:srgbClr val="91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7432" marR="27432" marT="27432" marB="27432">
                    <a:solidFill>
                      <a:srgbClr val="F5F5F5"/>
                    </a:solidFill>
                  </a:tcPr>
                </a:tc>
              </a:tr>
              <a:tr h="689610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LoCoMo</a:t>
                      </a:r>
                      <a:endParaRPr sz="1800" b="0">
                        <a:solidFill>
                          <a:srgbClr val="2D2D2D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40.36</a:t>
                      </a:r>
                      <a:endParaRPr sz="1800" b="0">
                        <a:solidFill>
                          <a:srgbClr val="2D2D2D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25.02</a:t>
                      </a:r>
                      <a:endParaRPr sz="1800" b="0">
                        <a:solidFill>
                          <a:srgbClr val="2D2D2D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18.41</a:t>
                      </a:r>
                      <a:endParaRPr sz="1800" b="0">
                        <a:solidFill>
                          <a:srgbClr val="2D2D2D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12.04</a:t>
                      </a:r>
                      <a:endParaRPr sz="1800" b="0">
                        <a:solidFill>
                          <a:srgbClr val="2D2D2D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69.23</a:t>
                      </a:r>
                      <a:endParaRPr sz="1800" b="0">
                        <a:solidFill>
                          <a:srgbClr val="2D2D2D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16,910</a:t>
                      </a:r>
                      <a:endParaRPr sz="1800" b="0">
                        <a:solidFill>
                          <a:srgbClr val="2D2D2D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9610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Read</a:t>
                      </a:r>
                      <a:r>
                        <a:rPr lang="en-US" sz="18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</a:t>
                      </a:r>
                      <a:r>
                        <a:rPr sz="18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Agent</a:t>
                      </a:r>
                      <a:endParaRPr sz="1800" b="0">
                        <a:solidFill>
                          <a:srgbClr val="2D2D2D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9.67</a:t>
                      </a:r>
                      <a:endParaRPr sz="1800" b="0">
                        <a:solidFill>
                          <a:srgbClr val="2D2D2D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9.15</a:t>
                      </a:r>
                      <a:endParaRPr sz="1800" b="0">
                        <a:solidFill>
                          <a:srgbClr val="2D2D2D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12.60</a:t>
                      </a:r>
                      <a:endParaRPr sz="1800" b="0">
                        <a:solidFill>
                          <a:srgbClr val="2D2D2D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5.31</a:t>
                      </a:r>
                      <a:endParaRPr sz="1800" b="0">
                        <a:solidFill>
                          <a:srgbClr val="2D2D2D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9.81</a:t>
                      </a:r>
                      <a:endParaRPr sz="1800" b="0">
                        <a:solidFill>
                          <a:srgbClr val="2D2D2D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643</a:t>
                      </a:r>
                      <a:endParaRPr sz="1800" b="0">
                        <a:solidFill>
                          <a:srgbClr val="2D2D2D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9610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Memory</a:t>
                      </a:r>
                      <a:r>
                        <a:rPr lang="en-US" sz="18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</a:t>
                      </a:r>
                      <a:r>
                        <a:rPr sz="18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Bank</a:t>
                      </a:r>
                      <a:endParaRPr sz="1800" b="0">
                        <a:solidFill>
                          <a:srgbClr val="2D2D2D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6.61</a:t>
                      </a:r>
                      <a:endParaRPr sz="1800" b="0">
                        <a:solidFill>
                          <a:srgbClr val="2D2D2D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5.00</a:t>
                      </a:r>
                      <a:endParaRPr sz="1800" b="0">
                        <a:solidFill>
                          <a:srgbClr val="2D2D2D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9.68</a:t>
                      </a:r>
                      <a:endParaRPr sz="1800" b="0">
                        <a:solidFill>
                          <a:srgbClr val="2D2D2D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5.56</a:t>
                      </a:r>
                      <a:endParaRPr sz="1800" b="0">
                        <a:solidFill>
                          <a:srgbClr val="2D2D2D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7.36</a:t>
                      </a:r>
                      <a:endParaRPr sz="1800" b="0">
                        <a:solidFill>
                          <a:srgbClr val="2D2D2D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432</a:t>
                      </a:r>
                      <a:endParaRPr sz="1800" b="0">
                        <a:solidFill>
                          <a:srgbClr val="2D2D2D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9610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MemGPT</a:t>
                      </a:r>
                      <a:endParaRPr sz="1800" b="0">
                        <a:solidFill>
                          <a:srgbClr val="2D2D2D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41.04</a:t>
                      </a:r>
                      <a:endParaRPr sz="1800" b="0">
                        <a:solidFill>
                          <a:srgbClr val="2D2D2D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26.65</a:t>
                      </a:r>
                      <a:endParaRPr sz="1800" b="0">
                        <a:solidFill>
                          <a:srgbClr val="2D2D2D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25.52</a:t>
                      </a:r>
                      <a:endParaRPr sz="1800" b="0">
                        <a:solidFill>
                          <a:srgbClr val="2D2D2D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9.15</a:t>
                      </a:r>
                      <a:endParaRPr sz="1800" b="0">
                        <a:solidFill>
                          <a:srgbClr val="2D2D2D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43.29</a:t>
                      </a:r>
                      <a:endParaRPr sz="1800" b="0">
                        <a:solidFill>
                          <a:srgbClr val="2D2D2D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16,977</a:t>
                      </a:r>
                      <a:endParaRPr sz="1800" b="0">
                        <a:solidFill>
                          <a:srgbClr val="2D2D2D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9610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91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A-Mem</a:t>
                      </a:r>
                      <a:endParaRPr sz="1800" b="1">
                        <a:solidFill>
                          <a:srgbClr val="91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91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44.65</a:t>
                      </a:r>
                      <a:endParaRPr sz="1800" b="1">
                        <a:solidFill>
                          <a:srgbClr val="91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91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27.02</a:t>
                      </a:r>
                      <a:endParaRPr sz="1800" b="1">
                        <a:solidFill>
                          <a:srgbClr val="91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91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45.85</a:t>
                      </a:r>
                      <a:endParaRPr sz="1800" b="1">
                        <a:solidFill>
                          <a:srgbClr val="91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91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12.14</a:t>
                      </a:r>
                      <a:endParaRPr sz="1800" b="1">
                        <a:solidFill>
                          <a:srgbClr val="91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91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50.03</a:t>
                      </a:r>
                      <a:endParaRPr sz="1800" b="1">
                        <a:solidFill>
                          <a:srgbClr val="91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91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2,520</a:t>
                      </a:r>
                      <a:endParaRPr sz="1800" b="1">
                        <a:solidFill>
                          <a:srgbClr val="91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3028950" y="5227955"/>
            <a:ext cx="9174480" cy="105092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2000" b="1">
                <a:solidFill>
                  <a:srgbClr val="91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A-Mem 在 Temporal、Multi-hop 等长期记忆</a:t>
            </a:r>
            <a:endParaRPr sz="2000" b="1">
              <a:solidFill>
                <a:srgbClr val="91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ctr"/>
            <a:r>
              <a:rPr sz="2000" b="1">
                <a:solidFill>
                  <a:srgbClr val="91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场景表现突出，同时显著降低有效 Token Length。</a:t>
            </a:r>
            <a:endParaRPr sz="2000" b="1">
              <a:solidFill>
                <a:srgbClr val="91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cover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68730" y="281178"/>
            <a:ext cx="10515600" cy="4756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91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A-Mem</a:t>
            </a:r>
            <a:r>
              <a:rPr lang="zh-CN" sz="2500" b="1">
                <a:solidFill>
                  <a:srgbClr val="91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</a:t>
            </a:r>
            <a:r>
              <a:rPr sz="2500" b="1">
                <a:solidFill>
                  <a:srgbClr val="91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一条新记忆如何改变历史记忆？</a:t>
            </a:r>
            <a:endParaRPr sz="2500" b="1">
              <a:solidFill>
                <a:srgbClr val="91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00100" y="1094740"/>
            <a:ext cx="2267585" cy="48958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2000" b="1">
                <a:solidFill>
                  <a:srgbClr val="91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时间线 / 输入</a:t>
            </a:r>
            <a:endParaRPr sz="2000" b="1">
              <a:solidFill>
                <a:srgbClr val="91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808990" y="1573530"/>
            <a:ext cx="2766695" cy="966470"/>
          </a:xfrm>
          <a:prstGeom prst="roundRect">
            <a:avLst/>
          </a:prstGeom>
          <a:solidFill>
            <a:srgbClr val="F7F7F7"/>
          </a:solidFill>
          <a:ln w="15240">
            <a:solidFill>
              <a:srgbClr val="91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2D2D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Day 1</a:t>
            </a:r>
            <a:br>
              <a:rPr sz="2000" b="1">
                <a:solidFill>
                  <a:srgbClr val="2D2D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sz="2000" b="1">
                <a:solidFill>
                  <a:srgbClr val="2D2D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“我最近在研究 LLM Agents。”</a:t>
            </a:r>
            <a:endParaRPr sz="2000" b="1">
              <a:solidFill>
                <a:srgbClr val="2D2D2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800100" y="2968625"/>
            <a:ext cx="2775585" cy="974725"/>
          </a:xfrm>
          <a:prstGeom prst="roundRect">
            <a:avLst/>
          </a:prstGeom>
          <a:solidFill>
            <a:srgbClr val="F7F7F7"/>
          </a:solidFill>
          <a:ln w="15240">
            <a:solidFill>
              <a:srgbClr val="91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2D2D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Day 10</a:t>
            </a:r>
            <a:br>
              <a:rPr sz="2000" b="1">
                <a:solidFill>
                  <a:srgbClr val="2D2D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sz="2000" b="1">
                <a:solidFill>
                  <a:srgbClr val="2D2D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“我开始重点研究 Agent Memory。”</a:t>
            </a:r>
            <a:endParaRPr sz="2000" b="1">
              <a:solidFill>
                <a:srgbClr val="2D2D2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2194560" y="2553462"/>
            <a:ext cx="0" cy="402336"/>
          </a:xfrm>
          <a:prstGeom prst="line">
            <a:avLst/>
          </a:prstGeom>
          <a:ln w="19050">
            <a:solidFill>
              <a:srgbClr val="91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886200" y="1080135"/>
            <a:ext cx="3233420" cy="50419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2000" b="1">
                <a:solidFill>
                  <a:srgbClr val="91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Memory 处理过程</a:t>
            </a:r>
            <a:endParaRPr sz="2000" b="1">
              <a:solidFill>
                <a:srgbClr val="91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742690" y="1583690"/>
            <a:ext cx="3491230" cy="95631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0">
                <a:solidFill>
                  <a:srgbClr val="2D2D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</a:t>
            </a:r>
            <a:r>
              <a:rPr lang="en-US" sz="2000" b="0" baseline="-25000">
                <a:solidFill>
                  <a:srgbClr val="2D2D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sz="2000" b="0">
                <a:solidFill>
                  <a:srgbClr val="2D2D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：研究 LLM Agents</a:t>
            </a:r>
            <a:br>
              <a:rPr sz="2000" b="0">
                <a:solidFill>
                  <a:srgbClr val="2D2D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sz="2000" b="0">
                <a:solidFill>
                  <a:srgbClr val="2D2D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Tags: Agent, LLM</a:t>
            </a:r>
            <a:endParaRPr sz="2000" b="0">
              <a:solidFill>
                <a:srgbClr val="2D2D2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3740785" y="2967990"/>
            <a:ext cx="3493770" cy="9753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0">
                <a:solidFill>
                  <a:srgbClr val="2D2D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</a:t>
            </a:r>
            <a:r>
              <a:rPr lang="en-US" sz="2000" b="0" baseline="-25000">
                <a:solidFill>
                  <a:srgbClr val="2D2D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sz="2000" b="0">
                <a:solidFill>
                  <a:srgbClr val="2D2D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：研究 Agent</a:t>
            </a:r>
            <a:r>
              <a:rPr lang="en-US" sz="2000" b="0">
                <a:solidFill>
                  <a:srgbClr val="2D2D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sz="2000" b="0">
                <a:solidFill>
                  <a:srgbClr val="2D2D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Memory</a:t>
            </a:r>
            <a:br>
              <a:rPr sz="2000" b="0">
                <a:solidFill>
                  <a:srgbClr val="2D2D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sz="2000" b="0">
                <a:solidFill>
                  <a:srgbClr val="2D2D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Tags: Memory, Agent</a:t>
            </a:r>
            <a:endParaRPr sz="2000" b="0">
              <a:solidFill>
                <a:srgbClr val="2D2D2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cxnSp>
        <p:nvCxnSpPr>
          <p:cNvPr id="10" name="Connector 9"/>
          <p:cNvCxnSpPr/>
          <p:nvPr/>
        </p:nvCxnSpPr>
        <p:spPr>
          <a:xfrm>
            <a:off x="7233920" y="3467862"/>
            <a:ext cx="502920" cy="0"/>
          </a:xfrm>
          <a:prstGeom prst="line">
            <a:avLst/>
          </a:prstGeom>
          <a:ln w="19050">
            <a:solidFill>
              <a:srgbClr val="91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756525" y="2341245"/>
            <a:ext cx="3383280" cy="1691640"/>
          </a:xfrm>
          <a:prstGeom prst="roundRect">
            <a:avLst/>
          </a:prstGeom>
          <a:solidFill>
            <a:srgbClr val="F7F7F7"/>
          </a:solidFill>
          <a:ln w="15240">
            <a:solidFill>
              <a:srgbClr val="91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2D2D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Dynamic Linking</a:t>
            </a:r>
            <a:br>
              <a:rPr sz="2000" b="1">
                <a:solidFill>
                  <a:srgbClr val="2D2D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sz="2000" b="1">
                <a:solidFill>
                  <a:srgbClr val="2D2D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</a:t>
            </a:r>
            <a:r>
              <a:rPr lang="en-US" sz="2000" b="1" baseline="-25000">
                <a:solidFill>
                  <a:srgbClr val="2D2D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sz="2000" b="1">
                <a:solidFill>
                  <a:srgbClr val="2D2D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检索到 M</a:t>
            </a:r>
            <a:r>
              <a:rPr lang="en-US" sz="2000" b="1" baseline="-25000">
                <a:solidFill>
                  <a:srgbClr val="2D2D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endParaRPr lang="en-US" sz="2000" b="1" baseline="-25000">
              <a:solidFill>
                <a:srgbClr val="2D2D2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ctr"/>
            <a:r>
              <a:rPr sz="2000" b="1">
                <a:solidFill>
                  <a:srgbClr val="2D2D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LLM 判断二者语义相关</a:t>
            </a:r>
            <a:br>
              <a:rPr sz="2000" b="1">
                <a:solidFill>
                  <a:srgbClr val="2D2D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sz="2000" b="1">
                <a:solidFill>
                  <a:srgbClr val="2D2D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→ 建立 Link</a:t>
            </a:r>
            <a:endParaRPr sz="2000" b="1">
              <a:solidFill>
                <a:srgbClr val="2D2D2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9374505" y="4086987"/>
            <a:ext cx="0" cy="402336"/>
          </a:xfrm>
          <a:prstGeom prst="line">
            <a:avLst/>
          </a:prstGeom>
          <a:ln w="19050">
            <a:solidFill>
              <a:srgbClr val="91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198995" y="4465955"/>
            <a:ext cx="4389120" cy="1443355"/>
          </a:xfrm>
          <a:prstGeom prst="roundRect">
            <a:avLst/>
          </a:prstGeom>
          <a:solidFill>
            <a:srgbClr val="F7F7F7"/>
          </a:solidFill>
          <a:ln w="15240">
            <a:solidFill>
              <a:srgbClr val="91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2D2D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Memory Evolution</a:t>
            </a:r>
            <a:br>
              <a:rPr sz="2000" b="1">
                <a:solidFill>
                  <a:srgbClr val="2D2D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sz="2000" b="1">
                <a:solidFill>
                  <a:srgbClr val="2D2D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</a:t>
            </a:r>
            <a:r>
              <a:rPr lang="en-US" sz="2000" b="1" baseline="-25000">
                <a:solidFill>
                  <a:srgbClr val="2D2D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</a:t>
            </a:r>
            <a:r>
              <a:rPr sz="2000" b="1">
                <a:solidFill>
                  <a:srgbClr val="2D2D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 Context 被丰富为：</a:t>
            </a:r>
            <a:br>
              <a:rPr sz="2000" b="1">
                <a:solidFill>
                  <a:srgbClr val="2D2D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sz="2000" b="1">
                <a:solidFill>
                  <a:srgbClr val="2D2D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“研究 LLM Agents，并逐渐</a:t>
            </a:r>
            <a:endParaRPr sz="2000" b="1">
              <a:solidFill>
                <a:srgbClr val="2D2D2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ctr"/>
            <a:r>
              <a:rPr sz="2000" b="1">
                <a:solidFill>
                  <a:srgbClr val="2D2D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聚焦 Agent Memory。”</a:t>
            </a:r>
            <a:endParaRPr sz="2000" b="1">
              <a:solidFill>
                <a:srgbClr val="2D2D2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22960" y="4683125"/>
            <a:ext cx="5819140" cy="113220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2000" b="0">
                <a:solidFill>
                  <a:srgbClr val="2D2D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A-Mem 的关键不是把 </a:t>
            </a:r>
            <a:r>
              <a:rPr sz="2000">
                <a:solidFill>
                  <a:srgbClr val="2D2D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M</a:t>
            </a:r>
            <a:r>
              <a:rPr lang="en-US" sz="2000" baseline="-25000">
                <a:solidFill>
                  <a:srgbClr val="2D2D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</a:t>
            </a:r>
            <a:r>
              <a:rPr sz="2000" b="0">
                <a:solidFill>
                  <a:srgbClr val="2D2D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简单追加到数据库，而是让新经验重新解释已有记忆。后续</a:t>
            </a:r>
            <a:r>
              <a:rPr lang="zh-CN" sz="2000" b="0">
                <a:solidFill>
                  <a:srgbClr val="2D2D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查询</a:t>
            </a:r>
            <a:r>
              <a:rPr sz="2000" b="0">
                <a:solidFill>
                  <a:srgbClr val="2D2D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检索到 </a:t>
            </a:r>
            <a:r>
              <a:rPr sz="2000">
                <a:solidFill>
                  <a:srgbClr val="2D2D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M</a:t>
            </a:r>
            <a:r>
              <a:rPr lang="en-US" sz="2000" baseline="-25000">
                <a:solidFill>
                  <a:srgbClr val="2D2D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</a:t>
            </a:r>
            <a:r>
              <a:rPr sz="2000" b="0">
                <a:solidFill>
                  <a:srgbClr val="2D2D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时，也能利用 </a:t>
            </a:r>
            <a:r>
              <a:rPr sz="2000">
                <a:solidFill>
                  <a:srgbClr val="2D2D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M</a:t>
            </a:r>
            <a:r>
              <a:rPr lang="en-US" sz="2000" baseline="-25000">
                <a:solidFill>
                  <a:srgbClr val="2D2D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</a:t>
            </a:r>
            <a:r>
              <a:rPr sz="2000" b="0">
                <a:solidFill>
                  <a:srgbClr val="2D2D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所带来的新语义。</a:t>
            </a:r>
            <a:endParaRPr sz="2000" b="0">
              <a:solidFill>
                <a:srgbClr val="2D2D2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5" name="任意多边形 14"/>
          <p:cNvSpPr/>
          <p:nvPr/>
        </p:nvSpPr>
        <p:spPr>
          <a:xfrm flipH="1">
            <a:off x="1341487" y="780336"/>
            <a:ext cx="2853178" cy="45719"/>
          </a:xfrm>
          <a:custGeom>
            <a:avLst/>
            <a:gdLst>
              <a:gd name="connsiteX0" fmla="*/ 7977051 w 7977051"/>
              <a:gd name="connsiteY0" fmla="*/ 0 h 31619"/>
              <a:gd name="connsiteX1" fmla="*/ 0 w 7977051"/>
              <a:gd name="connsiteY1" fmla="*/ 0 h 31619"/>
              <a:gd name="connsiteX2" fmla="*/ 0 w 7977051"/>
              <a:gd name="connsiteY2" fmla="*/ 31619 h 31619"/>
              <a:gd name="connsiteX3" fmla="*/ 7977051 w 7977051"/>
              <a:gd name="connsiteY3" fmla="*/ 31619 h 31619"/>
              <a:gd name="connsiteX4" fmla="*/ 7977051 w 7977051"/>
              <a:gd name="connsiteY4" fmla="*/ 15810 h 316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977051" h="31619">
                <a:moveTo>
                  <a:pt x="7977051" y="0"/>
                </a:moveTo>
                <a:lnTo>
                  <a:pt x="0" y="0"/>
                </a:lnTo>
                <a:lnTo>
                  <a:pt x="0" y="31619"/>
                </a:lnTo>
                <a:lnTo>
                  <a:pt x="7977051" y="31619"/>
                </a:lnTo>
                <a:lnTo>
                  <a:pt x="7977051" y="1581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902" y="364144"/>
            <a:ext cx="812064" cy="812064"/>
          </a:xfrm>
          <a:prstGeom prst="rect">
            <a:avLst/>
          </a:prstGeom>
        </p:spPr>
      </p:pic>
      <p:sp>
        <p:nvSpPr>
          <p:cNvPr id="18" name="灯片编号占位符 17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126B9-07AC-4BAF-B3D7-FAC1D3999DA4}" type="slidenum">
              <a:rPr lang="zh-CN" altLang="en-US" smtClean="0">
                <a:latin typeface="Times New Roman" panose="02020603050405020304" charset="0"/>
              </a:rPr>
            </a:fld>
            <a:endParaRPr lang="zh-CN" altLang="en-US" dirty="0" smtClean="0">
              <a:latin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76020" y="264668"/>
            <a:ext cx="10515600" cy="4756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91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Dynamic Linking</a:t>
            </a:r>
            <a:endParaRPr lang="zh-CN" sz="2500" b="1">
              <a:solidFill>
                <a:srgbClr val="91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22960" y="1485900"/>
            <a:ext cx="4914900" cy="70675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91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①</a:t>
            </a:r>
            <a:r>
              <a:rPr lang="zh-CN" sz="2000" b="1">
                <a:solidFill>
                  <a:srgbClr val="91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候选检索</a:t>
            </a:r>
            <a:r>
              <a:rPr sz="2000" b="1">
                <a:solidFill>
                  <a:srgbClr val="91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：Embedding 先缩小搜索空间</a:t>
            </a:r>
            <a:endParaRPr sz="2000" b="1">
              <a:solidFill>
                <a:srgbClr val="91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822960" y="2247900"/>
            <a:ext cx="4297680" cy="685800"/>
          </a:xfrm>
          <a:prstGeom prst="roundRect">
            <a:avLst/>
          </a:prstGeom>
          <a:solidFill>
            <a:srgbClr val="F7F7F7"/>
          </a:solidFill>
          <a:ln w="15240">
            <a:solidFill>
              <a:srgbClr val="91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2D2D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New Memory： </a:t>
            </a:r>
            <a:endParaRPr sz="2000" b="1">
              <a:solidFill>
                <a:srgbClr val="2D2D2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ctr"/>
            <a:r>
              <a:rPr sz="2000" b="1">
                <a:solidFill>
                  <a:srgbClr val="2D2D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“开始研究 Agent Memory”</a:t>
            </a:r>
            <a:endParaRPr sz="2000" b="1">
              <a:solidFill>
                <a:srgbClr val="2D2D2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cxnSp>
        <p:nvCxnSpPr>
          <p:cNvPr id="5" name="Connector 4"/>
          <p:cNvCxnSpPr/>
          <p:nvPr/>
        </p:nvCxnSpPr>
        <p:spPr>
          <a:xfrm>
            <a:off x="2971800" y="2979420"/>
            <a:ext cx="0" cy="347472"/>
          </a:xfrm>
          <a:prstGeom prst="line">
            <a:avLst/>
          </a:prstGeom>
          <a:ln w="19050">
            <a:solidFill>
              <a:srgbClr val="91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822960" y="3390900"/>
            <a:ext cx="4297680" cy="17373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0">
                <a:solidFill>
                  <a:srgbClr val="2D2D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Top-k Candidate Memories</a:t>
            </a:r>
            <a:r>
              <a:rPr lang="zh-CN" sz="2000" b="0">
                <a:solidFill>
                  <a:srgbClr val="2D2D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br>
              <a:rPr sz="2000" b="0">
                <a:solidFill>
                  <a:srgbClr val="2D2D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sz="2000" b="1">
                <a:solidFill>
                  <a:srgbClr val="2D2D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</a:t>
            </a:r>
            <a:r>
              <a:rPr lang="en-US" sz="2000" b="1" baseline="-25000">
                <a:solidFill>
                  <a:srgbClr val="2D2D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sz="2000" b="0">
                <a:solidFill>
                  <a:srgbClr val="2D2D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研究 LLM Agents</a:t>
            </a:r>
            <a:br>
              <a:rPr sz="2000" b="0">
                <a:solidFill>
                  <a:srgbClr val="2D2D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sz="2000" b="1">
                <a:solidFill>
                  <a:srgbClr val="2D2D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</a:t>
            </a:r>
            <a:r>
              <a:rPr lang="en-US" sz="2000" b="1" baseline="-25000">
                <a:solidFill>
                  <a:srgbClr val="2D2D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en-US" sz="2000" b="0">
                <a:solidFill>
                  <a:srgbClr val="2D2D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</a:t>
            </a:r>
            <a:r>
              <a:rPr sz="2000" b="0">
                <a:solidFill>
                  <a:srgbClr val="2D2D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ransformer Architecture</a:t>
            </a:r>
            <a:br>
              <a:rPr sz="2000" b="0">
                <a:solidFill>
                  <a:srgbClr val="2D2D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sz="2000" b="1">
                <a:solidFill>
                  <a:srgbClr val="2D2D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</a:t>
            </a:r>
            <a:r>
              <a:rPr lang="en-US" sz="2000" b="1" baseline="-25000">
                <a:solidFill>
                  <a:srgbClr val="2D2D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</a:t>
            </a:r>
            <a:r>
              <a:rPr sz="2000" b="0">
                <a:solidFill>
                  <a:srgbClr val="2D2D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Computer Vision</a:t>
            </a:r>
            <a:endParaRPr sz="2000" b="0">
              <a:solidFill>
                <a:srgbClr val="2D2D2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" name="TextBox 6"/>
          <p:cNvSpPr txBox="1"/>
          <p:nvPr>
            <p:custDataLst>
              <p:tags r:id="rId1"/>
            </p:custDataLst>
          </p:nvPr>
        </p:nvSpPr>
        <p:spPr>
          <a:xfrm>
            <a:off x="6131560" y="1485900"/>
            <a:ext cx="5810885" cy="64198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2000" b="1">
                <a:solidFill>
                  <a:srgbClr val="91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② </a:t>
            </a:r>
            <a:r>
              <a:rPr lang="zh-CN" sz="2000" b="1">
                <a:solidFill>
                  <a:srgbClr val="91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相关性分析</a:t>
            </a:r>
            <a:r>
              <a:rPr sz="2000" b="1">
                <a:solidFill>
                  <a:srgbClr val="91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：LLM 再判断语义关系</a:t>
            </a:r>
            <a:endParaRPr sz="2000" b="1">
              <a:solidFill>
                <a:srgbClr val="91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" name="Rounded Rectangle 7"/>
          <p:cNvSpPr/>
          <p:nvPr>
            <p:custDataLst>
              <p:tags r:id="rId2"/>
            </p:custDataLst>
          </p:nvPr>
        </p:nvSpPr>
        <p:spPr>
          <a:xfrm>
            <a:off x="6245860" y="2204720"/>
            <a:ext cx="1097280" cy="5303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2D2D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M₁</a:t>
            </a:r>
            <a:endParaRPr sz="2000" b="1">
              <a:solidFill>
                <a:srgbClr val="2D2D2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Rounded Rectangle 8"/>
          <p:cNvSpPr/>
          <p:nvPr>
            <p:custDataLst>
              <p:tags r:id="rId3"/>
            </p:custDataLst>
          </p:nvPr>
        </p:nvSpPr>
        <p:spPr>
          <a:xfrm>
            <a:off x="7480300" y="2204720"/>
            <a:ext cx="1463040" cy="530352"/>
          </a:xfrm>
          <a:prstGeom prst="roundRect">
            <a:avLst/>
          </a:prstGeom>
          <a:solidFill>
            <a:srgbClr val="F7F7F7"/>
          </a:solidFill>
          <a:ln w="1524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0">
                <a:solidFill>
                  <a:srgbClr val="2D2D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强相关</a:t>
            </a:r>
            <a:endParaRPr sz="2000" b="0">
              <a:solidFill>
                <a:srgbClr val="2D2D2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Rounded Rectangle 9"/>
          <p:cNvSpPr/>
          <p:nvPr>
            <p:custDataLst>
              <p:tags r:id="rId4"/>
            </p:custDataLst>
          </p:nvPr>
        </p:nvSpPr>
        <p:spPr>
          <a:xfrm>
            <a:off x="9080500" y="2204720"/>
            <a:ext cx="1920240" cy="530352"/>
          </a:xfrm>
          <a:prstGeom prst="roundRect">
            <a:avLst/>
          </a:prstGeom>
          <a:solidFill>
            <a:srgbClr val="F7F7F7"/>
          </a:solidFill>
          <a:ln w="15240">
            <a:solidFill>
              <a:srgbClr val="91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91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建立 Link</a:t>
            </a:r>
            <a:endParaRPr sz="2000" b="1">
              <a:solidFill>
                <a:srgbClr val="91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" name="Rounded Rectangle 10"/>
          <p:cNvSpPr/>
          <p:nvPr>
            <p:custDataLst>
              <p:tags r:id="rId5"/>
            </p:custDataLst>
          </p:nvPr>
        </p:nvSpPr>
        <p:spPr>
          <a:xfrm>
            <a:off x="6245860" y="2917952"/>
            <a:ext cx="1097280" cy="5303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2D2D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M₂</a:t>
            </a:r>
            <a:endParaRPr sz="2000" b="1">
              <a:solidFill>
                <a:srgbClr val="2D2D2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Rounded Rectangle 11"/>
          <p:cNvSpPr/>
          <p:nvPr>
            <p:custDataLst>
              <p:tags r:id="rId6"/>
            </p:custDataLst>
          </p:nvPr>
        </p:nvSpPr>
        <p:spPr>
          <a:xfrm>
            <a:off x="7480300" y="2917952"/>
            <a:ext cx="1463040" cy="530352"/>
          </a:xfrm>
          <a:prstGeom prst="roundRect">
            <a:avLst/>
          </a:prstGeom>
          <a:solidFill>
            <a:srgbClr val="F7F7F7"/>
          </a:solidFill>
          <a:ln w="1524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0">
                <a:solidFill>
                  <a:srgbClr val="2D2D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弱相关</a:t>
            </a:r>
            <a:endParaRPr sz="2000" b="0">
              <a:solidFill>
                <a:srgbClr val="2D2D2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Rounded Rectangle 12"/>
          <p:cNvSpPr/>
          <p:nvPr>
            <p:custDataLst>
              <p:tags r:id="rId7"/>
            </p:custDataLst>
          </p:nvPr>
        </p:nvSpPr>
        <p:spPr>
          <a:xfrm>
            <a:off x="9080500" y="2917952"/>
            <a:ext cx="1920240" cy="530352"/>
          </a:xfrm>
          <a:prstGeom prst="roundRect">
            <a:avLst/>
          </a:prstGeom>
          <a:solidFill>
            <a:srgbClr val="F7F7F7"/>
          </a:solidFill>
          <a:ln w="1524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0">
                <a:solidFill>
                  <a:srgbClr val="2D2D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不连接</a:t>
            </a:r>
            <a:endParaRPr sz="2000" b="0">
              <a:solidFill>
                <a:srgbClr val="2D2D2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Rounded Rectangle 13"/>
          <p:cNvSpPr/>
          <p:nvPr>
            <p:custDataLst>
              <p:tags r:id="rId8"/>
            </p:custDataLst>
          </p:nvPr>
        </p:nvSpPr>
        <p:spPr>
          <a:xfrm>
            <a:off x="6245860" y="3631184"/>
            <a:ext cx="1097280" cy="5303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2D2D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M₃</a:t>
            </a:r>
            <a:endParaRPr sz="2000" b="1">
              <a:solidFill>
                <a:srgbClr val="2D2D2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Rounded Rectangle 14"/>
          <p:cNvSpPr/>
          <p:nvPr>
            <p:custDataLst>
              <p:tags r:id="rId9"/>
            </p:custDataLst>
          </p:nvPr>
        </p:nvSpPr>
        <p:spPr>
          <a:xfrm>
            <a:off x="7480300" y="3631184"/>
            <a:ext cx="1463040" cy="530352"/>
          </a:xfrm>
          <a:prstGeom prst="roundRect">
            <a:avLst/>
          </a:prstGeom>
          <a:solidFill>
            <a:srgbClr val="F7F7F7"/>
          </a:solidFill>
          <a:ln w="1524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0">
                <a:solidFill>
                  <a:srgbClr val="2D2D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无关</a:t>
            </a:r>
            <a:endParaRPr sz="2000" b="0">
              <a:solidFill>
                <a:srgbClr val="2D2D2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Rounded Rectangle 15"/>
          <p:cNvSpPr/>
          <p:nvPr>
            <p:custDataLst>
              <p:tags r:id="rId10"/>
            </p:custDataLst>
          </p:nvPr>
        </p:nvSpPr>
        <p:spPr>
          <a:xfrm>
            <a:off x="9080500" y="3631184"/>
            <a:ext cx="1920240" cy="530352"/>
          </a:xfrm>
          <a:prstGeom prst="roundRect">
            <a:avLst/>
          </a:prstGeom>
          <a:solidFill>
            <a:srgbClr val="F7F7F7"/>
          </a:solidFill>
          <a:ln w="1524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0">
                <a:solidFill>
                  <a:srgbClr val="2D2D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不连接</a:t>
            </a:r>
            <a:endParaRPr sz="2000" b="0">
              <a:solidFill>
                <a:srgbClr val="2D2D2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245860" y="4582160"/>
            <a:ext cx="5229225" cy="17195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2000">
                <a:solidFill>
                  <a:srgbClr val="2D2D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• Embedding 的作用：高效召回可能相关的候选，不直接决定最终关系</a:t>
            </a:r>
            <a:endParaRPr sz="2000">
              <a:solidFill>
                <a:srgbClr val="2D2D2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spcAft>
                <a:spcPts val="700"/>
              </a:spcAft>
            </a:pPr>
            <a:r>
              <a:rPr sz="2000">
                <a:solidFill>
                  <a:srgbClr val="2D2D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• LLM 的作用：结合</a:t>
            </a:r>
            <a:r>
              <a:rPr lang="en-US" sz="2000">
                <a:solidFill>
                  <a:srgbClr val="2D2D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Note</a:t>
            </a:r>
            <a:r>
              <a:rPr lang="zh-CN" altLang="en-US" sz="2000">
                <a:solidFill>
                  <a:srgbClr val="2D2D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的各个属性</a:t>
            </a:r>
            <a:r>
              <a:rPr lang="en-US" altLang="zh-CN" sz="2000">
                <a:solidFill>
                  <a:srgbClr val="2D2D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——</a:t>
            </a:r>
            <a:r>
              <a:rPr sz="2000">
                <a:solidFill>
                  <a:srgbClr val="2D2D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Content、Context、Keywords、Tags 判断是否存在有意义的语义联系</a:t>
            </a:r>
            <a:endParaRPr sz="2000">
              <a:solidFill>
                <a:srgbClr val="2D2D2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22960" y="5185410"/>
            <a:ext cx="4343400" cy="163004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2D2D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为什么不能只用 cosine similarity？</a:t>
            </a:r>
            <a:br>
              <a:rPr sz="2000" b="0">
                <a:solidFill>
                  <a:srgbClr val="2D2D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sz="2000" b="0">
                <a:solidFill>
                  <a:srgbClr val="2D2D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相似 ≠ 有用的关系。A-Mem 希望建立的是能够帮助未来检索和理解的语义连接，而不是把所有相似文本都连在一起。</a:t>
            </a:r>
            <a:endParaRPr sz="2000" b="0">
              <a:solidFill>
                <a:srgbClr val="2D2D2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1" name="灯片编号占位符 2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126B9-07AC-4BAF-B3D7-FAC1D3999DA4}" type="slidenum">
              <a:rPr lang="zh-CN" altLang="en-US" smtClean="0">
                <a:latin typeface="Times New Roman" panose="02020603050405020304" charset="0"/>
              </a:rPr>
            </a:fld>
            <a:endParaRPr lang="zh-CN" altLang="en-US" dirty="0" smtClean="0">
              <a:latin typeface="Times New Roman" panose="02020603050405020304" charset="0"/>
            </a:endParaRPr>
          </a:p>
        </p:txBody>
      </p:sp>
      <p:sp>
        <p:nvSpPr>
          <p:cNvPr id="22" name="任意多边形 21"/>
          <p:cNvSpPr/>
          <p:nvPr/>
        </p:nvSpPr>
        <p:spPr>
          <a:xfrm flipH="1">
            <a:off x="1341487" y="780336"/>
            <a:ext cx="2853178" cy="45719"/>
          </a:xfrm>
          <a:custGeom>
            <a:avLst/>
            <a:gdLst>
              <a:gd name="connsiteX0" fmla="*/ 7977051 w 7977051"/>
              <a:gd name="connsiteY0" fmla="*/ 0 h 31619"/>
              <a:gd name="connsiteX1" fmla="*/ 0 w 7977051"/>
              <a:gd name="connsiteY1" fmla="*/ 0 h 31619"/>
              <a:gd name="connsiteX2" fmla="*/ 0 w 7977051"/>
              <a:gd name="connsiteY2" fmla="*/ 31619 h 31619"/>
              <a:gd name="connsiteX3" fmla="*/ 7977051 w 7977051"/>
              <a:gd name="connsiteY3" fmla="*/ 31619 h 31619"/>
              <a:gd name="connsiteX4" fmla="*/ 7977051 w 7977051"/>
              <a:gd name="connsiteY4" fmla="*/ 15810 h 316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977051" h="31619">
                <a:moveTo>
                  <a:pt x="7977051" y="0"/>
                </a:moveTo>
                <a:lnTo>
                  <a:pt x="0" y="0"/>
                </a:lnTo>
                <a:lnTo>
                  <a:pt x="0" y="31619"/>
                </a:lnTo>
                <a:lnTo>
                  <a:pt x="7977051" y="31619"/>
                </a:lnTo>
                <a:lnTo>
                  <a:pt x="7977051" y="1581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902" y="364144"/>
            <a:ext cx="812064" cy="812064"/>
          </a:xfrm>
          <a:prstGeom prst="rect">
            <a:avLst/>
          </a:prstGeom>
        </p:spPr>
      </p:pic>
      <p:sp>
        <p:nvSpPr>
          <p:cNvPr id="24" name="TextBox 1"/>
          <p:cNvSpPr txBox="1"/>
          <p:nvPr/>
        </p:nvSpPr>
        <p:spPr>
          <a:xfrm>
            <a:off x="1176020" y="939038"/>
            <a:ext cx="10515600" cy="4756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91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A-Mem</a:t>
            </a:r>
            <a:r>
              <a:rPr lang="zh-CN" sz="2500" b="1">
                <a:solidFill>
                  <a:srgbClr val="91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如何</a:t>
            </a:r>
            <a:r>
              <a:rPr sz="2500" b="1">
                <a:solidFill>
                  <a:srgbClr val="91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决定“哪些 Memory 应该连起来”？</a:t>
            </a:r>
            <a:endParaRPr lang="zh-CN" sz="2500" b="1">
              <a:solidFill>
                <a:srgbClr val="91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11580" y="304038"/>
            <a:ext cx="10515600" cy="4756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91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Memory Evolution</a:t>
            </a:r>
            <a:endParaRPr sz="2500" b="1">
              <a:solidFill>
                <a:srgbClr val="91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22960" y="1108710"/>
            <a:ext cx="3291205" cy="3987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91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Before：历史</a:t>
            </a:r>
            <a:r>
              <a:rPr lang="zh-CN" sz="2000" b="1">
                <a:solidFill>
                  <a:srgbClr val="91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记忆</a:t>
            </a:r>
            <a:endParaRPr lang="zh-CN" sz="2000" b="1">
              <a:solidFill>
                <a:srgbClr val="91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460375" y="1565910"/>
            <a:ext cx="3533775" cy="1863725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0">
                <a:solidFill>
                  <a:srgbClr val="2D2D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M₁</a:t>
            </a:r>
            <a:br>
              <a:rPr sz="2000" b="0">
                <a:solidFill>
                  <a:srgbClr val="2D2D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sz="2000" b="0">
                <a:solidFill>
                  <a:srgbClr val="2D2D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Content：研究 LLM Agents</a:t>
            </a:r>
            <a:br>
              <a:rPr sz="2000" b="0">
                <a:solidFill>
                  <a:srgbClr val="2D2D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sz="2000" b="0">
                <a:solidFill>
                  <a:srgbClr val="2D2D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Context：关注 Agent 技术</a:t>
            </a:r>
            <a:br>
              <a:rPr sz="2000" b="0">
                <a:solidFill>
                  <a:srgbClr val="2D2D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sz="2000" b="0">
                <a:solidFill>
                  <a:srgbClr val="2D2D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Tags：LLM, Agent</a:t>
            </a:r>
            <a:endParaRPr sz="2000" b="0">
              <a:solidFill>
                <a:srgbClr val="2D2D2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298315" y="1108710"/>
            <a:ext cx="3291205" cy="3987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zh-CN" sz="2000" b="1">
                <a:solidFill>
                  <a:srgbClr val="91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新的信息</a:t>
            </a:r>
            <a:endParaRPr lang="zh-CN" sz="2000" b="1">
              <a:solidFill>
                <a:srgbClr val="91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180840" y="1565910"/>
            <a:ext cx="3551555" cy="1863725"/>
          </a:xfrm>
          <a:prstGeom prst="roundRect">
            <a:avLst/>
          </a:prstGeom>
          <a:solidFill>
            <a:srgbClr val="F7F7F7"/>
          </a:solidFill>
          <a:ln w="15240">
            <a:solidFill>
              <a:srgbClr val="91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2D2D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M₂</a:t>
            </a:r>
            <a:br>
              <a:rPr sz="2000" b="1">
                <a:solidFill>
                  <a:srgbClr val="2D2D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sz="2000" b="1">
                <a:solidFill>
                  <a:srgbClr val="2D2D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Content：开始研究</a:t>
            </a:r>
            <a:endParaRPr sz="2000" b="1">
              <a:solidFill>
                <a:srgbClr val="2D2D2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ctr"/>
            <a:r>
              <a:rPr sz="2000" b="1">
                <a:solidFill>
                  <a:srgbClr val="2D2D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Agent Memory</a:t>
            </a:r>
            <a:br>
              <a:rPr sz="2000" b="1">
                <a:solidFill>
                  <a:srgbClr val="2D2D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sz="2000" b="1">
                <a:solidFill>
                  <a:srgbClr val="2D2D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Keywords：Memory, Long-term Agent</a:t>
            </a:r>
            <a:endParaRPr sz="2000" b="1">
              <a:solidFill>
                <a:srgbClr val="2D2D2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486140" y="1050290"/>
            <a:ext cx="295910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2000" b="1">
                <a:solidFill>
                  <a:srgbClr val="91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After：</a:t>
            </a:r>
            <a:r>
              <a:rPr lang="zh-CN" sz="2000" b="1">
                <a:solidFill>
                  <a:srgbClr val="91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记忆演化</a:t>
            </a:r>
            <a:endParaRPr lang="zh-CN" sz="2000" b="1">
              <a:solidFill>
                <a:srgbClr val="91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918450" y="1565910"/>
            <a:ext cx="4131945" cy="1864360"/>
          </a:xfrm>
          <a:prstGeom prst="roundRect">
            <a:avLst/>
          </a:prstGeom>
          <a:solidFill>
            <a:srgbClr val="F7F7F7"/>
          </a:solidFill>
          <a:ln w="15240">
            <a:solidFill>
              <a:srgbClr val="91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2D2D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</a:t>
            </a:r>
            <a:r>
              <a:rPr lang="en-US" sz="2000" b="1" baseline="-25000">
                <a:solidFill>
                  <a:srgbClr val="2D2D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en-US" sz="2000" b="1">
                <a:solidFill>
                  <a:srgbClr val="2D2D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’</a:t>
            </a:r>
            <a:br>
              <a:rPr sz="2000" b="1">
                <a:solidFill>
                  <a:srgbClr val="2D2D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sz="2000" b="1">
                <a:solidFill>
                  <a:srgbClr val="2D2D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Content 保留原事实</a:t>
            </a:r>
            <a:br>
              <a:rPr sz="2000" b="1">
                <a:solidFill>
                  <a:srgbClr val="2D2D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sz="2000" b="1">
                <a:solidFill>
                  <a:srgbClr val="2D2D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Context：研究 LLM Agents，重点关注</a:t>
            </a:r>
            <a:endParaRPr sz="2000" b="1">
              <a:solidFill>
                <a:srgbClr val="2D2D2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ctr"/>
            <a:r>
              <a:rPr sz="2000" b="1">
                <a:solidFill>
                  <a:srgbClr val="2D2D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Agent Memory</a:t>
            </a:r>
            <a:br>
              <a:rPr sz="2000" b="1">
                <a:solidFill>
                  <a:srgbClr val="2D2D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sz="2000" b="1">
                <a:solidFill>
                  <a:srgbClr val="2D2D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Tags / Keywords 得到丰富</a:t>
            </a:r>
            <a:endParaRPr sz="2000" b="1">
              <a:solidFill>
                <a:srgbClr val="2D2D2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60375" y="3623310"/>
            <a:ext cx="5763895" cy="1501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2000">
                <a:solidFill>
                  <a:srgbClr val="2D2D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•</a:t>
            </a:r>
            <a:r>
              <a:rPr sz="2000" b="1">
                <a:solidFill>
                  <a:srgbClr val="2D2D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局部演化：</a:t>
            </a:r>
            <a:r>
              <a:rPr lang="zh-CN" sz="2000">
                <a:solidFill>
                  <a:srgbClr val="2D2D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新信息</a:t>
            </a:r>
            <a:r>
              <a:rPr sz="2000">
                <a:solidFill>
                  <a:srgbClr val="2D2D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先与相关历史</a:t>
            </a:r>
            <a:r>
              <a:rPr lang="zh-CN" sz="2000">
                <a:solidFill>
                  <a:srgbClr val="2D2D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记忆</a:t>
            </a:r>
            <a:r>
              <a:rPr sz="2000">
                <a:solidFill>
                  <a:srgbClr val="2D2D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建立联系，再更新相关节点，而不是重写整个Memory Store</a:t>
            </a:r>
            <a:endParaRPr sz="2000">
              <a:solidFill>
                <a:srgbClr val="2D2D2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spcAft>
                <a:spcPts val="700"/>
              </a:spcAft>
            </a:pPr>
            <a:r>
              <a:rPr sz="2000">
                <a:solidFill>
                  <a:srgbClr val="2D2D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•</a:t>
            </a:r>
            <a:r>
              <a:rPr sz="2000" b="1">
                <a:solidFill>
                  <a:srgbClr val="2D2D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更新内容：</a:t>
            </a:r>
            <a:r>
              <a:rPr sz="2000">
                <a:solidFill>
                  <a:srgbClr val="2D2D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重点是 Contextual Representation</a:t>
            </a:r>
            <a:endParaRPr sz="2000">
              <a:solidFill>
                <a:srgbClr val="2D2D2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spcAft>
                <a:spcPts val="700"/>
              </a:spcAft>
            </a:pPr>
            <a:r>
              <a:rPr sz="2000">
                <a:solidFill>
                  <a:srgbClr val="2D2D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以及 Keywords / Tags 等语义属性</a:t>
            </a:r>
            <a:endParaRPr sz="2000">
              <a:solidFill>
                <a:srgbClr val="2D2D2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789420" y="3623310"/>
            <a:ext cx="4983480" cy="17195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2000">
                <a:solidFill>
                  <a:srgbClr val="2D2D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•</a:t>
            </a:r>
            <a:r>
              <a:rPr sz="2000" b="1">
                <a:solidFill>
                  <a:srgbClr val="2D2D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核心收益：</a:t>
            </a:r>
            <a:r>
              <a:rPr sz="2000">
                <a:solidFill>
                  <a:srgbClr val="2D2D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把分散事件积累成更完整的长期认知，而不是保留彼此孤立的片段</a:t>
            </a:r>
            <a:endParaRPr sz="2000">
              <a:solidFill>
                <a:srgbClr val="2D2D2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spcAft>
                <a:spcPts val="700"/>
              </a:spcAft>
            </a:pPr>
            <a:r>
              <a:rPr sz="2000" b="1">
                <a:solidFill>
                  <a:srgbClr val="2D2D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• 潜在风险：</a:t>
            </a:r>
            <a:r>
              <a:rPr sz="2000">
                <a:solidFill>
                  <a:srgbClr val="2D2D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如果 LLM 的关系判断或更新出现错误，错误语义也可能被写回长期 Memory</a:t>
            </a:r>
            <a:endParaRPr sz="2000">
              <a:solidFill>
                <a:srgbClr val="2D2D2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3400" y="5433060"/>
            <a:ext cx="10241280" cy="105537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2400" b="1">
                <a:solidFill>
                  <a:srgbClr val="91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Memory Addition 只是“多记一条”，</a:t>
            </a:r>
            <a:endParaRPr sz="2400" b="1">
              <a:solidFill>
                <a:srgbClr val="91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sz="2400" b="1">
                <a:solidFill>
                  <a:srgbClr val="91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Memory Evolution 是“因为新经验，对过去的记忆有了新的理解”。</a:t>
            </a:r>
            <a:endParaRPr sz="2400" b="1">
              <a:solidFill>
                <a:srgbClr val="91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126B9-07AC-4BAF-B3D7-FAC1D3999DA4}" type="slidenum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任意多边形 14"/>
          <p:cNvSpPr/>
          <p:nvPr/>
        </p:nvSpPr>
        <p:spPr>
          <a:xfrm flipH="1">
            <a:off x="1341487" y="780336"/>
            <a:ext cx="2853178" cy="45719"/>
          </a:xfrm>
          <a:custGeom>
            <a:avLst/>
            <a:gdLst>
              <a:gd name="connsiteX0" fmla="*/ 7977051 w 7977051"/>
              <a:gd name="connsiteY0" fmla="*/ 0 h 31619"/>
              <a:gd name="connsiteX1" fmla="*/ 0 w 7977051"/>
              <a:gd name="connsiteY1" fmla="*/ 0 h 31619"/>
              <a:gd name="connsiteX2" fmla="*/ 0 w 7977051"/>
              <a:gd name="connsiteY2" fmla="*/ 31619 h 31619"/>
              <a:gd name="connsiteX3" fmla="*/ 7977051 w 7977051"/>
              <a:gd name="connsiteY3" fmla="*/ 31619 h 31619"/>
              <a:gd name="connsiteX4" fmla="*/ 7977051 w 7977051"/>
              <a:gd name="connsiteY4" fmla="*/ 15810 h 316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977051" h="31619">
                <a:moveTo>
                  <a:pt x="7977051" y="0"/>
                </a:moveTo>
                <a:lnTo>
                  <a:pt x="0" y="0"/>
                </a:lnTo>
                <a:lnTo>
                  <a:pt x="0" y="31619"/>
                </a:lnTo>
                <a:lnTo>
                  <a:pt x="7977051" y="31619"/>
                </a:lnTo>
                <a:lnTo>
                  <a:pt x="7977051" y="1581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902" y="364144"/>
            <a:ext cx="812064" cy="81206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61745" y="301498"/>
            <a:ext cx="10515600" cy="4756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910000"/>
                </a:solidFill>
                <a:latin typeface="微软雅黑" panose="020B0503020204020204" pitchFamily="34" charset="-122"/>
              </a:rPr>
              <a:t>Component Analysis </a:t>
            </a:r>
            <a:endParaRPr sz="2500" b="1">
              <a:solidFill>
                <a:srgbClr val="910000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822960" y="1371600"/>
            <a:ext cx="5577840" cy="658495"/>
          </a:xfrm>
          <a:prstGeom prst="roundRect">
            <a:avLst/>
          </a:prstGeom>
          <a:solidFill>
            <a:srgbClr val="F7F7F7"/>
          </a:solidFill>
          <a:ln w="15240">
            <a:solidFill>
              <a:srgbClr val="91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2D2D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Full A-Mem：Note + Linking + Evolution</a:t>
            </a:r>
            <a:endParaRPr sz="2000" b="1">
              <a:solidFill>
                <a:srgbClr val="2D2D2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822960" y="2240280"/>
            <a:ext cx="2560320" cy="19380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2D2D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Dynamic Linking</a:t>
            </a:r>
            <a:br>
              <a:rPr sz="2000" b="1">
                <a:solidFill>
                  <a:srgbClr val="2D2D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sz="2000" b="1">
                <a:solidFill>
                  <a:srgbClr val="2D2D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关联</a:t>
            </a:r>
            <a:endParaRPr sz="2000" b="1">
              <a:solidFill>
                <a:srgbClr val="2D2D2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ctr"/>
            <a:r>
              <a:rPr sz="2000" b="1">
                <a:solidFill>
                  <a:srgbClr val="2D2D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跨Memory信息</a:t>
            </a:r>
            <a:br>
              <a:rPr sz="2000" b="1">
                <a:solidFill>
                  <a:srgbClr val="2D2D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sz="2000" b="1">
                <a:solidFill>
                  <a:srgbClr val="2D2D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→ 更有利于 Multi-hop</a:t>
            </a:r>
            <a:endParaRPr sz="2000" b="1">
              <a:solidFill>
                <a:srgbClr val="2D2D2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625215" y="2240280"/>
            <a:ext cx="2775585" cy="194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2D2D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Memory</a:t>
            </a:r>
            <a:r>
              <a:rPr lang="en-US" sz="2000" b="1">
                <a:solidFill>
                  <a:srgbClr val="2D2D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sz="2000" b="1">
                <a:solidFill>
                  <a:srgbClr val="2D2D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Evolution</a:t>
            </a:r>
            <a:br>
              <a:rPr sz="2000" b="1">
                <a:solidFill>
                  <a:srgbClr val="2D2D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sz="2000" b="1">
                <a:solidFill>
                  <a:srgbClr val="2D2D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持续更新语义状态</a:t>
            </a:r>
            <a:br>
              <a:rPr sz="2000" b="1">
                <a:solidFill>
                  <a:srgbClr val="2D2D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sz="2000" b="1">
                <a:solidFill>
                  <a:srgbClr val="2D2D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→ 更有利于 Temporal</a:t>
            </a:r>
            <a:endParaRPr sz="2000" b="1">
              <a:solidFill>
                <a:srgbClr val="2D2D2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913880" y="914400"/>
            <a:ext cx="5015230" cy="3987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91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Limitations</a:t>
            </a:r>
            <a:r>
              <a:rPr lang="zh-CN" sz="2000" b="1">
                <a:solidFill>
                  <a:srgbClr val="91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endParaRPr lang="zh-CN" sz="2000" b="1">
              <a:solidFill>
                <a:srgbClr val="91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913880" y="1371600"/>
            <a:ext cx="5113655" cy="3130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2000">
                <a:solidFill>
                  <a:srgbClr val="2D2D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•</a:t>
            </a:r>
            <a:r>
              <a:rPr lang="zh-CN" sz="2000" b="1">
                <a:solidFill>
                  <a:srgbClr val="2D2D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大模型依赖</a:t>
            </a:r>
            <a:r>
              <a:rPr sz="2000" b="1">
                <a:solidFill>
                  <a:srgbClr val="2D2D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r>
              <a:rPr sz="2000">
                <a:solidFill>
                  <a:srgbClr val="2D2D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Note Construction、Link 判断和 Evolution 都依赖后台 LLM，模型能力会影响 Memory 质量</a:t>
            </a:r>
            <a:endParaRPr sz="2000">
              <a:solidFill>
                <a:srgbClr val="2D2D2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spcAft>
                <a:spcPts val="700"/>
              </a:spcAft>
            </a:pPr>
            <a:r>
              <a:rPr sz="2000">
                <a:solidFill>
                  <a:srgbClr val="2D2D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•</a:t>
            </a:r>
            <a:r>
              <a:rPr sz="2000" b="1">
                <a:solidFill>
                  <a:srgbClr val="2D2D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sz="2000" b="1">
                <a:solidFill>
                  <a:srgbClr val="2D2D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可拓展性与成本</a:t>
            </a:r>
            <a:r>
              <a:rPr sz="2000" b="1">
                <a:solidFill>
                  <a:srgbClr val="2D2D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r>
              <a:rPr sz="2000">
                <a:solidFill>
                  <a:srgbClr val="2D2D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每次写入都需要检索、关系判断和可能的更新；Memory 规模增大后，写入侧成本值得关注</a:t>
            </a:r>
            <a:endParaRPr sz="2000">
              <a:solidFill>
                <a:srgbClr val="2D2D2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spcAft>
                <a:spcPts val="700"/>
              </a:spcAft>
            </a:pPr>
            <a:r>
              <a:rPr sz="2000" b="1">
                <a:solidFill>
                  <a:srgbClr val="2D2D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• </a:t>
            </a:r>
            <a:r>
              <a:rPr lang="zh-CN" sz="2000" b="1">
                <a:solidFill>
                  <a:srgbClr val="2D2D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可靠性</a:t>
            </a:r>
            <a:r>
              <a:rPr sz="2000" b="1">
                <a:solidFill>
                  <a:srgbClr val="2D2D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r>
              <a:rPr sz="2000">
                <a:solidFill>
                  <a:srgbClr val="2D2D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错误或幻觉如果进Memo</a:t>
            </a:r>
            <a:r>
              <a:rPr lang="en-US" sz="2000">
                <a:solidFill>
                  <a:srgbClr val="2D2D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ry</a:t>
            </a:r>
            <a:endParaRPr sz="2000">
              <a:solidFill>
                <a:srgbClr val="2D2D2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spcAft>
                <a:spcPts val="700"/>
              </a:spcAft>
            </a:pPr>
            <a:r>
              <a:rPr sz="2000">
                <a:solidFill>
                  <a:srgbClr val="2D2D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Network，可能通过后续 Linking / Evolution影响更多历史 Memory</a:t>
            </a:r>
            <a:endParaRPr sz="2000">
              <a:solidFill>
                <a:srgbClr val="2D2D2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22325" y="4742180"/>
            <a:ext cx="10196195" cy="749935"/>
          </a:xfrm>
          <a:prstGeom prst="roundRect">
            <a:avLst/>
          </a:prstGeom>
          <a:solidFill>
            <a:srgbClr val="F7F7F7"/>
          </a:solidFill>
          <a:ln w="15240">
            <a:solidFill>
              <a:srgbClr val="91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2D2D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A-Mem用更强的“写入/组织侧计算”</a:t>
            </a:r>
            <a:br>
              <a:rPr sz="2000" b="1">
                <a:solidFill>
                  <a:srgbClr val="2D2D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sz="2000" b="1">
                <a:solidFill>
                  <a:srgbClr val="2D2D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换取更短、更有结构的“读取侧上下文”。</a:t>
            </a:r>
            <a:endParaRPr sz="2000" b="1">
              <a:solidFill>
                <a:srgbClr val="2D2D2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126B9-07AC-4BAF-B3D7-FAC1D3999DA4}" type="slidenum">
              <a:rPr lang="zh-CN" altLang="en-US" smtClean="0">
                <a:latin typeface="Times New Roman" panose="02020603050405020304" charset="0"/>
              </a:rPr>
            </a:fld>
            <a:endParaRPr lang="zh-CN" altLang="en-US" dirty="0" smtClean="0">
              <a:latin typeface="Times New Roman" panose="02020603050405020304" charset="0"/>
            </a:endParaRPr>
          </a:p>
        </p:txBody>
      </p:sp>
      <p:sp>
        <p:nvSpPr>
          <p:cNvPr id="15" name="任意多边形 14"/>
          <p:cNvSpPr/>
          <p:nvPr/>
        </p:nvSpPr>
        <p:spPr>
          <a:xfrm flipH="1">
            <a:off x="1341487" y="780336"/>
            <a:ext cx="2853178" cy="45719"/>
          </a:xfrm>
          <a:custGeom>
            <a:avLst/>
            <a:gdLst>
              <a:gd name="connsiteX0" fmla="*/ 7977051 w 7977051"/>
              <a:gd name="connsiteY0" fmla="*/ 0 h 31619"/>
              <a:gd name="connsiteX1" fmla="*/ 0 w 7977051"/>
              <a:gd name="connsiteY1" fmla="*/ 0 h 31619"/>
              <a:gd name="connsiteX2" fmla="*/ 0 w 7977051"/>
              <a:gd name="connsiteY2" fmla="*/ 31619 h 31619"/>
              <a:gd name="connsiteX3" fmla="*/ 7977051 w 7977051"/>
              <a:gd name="connsiteY3" fmla="*/ 31619 h 31619"/>
              <a:gd name="connsiteX4" fmla="*/ 7977051 w 7977051"/>
              <a:gd name="connsiteY4" fmla="*/ 15810 h 316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977051" h="31619">
                <a:moveTo>
                  <a:pt x="7977051" y="0"/>
                </a:moveTo>
                <a:lnTo>
                  <a:pt x="0" y="0"/>
                </a:lnTo>
                <a:lnTo>
                  <a:pt x="0" y="31619"/>
                </a:lnTo>
                <a:lnTo>
                  <a:pt x="7977051" y="31619"/>
                </a:lnTo>
                <a:lnTo>
                  <a:pt x="7977051" y="1581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902" y="364144"/>
            <a:ext cx="812064" cy="81206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/>
        </p:nvSpPr>
        <p:spPr>
          <a:xfrm>
            <a:off x="-62865" y="1468120"/>
            <a:ext cx="12254865" cy="3886200"/>
          </a:xfrm>
          <a:prstGeom prst="rect">
            <a:avLst/>
          </a:prstGeom>
          <a:solidFill>
            <a:schemeClr val="bg1">
              <a:alpha val="9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8"/>
          <p:cNvSpPr txBox="1">
            <a:spLocks noChangeArrowheads="1"/>
          </p:cNvSpPr>
          <p:nvPr/>
        </p:nvSpPr>
        <p:spPr bwMode="auto">
          <a:xfrm>
            <a:off x="-62230" y="2908300"/>
            <a:ext cx="12253595" cy="13735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fontAlgn="auto">
              <a:lnSpc>
                <a:spcPts val="5000"/>
              </a:lnSpc>
              <a:buClrTx/>
              <a:buSzTx/>
              <a:buFontTx/>
            </a:pPr>
            <a:r>
              <a:rPr lang="en-US" altLang="zh-CN" sz="4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MemGPT: Towards LLMs as</a:t>
            </a:r>
            <a:endParaRPr lang="en-US" altLang="zh-CN" sz="4000" b="1" dirty="0">
              <a:solidFill>
                <a:schemeClr val="accent1">
                  <a:lumMod val="75000"/>
                </a:schemeClr>
              </a:solidFill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  <a:sym typeface="+mn-ea"/>
            </a:endParaRPr>
          </a:p>
          <a:p>
            <a:pPr algn="ctr" fontAlgn="auto">
              <a:lnSpc>
                <a:spcPts val="5000"/>
              </a:lnSpc>
              <a:buClrTx/>
              <a:buSzTx/>
              <a:buFontTx/>
            </a:pPr>
            <a:r>
              <a:rPr lang="en-US" altLang="zh-CN" sz="4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Operating Systems</a:t>
            </a:r>
            <a:endParaRPr lang="en-US" altLang="zh-CN" sz="4000" b="1" dirty="0">
              <a:solidFill>
                <a:schemeClr val="accent1">
                  <a:lumMod val="75000"/>
                </a:schemeClr>
              </a:solidFill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8440" y="1758407"/>
            <a:ext cx="1055120" cy="1055120"/>
          </a:xfrm>
          <a:prstGeom prst="rect">
            <a:avLst/>
          </a:prstGeom>
        </p:spPr>
      </p:pic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126B9-07AC-4BAF-B3D7-FAC1D3999DA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6" name="图片 1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902" y="364144"/>
            <a:ext cx="812064" cy="81206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353312" y="256032"/>
            <a:ext cx="987552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96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MemGPT Motivation：为什么需要“虚拟上下文”？</a:t>
            </a:r>
            <a:endParaRPr sz="2400" b="1">
              <a:solidFill>
                <a:srgbClr val="96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344168" y="768096"/>
            <a:ext cx="2788920" cy="32004"/>
          </a:xfrm>
          <a:prstGeom prst="rect">
            <a:avLst/>
          </a:prstGeom>
          <a:solidFill>
            <a:srgbClr val="9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1143000"/>
            <a:ext cx="5166360" cy="4053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2000">
                <a:solidFill>
                  <a:srgbClr val="3030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• 核心瓶颈：LLM 的 Context Window 固定且有限，长期对话或长文档最终都会超过可输入长度。</a:t>
            </a:r>
            <a:endParaRPr sz="2000">
              <a:solidFill>
                <a:srgbClr val="30303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spcAft>
                <a:spcPts val="700"/>
              </a:spcAft>
            </a:pPr>
            <a:r>
              <a:rPr sz="2000">
                <a:solidFill>
                  <a:srgbClr val="3030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• 直接扩大 Context：Self-attention 的计算/显存成本快速增长；而且更长 Context 不等于模型能有效利用全部信息。</a:t>
            </a:r>
            <a:endParaRPr sz="2000">
              <a:solidFill>
                <a:srgbClr val="30303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spcAft>
                <a:spcPts val="700"/>
              </a:spcAft>
            </a:pPr>
            <a:r>
              <a:rPr sz="2000">
                <a:solidFill>
                  <a:srgbClr val="3030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• MemGPT 的目标：不重新训练“无限长模型”，而是在固定 Context LLM 外增加 Memory Management。</a:t>
            </a:r>
            <a:endParaRPr sz="2000">
              <a:solidFill>
                <a:srgbClr val="30303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spcAft>
                <a:spcPts val="700"/>
              </a:spcAft>
            </a:pPr>
            <a:r>
              <a:rPr sz="2000">
                <a:solidFill>
                  <a:srgbClr val="3030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• 核心问题：能否像操作系统使用虚拟内存一样，让 LLM 在有限窗口中获得近似无限 Context 的使用体验？</a:t>
            </a:r>
            <a:endParaRPr sz="2000">
              <a:solidFill>
                <a:srgbClr val="30303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400800" y="1325880"/>
            <a:ext cx="4389120" cy="914400"/>
          </a:xfrm>
          <a:prstGeom prst="roundRect">
            <a:avLst/>
          </a:prstGeom>
          <a:solidFill>
            <a:srgbClr val="F8F8F8"/>
          </a:solidFill>
          <a:ln w="15240">
            <a:solidFill>
              <a:srgbClr val="9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900" b="1">
                <a:solidFill>
                  <a:srgbClr val="303030"/>
                </a:solidFill>
                <a:latin typeface="微软雅黑" panose="020B0503020204020204" pitchFamily="34" charset="-122"/>
              </a:rPr>
              <a:t>Fixed Context Window</a:t>
            </a:r>
            <a:br>
              <a:rPr sz="1900" b="1">
                <a:solidFill>
                  <a:srgbClr val="303030"/>
                </a:solidFill>
                <a:latin typeface="微软雅黑" panose="020B0503020204020204" pitchFamily="34" charset="-122"/>
              </a:rPr>
            </a:br>
            <a:r>
              <a:rPr sz="1900" b="1">
                <a:solidFill>
                  <a:srgbClr val="303030"/>
                </a:solidFill>
                <a:latin typeface="微软雅黑" panose="020B0503020204020204" pitchFamily="34" charset="-122"/>
              </a:rPr>
              <a:t>≈ 有限 Physical Memory</a:t>
            </a:r>
            <a:endParaRPr sz="1900" b="1">
              <a:solidFill>
                <a:srgbClr val="303030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21" name="Connector 20"/>
          <p:cNvCxnSpPr/>
          <p:nvPr/>
        </p:nvCxnSpPr>
        <p:spPr>
          <a:xfrm>
            <a:off x="8595360" y="2331720"/>
            <a:ext cx="0" cy="457200"/>
          </a:xfrm>
          <a:prstGeom prst="line">
            <a:avLst/>
          </a:prstGeom>
          <a:ln w="19050">
            <a:solidFill>
              <a:srgbClr val="96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400800" y="2834640"/>
            <a:ext cx="4389120" cy="914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900" b="1">
                <a:solidFill>
                  <a:srgbClr val="303030"/>
                </a:solidFill>
                <a:latin typeface="微软雅黑" panose="020B0503020204020204" pitchFamily="34" charset="-122"/>
              </a:rPr>
              <a:t>External Storage</a:t>
            </a:r>
            <a:br>
              <a:rPr sz="1900" b="1">
                <a:solidFill>
                  <a:srgbClr val="303030"/>
                </a:solidFill>
                <a:latin typeface="微软雅黑" panose="020B0503020204020204" pitchFamily="34" charset="-122"/>
              </a:rPr>
            </a:br>
            <a:r>
              <a:rPr sz="1900" b="1">
                <a:solidFill>
                  <a:srgbClr val="303030"/>
                </a:solidFill>
                <a:latin typeface="微软雅黑" panose="020B0503020204020204" pitchFamily="34" charset="-122"/>
              </a:rPr>
              <a:t>≈ Disk / Secondary Storage</a:t>
            </a:r>
            <a:endParaRPr sz="1900" b="1">
              <a:solidFill>
                <a:srgbClr val="303030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23" name="Connector 22"/>
          <p:cNvCxnSpPr/>
          <p:nvPr/>
        </p:nvCxnSpPr>
        <p:spPr>
          <a:xfrm>
            <a:off x="8595360" y="3840480"/>
            <a:ext cx="0" cy="457200"/>
          </a:xfrm>
          <a:prstGeom prst="line">
            <a:avLst/>
          </a:prstGeom>
          <a:ln w="19050">
            <a:solidFill>
              <a:srgbClr val="96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0" y="4343400"/>
            <a:ext cx="4389120" cy="914400"/>
          </a:xfrm>
          <a:prstGeom prst="roundRect">
            <a:avLst/>
          </a:prstGeom>
          <a:solidFill>
            <a:srgbClr val="F8F8F8"/>
          </a:solidFill>
          <a:ln w="15240">
            <a:solidFill>
              <a:srgbClr val="9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900" b="1">
                <a:solidFill>
                  <a:srgbClr val="960000"/>
                </a:solidFill>
                <a:latin typeface="微软雅黑" panose="020B0503020204020204" pitchFamily="34" charset="-122"/>
              </a:rPr>
              <a:t>Virtual Context Management</a:t>
            </a:r>
            <a:br>
              <a:rPr sz="1900" b="1">
                <a:solidFill>
                  <a:srgbClr val="960000"/>
                </a:solidFill>
                <a:latin typeface="微软雅黑" panose="020B0503020204020204" pitchFamily="34" charset="-122"/>
              </a:rPr>
            </a:br>
            <a:r>
              <a:rPr sz="1900" b="1">
                <a:solidFill>
                  <a:srgbClr val="960000"/>
                </a:solidFill>
                <a:latin typeface="微软雅黑" panose="020B0503020204020204" pitchFamily="34" charset="-122"/>
              </a:rPr>
              <a:t>按需 Page In / Page Out</a:t>
            </a:r>
            <a:endParaRPr sz="1900" b="1">
              <a:solidFill>
                <a:srgbClr val="960000"/>
              </a:solidFill>
              <a:latin typeface="微软雅黑" panose="020B0503020204020204" pitchFamily="3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14400" y="6144768"/>
            <a:ext cx="10241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960000"/>
                </a:solidFill>
                <a:latin typeface="微软雅黑" panose="020B0503020204020204" pitchFamily="34" charset="-122"/>
              </a:rPr>
              <a:t>一句话：MemGPT 不改变 LLM 的窗口上限，而是改变“上下文如何被管理”。</a:t>
            </a:r>
            <a:endParaRPr sz="1300" b="1">
              <a:solidFill>
                <a:srgbClr val="960000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182" y="159674"/>
            <a:ext cx="812064" cy="812064"/>
          </a:xfrm>
          <a:prstGeom prst="rect">
            <a:avLst/>
          </a:prstGeom>
        </p:spPr>
      </p:pic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10774680" y="6356350"/>
            <a:ext cx="1437640" cy="365125"/>
          </a:xfrm>
        </p:spPr>
        <p:txBody>
          <a:bodyPr/>
          <a:lstStyle/>
          <a:p>
            <a:fld id="{023126B9-07AC-4BAF-B3D7-FAC1D3999DA4}" type="slidenum">
              <a:rPr lang="zh-CN" altLang="en-US" smtClean="0">
                <a:latin typeface="Times New Roman" panose="02020603050405020304" charset="0"/>
              </a:rPr>
            </a:fld>
            <a:endParaRPr lang="zh-CN" altLang="en-US" dirty="0" smtClean="0">
              <a:latin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6" name="图片 1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902" y="364144"/>
            <a:ext cx="812064" cy="81206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353312" y="256032"/>
            <a:ext cx="987552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96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Intuition：把 LLM 当成一个“操作系统”</a:t>
            </a:r>
            <a:endParaRPr sz="2400" b="1">
              <a:solidFill>
                <a:srgbClr val="96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344168" y="768096"/>
            <a:ext cx="2788920" cy="32004"/>
          </a:xfrm>
          <a:prstGeom prst="rect">
            <a:avLst/>
          </a:prstGeom>
          <a:solidFill>
            <a:srgbClr val="9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22960" y="1097280"/>
            <a:ext cx="4663440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96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传统 Operating System</a:t>
            </a:r>
            <a:endParaRPr sz="2000" b="1">
              <a:solidFill>
                <a:srgbClr val="96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1051560" y="1600200"/>
            <a:ext cx="3840480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3030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Application / Process</a:t>
            </a:r>
            <a:endParaRPr sz="2000" b="1">
              <a:solidFill>
                <a:srgbClr val="30303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1051560" y="2606040"/>
            <a:ext cx="3840480" cy="658368"/>
          </a:xfrm>
          <a:prstGeom prst="roundRect">
            <a:avLst/>
          </a:prstGeom>
          <a:solidFill>
            <a:srgbClr val="F8F8F8"/>
          </a:solidFill>
          <a:ln w="15240">
            <a:solidFill>
              <a:srgbClr val="9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3030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RAM：容量有限、访问快</a:t>
            </a:r>
            <a:endParaRPr sz="2000" b="1">
              <a:solidFill>
                <a:srgbClr val="30303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1051560" y="3611880"/>
            <a:ext cx="3840480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3030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Disk：容量大、按需调入</a:t>
            </a:r>
            <a:endParaRPr sz="2000" b="1">
              <a:solidFill>
                <a:srgbClr val="30303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cxnSp>
        <p:nvCxnSpPr>
          <p:cNvPr id="23" name="Connector 22"/>
          <p:cNvCxnSpPr/>
          <p:nvPr/>
        </p:nvCxnSpPr>
        <p:spPr>
          <a:xfrm>
            <a:off x="2971800" y="2304288"/>
            <a:ext cx="0" cy="237744"/>
          </a:xfrm>
          <a:prstGeom prst="line">
            <a:avLst/>
          </a:prstGeom>
          <a:ln w="19050">
            <a:solidFill>
              <a:srgbClr val="96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971800" y="3310128"/>
            <a:ext cx="0" cy="237744"/>
          </a:xfrm>
          <a:prstGeom prst="line">
            <a:avLst/>
          </a:prstGeom>
          <a:ln w="19050">
            <a:solidFill>
              <a:srgbClr val="96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400800" y="1097280"/>
            <a:ext cx="4663440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96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MemGPT 中的对应关系</a:t>
            </a:r>
            <a:endParaRPr sz="2000" b="1">
              <a:solidFill>
                <a:srgbClr val="96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6423660" y="1600200"/>
            <a:ext cx="4232910" cy="658495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3030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LLM Processor</a:t>
            </a:r>
            <a:endParaRPr sz="2000" b="1">
              <a:solidFill>
                <a:srgbClr val="30303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6401435" y="2606040"/>
            <a:ext cx="4255135" cy="658495"/>
          </a:xfrm>
          <a:prstGeom prst="roundRect">
            <a:avLst/>
          </a:prstGeom>
          <a:solidFill>
            <a:srgbClr val="F8F8F8"/>
          </a:solidFill>
          <a:ln w="15240">
            <a:solidFill>
              <a:srgbClr val="9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3030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Main Context：当前可见上下文</a:t>
            </a:r>
            <a:endParaRPr sz="2000" b="1">
              <a:solidFill>
                <a:srgbClr val="30303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6400800" y="3611880"/>
            <a:ext cx="4256405" cy="658495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3030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External Context：Recall + Archival</a:t>
            </a:r>
            <a:endParaRPr sz="2000" b="1">
              <a:solidFill>
                <a:srgbClr val="30303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cxnSp>
        <p:nvCxnSpPr>
          <p:cNvPr id="29" name="Connector 28"/>
          <p:cNvCxnSpPr/>
          <p:nvPr/>
        </p:nvCxnSpPr>
        <p:spPr>
          <a:xfrm>
            <a:off x="8549640" y="2304288"/>
            <a:ext cx="0" cy="237744"/>
          </a:xfrm>
          <a:prstGeom prst="line">
            <a:avLst/>
          </a:prstGeom>
          <a:ln w="19050">
            <a:solidFill>
              <a:srgbClr val="96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549640" y="3310128"/>
            <a:ext cx="0" cy="237744"/>
          </a:xfrm>
          <a:prstGeom prst="line">
            <a:avLst/>
          </a:prstGeom>
          <a:ln w="19050">
            <a:solidFill>
              <a:srgbClr val="96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051560" y="4709160"/>
            <a:ext cx="9418320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030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OS 通过 paging 在 RAM 与 Disk 之间移动数据；MemGPT 通过 function calls 在 Main Context 与 External Context 之间移动信息。</a:t>
            </a:r>
            <a:endParaRPr sz="2000" b="1">
              <a:solidFill>
                <a:srgbClr val="30303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914400" y="5630418"/>
            <a:ext cx="10241280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96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因此 MemGPT 更像一个 Memory OS / Context Manager，而不是新的语言模型。</a:t>
            </a:r>
            <a:endParaRPr sz="2000" b="1">
              <a:solidFill>
                <a:srgbClr val="96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182" y="159674"/>
            <a:ext cx="812064" cy="812064"/>
          </a:xfrm>
          <a:prstGeom prst="rect">
            <a:avLst/>
          </a:prstGeom>
        </p:spPr>
      </p:pic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126B9-07AC-4BAF-B3D7-FAC1D3999DA4}" type="slidenum">
              <a:rPr lang="zh-CN" altLang="en-US" smtClean="0">
                <a:latin typeface="Times New Roman" panose="02020603050405020304" charset="0"/>
              </a:rPr>
            </a:fld>
            <a:endParaRPr lang="zh-CN" altLang="en-US" dirty="0" smtClean="0">
              <a:latin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6" name="图片 1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902" y="364144"/>
            <a:ext cx="812064" cy="81206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353312" y="256032"/>
            <a:ext cx="9875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960000"/>
                </a:solidFill>
                <a:latin typeface="Arial" panose="020B0604020202020204"/>
              </a:rPr>
              <a:t>MemGPT Overall Architecture：分层 Memory + 自主管理</a:t>
            </a:r>
            <a:endParaRPr sz="2400" b="1">
              <a:solidFill>
                <a:srgbClr val="960000"/>
              </a:solidFill>
              <a:latin typeface="Arial" panose="020B0604020202020204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344168" y="768096"/>
            <a:ext cx="2788920" cy="32004"/>
          </a:xfrm>
          <a:prstGeom prst="rect">
            <a:avLst/>
          </a:prstGeom>
          <a:solidFill>
            <a:srgbClr val="9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fig3.png"/>
          <p:cNvPicPr>
            <a:picLocks noChangeAspect="1"/>
          </p:cNvPicPr>
          <p:nvPr/>
        </p:nvPicPr>
        <p:blipFill>
          <a:blip r:embed="rId2"/>
          <a:srcRect l="6301" t="2775" r="7839" b="29746"/>
          <a:stretch>
            <a:fillRect/>
          </a:stretch>
        </p:blipFill>
        <p:spPr>
          <a:xfrm>
            <a:off x="80645" y="1115695"/>
            <a:ext cx="7981315" cy="418528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061960" y="1234440"/>
            <a:ext cx="4102100" cy="52571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700"/>
              </a:spcAft>
            </a:pPr>
            <a:r>
              <a:rPr sz="2000">
                <a:solidFill>
                  <a:srgbClr val="3030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• Main Context：真正进入 LLM 的 Prompt：System Instructions + Working Context + FIFO Queue。</a:t>
            </a:r>
            <a:endParaRPr sz="2000">
              <a:solidFill>
                <a:srgbClr val="30303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spcAft>
                <a:spcPts val="700"/>
              </a:spcAft>
            </a:pPr>
            <a:r>
              <a:rPr sz="2000">
                <a:solidFill>
                  <a:srgbClr val="3030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• Recall Storage：保存完整消息历史；移出 Context 的对话仍可检索。</a:t>
            </a:r>
            <a:endParaRPr sz="2000">
              <a:solidFill>
                <a:srgbClr val="30303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spcAft>
                <a:spcPts val="700"/>
              </a:spcAft>
            </a:pPr>
            <a:r>
              <a:rPr sz="2000">
                <a:solidFill>
                  <a:srgbClr val="3030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• Archival Storage：任意长度的长期文本/知识，可主动搜索与写入。</a:t>
            </a:r>
            <a:endParaRPr sz="2000">
              <a:solidFill>
                <a:srgbClr val="30303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spcAft>
                <a:spcPts val="700"/>
              </a:spcAft>
            </a:pPr>
            <a:r>
              <a:rPr sz="2000">
                <a:solidFill>
                  <a:srgbClr val="3030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• Function Executor：把 LLM 输出解释为 Memory function calls。</a:t>
            </a:r>
            <a:endParaRPr sz="2000">
              <a:solidFill>
                <a:srgbClr val="30303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spcAft>
                <a:spcPts val="700"/>
              </a:spcAft>
            </a:pPr>
            <a:r>
              <a:rPr sz="2000">
                <a:solidFill>
                  <a:srgbClr val="3030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• Queue Manager：负责消息入队、Recall 写入以及 Context overflow / eviction。</a:t>
            </a:r>
            <a:endParaRPr sz="2000">
              <a:solidFill>
                <a:srgbClr val="30303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69545" y="5476875"/>
            <a:ext cx="7811770" cy="10280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2000" b="1">
                <a:solidFill>
                  <a:srgbClr val="96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LLM 不直接看到全部历史，而是通过 Memory hierarchy </a:t>
            </a:r>
            <a:endParaRPr sz="2000" b="1">
              <a:solidFill>
                <a:srgbClr val="96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ctr"/>
            <a:r>
              <a:rPr sz="2000" b="1">
                <a:solidFill>
                  <a:srgbClr val="96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主动选择“现在应该看什么”。</a:t>
            </a:r>
            <a:endParaRPr sz="2000" b="1">
              <a:solidFill>
                <a:srgbClr val="96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182" y="159674"/>
            <a:ext cx="812064" cy="812064"/>
          </a:xfrm>
          <a:prstGeom prst="rect">
            <a:avLst/>
          </a:prstGeom>
        </p:spPr>
      </p:pic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126B9-07AC-4BAF-B3D7-FAC1D3999DA4}" type="slidenum">
              <a:rPr lang="zh-CN" altLang="en-US" smtClean="0">
                <a:latin typeface="Times New Roman" panose="02020603050405020304" charset="0"/>
              </a:rPr>
            </a:fld>
            <a:endParaRPr lang="zh-CN" altLang="en-US" dirty="0" smtClean="0">
              <a:latin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6" name="图片 1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902" y="364144"/>
            <a:ext cx="812064" cy="81206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353312" y="256032"/>
            <a:ext cx="987552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96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Design 1：Main Context 里面到底放什么？</a:t>
            </a:r>
            <a:endParaRPr sz="2400" b="1">
              <a:solidFill>
                <a:srgbClr val="96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344168" y="768096"/>
            <a:ext cx="2788920" cy="32004"/>
          </a:xfrm>
          <a:prstGeom prst="rect">
            <a:avLst/>
          </a:prstGeom>
          <a:solidFill>
            <a:srgbClr val="9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84860" y="1325880"/>
            <a:ext cx="3284220" cy="1244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3030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System Instructions</a:t>
            </a:r>
            <a:br>
              <a:rPr sz="2000" b="1">
                <a:solidFill>
                  <a:srgbClr val="3030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sz="2000" b="1">
                <a:solidFill>
                  <a:srgbClr val="3030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只读 / Static</a:t>
            </a:r>
            <a:br>
              <a:rPr sz="2000" b="1">
                <a:solidFill>
                  <a:srgbClr val="3030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sz="2000" b="1">
                <a:solidFill>
                  <a:srgbClr val="3030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Memory 层级说明 + Function Schema</a:t>
            </a:r>
            <a:endParaRPr sz="2000" b="1">
              <a:solidFill>
                <a:srgbClr val="30303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4434840" y="1325880"/>
            <a:ext cx="3385820" cy="1244600"/>
          </a:xfrm>
          <a:prstGeom prst="roundRect">
            <a:avLst/>
          </a:prstGeom>
          <a:solidFill>
            <a:srgbClr val="F8F8F8"/>
          </a:solidFill>
          <a:ln w="15240">
            <a:solidFill>
              <a:srgbClr val="9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3030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Working Context</a:t>
            </a:r>
            <a:br>
              <a:rPr sz="2000" b="1">
                <a:solidFill>
                  <a:srgbClr val="3030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sz="2000" b="1">
                <a:solidFill>
                  <a:srgbClr val="3030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固定大小 / Read-Write</a:t>
            </a:r>
            <a:br>
              <a:rPr sz="2000" b="1">
                <a:solidFill>
                  <a:srgbClr val="3030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sz="2000" b="1">
                <a:solidFill>
                  <a:srgbClr val="3030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用户事实、偏好、</a:t>
            </a:r>
            <a:endParaRPr sz="2000" b="1">
              <a:solidFill>
                <a:srgbClr val="30303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ctr"/>
            <a:r>
              <a:rPr sz="2000" b="1">
                <a:solidFill>
                  <a:srgbClr val="3030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Agent Persona</a:t>
            </a:r>
            <a:endParaRPr sz="2000" b="1">
              <a:solidFill>
                <a:srgbClr val="30303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8046720" y="1325880"/>
            <a:ext cx="3512185" cy="1244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3030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FIFO Queue</a:t>
            </a:r>
            <a:br>
              <a:rPr sz="2000" b="1">
                <a:solidFill>
                  <a:srgbClr val="3030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sz="2000" b="1">
                <a:solidFill>
                  <a:srgbClr val="3030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滚动消息历史</a:t>
            </a:r>
            <a:br>
              <a:rPr sz="2000" b="1">
                <a:solidFill>
                  <a:srgbClr val="3030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sz="2000" b="1">
                <a:solidFill>
                  <a:srgbClr val="3030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User / Agent / System / Function I/O</a:t>
            </a:r>
            <a:endParaRPr sz="2000" b="1">
              <a:solidFill>
                <a:srgbClr val="30303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68680" y="2880360"/>
            <a:ext cx="10241280" cy="2515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2000">
                <a:solidFill>
                  <a:srgbClr val="3030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• System Instructions：告诉模型有哪些 Memory 层、什么时候检索、如何调用函数。</a:t>
            </a:r>
            <a:endParaRPr sz="2000">
              <a:solidFill>
                <a:srgbClr val="30303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spcAft>
                <a:spcPts val="700"/>
              </a:spcAft>
            </a:pPr>
            <a:r>
              <a:rPr sz="2000">
                <a:solidFill>
                  <a:srgbClr val="3030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• Working Context：类似长期运行中的“核心状态”，适合保存必须持续可见的重要事实，而不是完整历史。</a:t>
            </a:r>
            <a:endParaRPr sz="2000">
              <a:solidFill>
                <a:srgbClr val="30303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spcAft>
                <a:spcPts val="700"/>
              </a:spcAft>
            </a:pPr>
            <a:r>
              <a:rPr sz="2000">
                <a:solidFill>
                  <a:srgbClr val="3030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• FIFO Queue：</a:t>
            </a:r>
            <a:r>
              <a:rPr lang="zh-CN" altLang="en-US" sz="2000">
                <a:solidFill>
                  <a:srgbClr val="3030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保存近期对话；超出上下文容量的旧消息被移出，并压缩成滚动更新的历史摘要。</a:t>
            </a:r>
            <a:endParaRPr lang="zh-CN" altLang="en-US" sz="2000">
              <a:solidFill>
                <a:srgbClr val="30303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spcAft>
                <a:spcPts val="700"/>
              </a:spcAft>
            </a:pPr>
            <a:r>
              <a:rPr sz="2000">
                <a:solidFill>
                  <a:srgbClr val="3030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• 重要区别：Main Context 始终受原始 Context Window 限制，因此关键是管理，而不是无限塞入。</a:t>
            </a:r>
            <a:endParaRPr sz="2000">
              <a:solidFill>
                <a:srgbClr val="30303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87425" y="5397373"/>
            <a:ext cx="10241280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96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Main Context = 当前工作集；External Context = 可按需访问的长期信息。</a:t>
            </a:r>
            <a:endParaRPr sz="2000" b="1">
              <a:solidFill>
                <a:srgbClr val="96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182" y="159674"/>
            <a:ext cx="812064" cy="812064"/>
          </a:xfrm>
          <a:prstGeom prst="rect">
            <a:avLst/>
          </a:prstGeom>
        </p:spPr>
      </p:pic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126B9-07AC-4BAF-B3D7-FAC1D3999DA4}" type="slidenum">
              <a:rPr lang="zh-CN" altLang="en-US" smtClean="0">
                <a:latin typeface="Times New Roman" panose="02020603050405020304" charset="0"/>
              </a:rPr>
            </a:fld>
            <a:endParaRPr lang="zh-CN" altLang="en-US" dirty="0" smtClean="0">
              <a:latin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6" name="图片 1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902" y="364144"/>
            <a:ext cx="812064" cy="81206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353312" y="256032"/>
            <a:ext cx="987552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96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Design 2：Memory Pressure 与 Queue Eviction</a:t>
            </a:r>
            <a:endParaRPr sz="2400" b="1">
              <a:solidFill>
                <a:srgbClr val="96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344168" y="768096"/>
            <a:ext cx="2788920" cy="32004"/>
          </a:xfrm>
          <a:prstGeom prst="rect">
            <a:avLst/>
          </a:prstGeom>
          <a:solidFill>
            <a:srgbClr val="9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774700" y="1447800"/>
            <a:ext cx="2425700" cy="865505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3030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Normal</a:t>
            </a:r>
            <a:br>
              <a:rPr sz="2000" b="1">
                <a:solidFill>
                  <a:srgbClr val="3030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sz="2000" b="1">
                <a:solidFill>
                  <a:srgbClr val="3030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 Warning Threshold</a:t>
            </a:r>
            <a:endParaRPr sz="2000" b="1">
              <a:solidFill>
                <a:srgbClr val="30303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0" name="Connector 19"/>
          <p:cNvCxnSpPr/>
          <p:nvPr/>
        </p:nvCxnSpPr>
        <p:spPr>
          <a:xfrm>
            <a:off x="3291840" y="1956816"/>
            <a:ext cx="411480" cy="0"/>
          </a:xfrm>
          <a:prstGeom prst="line">
            <a:avLst/>
          </a:prstGeom>
          <a:ln w="19050">
            <a:solidFill>
              <a:srgbClr val="96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3749040" y="1447800"/>
            <a:ext cx="2771775" cy="865505"/>
          </a:xfrm>
          <a:prstGeom prst="roundRect">
            <a:avLst/>
          </a:prstGeom>
          <a:solidFill>
            <a:srgbClr val="F8F8F8"/>
          </a:solidFill>
          <a:ln w="15240">
            <a:solidFill>
              <a:srgbClr val="9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96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Memory Pressure</a:t>
            </a:r>
            <a:br>
              <a:rPr sz="2000" b="1">
                <a:solidFill>
                  <a:srgbClr val="96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sz="2000" b="1">
                <a:solidFill>
                  <a:srgbClr val="96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例如约 70%</a:t>
            </a:r>
            <a:endParaRPr sz="2000" b="1">
              <a:solidFill>
                <a:srgbClr val="96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6583680" y="1956816"/>
            <a:ext cx="411480" cy="0"/>
          </a:xfrm>
          <a:prstGeom prst="line">
            <a:avLst/>
          </a:prstGeom>
          <a:ln w="19050">
            <a:solidFill>
              <a:srgbClr val="96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040880" y="1439545"/>
            <a:ext cx="2886710" cy="873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9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3030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Flush Threshold</a:t>
            </a:r>
            <a:br>
              <a:rPr sz="2000" b="1">
                <a:solidFill>
                  <a:srgbClr val="3030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sz="2000" b="1">
                <a:solidFill>
                  <a:srgbClr val="3030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例如约 100%</a:t>
            </a:r>
            <a:endParaRPr sz="2000" b="1">
              <a:solidFill>
                <a:srgbClr val="30303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cxnSp>
        <p:nvCxnSpPr>
          <p:cNvPr id="24" name="Connector 23"/>
          <p:cNvCxnSpPr/>
          <p:nvPr/>
        </p:nvCxnSpPr>
        <p:spPr>
          <a:xfrm>
            <a:off x="8412480" y="2395728"/>
            <a:ext cx="0" cy="484632"/>
          </a:xfrm>
          <a:prstGeom prst="line">
            <a:avLst/>
          </a:prstGeom>
          <a:ln w="19050">
            <a:solidFill>
              <a:srgbClr val="96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172200" y="2717800"/>
            <a:ext cx="4603115" cy="1441450"/>
          </a:xfrm>
          <a:prstGeom prst="roundRect">
            <a:avLst/>
          </a:prstGeom>
          <a:solidFill>
            <a:srgbClr val="F8F8F8"/>
          </a:solidFill>
          <a:ln w="15240">
            <a:solidFill>
              <a:srgbClr val="9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zh-CN" altLang="en-US" sz="2000" b="1">
                <a:solidFill>
                  <a:srgbClr val="3030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移出部分较早的 </a:t>
            </a:r>
            <a:r>
              <a:rPr lang="en-US" altLang="zh-CN" sz="2000" b="1">
                <a:solidFill>
                  <a:srgbClr val="3030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FIFO </a:t>
            </a:r>
            <a:r>
              <a:rPr lang="zh-CN" altLang="en-US" sz="2000" b="1">
                <a:solidFill>
                  <a:srgbClr val="3030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消息</a:t>
            </a:r>
            <a:endParaRPr lang="zh-CN" altLang="en-US" sz="2000" b="1">
              <a:solidFill>
                <a:srgbClr val="30303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ctr"/>
            <a:r>
              <a:rPr lang="zh-CN" altLang="en-US" sz="2000" b="1">
                <a:solidFill>
                  <a:srgbClr val="3030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生成并更新递归摘要</a:t>
            </a:r>
            <a:endParaRPr lang="zh-CN" altLang="en-US" sz="2000" b="1">
              <a:solidFill>
                <a:srgbClr val="30303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ctr"/>
            <a:r>
              <a:rPr lang="zh-CN" altLang="en-US" sz="2000" b="1">
                <a:solidFill>
                  <a:srgbClr val="3030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完整历史仍保存在 </a:t>
            </a:r>
            <a:r>
              <a:rPr lang="en-US" altLang="zh-CN" sz="2000" b="1">
                <a:solidFill>
                  <a:srgbClr val="3030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Recall Storage </a:t>
            </a:r>
            <a:r>
              <a:rPr lang="zh-CN" altLang="en-US" sz="2000" b="1">
                <a:solidFill>
                  <a:srgbClr val="3030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</a:t>
            </a:r>
            <a:endParaRPr lang="zh-CN" altLang="en-US" sz="2000" b="1">
              <a:solidFill>
                <a:srgbClr val="30303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68680" y="2880360"/>
            <a:ext cx="5303520" cy="24250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2000">
                <a:solidFill>
                  <a:srgbClr val="3030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• Memory Pressure Warning：Queue Manager 插入系统提醒：Context 快满了。</a:t>
            </a:r>
            <a:endParaRPr sz="2000">
              <a:solidFill>
                <a:srgbClr val="30303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spcAft>
                <a:spcPts val="700"/>
              </a:spcAft>
            </a:pPr>
            <a:r>
              <a:rPr sz="2000">
                <a:solidFill>
                  <a:srgbClr val="3030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• LLM 的机会：在 eviction 前，把重要信息主动写入 Working Context 或 Archival Storage。</a:t>
            </a:r>
            <a:endParaRPr sz="2000">
              <a:solidFill>
                <a:srgbClr val="30303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spcAft>
                <a:spcPts val="700"/>
              </a:spcAft>
            </a:pPr>
            <a:r>
              <a:rPr sz="2000">
                <a:solidFill>
                  <a:srgbClr val="3030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•</a:t>
            </a:r>
            <a:r>
              <a:rPr lang="zh-CN" sz="2000">
                <a:solidFill>
                  <a:srgbClr val="3030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移出</a:t>
            </a:r>
            <a:r>
              <a:rPr sz="2000">
                <a:solidFill>
                  <a:srgbClr val="3030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后：消息不再直接可见，但不会丢失，可从 Recall Storage 再检索回来。</a:t>
            </a:r>
            <a:endParaRPr sz="2000">
              <a:solidFill>
                <a:srgbClr val="30303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74700" y="5344668"/>
            <a:ext cx="10241280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96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类似 OS 页面置换：不是“忘掉历史”，而是把暂时不需要的信息移出当前工作区。</a:t>
            </a:r>
            <a:endParaRPr sz="2000" b="1">
              <a:solidFill>
                <a:srgbClr val="96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182" y="159674"/>
            <a:ext cx="812064" cy="812064"/>
          </a:xfrm>
          <a:prstGeom prst="rect">
            <a:avLst/>
          </a:prstGeom>
        </p:spPr>
      </p:pic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126B9-07AC-4BAF-B3D7-FAC1D3999DA4}" type="slidenum">
              <a:rPr lang="zh-CN" altLang="en-US" smtClean="0">
                <a:latin typeface="Times New Roman" panose="02020603050405020304" charset="0"/>
              </a:rPr>
            </a:fld>
            <a:endParaRPr lang="zh-CN" altLang="en-US" dirty="0" smtClean="0">
              <a:latin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6" name="图片 1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902" y="364144"/>
            <a:ext cx="812064" cy="81206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353185" y="255905"/>
            <a:ext cx="10989945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96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Design 3：Function Calling + Heartbeat 如何形成多步 Memory 操作？</a:t>
            </a:r>
            <a:endParaRPr sz="2400" b="1">
              <a:solidFill>
                <a:srgbClr val="96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344168" y="768096"/>
            <a:ext cx="2788920" cy="32004"/>
          </a:xfrm>
          <a:prstGeom prst="rect">
            <a:avLst/>
          </a:prstGeom>
          <a:solidFill>
            <a:srgbClr val="9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2960" y="1176655"/>
            <a:ext cx="1965960" cy="862330"/>
          </a:xfrm>
          <a:prstGeom prst="roundRect">
            <a:avLst/>
          </a:prstGeom>
          <a:solidFill>
            <a:srgbClr val="F8F8F8"/>
          </a:solidFill>
          <a:ln w="15240">
            <a:solidFill>
              <a:srgbClr val="9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3030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LLM</a:t>
            </a:r>
            <a:br>
              <a:rPr sz="2000" b="1">
                <a:solidFill>
                  <a:srgbClr val="3030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sz="2000" b="1">
                <a:solidFill>
                  <a:srgbClr val="3030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生成输出</a:t>
            </a:r>
            <a:endParaRPr sz="2000" b="1">
              <a:solidFill>
                <a:srgbClr val="30303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3154680" y="1176655"/>
            <a:ext cx="2201545" cy="862965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3030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Function Executor</a:t>
            </a:r>
            <a:br>
              <a:rPr sz="2000" b="1">
                <a:solidFill>
                  <a:srgbClr val="3030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sz="2000" b="1">
                <a:solidFill>
                  <a:srgbClr val="3030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解析 / 校验</a:t>
            </a:r>
            <a:endParaRPr sz="2000" b="1">
              <a:solidFill>
                <a:srgbClr val="30303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5664835" y="1176655"/>
            <a:ext cx="1970405" cy="862330"/>
          </a:xfrm>
          <a:prstGeom prst="roundRect">
            <a:avLst/>
          </a:prstGeom>
          <a:solidFill>
            <a:srgbClr val="F8F8F8"/>
          </a:solidFill>
          <a:ln w="15240">
            <a:solidFill>
              <a:srgbClr val="9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3030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Memory Function</a:t>
            </a:r>
            <a:br>
              <a:rPr sz="2000" b="1">
                <a:solidFill>
                  <a:srgbClr val="3030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sz="2000" b="1">
                <a:solidFill>
                  <a:srgbClr val="3030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search / edit</a:t>
            </a:r>
            <a:endParaRPr sz="2000" b="1">
              <a:solidFill>
                <a:srgbClr val="30303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8229600" y="1176655"/>
            <a:ext cx="1996440" cy="86233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3030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Result</a:t>
            </a:r>
            <a:br>
              <a:rPr sz="2000" b="1">
                <a:solidFill>
                  <a:srgbClr val="3030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sz="2000" b="1">
                <a:solidFill>
                  <a:srgbClr val="3030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返回 Context</a:t>
            </a:r>
            <a:endParaRPr sz="2000" b="1">
              <a:solidFill>
                <a:srgbClr val="30303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cxnSp>
        <p:nvCxnSpPr>
          <p:cNvPr id="23" name="Connector 22"/>
          <p:cNvCxnSpPr/>
          <p:nvPr/>
        </p:nvCxnSpPr>
        <p:spPr>
          <a:xfrm>
            <a:off x="2788920" y="1682496"/>
            <a:ext cx="320040" cy="0"/>
          </a:xfrm>
          <a:prstGeom prst="line">
            <a:avLst/>
          </a:prstGeom>
          <a:ln w="19050">
            <a:solidFill>
              <a:srgbClr val="96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257800" y="1682496"/>
            <a:ext cx="411480" cy="0"/>
          </a:xfrm>
          <a:prstGeom prst="line">
            <a:avLst/>
          </a:prstGeom>
          <a:ln w="19050">
            <a:solidFill>
              <a:srgbClr val="96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680960" y="1682496"/>
            <a:ext cx="502919" cy="0"/>
          </a:xfrm>
          <a:prstGeom prst="line">
            <a:avLst/>
          </a:prstGeom>
          <a:ln w="19050">
            <a:solidFill>
              <a:srgbClr val="96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7635240" y="2431415"/>
            <a:ext cx="3383280" cy="1134745"/>
          </a:xfrm>
          <a:prstGeom prst="roundRect">
            <a:avLst/>
          </a:prstGeom>
          <a:solidFill>
            <a:srgbClr val="F8F8F8"/>
          </a:solidFill>
          <a:ln w="15240">
            <a:solidFill>
              <a:srgbClr val="9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96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request_heartbeat = true</a:t>
            </a:r>
            <a:br>
              <a:rPr sz="2000" b="1">
                <a:solidFill>
                  <a:srgbClr val="96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sz="2000" b="1">
                <a:solidFill>
                  <a:srgbClr val="96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立即触发下一轮 inference</a:t>
            </a:r>
            <a:endParaRPr sz="2000" b="1">
              <a:solidFill>
                <a:srgbClr val="96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68680" y="2743200"/>
            <a:ext cx="6035040" cy="2117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2000">
                <a:solidFill>
                  <a:srgbClr val="3030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• Self-directed：Memory edits 与 retrieval 由 LLM 根据当前 Context 自主决定。</a:t>
            </a:r>
            <a:endParaRPr sz="2000">
              <a:solidFill>
                <a:srgbClr val="30303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spcAft>
                <a:spcPts val="700"/>
              </a:spcAft>
            </a:pPr>
            <a:r>
              <a:rPr sz="2000">
                <a:solidFill>
                  <a:srgbClr val="3030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• Feedback Loop：函数执行结果或 runtime error 返回给 LLM，让模型调整下一步。</a:t>
            </a:r>
            <a:endParaRPr sz="2000">
              <a:solidFill>
                <a:srgbClr val="30303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spcAft>
                <a:spcPts val="700"/>
              </a:spcAft>
            </a:pPr>
            <a:r>
              <a:rPr sz="2000">
                <a:solidFill>
                  <a:srgbClr val="3030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• Heartbeat：一次用户请求可触发连续多轮“检索 → 判断 → 再检索”，支持 multi-step retrieval。</a:t>
            </a:r>
            <a:endParaRPr sz="2000">
              <a:solidFill>
                <a:srgbClr val="30303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914400" y="5166868"/>
            <a:ext cx="10241280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96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这也是 MemGPT 与“检索一次然后回答”的普通 RAG 不同之处：</a:t>
            </a:r>
            <a:endParaRPr sz="2000" b="1">
              <a:solidFill>
                <a:srgbClr val="96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ctr"/>
            <a:r>
              <a:rPr sz="2000" b="1">
                <a:solidFill>
                  <a:srgbClr val="96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它可以在生成过程中反复操作 Memory。</a:t>
            </a:r>
            <a:endParaRPr sz="2000" b="1">
              <a:solidFill>
                <a:srgbClr val="96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182" y="159674"/>
            <a:ext cx="812064" cy="812064"/>
          </a:xfrm>
          <a:prstGeom prst="rect">
            <a:avLst/>
          </a:prstGeom>
        </p:spPr>
      </p:pic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126B9-07AC-4BAF-B3D7-FAC1D3999DA4}" type="slidenum">
              <a:rPr lang="zh-CN" altLang="en-US" smtClean="0">
                <a:latin typeface="Times New Roman" panose="02020603050405020304" charset="0"/>
              </a:rPr>
            </a:fld>
            <a:endParaRPr lang="zh-CN" altLang="en-US" dirty="0" smtClean="0">
              <a:latin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6" name="图片 1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902" y="364144"/>
            <a:ext cx="812064" cy="81206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353312" y="256032"/>
            <a:ext cx="987552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960000"/>
                </a:solidFill>
                <a:latin typeface="Arial" panose="020B0604020202020204"/>
              </a:rPr>
              <a:t>Evaluation：Multi-Session Chat——长期对话真的记得住吗？</a:t>
            </a:r>
            <a:endParaRPr sz="2400" b="1">
              <a:solidFill>
                <a:srgbClr val="960000"/>
              </a:solidFill>
              <a:latin typeface="Arial" panose="020B0604020202020204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344168" y="768096"/>
            <a:ext cx="2788920" cy="32004"/>
          </a:xfrm>
          <a:prstGeom prst="rect">
            <a:avLst/>
          </a:prstGeom>
          <a:solidFill>
            <a:srgbClr val="9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1143000"/>
            <a:ext cx="5303520" cy="4053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2000">
                <a:solidFill>
                  <a:srgbClr val="303030"/>
                </a:solidFill>
                <a:latin typeface="微软雅黑" panose="020B0503020204020204" pitchFamily="34" charset="-122"/>
              </a:rPr>
              <a:t>• Dataset：Multi-Session Chat (MSC)：每个对话含 5 个历史 Session，论文额外构造 Session 6 用于评估。</a:t>
            </a:r>
            <a:endParaRPr sz="2000">
              <a:solidFill>
                <a:srgbClr val="303030"/>
              </a:solidFill>
              <a:latin typeface="微软雅黑" panose="020B0503020204020204" pitchFamily="34" charset="-122"/>
            </a:endParaRPr>
          </a:p>
          <a:p>
            <a:pPr>
              <a:spcAft>
                <a:spcPts val="700"/>
              </a:spcAft>
            </a:pPr>
            <a:r>
              <a:rPr sz="2000">
                <a:solidFill>
                  <a:srgbClr val="303030"/>
                </a:solidFill>
                <a:latin typeface="微软雅黑" panose="020B0503020204020204" pitchFamily="34" charset="-122"/>
              </a:rPr>
              <a:t>• Deep Memory Retrieval：询问只能依靠早期 Session 才能回答的问题，重点测 Consistency / 长期事实召回。</a:t>
            </a:r>
            <a:endParaRPr sz="2000">
              <a:solidFill>
                <a:srgbClr val="303030"/>
              </a:solidFill>
              <a:latin typeface="微软雅黑" panose="020B0503020204020204" pitchFamily="34" charset="-122"/>
            </a:endParaRPr>
          </a:p>
          <a:p>
            <a:pPr>
              <a:spcAft>
                <a:spcPts val="700"/>
              </a:spcAft>
            </a:pPr>
            <a:r>
              <a:rPr sz="2000">
                <a:solidFill>
                  <a:srgbClr val="303030"/>
                </a:solidFill>
                <a:latin typeface="微软雅黑" panose="020B0503020204020204" pitchFamily="34" charset="-122"/>
              </a:rPr>
              <a:t>• Conversation Opener：根据过去积累的用户信息主动开启下一轮对话，重点测 Engagement / 个性化。</a:t>
            </a:r>
            <a:endParaRPr sz="2000">
              <a:solidFill>
                <a:srgbClr val="303030"/>
              </a:solidFill>
              <a:latin typeface="微软雅黑" panose="020B0503020204020204" pitchFamily="34" charset="-122"/>
            </a:endParaRPr>
          </a:p>
          <a:p>
            <a:pPr>
              <a:spcAft>
                <a:spcPts val="700"/>
              </a:spcAft>
            </a:pPr>
            <a:r>
              <a:rPr sz="2000">
                <a:solidFill>
                  <a:srgbClr val="303030"/>
                </a:solidFill>
                <a:latin typeface="微软雅黑" panose="020B0503020204020204" pitchFamily="34" charset="-122"/>
              </a:rPr>
              <a:t>• Baseline：基础 LLM 看到过去对话的 lossy summary；MemGPT 通过 Recall Memory 分页搜索完整历史。</a:t>
            </a:r>
            <a:endParaRPr sz="2000">
              <a:solidFill>
                <a:srgbClr val="303030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20" name="Picture 19" descr="tabl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9200" y="1124585"/>
            <a:ext cx="5856605" cy="370586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22960" y="5245100"/>
            <a:ext cx="10622280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303030"/>
                </a:solidFill>
                <a:latin typeface="微软雅黑" panose="020B0503020204020204" pitchFamily="34" charset="-122"/>
              </a:rPr>
              <a:t>Conversation Opener 结果表明：利用长期 Memory 后，模型能够更充分地引用历史信息来生成下一轮开场，从“记住事实”进一步走向“利用记忆进行个性化交互”。</a:t>
            </a:r>
            <a:endParaRPr sz="2000" b="0">
              <a:solidFill>
                <a:srgbClr val="303030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182" y="159674"/>
            <a:ext cx="812064" cy="812064"/>
          </a:xfrm>
          <a:prstGeom prst="rect">
            <a:avLst/>
          </a:prstGeom>
        </p:spPr>
      </p:pic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126B9-07AC-4BAF-B3D7-FAC1D3999DA4}" type="slidenum">
              <a:rPr lang="zh-CN" altLang="en-US" smtClean="0">
                <a:latin typeface="Times New Roman" panose="02020603050405020304" charset="0"/>
              </a:rPr>
            </a:fld>
            <a:endParaRPr lang="zh-CN" altLang="en-US" dirty="0" smtClean="0">
              <a:latin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6" name="图片 1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902" y="364144"/>
            <a:ext cx="812064" cy="81206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353312" y="256032"/>
            <a:ext cx="9875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960000"/>
                </a:solidFill>
                <a:latin typeface="Arial" panose="020B0604020202020204"/>
              </a:rPr>
              <a:t>Evaluation Result：Deep Memory Retrieval 显著提升</a:t>
            </a:r>
            <a:endParaRPr sz="2400" b="1">
              <a:solidFill>
                <a:srgbClr val="960000"/>
              </a:solidFill>
              <a:latin typeface="Arial" panose="020B0604020202020204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344168" y="768096"/>
            <a:ext cx="2788920" cy="32004"/>
          </a:xfrm>
          <a:prstGeom prst="rect">
            <a:avLst/>
          </a:prstGeom>
          <a:solidFill>
            <a:srgbClr val="9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tabl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325880"/>
            <a:ext cx="5074920" cy="3689932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6400800" y="1325880"/>
            <a:ext cx="2011680" cy="914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900" b="1">
                <a:solidFill>
                  <a:srgbClr val="303030"/>
                </a:solidFill>
                <a:latin typeface="微软雅黑" panose="020B0503020204020204" pitchFamily="34" charset="-122"/>
              </a:rPr>
              <a:t>GPT-4</a:t>
            </a:r>
            <a:br>
              <a:rPr sz="1900" b="1">
                <a:solidFill>
                  <a:srgbClr val="303030"/>
                </a:solidFill>
                <a:latin typeface="微软雅黑" panose="020B0503020204020204" pitchFamily="34" charset="-122"/>
              </a:rPr>
            </a:br>
            <a:r>
              <a:rPr sz="1900" b="1">
                <a:solidFill>
                  <a:srgbClr val="303030"/>
                </a:solidFill>
                <a:latin typeface="微软雅黑" panose="020B0503020204020204" pitchFamily="34" charset="-122"/>
              </a:rPr>
              <a:t>32.1%</a:t>
            </a:r>
            <a:endParaRPr sz="1900" b="1">
              <a:solidFill>
                <a:srgbClr val="303030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21" name="Connector 20"/>
          <p:cNvCxnSpPr/>
          <p:nvPr/>
        </p:nvCxnSpPr>
        <p:spPr>
          <a:xfrm>
            <a:off x="8503920" y="1783080"/>
            <a:ext cx="411480" cy="0"/>
          </a:xfrm>
          <a:prstGeom prst="line">
            <a:avLst/>
          </a:prstGeom>
          <a:ln w="19050">
            <a:solidFill>
              <a:srgbClr val="96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961120" y="1325880"/>
            <a:ext cx="2011680" cy="914400"/>
          </a:xfrm>
          <a:prstGeom prst="roundRect">
            <a:avLst/>
          </a:prstGeom>
          <a:solidFill>
            <a:srgbClr val="F8F8F8"/>
          </a:solidFill>
          <a:ln w="15240">
            <a:solidFill>
              <a:srgbClr val="9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900" b="1">
                <a:solidFill>
                  <a:srgbClr val="960000"/>
                </a:solidFill>
                <a:latin typeface="微软雅黑" panose="020B0503020204020204" pitchFamily="34" charset="-122"/>
              </a:rPr>
              <a:t>GPT-4 + MemGPT</a:t>
            </a:r>
            <a:br>
              <a:rPr sz="1900" b="1">
                <a:solidFill>
                  <a:srgbClr val="960000"/>
                </a:solidFill>
                <a:latin typeface="微软雅黑" panose="020B0503020204020204" pitchFamily="34" charset="-122"/>
              </a:rPr>
            </a:br>
            <a:r>
              <a:rPr sz="1900" b="1">
                <a:solidFill>
                  <a:srgbClr val="960000"/>
                </a:solidFill>
                <a:latin typeface="微软雅黑" panose="020B0503020204020204" pitchFamily="34" charset="-122"/>
              </a:rPr>
              <a:t>92.5%</a:t>
            </a:r>
            <a:endParaRPr sz="1900" b="1">
              <a:solidFill>
                <a:srgbClr val="960000"/>
              </a:solidFill>
              <a:latin typeface="微软雅黑" panose="020B0503020204020204" pitchFamily="3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400800" y="2651760"/>
            <a:ext cx="2011680" cy="914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900" b="1">
                <a:solidFill>
                  <a:srgbClr val="303030"/>
                </a:solidFill>
                <a:latin typeface="微软雅黑" panose="020B0503020204020204" pitchFamily="34" charset="-122"/>
              </a:rPr>
              <a:t>GPT-4 Turbo</a:t>
            </a:r>
            <a:br>
              <a:rPr sz="1900" b="1">
                <a:solidFill>
                  <a:srgbClr val="303030"/>
                </a:solidFill>
                <a:latin typeface="微软雅黑" panose="020B0503020204020204" pitchFamily="34" charset="-122"/>
              </a:rPr>
            </a:br>
            <a:r>
              <a:rPr sz="1900" b="1">
                <a:solidFill>
                  <a:srgbClr val="303030"/>
                </a:solidFill>
                <a:latin typeface="微软雅黑" panose="020B0503020204020204" pitchFamily="34" charset="-122"/>
              </a:rPr>
              <a:t>35.3%</a:t>
            </a:r>
            <a:endParaRPr sz="1900" b="1">
              <a:solidFill>
                <a:srgbClr val="303030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24" name="Connector 23"/>
          <p:cNvCxnSpPr/>
          <p:nvPr/>
        </p:nvCxnSpPr>
        <p:spPr>
          <a:xfrm>
            <a:off x="8503920" y="3108960"/>
            <a:ext cx="411480" cy="0"/>
          </a:xfrm>
          <a:prstGeom prst="line">
            <a:avLst/>
          </a:prstGeom>
          <a:ln w="19050">
            <a:solidFill>
              <a:srgbClr val="96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961120" y="2651760"/>
            <a:ext cx="2011680" cy="914400"/>
          </a:xfrm>
          <a:prstGeom prst="roundRect">
            <a:avLst/>
          </a:prstGeom>
          <a:solidFill>
            <a:srgbClr val="F8F8F8"/>
          </a:solidFill>
          <a:ln w="15240">
            <a:solidFill>
              <a:srgbClr val="9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900" b="1">
                <a:solidFill>
                  <a:srgbClr val="960000"/>
                </a:solidFill>
                <a:latin typeface="微软雅黑" panose="020B0503020204020204" pitchFamily="34" charset="-122"/>
              </a:rPr>
              <a:t>+ MemGPT</a:t>
            </a:r>
            <a:br>
              <a:rPr sz="1900" b="1">
                <a:solidFill>
                  <a:srgbClr val="960000"/>
                </a:solidFill>
                <a:latin typeface="微软雅黑" panose="020B0503020204020204" pitchFamily="34" charset="-122"/>
              </a:rPr>
            </a:br>
            <a:r>
              <a:rPr sz="1900" b="1">
                <a:solidFill>
                  <a:srgbClr val="960000"/>
                </a:solidFill>
                <a:latin typeface="微软雅黑" panose="020B0503020204020204" pitchFamily="34" charset="-122"/>
              </a:rPr>
              <a:t>93.4%</a:t>
            </a:r>
            <a:endParaRPr sz="1900" b="1">
              <a:solidFill>
                <a:srgbClr val="960000"/>
              </a:solidFill>
              <a:latin typeface="微软雅黑" panose="020B0503020204020204" pitchFamily="3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278880" y="3977640"/>
            <a:ext cx="4785360" cy="20275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2000">
                <a:solidFill>
                  <a:srgbClr val="303030"/>
                </a:solidFill>
                <a:latin typeface="微软雅黑" panose="020B0503020204020204" pitchFamily="34" charset="-122"/>
              </a:rPr>
              <a:t>• 结论：相同基础模型加入 MemGPT 后，DMR Accuracy 和 ROUGE-L 均明显提高。</a:t>
            </a:r>
            <a:endParaRPr sz="2000">
              <a:solidFill>
                <a:srgbClr val="303030"/>
              </a:solidFill>
              <a:latin typeface="微软雅黑" panose="020B0503020204020204" pitchFamily="34" charset="-122"/>
            </a:endParaRPr>
          </a:p>
          <a:p>
            <a:pPr>
              <a:spcAft>
                <a:spcPts val="700"/>
              </a:spcAft>
            </a:pPr>
            <a:r>
              <a:rPr sz="2000">
                <a:solidFill>
                  <a:srgbClr val="303030"/>
                </a:solidFill>
                <a:latin typeface="微软雅黑" panose="020B0503020204020204" pitchFamily="34" charset="-122"/>
              </a:rPr>
              <a:t>• 解释：模型参数没有改变，提升来自能够重新访问完整历史，而不是只依赖压缩 summary。</a:t>
            </a:r>
            <a:endParaRPr sz="2000">
              <a:solidFill>
                <a:srgbClr val="303030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182" y="159674"/>
            <a:ext cx="812064" cy="812064"/>
          </a:xfrm>
          <a:prstGeom prst="rect">
            <a:avLst/>
          </a:prstGeom>
        </p:spPr>
      </p:pic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126B9-07AC-4BAF-B3D7-FAC1D3999DA4}" type="slidenum">
              <a:rPr lang="zh-CN" altLang="en-US" smtClean="0">
                <a:latin typeface="Times New Roman" panose="02020603050405020304" charset="0"/>
              </a:rPr>
            </a:fld>
            <a:endParaRPr lang="zh-CN" altLang="en-US" dirty="0" smtClean="0">
              <a:latin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6" name="图片 1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902" y="364144"/>
            <a:ext cx="812064" cy="81206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353312" y="256032"/>
            <a:ext cx="987552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96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MemGPT 的能力边界与 A-Mem 的区别</a:t>
            </a:r>
            <a:endParaRPr sz="2400" b="1">
              <a:solidFill>
                <a:srgbClr val="96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344168" y="768096"/>
            <a:ext cx="2788920" cy="32004"/>
          </a:xfrm>
          <a:prstGeom prst="rect">
            <a:avLst/>
          </a:prstGeom>
          <a:solidFill>
            <a:srgbClr val="9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7175" y="5941695"/>
            <a:ext cx="11871325" cy="7105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2000" b="1">
                <a:solidFill>
                  <a:srgbClr val="96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MemGPT 解决“记得下 / 找得到”，A-Mem 进一步关注“如何组织、关联并重新理解这些记忆”。</a:t>
            </a:r>
            <a:endParaRPr sz="2000" b="1">
              <a:solidFill>
                <a:srgbClr val="96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282" y="83474"/>
            <a:ext cx="812064" cy="812064"/>
          </a:xfrm>
          <a:prstGeom prst="rect">
            <a:avLst/>
          </a:prstGeom>
        </p:spPr>
      </p:pic>
      <p:graphicFrame>
        <p:nvGraphicFramePr>
          <p:cNvPr id="3" name="表格 2"/>
          <p:cNvGraphicFramePr/>
          <p:nvPr>
            <p:custDataLst>
              <p:tags r:id="rId3"/>
            </p:custDataLst>
          </p:nvPr>
        </p:nvGraphicFramePr>
        <p:xfrm>
          <a:off x="129540" y="871220"/>
          <a:ext cx="11871960" cy="5083175"/>
        </p:xfrm>
        <a:graphic>
          <a:graphicData uri="http://schemas.openxmlformats.org/drawingml/2006/table">
            <a:tbl>
              <a:tblPr/>
              <a:tblGrid>
                <a:gridCol w="1900555"/>
                <a:gridCol w="5319395"/>
                <a:gridCol w="4652010"/>
              </a:tblGrid>
              <a:tr h="447675">
                <a:tc>
                  <a:txBody>
                    <a:bodyPr/>
                    <a:p>
                      <a:pPr algn="ctr"/>
                      <a:r>
                        <a:rPr lang="zh-CN" altLang="en-US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对比维度</a:t>
                      </a:r>
                      <a:endParaRPr lang="zh-CN" altLang="en-US" sz="18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MemGPT</a:t>
                      </a:r>
                      <a:endParaRPr lang="en-US" altLang="zh-CN" sz="18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A-Mem</a:t>
                      </a:r>
                      <a:endParaRPr lang="en-US" altLang="zh-CN" sz="18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61975">
                <a:tc>
                  <a:txBody>
                    <a:bodyPr/>
                    <a:p>
                      <a:pPr algn="ctr"/>
                      <a:r>
                        <a:rPr lang="zh-CN" altLang="en-US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核心问题</a:t>
                      </a:r>
                      <a:endParaRPr lang="zh-CN" altLang="en-US" sz="18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有限上下文如何访问长期信息？</a:t>
                      </a:r>
                      <a:endParaRPr lang="zh-CN" altLang="en-US" sz="18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长期记忆如何组织、关联与演化？</a:t>
                      </a:r>
                      <a:endParaRPr lang="zh-CN" altLang="en-US" sz="18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61975">
                <a:tc>
                  <a:txBody>
                    <a:bodyPr/>
                    <a:p>
                      <a:pPr algn="ctr"/>
                      <a:r>
                        <a:rPr lang="zh-CN" altLang="en-US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核心思想</a:t>
                      </a:r>
                      <a:endParaRPr lang="zh-CN" altLang="en-US" sz="18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借鉴操作系统的虚拟内存管理</a:t>
                      </a:r>
                      <a:endParaRPr lang="zh-CN" altLang="en-US" sz="18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借鉴卡片盒思想的动态记忆组织</a:t>
                      </a:r>
                      <a:endParaRPr lang="zh-CN" altLang="en-US" sz="18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61975">
                <a:tc>
                  <a:txBody>
                    <a:bodyPr/>
                    <a:p>
                      <a:pPr algn="ctr"/>
                      <a:r>
                        <a:rPr lang="zh-CN" altLang="en-US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记忆结构</a:t>
                      </a:r>
                      <a:endParaRPr lang="zh-CN" altLang="en-US" sz="18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分层存储：主上下文、回忆存储、归档存储</a:t>
                      </a:r>
                      <a:endParaRPr lang="zh-CN" altLang="en-US" sz="18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相互关联的动态记忆网络</a:t>
                      </a:r>
                      <a:endParaRPr lang="zh-CN" altLang="en-US" sz="18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61975">
                <a:tc>
                  <a:txBody>
                    <a:bodyPr/>
                    <a:p>
                      <a:pPr algn="ctr"/>
                      <a:r>
                        <a:rPr lang="zh-CN" altLang="en-US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主要操作</a:t>
                      </a:r>
                      <a:endParaRPr lang="zh-CN" altLang="en-US" sz="18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存储、检索、换入</a:t>
                      </a:r>
                      <a:r>
                        <a:rPr lang="en-US" altLang="zh-CN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换出、分页访问</a:t>
                      </a:r>
                      <a:endParaRPr lang="zh-CN" altLang="en-US" sz="18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构建记忆、建立关联、检索、更新与演化</a:t>
                      </a:r>
                      <a:endParaRPr lang="zh-CN" altLang="en-US" sz="18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61975">
                <a:tc>
                  <a:txBody>
                    <a:bodyPr/>
                    <a:p>
                      <a:pPr algn="ctr"/>
                      <a:r>
                        <a:rPr lang="zh-CN" altLang="en-US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记忆之间的关系</a:t>
                      </a:r>
                      <a:endParaRPr lang="zh-CN" altLang="en-US" sz="18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重点不在显式建模记忆之间的语义关系</a:t>
                      </a:r>
                      <a:endParaRPr lang="zh-CN" altLang="en-US" sz="18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主动发现相关记忆，并建立动态关联</a:t>
                      </a:r>
                      <a:endParaRPr lang="zh-CN" altLang="en-US" sz="18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61975">
                <a:tc>
                  <a:txBody>
                    <a:bodyPr/>
                    <a:p>
                      <a:pPr algn="ctr"/>
                      <a:r>
                        <a:rPr lang="zh-CN" altLang="en-US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历史记忆更新</a:t>
                      </a:r>
                      <a:endParaRPr lang="zh-CN" altLang="en-US" sz="18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主要关注信息在不同存储层之间的管理与访问</a:t>
                      </a:r>
                      <a:endParaRPr lang="zh-CN" altLang="en-US" sz="18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新记忆可以触发相关历史记忆的语义更新</a:t>
                      </a:r>
                      <a:endParaRPr lang="zh-CN" altLang="en-US" sz="18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60375">
                <a:tc>
                  <a:txBody>
                    <a:bodyPr/>
                    <a:p>
                      <a:pPr algn="ctr"/>
                      <a:r>
                        <a:rPr lang="zh-CN" altLang="en-US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主要优势</a:t>
                      </a:r>
                      <a:endParaRPr lang="zh-CN" altLang="en-US" sz="18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突破单次上下文窗口限制，支持长期对话和长文档</a:t>
                      </a:r>
                      <a:endParaRPr lang="zh-CN" altLang="en-US" sz="18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提高长期记忆的组织性、关联性</a:t>
                      </a:r>
                      <a:endParaRPr lang="zh-CN" altLang="en-US" sz="18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803275">
                <a:tc>
                  <a:txBody>
                    <a:bodyPr/>
                    <a:p>
                      <a:pPr algn="ctr"/>
                      <a:r>
                        <a:rPr lang="zh-CN" altLang="en-US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能力边界</a:t>
                      </a:r>
                      <a:endParaRPr lang="zh-CN" altLang="en-US" sz="18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解决“记得下、找得到”，但对记忆如何形成结构和持续演化关注较少</a:t>
                      </a:r>
                      <a:endParaRPr lang="zh-CN" altLang="en-US" sz="18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进一步关注“怎么组织、关联</a:t>
                      </a:r>
                      <a:r>
                        <a:rPr lang="zh-CN" altLang="en-US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和演化”</a:t>
                      </a:r>
                      <a:endParaRPr lang="zh-CN" altLang="en-US" sz="18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126B9-07AC-4BAF-B3D7-FAC1D3999DA4}" type="slidenum">
              <a:rPr lang="zh-CN" altLang="en-US" smtClean="0">
                <a:latin typeface="Times New Roman" panose="02020603050405020304" charset="0"/>
              </a:rPr>
            </a:fld>
            <a:endParaRPr lang="zh-CN" altLang="en-US" dirty="0" smtClean="0">
              <a:latin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53312" y="256032"/>
            <a:ext cx="9144000" cy="475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91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从“记得更多”到“记得更好”</a:t>
            </a:r>
            <a:endParaRPr sz="2500" b="1">
              <a:solidFill>
                <a:srgbClr val="91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353312" y="768096"/>
            <a:ext cx="2926080" cy="32004"/>
          </a:xfrm>
          <a:prstGeom prst="rect">
            <a:avLst/>
          </a:prstGeom>
          <a:solidFill>
            <a:srgbClr val="91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0885" y="1130300"/>
            <a:ext cx="2652395" cy="159131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373737"/>
                </a:solidFill>
                <a:latin typeface="微软雅黑" panose="020B0503020204020204" pitchFamily="34" charset="-122"/>
              </a:rPr>
              <a:t>传统 Memory</a:t>
            </a:r>
            <a:br>
              <a:rPr sz="1700" b="1">
                <a:solidFill>
                  <a:srgbClr val="373737"/>
                </a:solidFill>
                <a:latin typeface="微软雅黑" panose="020B0503020204020204" pitchFamily="34" charset="-122"/>
              </a:rPr>
            </a:br>
            <a:br>
              <a:rPr sz="1700" b="1">
                <a:solidFill>
                  <a:srgbClr val="373737"/>
                </a:solidFill>
                <a:latin typeface="微软雅黑" panose="020B0503020204020204" pitchFamily="34" charset="-122"/>
              </a:rPr>
            </a:br>
            <a:r>
              <a:rPr sz="1700" b="1">
                <a:solidFill>
                  <a:srgbClr val="373737"/>
                </a:solidFill>
                <a:latin typeface="微软雅黑" panose="020B0503020204020204" pitchFamily="34" charset="-122"/>
              </a:rPr>
              <a:t>Store &amp; Retrieve</a:t>
            </a:r>
            <a:br>
              <a:rPr sz="1700" b="1">
                <a:solidFill>
                  <a:srgbClr val="373737"/>
                </a:solidFill>
                <a:latin typeface="微软雅黑" panose="020B0503020204020204" pitchFamily="34" charset="-122"/>
              </a:rPr>
            </a:br>
            <a:br>
              <a:rPr sz="1700" b="1">
                <a:solidFill>
                  <a:srgbClr val="373737"/>
                </a:solidFill>
                <a:latin typeface="微软雅黑" panose="020B0503020204020204" pitchFamily="34" charset="-122"/>
              </a:rPr>
            </a:br>
            <a:r>
              <a:rPr sz="1700" b="1">
                <a:solidFill>
                  <a:srgbClr val="373737"/>
                </a:solidFill>
                <a:latin typeface="微软雅黑" panose="020B0503020204020204" pitchFamily="34" charset="-122"/>
              </a:rPr>
              <a:t>保存 + 检索历史信息</a:t>
            </a:r>
            <a:endParaRPr sz="1700" b="1">
              <a:solidFill>
                <a:srgbClr val="373737"/>
              </a:solidFill>
              <a:latin typeface="微软雅黑" panose="020B0503020204020204" pitchFamily="3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3886200" y="1130935"/>
            <a:ext cx="2675255" cy="1581785"/>
          </a:xfrm>
          <a:prstGeom prst="roundRect">
            <a:avLst/>
          </a:prstGeom>
          <a:solidFill>
            <a:srgbClr val="F8F8F8"/>
          </a:solidFill>
          <a:ln w="15240">
            <a:solidFill>
              <a:srgbClr val="91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373737"/>
                </a:solidFill>
                <a:latin typeface="微软雅黑" panose="020B0503020204020204" pitchFamily="34" charset="-122"/>
              </a:rPr>
              <a:t>MemGPT</a:t>
            </a:r>
            <a:br>
              <a:rPr sz="1700" b="1">
                <a:solidFill>
                  <a:srgbClr val="373737"/>
                </a:solidFill>
                <a:latin typeface="微软雅黑" panose="020B0503020204020204" pitchFamily="34" charset="-122"/>
              </a:rPr>
            </a:br>
            <a:br>
              <a:rPr sz="1700" b="1">
                <a:solidFill>
                  <a:srgbClr val="373737"/>
                </a:solidFill>
                <a:latin typeface="微软雅黑" panose="020B0503020204020204" pitchFamily="34" charset="-122"/>
              </a:rPr>
            </a:br>
            <a:r>
              <a:rPr sz="1700" b="1">
                <a:solidFill>
                  <a:srgbClr val="373737"/>
                </a:solidFill>
                <a:latin typeface="微软雅黑" panose="020B0503020204020204" pitchFamily="34" charset="-122"/>
              </a:rPr>
              <a:t>Memory Access</a:t>
            </a:r>
            <a:br>
              <a:rPr sz="1700" b="1">
                <a:solidFill>
                  <a:srgbClr val="373737"/>
                </a:solidFill>
                <a:latin typeface="微软雅黑" panose="020B0503020204020204" pitchFamily="34" charset="-122"/>
              </a:rPr>
            </a:br>
            <a:r>
              <a:rPr sz="1700" b="1">
                <a:solidFill>
                  <a:srgbClr val="373737"/>
                </a:solidFill>
                <a:latin typeface="微软雅黑" panose="020B0503020204020204" pitchFamily="34" charset="-122"/>
              </a:rPr>
              <a:t>&amp; Management</a:t>
            </a:r>
            <a:br>
              <a:rPr sz="1700" b="1">
                <a:solidFill>
                  <a:srgbClr val="373737"/>
                </a:solidFill>
                <a:latin typeface="微软雅黑" panose="020B0503020204020204" pitchFamily="34" charset="-122"/>
              </a:rPr>
            </a:br>
            <a:br>
              <a:rPr sz="1700" b="1">
                <a:solidFill>
                  <a:srgbClr val="373737"/>
                </a:solidFill>
                <a:latin typeface="微软雅黑" panose="020B0503020204020204" pitchFamily="34" charset="-122"/>
              </a:rPr>
            </a:br>
            <a:r>
              <a:rPr sz="1700" b="1">
                <a:solidFill>
                  <a:srgbClr val="373737"/>
                </a:solidFill>
                <a:latin typeface="微软雅黑" panose="020B0503020204020204" pitchFamily="34" charset="-122"/>
              </a:rPr>
              <a:t>突破 Context 限制</a:t>
            </a:r>
            <a:endParaRPr sz="1700" b="1">
              <a:solidFill>
                <a:srgbClr val="373737"/>
              </a:solidFill>
              <a:latin typeface="微软雅黑" panose="020B0503020204020204" pitchFamily="3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949440" y="1130300"/>
            <a:ext cx="2802890" cy="1579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91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373737"/>
                </a:solidFill>
                <a:latin typeface="微软雅黑" panose="020B0503020204020204" pitchFamily="34" charset="-122"/>
              </a:rPr>
              <a:t>A-Mem</a:t>
            </a:r>
            <a:endParaRPr sz="1700" b="1">
              <a:solidFill>
                <a:srgbClr val="373737"/>
              </a:solidFill>
              <a:latin typeface="微软雅黑" panose="020B0503020204020204" pitchFamily="34" charset="-122"/>
            </a:endParaRPr>
          </a:p>
          <a:p>
            <a:pPr algn="ctr"/>
            <a:br>
              <a:rPr sz="1700" b="1">
                <a:solidFill>
                  <a:srgbClr val="373737"/>
                </a:solidFill>
                <a:latin typeface="微软雅黑" panose="020B0503020204020204" pitchFamily="34" charset="-122"/>
              </a:rPr>
            </a:br>
            <a:r>
              <a:rPr sz="1700" b="1">
                <a:solidFill>
                  <a:srgbClr val="373737"/>
                </a:solidFill>
                <a:latin typeface="微软雅黑" panose="020B0503020204020204" pitchFamily="34" charset="-122"/>
              </a:rPr>
              <a:t>Memory Organization</a:t>
            </a:r>
            <a:br>
              <a:rPr sz="1700" b="1">
                <a:solidFill>
                  <a:srgbClr val="373737"/>
                </a:solidFill>
                <a:latin typeface="微软雅黑" panose="020B0503020204020204" pitchFamily="34" charset="-122"/>
              </a:rPr>
            </a:br>
            <a:r>
              <a:rPr sz="1700" b="1">
                <a:solidFill>
                  <a:srgbClr val="373737"/>
                </a:solidFill>
                <a:latin typeface="微软雅黑" panose="020B0503020204020204" pitchFamily="34" charset="-122"/>
              </a:rPr>
              <a:t>&amp; Evolution</a:t>
            </a:r>
            <a:br>
              <a:rPr sz="1700" b="1">
                <a:solidFill>
                  <a:srgbClr val="373737"/>
                </a:solidFill>
                <a:latin typeface="微软雅黑" panose="020B0503020204020204" pitchFamily="34" charset="-122"/>
              </a:rPr>
            </a:br>
            <a:br>
              <a:rPr sz="1700" b="1">
                <a:solidFill>
                  <a:srgbClr val="373737"/>
                </a:solidFill>
                <a:latin typeface="微软雅黑" panose="020B0503020204020204" pitchFamily="34" charset="-122"/>
              </a:rPr>
            </a:br>
            <a:r>
              <a:rPr sz="1700" b="1">
                <a:solidFill>
                  <a:srgbClr val="373737"/>
                </a:solidFill>
                <a:latin typeface="微软雅黑" panose="020B0503020204020204" pitchFamily="34" charset="-122"/>
              </a:rPr>
              <a:t>组织 + 关联 + 演化</a:t>
            </a:r>
            <a:endParaRPr sz="1700" b="1">
              <a:solidFill>
                <a:srgbClr val="373737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3474720" y="1938528"/>
            <a:ext cx="320040" cy="0"/>
          </a:xfrm>
          <a:prstGeom prst="line">
            <a:avLst/>
          </a:prstGeom>
          <a:ln w="22860">
            <a:solidFill>
              <a:srgbClr val="91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537960" y="1938528"/>
            <a:ext cx="320040" cy="0"/>
          </a:xfrm>
          <a:prstGeom prst="line">
            <a:avLst/>
          </a:prstGeom>
          <a:ln w="22860">
            <a:solidFill>
              <a:srgbClr val="91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图片 1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182" y="159674"/>
            <a:ext cx="812064" cy="812064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14045" y="3077210"/>
            <a:ext cx="10138410" cy="293433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2400">
                <a:solidFill>
                  <a:srgbClr val="96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MemGPT</a:t>
            </a:r>
            <a:r>
              <a:rPr lang="zh-CN" altLang="en-US" sz="2400">
                <a:solidFill>
                  <a:srgbClr val="96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解决如何访问更多历史——记得住、找得到；</a:t>
            </a:r>
            <a:endParaRPr lang="zh-CN" altLang="en-US" sz="2400">
              <a:solidFill>
                <a:srgbClr val="96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en-US" altLang="zh-CN" sz="2400">
                <a:solidFill>
                  <a:srgbClr val="96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A-Mem </a:t>
            </a:r>
            <a:r>
              <a:rPr lang="zh-CN" altLang="en-US" sz="2400">
                <a:solidFill>
                  <a:srgbClr val="96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进一步解决如何组织长期记忆——关联、更新、演化</a:t>
            </a:r>
            <a:endParaRPr lang="zh-CN" altLang="en-US" sz="2400">
              <a:solidFill>
                <a:srgbClr val="96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zh-CN" altLang="en-US" sz="2400">
                <a:solidFill>
                  <a:srgbClr val="96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未来挑战：可靠 </a:t>
            </a:r>
            <a:r>
              <a:rPr lang="en-US" altLang="zh-CN" sz="2400">
                <a:solidFill>
                  <a:srgbClr val="96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Memory Management </a:t>
            </a:r>
            <a:r>
              <a:rPr lang="zh-CN" altLang="en-US" sz="2400">
                <a:solidFill>
                  <a:srgbClr val="96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选择性记忆 + 错误修正。</a:t>
            </a:r>
            <a:endParaRPr lang="zh-CN" altLang="en-US" sz="2400">
              <a:solidFill>
                <a:srgbClr val="96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endParaRPr lang="zh-CN" altLang="en-US" sz="2400">
              <a:solidFill>
                <a:srgbClr val="96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zh-CN" altLang="en-US" sz="2400">
                <a:solidFill>
                  <a:srgbClr val="96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长期 </a:t>
            </a:r>
            <a:r>
              <a:rPr lang="en-US" altLang="zh-CN" sz="2400">
                <a:solidFill>
                  <a:srgbClr val="96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Agent Memory </a:t>
            </a:r>
            <a:r>
              <a:rPr lang="zh-CN" altLang="en-US" sz="2400">
                <a:solidFill>
                  <a:srgbClr val="96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的关键，不只是记住更多信息，而是让 </a:t>
            </a:r>
            <a:r>
              <a:rPr lang="en-US" altLang="zh-CN" sz="2400">
                <a:solidFill>
                  <a:srgbClr val="96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Agent </a:t>
            </a:r>
            <a:r>
              <a:rPr lang="zh-CN" altLang="en-US" sz="2400">
                <a:solidFill>
                  <a:srgbClr val="96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能够选择性记忆、理解记忆，并可靠维护长期经验。</a:t>
            </a:r>
            <a:r>
              <a:rPr sz="2000">
                <a:solidFill>
                  <a:srgbClr val="96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endParaRPr sz="2000">
              <a:solidFill>
                <a:srgbClr val="96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126B9-07AC-4BAF-B3D7-FAC1D3999DA4}" type="slidenum">
              <a:rPr lang="zh-CN" altLang="en-US" smtClean="0">
                <a:latin typeface="Times New Roman" panose="02020603050405020304" charset="0"/>
              </a:rPr>
            </a:fld>
            <a:endParaRPr lang="zh-CN" altLang="en-US" dirty="0" smtClean="0">
              <a:latin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023126B9-07AC-4BAF-B3D7-FAC1D3999DA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3873500" y="2597150"/>
            <a:ext cx="444500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7200" b="1">
                <a:latin typeface="微软雅黑" panose="020B0503020204020204" pitchFamily="34" charset="-122"/>
                <a:ea typeface="微软雅黑" panose="020B0503020204020204" pitchFamily="34" charset="-122"/>
              </a:rPr>
              <a:t>谢谢大家</a:t>
            </a:r>
            <a:endParaRPr lang="zh-CN" altLang="en-US" sz="7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PLACING_PICTURE_USER_VIEWPORT" val="{&quot;height&quot;:1278.8409448818898,&quot;width&quot;:1278.8409448818898}"/>
</p:tagLst>
</file>

<file path=ppt/tags/tag2.xml><?xml version="1.0" encoding="utf-8"?>
<p:tagLst xmlns:p="http://schemas.openxmlformats.org/presentationml/2006/main">
  <p:tag name="KSO_WM_UNIT_PLACING_PICTURE_USER_VIEWPORT" val="{&quot;height&quot;:1278.8409448818898,&quot;width&quot;:1278.8409448818898}"/>
</p:tagLst>
</file>

<file path=ppt/tags/tag3.xml><?xml version="1.0" encoding="utf-8"?>
<p:tagLst xmlns:p="http://schemas.openxmlformats.org/presentationml/2006/main">
  <p:tag name="KSO_WM_UNIT_PLACING_PICTURE_USER_VIEWPORT" val="{&quot;height&quot;:1278.8409448818898,&quot;width&quot;:1278.8409448818898}"/>
</p:tagLst>
</file>

<file path=ppt/tags/tag4.xml><?xml version="1.0" encoding="utf-8"?>
<p:tagLst xmlns:p="http://schemas.openxmlformats.org/presentationml/2006/main">
  <p:tag name="KSO_WM_UNIT_PLACING_PICTURE_USER_VIEWPORT" val="{&quot;height&quot;:1278.8409448818898,&quot;width&quot;:1278.8409448818898}"/>
</p:tagLst>
</file>

<file path=ppt/tags/tag5.xml><?xml version="1.0" encoding="utf-8"?>
<p:tagLst xmlns:p="http://schemas.openxmlformats.org/presentationml/2006/main">
  <p:tag name="KSO_WM_UNIT_PLACING_PICTURE_USER_VIEWPORT" val="{&quot;height&quot;:1278.8409448818898,&quot;width&quot;:1278.8409448818898}"/>
</p:tagLst>
</file>

<file path=ppt/tags/tag6.xml><?xml version="1.0" encoding="utf-8"?>
<p:tagLst xmlns:p="http://schemas.openxmlformats.org/presentationml/2006/main">
  <p:tag name="KSO_WM_DIAGRAM_VIRTUALLY_FRAME" val="{&quot;height&quot;:210.67999999999998,&quot;left&quot;:482.8,&quot;top&quot;:117,&quot;width&quot;:457.55}"/>
</p:tagLst>
</file>

<file path=ppt/tags/tag7.xml><?xml version="1.0" encoding="utf-8"?>
<p:tagLst xmlns:p="http://schemas.openxmlformats.org/presentationml/2006/main">
  <p:tag name="KSO_WM_DIAGRAM_VIRTUALLY_FRAME" val="{&quot;height&quot;:210.67999999999998,&quot;left&quot;:482.8,&quot;top&quot;:117,&quot;width&quot;:457.55}"/>
</p:tagLst>
</file>

<file path=ppt/tags/tag8.xml><?xml version="1.0" encoding="utf-8"?>
<p:tagLst xmlns:p="http://schemas.openxmlformats.org/presentationml/2006/main">
  <p:tag name="KSO_WM_DIAGRAM_VIRTUALLY_FRAME" val="{&quot;height&quot;:210.67999999999998,&quot;left&quot;:482.8,&quot;top&quot;:117,&quot;width&quot;:457.55}"/>
</p:tagLst>
</file>

<file path=ppt/tags/tag9.xml><?xml version="1.0" encoding="utf-8"?>
<p:tagLst xmlns:p="http://schemas.openxmlformats.org/presentationml/2006/main">
  <p:tag name="KSO_WM_DIAGRAM_VIRTUALLY_FRAME" val="{&quot;height&quot;:210.67999999999998,&quot;left&quot;:482.8,&quot;top&quot;:117,&quot;width&quot;:457.55}"/>
</p:tagLst>
</file>

<file path=ppt/tags/tag10.xml><?xml version="1.0" encoding="utf-8"?>
<p:tagLst xmlns:p="http://schemas.openxmlformats.org/presentationml/2006/main">
  <p:tag name="KSO_WM_DIAGRAM_VIRTUALLY_FRAME" val="{&quot;height&quot;:210.67999999999998,&quot;left&quot;:482.8,&quot;top&quot;:117,&quot;width&quot;:457.55}"/>
</p:tagLst>
</file>

<file path=ppt/tags/tag11.xml><?xml version="1.0" encoding="utf-8"?>
<p:tagLst xmlns:p="http://schemas.openxmlformats.org/presentationml/2006/main">
  <p:tag name="KSO_WM_DIAGRAM_VIRTUALLY_FRAME" val="{&quot;height&quot;:210.67999999999998,&quot;left&quot;:482.8,&quot;top&quot;:117,&quot;width&quot;:457.55}"/>
</p:tagLst>
</file>

<file path=ppt/tags/tag12.xml><?xml version="1.0" encoding="utf-8"?>
<p:tagLst xmlns:p="http://schemas.openxmlformats.org/presentationml/2006/main">
  <p:tag name="KSO_WM_DIAGRAM_VIRTUALLY_FRAME" val="{&quot;height&quot;:210.67999999999998,&quot;left&quot;:482.8,&quot;top&quot;:117,&quot;width&quot;:457.55}"/>
</p:tagLst>
</file>

<file path=ppt/tags/tag13.xml><?xml version="1.0" encoding="utf-8"?>
<p:tagLst xmlns:p="http://schemas.openxmlformats.org/presentationml/2006/main">
  <p:tag name="KSO_WM_DIAGRAM_VIRTUALLY_FRAME" val="{&quot;height&quot;:210.67999999999998,&quot;left&quot;:482.8,&quot;top&quot;:117,&quot;width&quot;:457.55}"/>
</p:tagLst>
</file>

<file path=ppt/tags/tag14.xml><?xml version="1.0" encoding="utf-8"?>
<p:tagLst xmlns:p="http://schemas.openxmlformats.org/presentationml/2006/main">
  <p:tag name="KSO_WM_DIAGRAM_VIRTUALLY_FRAME" val="{&quot;height&quot;:210.67999999999998,&quot;left&quot;:482.8,&quot;top&quot;:117,&quot;width&quot;:457.55}"/>
</p:tagLst>
</file>

<file path=ppt/tags/tag15.xml><?xml version="1.0" encoding="utf-8"?>
<p:tagLst xmlns:p="http://schemas.openxmlformats.org/presentationml/2006/main">
  <p:tag name="KSO_WM_DIAGRAM_VIRTUALLY_FRAME" val="{&quot;height&quot;:210.67999999999998,&quot;left&quot;:482.8,&quot;top&quot;:117,&quot;width&quot;:457.55}"/>
</p:tagLst>
</file>

<file path=ppt/tags/tag16.xml><?xml version="1.0" encoding="utf-8"?>
<p:tagLst xmlns:p="http://schemas.openxmlformats.org/presentationml/2006/main">
  <p:tag name="TABLE_ENDDRAG_ORIGIN_RECT" val="934*398"/>
  <p:tag name="TABLE_ENDDRAG_RECT" val="25*68*934*398"/>
</p:tagLst>
</file>

<file path=ppt/theme/theme1.xml><?xml version="1.0" encoding="utf-8"?>
<a:theme xmlns:a="http://schemas.openxmlformats.org/drawingml/2006/main" name="清风素材 https://12sc.taobao.com">
  <a:themeElements>
    <a:clrScheme name="自定义 7">
      <a:dk1>
        <a:srgbClr val="8B0012"/>
      </a:dk1>
      <a:lt1>
        <a:srgbClr val="FFFFFF"/>
      </a:lt1>
      <a:dk2>
        <a:srgbClr val="8B0012"/>
      </a:dk2>
      <a:lt2>
        <a:srgbClr val="F0F0F0"/>
      </a:lt2>
      <a:accent1>
        <a:srgbClr val="C00000"/>
      </a:accent1>
      <a:accent2>
        <a:srgbClr val="8B0012"/>
      </a:accent2>
      <a:accent3>
        <a:srgbClr val="C00000"/>
      </a:accent3>
      <a:accent4>
        <a:srgbClr val="8B0012"/>
      </a:accent4>
      <a:accent5>
        <a:srgbClr val="8B0012"/>
      </a:accent5>
      <a:accent6>
        <a:srgbClr val="FFB4BE"/>
      </a:accent6>
      <a:hlink>
        <a:srgbClr val="450009"/>
      </a:hlink>
      <a:folHlink>
        <a:srgbClr val="BFBFBF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8199</Words>
  <Application>WPS 演示</Application>
  <PresentationFormat>宽屏</PresentationFormat>
  <Paragraphs>603</Paragraphs>
  <Slides>27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38" baseType="lpstr">
      <vt:lpstr>Arial</vt:lpstr>
      <vt:lpstr>宋体</vt:lpstr>
      <vt:lpstr>Wingdings</vt:lpstr>
      <vt:lpstr>Calibri</vt:lpstr>
      <vt:lpstr>Times New Roman</vt:lpstr>
      <vt:lpstr>微软雅黑</vt:lpstr>
      <vt:lpstr>黑体</vt:lpstr>
      <vt:lpstr>Wingdings</vt:lpstr>
      <vt:lpstr>Arial Unicode MS</vt:lpstr>
      <vt:lpstr>Arial</vt:lpstr>
      <vt:lpstr>清风素材 https://12sc.taobao.com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艺心艺意</cp:lastModifiedBy>
  <cp:revision>837</cp:revision>
  <dcterms:created xsi:type="dcterms:W3CDTF">2026-01-08T07:30:00Z</dcterms:created>
  <dcterms:modified xsi:type="dcterms:W3CDTF">2026-08-25T06:06:34Z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94C6E881B0494C75BBE745C60B69A542_13</vt:lpwstr>
  </property>
  <property fmtid="{D5CDD505-2E9C-101B-9397-08002B2CF9AE}" pid="3" name="KSOProductBuildVer">
    <vt:lpwstr>2052-12.1.0.28043</vt:lpwstr>
  </property>
</Properties>
</file>