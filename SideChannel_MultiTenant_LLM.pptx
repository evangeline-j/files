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6" r:id="rId2"/>
    <p:sldId id="278" r:id="rId3"/>
    <p:sldId id="258" r:id="rId4"/>
    <p:sldId id="274" r:id="rId5"/>
    <p:sldId id="272" r:id="rId6"/>
    <p:sldId id="297" r:id="rId7"/>
    <p:sldId id="262" r:id="rId8"/>
    <p:sldId id="282" r:id="rId9"/>
    <p:sldId id="283" r:id="rId10"/>
    <p:sldId id="284" r:id="rId11"/>
    <p:sldId id="285" r:id="rId12"/>
    <p:sldId id="286" r:id="rId13"/>
    <p:sldId id="287" r:id="rId14"/>
    <p:sldId id="288" r:id="rId15"/>
    <p:sldId id="273" r:id="rId16"/>
    <p:sldId id="298" r:id="rId17"/>
    <p:sldId id="279" r:id="rId18"/>
    <p:sldId id="289" r:id="rId19"/>
    <p:sldId id="290" r:id="rId20"/>
    <p:sldId id="291" r:id="rId21"/>
    <p:sldId id="299" r:id="rId22"/>
    <p:sldId id="292" r:id="rId23"/>
    <p:sldId id="293" r:id="rId24"/>
    <p:sldId id="294" r:id="rId25"/>
    <p:sldId id="295" r:id="rId26"/>
    <p:sldId id="281" r:id="rId27"/>
  </p:sldIdLst>
  <p:sldSz cx="12192000" cy="6858000"/>
  <p:notesSz cx="6858000" cy="9144000"/>
  <p:defaultTextStyle>
    <a:lvl1pPr marL="0" lvl="0" algn="l" defTabSz="914400">
      <a:defRPr sz="1800" kern="1200">
        <a:solidFill>
          <a:schemeClr val="tx1"/>
        </a:solidFill>
        <a:latin typeface="等线" panose="02010600030101010101" charset="-122"/>
        <a:ea typeface="等线" panose="02010600030101010101" charset="-122"/>
      </a:defRPr>
    </a:lvl1pPr>
    <a:lvl2pPr marL="457200" lvl="1" algn="l" defTabSz="914400">
      <a:defRPr sz="1800" kern="1200">
        <a:solidFill>
          <a:schemeClr val="tx1"/>
        </a:solidFill>
        <a:latin typeface="等线" panose="02010600030101010101" charset="-122"/>
        <a:ea typeface="等线" panose="02010600030101010101" charset="-122"/>
      </a:defRPr>
    </a:lvl2pPr>
    <a:lvl3pPr marL="914400" lvl="2" algn="l" defTabSz="914400">
      <a:defRPr sz="1800" kern="1200">
        <a:solidFill>
          <a:schemeClr val="tx1"/>
        </a:solidFill>
        <a:latin typeface="等线" panose="02010600030101010101" charset="-122"/>
        <a:ea typeface="等线" panose="02010600030101010101" charset="-122"/>
      </a:defRPr>
    </a:lvl3pPr>
    <a:lvl4pPr marL="1371600" lvl="3" algn="l" defTabSz="914400">
      <a:defRPr sz="1800" kern="1200">
        <a:solidFill>
          <a:schemeClr val="tx1"/>
        </a:solidFill>
        <a:latin typeface="等线" panose="02010600030101010101" charset="-122"/>
        <a:ea typeface="等线" panose="02010600030101010101" charset="-122"/>
      </a:defRPr>
    </a:lvl4pPr>
    <a:lvl5pPr marL="1828800" lvl="4" algn="l" defTabSz="914400">
      <a:defRPr sz="1800" kern="1200">
        <a:solidFill>
          <a:schemeClr val="tx1"/>
        </a:solidFill>
        <a:latin typeface="等线" panose="02010600030101010101" charset="-122"/>
        <a:ea typeface="等线" panose="02010600030101010101" charset="-122"/>
      </a:defRPr>
    </a:lvl5pPr>
    <a:lvl6pPr marL="2286000" lvl="5" algn="l" defTabSz="914400">
      <a:defRPr sz="1800" kern="1200">
        <a:solidFill>
          <a:schemeClr val="tx1"/>
        </a:solidFill>
        <a:latin typeface="等线" panose="02010600030101010101" charset="-122"/>
        <a:ea typeface="等线" panose="02010600030101010101" charset="-122"/>
      </a:defRPr>
    </a:lvl6pPr>
    <a:lvl7pPr marL="2743200" lvl="6" algn="l" defTabSz="914400">
      <a:defRPr sz="1800" kern="1200">
        <a:solidFill>
          <a:schemeClr val="tx1"/>
        </a:solidFill>
        <a:latin typeface="等线" panose="02010600030101010101" charset="-122"/>
        <a:ea typeface="等线" panose="02010600030101010101" charset="-122"/>
      </a:defRPr>
    </a:lvl7pPr>
    <a:lvl8pPr marL="3200400" lvl="7" algn="l" defTabSz="914400">
      <a:defRPr sz="1800" kern="1200">
        <a:solidFill>
          <a:schemeClr val="tx1"/>
        </a:solidFill>
        <a:latin typeface="等线" panose="02010600030101010101" charset="-122"/>
        <a:ea typeface="等线" panose="02010600030101010101" charset="-122"/>
      </a:defRPr>
    </a:lvl8pPr>
    <a:lvl9pPr marL="3657600" lvl="8" algn="l" defTabSz="914400">
      <a:defRPr sz="1800" kern="1200">
        <a:solidFill>
          <a:schemeClr val="tx1"/>
        </a:solidFill>
        <a:latin typeface="等线" panose="02010600030101010101" charset="-122"/>
        <a:ea typeface="等线" panose="02010600030101010101" charset="-122"/>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87" autoAdjust="0"/>
    <p:restoredTop sz="94660"/>
  </p:normalViewPr>
  <p:slideViewPr>
    <p:cSldViewPr snapToGrid="0">
      <p:cViewPr varScale="1">
        <p:scale>
          <a:sx n="106" d="100"/>
          <a:sy n="106" d="100"/>
        </p:scale>
        <p:origin x="328"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13B20-8BB8-B74B-ADB5-DA5707988F1E}" type="datetimeFigureOut">
              <a:rPr lang="zh-CN" altLang="en-US"/>
              <a:t>2026/1/13</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8674F-E567-AA4B-8C16-788D7CE21C4F}" type="slidenum">
              <a:rPr/>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9E075-0873-E7F6-B5B7-F215ADFD420D}"/>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B4FC51C-AB6A-B473-A918-C55DB6612A67}"/>
              </a:ext>
            </a:extLst>
          </p:cNvPr>
          <p:cNvSpPr>
            <a:spLocks noGrp="1"/>
          </p:cNvSpPr>
          <p:nvPr>
            <p:ph type="body" idx="1"/>
          </p:nvPr>
        </p:nvSpPr>
        <p:spPr/>
        <p:txBody>
          <a:bodyPr/>
          <a:lstStyle/>
          <a:p>
            <a:endParaRPr lang="zh-CN" altLang="zh-CN"/>
          </a:p>
        </p:txBody>
      </p:sp>
    </p:spTree>
    <p:extLst>
      <p:ext uri="{BB962C8B-B14F-4D97-AF65-F5344CB8AC3E}">
        <p14:creationId xmlns:p14="http://schemas.microsoft.com/office/powerpoint/2010/main" val="281910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CC615-0ABA-7964-AF10-3A40CCEEEBE6}"/>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C760BBF1-4237-BF2E-8D0B-90C54C2D7B21}"/>
              </a:ext>
            </a:extLst>
          </p:cNvPr>
          <p:cNvSpPr>
            <a:spLocks noGrp="1"/>
          </p:cNvSpPr>
          <p:nvPr>
            <p:ph type="body" idx="1"/>
          </p:nvPr>
        </p:nvSpPr>
        <p:spPr/>
        <p:txBody>
          <a:bodyPr/>
          <a:lstStyle/>
          <a:p>
            <a:endParaRPr lang="zh-CN" altLang="zh-CN"/>
          </a:p>
        </p:txBody>
      </p:sp>
    </p:spTree>
    <p:extLst>
      <p:ext uri="{BB962C8B-B14F-4D97-AF65-F5344CB8AC3E}">
        <p14:creationId xmlns:p14="http://schemas.microsoft.com/office/powerpoint/2010/main" val="3056321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8D505-A120-7071-F84F-CB7FB96E7EE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E786A4DD-584E-DBBF-0FC8-57F8EA517B33}"/>
              </a:ext>
            </a:extLst>
          </p:cNvPr>
          <p:cNvSpPr>
            <a:spLocks noGrp="1"/>
          </p:cNvSpPr>
          <p:nvPr>
            <p:ph type="body" idx="1"/>
          </p:nvPr>
        </p:nvSpPr>
        <p:spPr/>
        <p:txBody>
          <a:bodyPr/>
          <a:lstStyle/>
          <a:p>
            <a:endParaRPr lang="zh-CN" altLang="zh-CN"/>
          </a:p>
        </p:txBody>
      </p:sp>
    </p:spTree>
    <p:extLst>
      <p:ext uri="{BB962C8B-B14F-4D97-AF65-F5344CB8AC3E}">
        <p14:creationId xmlns:p14="http://schemas.microsoft.com/office/powerpoint/2010/main" val="1979399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8D505-A120-7071-F84F-CB7FB96E7EE4}"/>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E786A4DD-584E-DBBF-0FC8-57F8EA517B33}"/>
              </a:ext>
            </a:extLst>
          </p:cNvPr>
          <p:cNvSpPr>
            <a:spLocks noGrp="1"/>
          </p:cNvSpPr>
          <p:nvPr>
            <p:ph type="body" idx="1"/>
          </p:nvPr>
        </p:nvSpPr>
        <p:spPr/>
        <p:txBody>
          <a:bodyPr/>
          <a:lstStyle/>
          <a:p>
            <a:endParaRPr lang="zh-CN" altLang="zh-CN"/>
          </a:p>
        </p:txBody>
      </p:sp>
    </p:spTree>
    <p:extLst>
      <p:ext uri="{BB962C8B-B14F-4D97-AF65-F5344CB8AC3E}">
        <p14:creationId xmlns:p14="http://schemas.microsoft.com/office/powerpoint/2010/main" val="4260867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lvl="0" algn="ctr">
              <a:defRPr sz="6000"/>
            </a:lvl1pPr>
          </a:lstStyle>
          <a:p>
            <a:r>
              <a:rPr lang="zh-CN" altLang="zh-CN"/>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lvl="0" indent="0" algn="ctr">
              <a:buNone/>
              <a:defRPr sz="2400"/>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ltLang="zh-CN"/>
              <a:t>单击此处编辑母版副标题样式</a:t>
            </a:r>
          </a:p>
        </p:txBody>
      </p:sp>
      <p:sp>
        <p:nvSpPr>
          <p:cNvPr id="4" name="日期占位符 3"/>
          <p:cNvSpPr>
            <a:spLocks noGrp="1"/>
          </p:cNvSpPr>
          <p:nvPr>
            <p:ph type="dt" idx="10"/>
          </p:nvPr>
        </p:nvSpPr>
        <p:spPr/>
        <p:txBody>
          <a:bodyPr/>
          <a:lstStyle/>
          <a:p>
            <a:fld id="{EDBF8370-41C6-4E3D-8B5A-3E71E3C6F8E1}" type="datetimeFigureOut">
              <a:rPr lang="zh-CN" altLang="zh-CN"/>
              <a:t>2026/1/13</a:t>
            </a:fld>
            <a:endParaRPr lang="zh-CN" altLang="zh-CN"/>
          </a:p>
        </p:txBody>
      </p:sp>
      <p:sp>
        <p:nvSpPr>
          <p:cNvPr id="5" name="页脚占位符 4"/>
          <p:cNvSpPr>
            <a:spLocks noGrp="1"/>
          </p:cNvSpPr>
          <p:nvPr>
            <p:ph type="ftr" idx="11"/>
          </p:nvPr>
        </p:nvSpPr>
        <p:spPr/>
        <p:txBody>
          <a:bodyPr/>
          <a:lstStyle/>
          <a:p>
            <a:endParaRPr lang="zh-CN" altLang="zh-CN"/>
          </a:p>
        </p:txBody>
      </p:sp>
      <p:sp>
        <p:nvSpPr>
          <p:cNvPr id="6" name="灯片编号占位符 5"/>
          <p:cNvSpPr>
            <a:spLocks noGrp="1"/>
          </p:cNvSpPr>
          <p:nvPr>
            <p:ph type="sldNum" idx="12"/>
          </p:nvPr>
        </p:nvSpPr>
        <p:spPr/>
        <p:txBody>
          <a:bodyPr/>
          <a:lstStyle/>
          <a:p>
            <a:fld id="{182088B9-91B7-4ECF-BB77-F9CF06A518A7}" type="slidenum">
              <a:rPr lang="zh-CN" altLang="zh-CN"/>
              <a:t>‹#›</a:t>
            </a:fld>
            <a:endParaRPr lang="zh-CN"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lvl="0">
              <a:defRPr sz="6000"/>
            </a:lvl1pPr>
          </a:lstStyle>
          <a:p>
            <a:r>
              <a:rPr lang="zh-CN" altLang="zh-CN"/>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lvl="0" indent="0">
              <a:buNone/>
              <a:defRPr sz="2400">
                <a:solidFill>
                  <a:schemeClr val="tx1">
                    <a:tint val="75000"/>
                  </a:schemeClr>
                </a:solidFill>
              </a:defRPr>
            </a:lvl1pPr>
            <a:lvl2pPr marL="457200" lvl="1" indent="0">
              <a:buNone/>
              <a:defRPr sz="2000">
                <a:solidFill>
                  <a:schemeClr val="tx1">
                    <a:tint val="75000"/>
                  </a:schemeClr>
                </a:solidFill>
              </a:defRPr>
            </a:lvl2pPr>
            <a:lvl3pPr marL="914400" lvl="2" indent="0">
              <a:buNone/>
              <a:defRPr sz="1800">
                <a:solidFill>
                  <a:schemeClr val="tx1">
                    <a:tint val="75000"/>
                  </a:schemeClr>
                </a:solidFill>
              </a:defRPr>
            </a:lvl3pPr>
            <a:lvl4pPr marL="1371600" lvl="3" indent="0">
              <a:buNone/>
              <a:defRPr sz="1600">
                <a:solidFill>
                  <a:schemeClr val="tx1">
                    <a:tint val="75000"/>
                  </a:schemeClr>
                </a:solidFill>
              </a:defRPr>
            </a:lvl4pPr>
            <a:lvl5pPr marL="1828800" lvl="4" indent="0">
              <a:buNone/>
              <a:defRPr sz="1600">
                <a:solidFill>
                  <a:schemeClr val="tx1">
                    <a:tint val="75000"/>
                  </a:schemeClr>
                </a:solidFill>
              </a:defRPr>
            </a:lvl5pPr>
            <a:lvl6pPr marL="2286000" lvl="5" indent="0">
              <a:buNone/>
              <a:defRPr sz="1600">
                <a:solidFill>
                  <a:schemeClr val="tx1">
                    <a:tint val="75000"/>
                  </a:schemeClr>
                </a:solidFill>
              </a:defRPr>
            </a:lvl6pPr>
            <a:lvl7pPr marL="2743200" lvl="6" indent="0">
              <a:buNone/>
              <a:defRPr sz="1600">
                <a:solidFill>
                  <a:schemeClr val="tx1">
                    <a:tint val="75000"/>
                  </a:schemeClr>
                </a:solidFill>
              </a:defRPr>
            </a:lvl7pPr>
            <a:lvl8pPr marL="3200400" lvl="7" indent="0">
              <a:buNone/>
              <a:defRPr sz="1600">
                <a:solidFill>
                  <a:schemeClr val="tx1">
                    <a:tint val="75000"/>
                  </a:schemeClr>
                </a:solidFill>
              </a:defRPr>
            </a:lvl8pPr>
            <a:lvl9pPr marL="3657600" lvl="8" indent="0">
              <a:buNone/>
              <a:defRPr sz="1600">
                <a:solidFill>
                  <a:schemeClr val="tx1">
                    <a:tint val="75000"/>
                  </a:schemeClr>
                </a:solidFill>
              </a:defRPr>
            </a:lvl9pPr>
          </a:lstStyle>
          <a:p>
            <a:pPr lvl="0"/>
            <a:r>
              <a:rPr lang="zh-CN" altLang="zh-CN"/>
              <a:t>单击此处编辑母版文本样式</a:t>
            </a:r>
          </a:p>
        </p:txBody>
      </p:sp>
      <p:sp>
        <p:nvSpPr>
          <p:cNvPr id="4" name="日期占位符 3"/>
          <p:cNvSpPr>
            <a:spLocks noGrp="1"/>
          </p:cNvSpPr>
          <p:nvPr>
            <p:ph type="dt" idx="10"/>
          </p:nvPr>
        </p:nvSpPr>
        <p:spPr/>
        <p:txBody>
          <a:bodyPr/>
          <a:lstStyle/>
          <a:p>
            <a:fld id="{F604C005-D14B-44F2-8292-B7176621AE19}" type="datetimeFigureOut">
              <a:rPr lang="zh-CN" altLang="zh-CN"/>
              <a:t>2026/1/13</a:t>
            </a:fld>
            <a:endParaRPr lang="zh-CN" altLang="zh-CN"/>
          </a:p>
        </p:txBody>
      </p:sp>
      <p:sp>
        <p:nvSpPr>
          <p:cNvPr id="5" name="页脚占位符 4"/>
          <p:cNvSpPr>
            <a:spLocks noGrp="1"/>
          </p:cNvSpPr>
          <p:nvPr>
            <p:ph type="ftr" idx="11"/>
          </p:nvPr>
        </p:nvSpPr>
        <p:spPr/>
        <p:txBody>
          <a:bodyPr/>
          <a:lstStyle/>
          <a:p>
            <a:endParaRPr lang="zh-CN" altLang="zh-CN"/>
          </a:p>
        </p:txBody>
      </p:sp>
      <p:sp>
        <p:nvSpPr>
          <p:cNvPr id="6" name="灯片编号占位符 5"/>
          <p:cNvSpPr>
            <a:spLocks noGrp="1"/>
          </p:cNvSpPr>
          <p:nvPr>
            <p:ph type="sldNum" idx="12"/>
          </p:nvPr>
        </p:nvSpPr>
        <p:spPr/>
        <p:txBody>
          <a:bodyPr/>
          <a:lstStyle/>
          <a:p>
            <a:fld id="{B086700D-2B1C-445B-8B78-700C32B209E6}" type="slidenum">
              <a:rPr lang="zh-CN" altLang="zh-CN"/>
              <a:t>‹#›</a:t>
            </a:fld>
            <a:endParaRPr lang="zh-CN"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单击此处编辑母版标题样式</a:t>
            </a:r>
          </a:p>
        </p:txBody>
      </p:sp>
      <p:sp>
        <p:nvSpPr>
          <p:cNvPr id="3" name="内容占位符 2"/>
          <p:cNvSpPr>
            <a:spLocks noGrp="1"/>
          </p:cNvSpPr>
          <p:nvPr>
            <p:ph idx="1"/>
          </p:nvPr>
        </p:nvSpPr>
        <p:spPr>
          <a:xfrm>
            <a:off x="838200" y="1825625"/>
            <a:ext cx="5181600" cy="4351338"/>
          </a:xfrm>
        </p:spPr>
        <p:txBody>
          <a:bodyPr/>
          <a:lstStyle/>
          <a:p>
            <a:pPr lvl="0"/>
            <a:r>
              <a:rPr lang="zh-CN" altLang="zh-CN"/>
              <a:t>单击此处编辑母版文本样式</a:t>
            </a:r>
          </a:p>
          <a:p>
            <a:pPr lvl="1"/>
            <a:r>
              <a:rPr lang="zh-CN" altLang="zh-CN"/>
              <a:t>二级</a:t>
            </a:r>
          </a:p>
          <a:p>
            <a:pPr lvl="2"/>
            <a:r>
              <a:rPr lang="zh-CN" altLang="zh-CN"/>
              <a:t>三级</a:t>
            </a:r>
          </a:p>
          <a:p>
            <a:pPr lvl="3"/>
            <a:r>
              <a:rPr lang="zh-CN" altLang="zh-CN"/>
              <a:t>四级</a:t>
            </a:r>
          </a:p>
          <a:p>
            <a:pPr lvl="4"/>
            <a:r>
              <a:rPr lang="zh-CN" altLang="zh-CN"/>
              <a:t>五级</a:t>
            </a:r>
          </a:p>
        </p:txBody>
      </p:sp>
      <p:sp>
        <p:nvSpPr>
          <p:cNvPr id="4" name="内容占位符 3"/>
          <p:cNvSpPr>
            <a:spLocks noGrp="1"/>
          </p:cNvSpPr>
          <p:nvPr>
            <p:ph idx="2"/>
          </p:nvPr>
        </p:nvSpPr>
        <p:spPr>
          <a:xfrm>
            <a:off x="6172200" y="1825625"/>
            <a:ext cx="5181600" cy="4351338"/>
          </a:xfrm>
        </p:spPr>
        <p:txBody>
          <a:bodyPr/>
          <a:lstStyle/>
          <a:p>
            <a:pPr lvl="0"/>
            <a:r>
              <a:rPr lang="zh-CN" altLang="zh-CN"/>
              <a:t>单击此处编辑母版文本样式</a:t>
            </a:r>
          </a:p>
          <a:p>
            <a:pPr lvl="1"/>
            <a:r>
              <a:rPr lang="zh-CN" altLang="zh-CN"/>
              <a:t>二级</a:t>
            </a:r>
          </a:p>
          <a:p>
            <a:pPr lvl="2"/>
            <a:r>
              <a:rPr lang="zh-CN" altLang="zh-CN"/>
              <a:t>三级</a:t>
            </a:r>
          </a:p>
          <a:p>
            <a:pPr lvl="3"/>
            <a:r>
              <a:rPr lang="zh-CN" altLang="zh-CN"/>
              <a:t>四级</a:t>
            </a:r>
          </a:p>
          <a:p>
            <a:pPr lvl="4"/>
            <a:r>
              <a:rPr lang="zh-CN" altLang="zh-CN"/>
              <a:t>五级</a:t>
            </a:r>
          </a:p>
        </p:txBody>
      </p:sp>
      <p:sp>
        <p:nvSpPr>
          <p:cNvPr id="5" name="日期占位符 4"/>
          <p:cNvSpPr>
            <a:spLocks noGrp="1"/>
          </p:cNvSpPr>
          <p:nvPr>
            <p:ph type="dt" idx="10"/>
          </p:nvPr>
        </p:nvSpPr>
        <p:spPr/>
        <p:txBody>
          <a:bodyPr/>
          <a:lstStyle/>
          <a:p>
            <a:fld id="{17942718-46A3-4042-A654-94BB187F6462}" type="datetimeFigureOut">
              <a:rPr lang="zh-CN" altLang="zh-CN"/>
              <a:t>2026/1/13</a:t>
            </a:fld>
            <a:endParaRPr lang="zh-CN" altLang="zh-CN"/>
          </a:p>
        </p:txBody>
      </p:sp>
      <p:sp>
        <p:nvSpPr>
          <p:cNvPr id="6" name="页脚占位符 5"/>
          <p:cNvSpPr>
            <a:spLocks noGrp="1"/>
          </p:cNvSpPr>
          <p:nvPr>
            <p:ph type="ftr" idx="11"/>
          </p:nvPr>
        </p:nvSpPr>
        <p:spPr/>
        <p:txBody>
          <a:bodyPr/>
          <a:lstStyle/>
          <a:p>
            <a:endParaRPr lang="zh-CN" altLang="zh-CN"/>
          </a:p>
        </p:txBody>
      </p:sp>
      <p:sp>
        <p:nvSpPr>
          <p:cNvPr id="7" name="灯片编号占位符 6"/>
          <p:cNvSpPr>
            <a:spLocks noGrp="1"/>
          </p:cNvSpPr>
          <p:nvPr>
            <p:ph type="sldNum" idx="12"/>
          </p:nvPr>
        </p:nvSpPr>
        <p:spPr/>
        <p:txBody>
          <a:bodyPr/>
          <a:lstStyle/>
          <a:p>
            <a:fld id="{0E0BA19D-30CA-4207-812C-D78373E4CA25}" type="slidenum">
              <a:rPr lang="zh-CN" altLang="zh-CN"/>
              <a:t>‹#›</a:t>
            </a:fld>
            <a:endParaRPr lang="zh-CN"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zh-CN"/>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zh-CN"/>
              <a:t>单击此处编辑母版文本样式</a:t>
            </a:r>
          </a:p>
        </p:txBody>
      </p:sp>
      <p:sp>
        <p:nvSpPr>
          <p:cNvPr id="4" name="内容占位符 3"/>
          <p:cNvSpPr>
            <a:spLocks noGrp="1"/>
          </p:cNvSpPr>
          <p:nvPr>
            <p:ph idx="2"/>
          </p:nvPr>
        </p:nvSpPr>
        <p:spPr>
          <a:xfrm>
            <a:off x="839788" y="2505075"/>
            <a:ext cx="5157787" cy="3684588"/>
          </a:xfrm>
        </p:spPr>
        <p:txBody>
          <a:bodyPr/>
          <a:lstStyle/>
          <a:p>
            <a:pPr lvl="0"/>
            <a:r>
              <a:rPr lang="zh-CN" altLang="zh-CN"/>
              <a:t>单击此处编辑母版文本样式</a:t>
            </a:r>
          </a:p>
          <a:p>
            <a:pPr lvl="1"/>
            <a:r>
              <a:rPr lang="zh-CN" altLang="zh-CN"/>
              <a:t>二级</a:t>
            </a:r>
          </a:p>
          <a:p>
            <a:pPr lvl="2"/>
            <a:r>
              <a:rPr lang="zh-CN" altLang="zh-CN"/>
              <a:t>三级</a:t>
            </a:r>
          </a:p>
          <a:p>
            <a:pPr lvl="3"/>
            <a:r>
              <a:rPr lang="zh-CN" altLang="zh-CN"/>
              <a:t>四级</a:t>
            </a:r>
          </a:p>
          <a:p>
            <a:pPr lvl="4"/>
            <a:r>
              <a:rPr lang="zh-CN" altLang="zh-CN"/>
              <a:t>五级</a:t>
            </a:r>
          </a:p>
        </p:txBody>
      </p:sp>
      <p:sp>
        <p:nvSpPr>
          <p:cNvPr id="5" name="文本占位符 4"/>
          <p:cNvSpPr>
            <a:spLocks noGrp="1"/>
          </p:cNvSpPr>
          <p:nvPr>
            <p:ph type="body" idx="3"/>
          </p:nvPr>
        </p:nvSpPr>
        <p:spPr>
          <a:xfrm>
            <a:off x="6172200" y="1681163"/>
            <a:ext cx="5183188" cy="82391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ltLang="zh-CN"/>
              <a:t>单击此处编辑母版文本样式</a:t>
            </a:r>
          </a:p>
        </p:txBody>
      </p:sp>
      <p:sp>
        <p:nvSpPr>
          <p:cNvPr id="6" name="内容占位符 5"/>
          <p:cNvSpPr>
            <a:spLocks noGrp="1"/>
          </p:cNvSpPr>
          <p:nvPr>
            <p:ph idx="4"/>
          </p:nvPr>
        </p:nvSpPr>
        <p:spPr>
          <a:xfrm>
            <a:off x="6172200" y="2505075"/>
            <a:ext cx="5183188" cy="3684588"/>
          </a:xfrm>
        </p:spPr>
        <p:txBody>
          <a:bodyPr/>
          <a:lstStyle/>
          <a:p>
            <a:pPr lvl="0"/>
            <a:r>
              <a:rPr lang="zh-CN" altLang="zh-CN"/>
              <a:t>单击此处编辑母版文本样式</a:t>
            </a:r>
          </a:p>
          <a:p>
            <a:pPr lvl="1"/>
            <a:r>
              <a:rPr lang="zh-CN" altLang="zh-CN"/>
              <a:t>二级</a:t>
            </a:r>
          </a:p>
          <a:p>
            <a:pPr lvl="2"/>
            <a:r>
              <a:rPr lang="zh-CN" altLang="zh-CN"/>
              <a:t>三级</a:t>
            </a:r>
          </a:p>
          <a:p>
            <a:pPr lvl="3"/>
            <a:r>
              <a:rPr lang="zh-CN" altLang="zh-CN"/>
              <a:t>四级</a:t>
            </a:r>
          </a:p>
          <a:p>
            <a:pPr lvl="4"/>
            <a:r>
              <a:rPr lang="zh-CN" altLang="zh-CN"/>
              <a:t>五级</a:t>
            </a:r>
          </a:p>
        </p:txBody>
      </p:sp>
      <p:sp>
        <p:nvSpPr>
          <p:cNvPr id="7" name="日期占位符 6"/>
          <p:cNvSpPr>
            <a:spLocks noGrp="1"/>
          </p:cNvSpPr>
          <p:nvPr>
            <p:ph type="dt" idx="10"/>
          </p:nvPr>
        </p:nvSpPr>
        <p:spPr/>
        <p:txBody>
          <a:bodyPr/>
          <a:lstStyle/>
          <a:p>
            <a:fld id="{C5E65EAD-9BFB-4ABD-941E-D132E083B0D2}" type="datetimeFigureOut">
              <a:rPr lang="zh-CN" altLang="zh-CN"/>
              <a:t>2026/1/13</a:t>
            </a:fld>
            <a:endParaRPr lang="zh-CN" altLang="zh-CN"/>
          </a:p>
        </p:txBody>
      </p:sp>
      <p:sp>
        <p:nvSpPr>
          <p:cNvPr id="8" name="页脚占位符 7"/>
          <p:cNvSpPr>
            <a:spLocks noGrp="1"/>
          </p:cNvSpPr>
          <p:nvPr>
            <p:ph type="ftr" idx="11"/>
          </p:nvPr>
        </p:nvSpPr>
        <p:spPr/>
        <p:txBody>
          <a:bodyPr/>
          <a:lstStyle/>
          <a:p>
            <a:endParaRPr lang="zh-CN" altLang="zh-CN"/>
          </a:p>
        </p:txBody>
      </p:sp>
      <p:sp>
        <p:nvSpPr>
          <p:cNvPr id="9" name="灯片编号占位符 8"/>
          <p:cNvSpPr>
            <a:spLocks noGrp="1"/>
          </p:cNvSpPr>
          <p:nvPr>
            <p:ph type="sldNum" idx="12"/>
          </p:nvPr>
        </p:nvSpPr>
        <p:spPr/>
        <p:txBody>
          <a:bodyPr/>
          <a:lstStyle/>
          <a:p>
            <a:fld id="{070EB33C-20B5-42C5-996B-F9D126B00CF7}" type="slidenum">
              <a:rPr lang="zh-CN" altLang="zh-CN"/>
              <a:t>‹#›</a:t>
            </a:fld>
            <a:endParaRPr lang="zh-CN"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单击此处编辑母版标题样式</a:t>
            </a:r>
          </a:p>
        </p:txBody>
      </p:sp>
      <p:sp>
        <p:nvSpPr>
          <p:cNvPr id="3" name="日期占位符 2"/>
          <p:cNvSpPr>
            <a:spLocks noGrp="1"/>
          </p:cNvSpPr>
          <p:nvPr>
            <p:ph type="dt" idx="10"/>
          </p:nvPr>
        </p:nvSpPr>
        <p:spPr/>
        <p:txBody>
          <a:bodyPr/>
          <a:lstStyle/>
          <a:p>
            <a:fld id="{8663B951-FA4A-4EBE-B684-C220394CBD3C}" type="datetimeFigureOut">
              <a:rPr lang="zh-CN" altLang="zh-CN"/>
              <a:t>2026/1/13</a:t>
            </a:fld>
            <a:endParaRPr lang="zh-CN" altLang="zh-CN"/>
          </a:p>
        </p:txBody>
      </p:sp>
      <p:sp>
        <p:nvSpPr>
          <p:cNvPr id="4" name="页脚占位符 3"/>
          <p:cNvSpPr>
            <a:spLocks noGrp="1"/>
          </p:cNvSpPr>
          <p:nvPr>
            <p:ph type="ftr" idx="11"/>
          </p:nvPr>
        </p:nvSpPr>
        <p:spPr/>
        <p:txBody>
          <a:bodyPr/>
          <a:lstStyle/>
          <a:p>
            <a:endParaRPr lang="zh-CN" altLang="zh-CN"/>
          </a:p>
        </p:txBody>
      </p:sp>
      <p:sp>
        <p:nvSpPr>
          <p:cNvPr id="5" name="灯片编号占位符 4"/>
          <p:cNvSpPr>
            <a:spLocks noGrp="1"/>
          </p:cNvSpPr>
          <p:nvPr>
            <p:ph type="sldNum" idx="12"/>
          </p:nvPr>
        </p:nvSpPr>
        <p:spPr/>
        <p:txBody>
          <a:bodyPr/>
          <a:lstStyle/>
          <a:p>
            <a:fld id="{13E06A74-1EBA-4B79-B4D1-65285EA28482}" type="slidenum">
              <a:rPr lang="zh-CN" altLang="zh-CN"/>
              <a:t>‹#›</a:t>
            </a:fld>
            <a:endParaRPr lang="zh-CN"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
        <p:nvSpPr>
          <p:cNvPr id="2" name="日期占位符 1"/>
          <p:cNvSpPr>
            <a:spLocks noGrp="1"/>
          </p:cNvSpPr>
          <p:nvPr>
            <p:ph type="dt" idx="10"/>
          </p:nvPr>
        </p:nvSpPr>
        <p:spPr/>
        <p:txBody>
          <a:bodyPr/>
          <a:lstStyle/>
          <a:p>
            <a:fld id="{0BA6B2DC-2C33-4B48-BDE9-F4388084D830}" type="datetimeFigureOut">
              <a:rPr lang="zh-CN" altLang="zh-CN"/>
              <a:t>2026/1/13</a:t>
            </a:fld>
            <a:endParaRPr lang="zh-CN" altLang="zh-CN"/>
          </a:p>
        </p:txBody>
      </p:sp>
      <p:sp>
        <p:nvSpPr>
          <p:cNvPr id="3" name="页脚占位符 2"/>
          <p:cNvSpPr>
            <a:spLocks noGrp="1"/>
          </p:cNvSpPr>
          <p:nvPr>
            <p:ph type="ftr" idx="11"/>
          </p:nvPr>
        </p:nvSpPr>
        <p:spPr/>
        <p:txBody>
          <a:bodyPr/>
          <a:lstStyle/>
          <a:p>
            <a:endParaRPr lang="zh-CN" altLang="zh-CN"/>
          </a:p>
        </p:txBody>
      </p:sp>
      <p:sp>
        <p:nvSpPr>
          <p:cNvPr id="4" name="灯片编号占位符 3"/>
          <p:cNvSpPr>
            <a:spLocks noGrp="1"/>
          </p:cNvSpPr>
          <p:nvPr>
            <p:ph type="sldNum" idx="12"/>
          </p:nvPr>
        </p:nvSpPr>
        <p:spPr/>
        <p:txBody>
          <a:bodyPr/>
          <a:lstStyle/>
          <a:p>
            <a:fld id="{B60A3B38-44E6-492F-A5C4-2DE57A4F21D2}" type="slidenum">
              <a:rPr lang="zh-CN" altLang="zh-CN"/>
              <a:t>‹#›</a:t>
            </a:fld>
            <a:endParaRPr lang="zh-CN"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lvl="0">
              <a:defRPr sz="3200"/>
            </a:lvl1pPr>
          </a:lstStyle>
          <a:p>
            <a:r>
              <a:rPr lang="zh-CN" altLang="zh-CN"/>
              <a:t>单击此处编辑母版标题样式</a:t>
            </a:r>
          </a:p>
        </p:txBody>
      </p:sp>
      <p:sp>
        <p:nvSpPr>
          <p:cNvPr id="3" name="内容占位符 2"/>
          <p:cNvSpPr>
            <a:spLocks noGrp="1"/>
          </p:cNvSpPr>
          <p:nvPr>
            <p:ph idx="1"/>
          </p:nvPr>
        </p:nvSpPr>
        <p:spPr>
          <a:xfrm>
            <a:off x="5183188" y="987425"/>
            <a:ext cx="6172200" cy="4873625"/>
          </a:xfr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ltLang="zh-CN"/>
              <a:t>单击此处编辑母版文本样式</a:t>
            </a:r>
          </a:p>
          <a:p>
            <a:pPr lvl="1"/>
            <a:r>
              <a:rPr lang="zh-CN" altLang="zh-CN"/>
              <a:t>二级</a:t>
            </a:r>
          </a:p>
          <a:p>
            <a:pPr lvl="2"/>
            <a:r>
              <a:rPr lang="zh-CN" altLang="zh-CN"/>
              <a:t>三级</a:t>
            </a:r>
          </a:p>
          <a:p>
            <a:pPr lvl="3"/>
            <a:r>
              <a:rPr lang="zh-CN" altLang="zh-CN"/>
              <a:t>四级</a:t>
            </a:r>
          </a:p>
          <a:p>
            <a:pPr lvl="4"/>
            <a:r>
              <a:rPr lang="zh-CN" altLang="zh-CN"/>
              <a:t>五级</a:t>
            </a:r>
          </a:p>
        </p:txBody>
      </p:sp>
      <p:sp>
        <p:nvSpPr>
          <p:cNvPr id="4" name="文本占位符 3"/>
          <p:cNvSpPr>
            <a:spLocks noGrp="1"/>
          </p:cNvSpPr>
          <p:nvPr>
            <p:ph type="body" idx="2"/>
          </p:nvPr>
        </p:nvSpPr>
        <p:spPr>
          <a:xfrm>
            <a:off x="839788" y="2057400"/>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ltLang="zh-CN"/>
              <a:t>单击此处编辑母版文本样式</a:t>
            </a:r>
          </a:p>
        </p:txBody>
      </p:sp>
      <p:sp>
        <p:nvSpPr>
          <p:cNvPr id="5" name="日期占位符 4"/>
          <p:cNvSpPr>
            <a:spLocks noGrp="1"/>
          </p:cNvSpPr>
          <p:nvPr>
            <p:ph type="dt" idx="10"/>
          </p:nvPr>
        </p:nvSpPr>
        <p:spPr/>
        <p:txBody>
          <a:bodyPr/>
          <a:lstStyle/>
          <a:p>
            <a:fld id="{57544B1D-B6FD-4489-A2FB-DDBEF60EFE07}" type="datetimeFigureOut">
              <a:rPr lang="zh-CN" altLang="zh-CN"/>
              <a:t>2026/1/13</a:t>
            </a:fld>
            <a:endParaRPr lang="zh-CN" altLang="zh-CN"/>
          </a:p>
        </p:txBody>
      </p:sp>
      <p:sp>
        <p:nvSpPr>
          <p:cNvPr id="6" name="页脚占位符 5"/>
          <p:cNvSpPr>
            <a:spLocks noGrp="1"/>
          </p:cNvSpPr>
          <p:nvPr>
            <p:ph type="ftr" idx="11"/>
          </p:nvPr>
        </p:nvSpPr>
        <p:spPr/>
        <p:txBody>
          <a:bodyPr/>
          <a:lstStyle/>
          <a:p>
            <a:endParaRPr lang="zh-CN" altLang="zh-CN"/>
          </a:p>
        </p:txBody>
      </p:sp>
      <p:sp>
        <p:nvSpPr>
          <p:cNvPr id="7" name="灯片编号占位符 6"/>
          <p:cNvSpPr>
            <a:spLocks noGrp="1"/>
          </p:cNvSpPr>
          <p:nvPr>
            <p:ph type="sldNum" idx="12"/>
          </p:nvPr>
        </p:nvSpPr>
        <p:spPr/>
        <p:txBody>
          <a:bodyPr/>
          <a:lstStyle/>
          <a:p>
            <a:fld id="{0A9B5049-42B8-4B86-BE4B-9FB29DFFE3B4}" type="slidenum">
              <a:rPr lang="zh-CN" altLang="zh-CN"/>
              <a:t>‹#›</a:t>
            </a:fld>
            <a:endParaRPr lang="zh-CN"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lvl="0">
              <a:defRPr sz="3200"/>
            </a:lvl1pPr>
          </a:lstStyle>
          <a:p>
            <a:r>
              <a:rPr lang="zh-CN" altLang="zh-CN"/>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endParaRPr lang="zh-CN" altLang="zh-CN"/>
          </a:p>
        </p:txBody>
      </p:sp>
      <p:sp>
        <p:nvSpPr>
          <p:cNvPr id="4" name="文本占位符 3"/>
          <p:cNvSpPr>
            <a:spLocks noGrp="1"/>
          </p:cNvSpPr>
          <p:nvPr>
            <p:ph type="body" idx="2"/>
          </p:nvPr>
        </p:nvSpPr>
        <p:spPr>
          <a:xfrm>
            <a:off x="839788" y="2057400"/>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zh-CN" altLang="zh-CN"/>
              <a:t>单击此处编辑母版文本样式</a:t>
            </a:r>
          </a:p>
        </p:txBody>
      </p:sp>
      <p:sp>
        <p:nvSpPr>
          <p:cNvPr id="5" name="日期占位符 4"/>
          <p:cNvSpPr>
            <a:spLocks noGrp="1"/>
          </p:cNvSpPr>
          <p:nvPr>
            <p:ph type="dt" idx="10"/>
          </p:nvPr>
        </p:nvSpPr>
        <p:spPr/>
        <p:txBody>
          <a:bodyPr/>
          <a:lstStyle/>
          <a:p>
            <a:fld id="{56981910-7150-4AFD-A8FD-CDF22C99173D}" type="datetimeFigureOut">
              <a:rPr lang="zh-CN" altLang="zh-CN"/>
              <a:t>2026/1/13</a:t>
            </a:fld>
            <a:endParaRPr lang="zh-CN" altLang="zh-CN"/>
          </a:p>
        </p:txBody>
      </p:sp>
      <p:sp>
        <p:nvSpPr>
          <p:cNvPr id="6" name="页脚占位符 5"/>
          <p:cNvSpPr>
            <a:spLocks noGrp="1"/>
          </p:cNvSpPr>
          <p:nvPr>
            <p:ph type="ftr" idx="11"/>
          </p:nvPr>
        </p:nvSpPr>
        <p:spPr/>
        <p:txBody>
          <a:bodyPr/>
          <a:lstStyle/>
          <a:p>
            <a:endParaRPr lang="zh-CN" altLang="zh-CN"/>
          </a:p>
        </p:txBody>
      </p:sp>
      <p:sp>
        <p:nvSpPr>
          <p:cNvPr id="7" name="灯片编号占位符 6"/>
          <p:cNvSpPr>
            <a:spLocks noGrp="1"/>
          </p:cNvSpPr>
          <p:nvPr>
            <p:ph type="sldNum" idx="12"/>
          </p:nvPr>
        </p:nvSpPr>
        <p:spPr/>
        <p:txBody>
          <a:bodyPr/>
          <a:lstStyle/>
          <a:p>
            <a:fld id="{BDDAFFD2-940C-49F2-AAC7-08120F381E77}" type="slidenum">
              <a:rPr lang="zh-CN" altLang="zh-CN"/>
              <a:t>‹#›</a:t>
            </a:fld>
            <a:endParaRPr lang="zh-CN"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单击此处编辑母版标题样式</a:t>
            </a:r>
          </a:p>
        </p:txBody>
      </p:sp>
      <p:sp>
        <p:nvSpPr>
          <p:cNvPr id="3" name="竖排文字占位符 2"/>
          <p:cNvSpPr>
            <a:spLocks noGrp="1"/>
          </p:cNvSpPr>
          <p:nvPr>
            <p:ph type="body" idx="1"/>
          </p:nvPr>
        </p:nvSpPr>
        <p:spPr/>
        <p:txBody>
          <a:bodyPr vert="eaVert"/>
          <a:lstStyle/>
          <a:p>
            <a:pPr lvl="0"/>
            <a:r>
              <a:rPr lang="zh-CN" altLang="zh-CN"/>
              <a:t>单击此处编辑母版文本样式</a:t>
            </a:r>
          </a:p>
          <a:p>
            <a:pPr lvl="1"/>
            <a:r>
              <a:rPr lang="zh-CN" altLang="zh-CN"/>
              <a:t>二级</a:t>
            </a:r>
          </a:p>
          <a:p>
            <a:pPr lvl="2"/>
            <a:r>
              <a:rPr lang="zh-CN" altLang="zh-CN"/>
              <a:t>三级</a:t>
            </a:r>
          </a:p>
          <a:p>
            <a:pPr lvl="3"/>
            <a:r>
              <a:rPr lang="zh-CN" altLang="zh-CN"/>
              <a:t>四级</a:t>
            </a:r>
          </a:p>
          <a:p>
            <a:pPr lvl="4"/>
            <a:r>
              <a:rPr lang="zh-CN" altLang="zh-CN"/>
              <a:t>五级</a:t>
            </a:r>
          </a:p>
        </p:txBody>
      </p:sp>
      <p:sp>
        <p:nvSpPr>
          <p:cNvPr id="4" name="日期占位符 3"/>
          <p:cNvSpPr>
            <a:spLocks noGrp="1"/>
          </p:cNvSpPr>
          <p:nvPr>
            <p:ph type="dt" idx="10"/>
          </p:nvPr>
        </p:nvSpPr>
        <p:spPr/>
        <p:txBody>
          <a:bodyPr/>
          <a:lstStyle/>
          <a:p>
            <a:fld id="{980CF5B4-1DFA-4E73-B7F1-2F4A7A788C3E}" type="datetimeFigureOut">
              <a:rPr lang="zh-CN" altLang="zh-CN"/>
              <a:t>2026/1/13</a:t>
            </a:fld>
            <a:endParaRPr lang="zh-CN" altLang="zh-CN"/>
          </a:p>
        </p:txBody>
      </p:sp>
      <p:sp>
        <p:nvSpPr>
          <p:cNvPr id="5" name="页脚占位符 4"/>
          <p:cNvSpPr>
            <a:spLocks noGrp="1"/>
          </p:cNvSpPr>
          <p:nvPr>
            <p:ph type="ftr" idx="11"/>
          </p:nvPr>
        </p:nvSpPr>
        <p:spPr/>
        <p:txBody>
          <a:bodyPr/>
          <a:lstStyle/>
          <a:p>
            <a:endParaRPr lang="zh-CN" altLang="zh-CN"/>
          </a:p>
        </p:txBody>
      </p:sp>
      <p:sp>
        <p:nvSpPr>
          <p:cNvPr id="6" name="灯片编号占位符 5"/>
          <p:cNvSpPr>
            <a:spLocks noGrp="1"/>
          </p:cNvSpPr>
          <p:nvPr>
            <p:ph type="sldNum" idx="12"/>
          </p:nvPr>
        </p:nvSpPr>
        <p:spPr/>
        <p:txBody>
          <a:bodyPr/>
          <a:lstStyle/>
          <a:p>
            <a:fld id="{44F81DF7-AF6C-4AC0-BBB9-C6557D49FEDC}" type="slidenum">
              <a:rPr lang="zh-CN" altLang="zh-CN"/>
              <a:t>‹#›</a:t>
            </a:fld>
            <a:endParaRPr lang="zh-CN"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竖排标题与文本">
    <p:spTree>
      <p:nvGrpSpPr>
        <p:cNvPr id="1" name=""/>
        <p:cNvGrpSpPr/>
        <p:nvPr/>
      </p:nvGrpSpPr>
      <p:grpSpPr>
        <a:xfrm>
          <a:off x="0" y="0"/>
          <a:ext cx="0" cy="0"/>
          <a:chOff x="0" y="0"/>
          <a:chExt cx="0" cy="0"/>
        </a:xfrm>
      </p:grpSpPr>
      <p:sp>
        <p:nvSpPr>
          <p:cNvPr id="2" name="竖排标题 1"/>
          <p:cNvSpPr>
            <a:spLocks noGrp="1"/>
          </p:cNvSpPr>
          <p:nvPr>
            <p:ph type="title"/>
          </p:nvPr>
        </p:nvSpPr>
        <p:spPr>
          <a:xfrm>
            <a:off x="8724900" y="365125"/>
            <a:ext cx="2628900" cy="5811838"/>
          </a:xfrm>
        </p:spPr>
        <p:txBody>
          <a:bodyPr vert="eaVert"/>
          <a:lstStyle/>
          <a:p>
            <a:r>
              <a:rPr lang="zh-CN" altLang="zh-CN"/>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lvl="0"/>
            <a:r>
              <a:rPr lang="zh-CN" altLang="zh-CN"/>
              <a:t>单击此处编辑母版文本样式</a:t>
            </a:r>
          </a:p>
          <a:p>
            <a:pPr lvl="1"/>
            <a:r>
              <a:rPr lang="zh-CN" altLang="zh-CN"/>
              <a:t>二级</a:t>
            </a:r>
          </a:p>
          <a:p>
            <a:pPr lvl="2"/>
            <a:r>
              <a:rPr lang="zh-CN" altLang="zh-CN"/>
              <a:t>三级</a:t>
            </a:r>
          </a:p>
          <a:p>
            <a:pPr lvl="3"/>
            <a:r>
              <a:rPr lang="zh-CN" altLang="zh-CN"/>
              <a:t>四级</a:t>
            </a:r>
          </a:p>
          <a:p>
            <a:pPr lvl="4"/>
            <a:r>
              <a:rPr lang="zh-CN" altLang="zh-CN"/>
              <a:t>五级</a:t>
            </a:r>
          </a:p>
        </p:txBody>
      </p:sp>
      <p:sp>
        <p:nvSpPr>
          <p:cNvPr id="4" name="日期占位符 3"/>
          <p:cNvSpPr>
            <a:spLocks noGrp="1"/>
          </p:cNvSpPr>
          <p:nvPr>
            <p:ph type="dt" idx="10"/>
          </p:nvPr>
        </p:nvSpPr>
        <p:spPr/>
        <p:txBody>
          <a:bodyPr/>
          <a:lstStyle/>
          <a:p>
            <a:fld id="{4FE479C3-EB13-4FA1-8DC4-DFF4158FE88C}" type="datetimeFigureOut">
              <a:rPr lang="zh-CN" altLang="zh-CN"/>
              <a:t>2026/1/13</a:t>
            </a:fld>
            <a:endParaRPr lang="zh-CN" altLang="zh-CN"/>
          </a:p>
        </p:txBody>
      </p:sp>
      <p:sp>
        <p:nvSpPr>
          <p:cNvPr id="5" name="页脚占位符 4"/>
          <p:cNvSpPr>
            <a:spLocks noGrp="1"/>
          </p:cNvSpPr>
          <p:nvPr>
            <p:ph type="ftr" idx="11"/>
          </p:nvPr>
        </p:nvSpPr>
        <p:spPr/>
        <p:txBody>
          <a:bodyPr/>
          <a:lstStyle/>
          <a:p>
            <a:endParaRPr lang="zh-CN" altLang="zh-CN"/>
          </a:p>
        </p:txBody>
      </p:sp>
      <p:sp>
        <p:nvSpPr>
          <p:cNvPr id="6" name="灯片编号占位符 5"/>
          <p:cNvSpPr>
            <a:spLocks noGrp="1"/>
          </p:cNvSpPr>
          <p:nvPr>
            <p:ph type="sldNum" idx="12"/>
          </p:nvPr>
        </p:nvSpPr>
        <p:spPr/>
        <p:txBody>
          <a:bodyPr/>
          <a:lstStyle/>
          <a:p>
            <a:fld id="{CCCFC6FB-DD1C-42E6-BDA8-F45683EDE6D3}" type="slidenum">
              <a:rPr lang="zh-CN" altLang="zh-CN"/>
              <a:t>‹#›</a:t>
            </a:fld>
            <a:endParaRPr lang="zh-CN"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过度页1">
    <p:spTree>
      <p:nvGrpSpPr>
        <p:cNvPr id="1" name=""/>
        <p:cNvGrpSpPr/>
        <p:nvPr/>
      </p:nvGrpSpPr>
      <p:grpSpPr>
        <a:xfrm>
          <a:off x="0" y="0"/>
          <a:ext cx="0" cy="0"/>
          <a:chOff x="0" y="0"/>
          <a:chExt cx="0" cy="0"/>
        </a:xfrm>
      </p:grpSpPr>
      <p:sp>
        <p:nvSpPr>
          <p:cNvPr id="11" name="图片占位符 10"/>
          <p:cNvSpPr>
            <a:spLocks noGrp="1"/>
          </p:cNvSpPr>
          <p:nvPr>
            <p:ph type="pic" idx="10"/>
          </p:nvPr>
        </p:nvSpPr>
        <p:spPr>
          <a:xfrm>
            <a:off x="0" y="1988458"/>
            <a:ext cx="12192000" cy="2656114"/>
          </a:xfrm>
          <a:custGeom>
            <a:avLst/>
            <a:gdLst/>
            <a:ahLst/>
            <a:cxnLst/>
            <a:rect l="l" t="t" r="r" b="b"/>
            <a:pathLst>
              <a:path w="12192000" h="2656114">
                <a:moveTo>
                  <a:pt x="0" y="0"/>
                </a:moveTo>
                <a:lnTo>
                  <a:pt x="12192000" y="0"/>
                </a:lnTo>
                <a:lnTo>
                  <a:pt x="12192000" y="2656114"/>
                </a:lnTo>
                <a:lnTo>
                  <a:pt x="0" y="2656114"/>
                </a:lnTo>
                <a:close/>
              </a:path>
            </a:pathLst>
          </a:custGeom>
        </p:spPr>
        <p:txBody>
          <a:bodyPr wrap="square"/>
          <a:lstStyle/>
          <a:p>
            <a:endParaRPr lang="zh-CN"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ltLang="zh-CN"/>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ltLang="zh-CN"/>
              <a:t>单击此处编辑母版文本样式</a:t>
            </a:r>
          </a:p>
          <a:p>
            <a:pPr lvl="1"/>
            <a:r>
              <a:rPr lang="zh-CN" altLang="zh-CN"/>
              <a:t>二级</a:t>
            </a:r>
          </a:p>
          <a:p>
            <a:pPr lvl="2"/>
            <a:r>
              <a:rPr lang="zh-CN" altLang="zh-CN"/>
              <a:t>三级</a:t>
            </a:r>
          </a:p>
          <a:p>
            <a:pPr lvl="3"/>
            <a:r>
              <a:rPr lang="zh-CN" altLang="zh-CN"/>
              <a:t>四级</a:t>
            </a:r>
          </a:p>
          <a:p>
            <a:pPr lvl="4"/>
            <a:r>
              <a:rPr lang="zh-CN" altLang="zh-CN"/>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lvl="0" algn="l">
              <a:defRPr sz="1200">
                <a:solidFill>
                  <a:schemeClr val="tx1">
                    <a:tint val="75000"/>
                  </a:schemeClr>
                </a:solidFill>
              </a:defRPr>
            </a:lvl1pPr>
          </a:lstStyle>
          <a:p>
            <a:fld id="{545B943D-48F8-40C8-A6A7-7E0D8322A468}" type="datetimeFigureOut">
              <a:rPr lang="zh-CN" altLang="zh-CN"/>
              <a:t>2026/1/13</a:t>
            </a:fld>
            <a:endParaRPr lang="zh-CN" altLang="zh-CN"/>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lvl="0" algn="ctr">
              <a:defRPr sz="1200">
                <a:solidFill>
                  <a:schemeClr val="tx1">
                    <a:tint val="75000"/>
                  </a:schemeClr>
                </a:solidFill>
              </a:defRPr>
            </a:lvl1pPr>
          </a:lstStyle>
          <a:p>
            <a:endParaRPr lang="zh-CN" altLang="zh-CN"/>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lvl="0" algn="r">
              <a:defRPr sz="1200">
                <a:solidFill>
                  <a:schemeClr val="tx1">
                    <a:tint val="75000"/>
                  </a:schemeClr>
                </a:solidFill>
              </a:defRPr>
            </a:lvl1pPr>
          </a:lstStyle>
          <a:p>
            <a:fld id="{82F4A21E-86B1-4BD2-B035-97FDF7EEAB78}" type="slidenum">
              <a:rPr lang="zh-CN" altLang="zh-CN"/>
              <a:t>‹#›</a:t>
            </a:fld>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lvl="0" algn="l" defTabSz="914400">
        <a:lnSpc>
          <a:spcPct val="90000"/>
        </a:lnSpc>
        <a:spcBef>
          <a:spcPct val="0"/>
        </a:spcBef>
        <a:buNone/>
        <a:defRPr sz="4400" kern="1200">
          <a:solidFill>
            <a:schemeClr val="tx1"/>
          </a:solidFill>
          <a:latin typeface="等线 Light" panose="02010600030101010101" charset="-122"/>
          <a:ea typeface="等线 Light" panose="02010600030101010101" charset="-122"/>
        </a:defRPr>
      </a:lvl1pPr>
    </p:titleStyle>
    <p:bodyStyle>
      <a:lvl1pPr marL="228600" lvl="0" indent="-228600" algn="l" defTabSz="914400">
        <a:lnSpc>
          <a:spcPct val="90000"/>
        </a:lnSpc>
        <a:spcBef>
          <a:spcPts val="1000"/>
        </a:spcBef>
        <a:buFont typeface="Arial" panose="020B0604020202020204" pitchFamily="34" charset="0"/>
        <a:buChar char="•"/>
        <a:defRPr sz="2800" kern="1200">
          <a:solidFill>
            <a:schemeClr val="tx1"/>
          </a:solidFill>
          <a:latin typeface="等线" panose="02010600030101010101" charset="-122"/>
          <a:ea typeface="等线" panose="02010600030101010101" charset="-122"/>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等线" panose="02010600030101010101" charset="-122"/>
          <a:ea typeface="等线" panose="02010600030101010101"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等线" panose="02010600030101010101" charset="-122"/>
          <a:ea typeface="等线" panose="02010600030101010101"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等线" panose="02010600030101010101" charset="-122"/>
          <a:ea typeface="等线" panose="02010600030101010101" charset="-122"/>
        </a:defRPr>
      </a:lvl9pPr>
    </p:bodyStyle>
    <p:otherStyle>
      <a:lvl1pPr marL="0" lvl="0" algn="l" defTabSz="914400">
        <a:defRPr sz="1800" kern="1200">
          <a:solidFill>
            <a:schemeClr val="tx1"/>
          </a:solidFill>
          <a:latin typeface="等线" panose="02010600030101010101" charset="-122"/>
          <a:ea typeface="等线" panose="02010600030101010101" charset="-122"/>
        </a:defRPr>
      </a:lvl1pPr>
      <a:lvl2pPr marL="457200" lvl="1" algn="l" defTabSz="914400">
        <a:defRPr sz="1800" kern="1200">
          <a:solidFill>
            <a:schemeClr val="tx1"/>
          </a:solidFill>
          <a:latin typeface="等线" panose="02010600030101010101" charset="-122"/>
          <a:ea typeface="等线" panose="02010600030101010101" charset="-122"/>
        </a:defRPr>
      </a:lvl2pPr>
      <a:lvl3pPr marL="914400" lvl="2" algn="l" defTabSz="914400">
        <a:defRPr sz="1800" kern="1200">
          <a:solidFill>
            <a:schemeClr val="tx1"/>
          </a:solidFill>
          <a:latin typeface="等线" panose="02010600030101010101" charset="-122"/>
          <a:ea typeface="等线" panose="02010600030101010101" charset="-122"/>
        </a:defRPr>
      </a:lvl3pPr>
      <a:lvl4pPr marL="1371600" lvl="3" algn="l" defTabSz="914400">
        <a:defRPr sz="1800" kern="1200">
          <a:solidFill>
            <a:schemeClr val="tx1"/>
          </a:solidFill>
          <a:latin typeface="等线" panose="02010600030101010101" charset="-122"/>
          <a:ea typeface="等线" panose="02010600030101010101" charset="-122"/>
        </a:defRPr>
      </a:lvl4pPr>
      <a:lvl5pPr marL="1828800" lvl="4" algn="l" defTabSz="914400">
        <a:defRPr sz="1800" kern="1200">
          <a:solidFill>
            <a:schemeClr val="tx1"/>
          </a:solidFill>
          <a:latin typeface="等线" panose="02010600030101010101" charset="-122"/>
          <a:ea typeface="等线" panose="02010600030101010101" charset="-122"/>
        </a:defRPr>
      </a:lvl5pPr>
      <a:lvl6pPr marL="2286000" lvl="5" algn="l" defTabSz="914400">
        <a:defRPr sz="1800" kern="1200">
          <a:solidFill>
            <a:schemeClr val="tx1"/>
          </a:solidFill>
          <a:latin typeface="等线" panose="02010600030101010101" charset="-122"/>
          <a:ea typeface="等线" panose="02010600030101010101" charset="-122"/>
        </a:defRPr>
      </a:lvl6pPr>
      <a:lvl7pPr marL="2743200" lvl="6" algn="l" defTabSz="914400">
        <a:defRPr sz="1800" kern="1200">
          <a:solidFill>
            <a:schemeClr val="tx1"/>
          </a:solidFill>
          <a:latin typeface="等线" panose="02010600030101010101" charset="-122"/>
          <a:ea typeface="等线" panose="02010600030101010101" charset="-122"/>
        </a:defRPr>
      </a:lvl7pPr>
      <a:lvl8pPr marL="3200400" lvl="7" algn="l" defTabSz="914400">
        <a:defRPr sz="1800" kern="1200">
          <a:solidFill>
            <a:schemeClr val="tx1"/>
          </a:solidFill>
          <a:latin typeface="等线" panose="02010600030101010101" charset="-122"/>
          <a:ea typeface="等线" panose="02010600030101010101" charset="-122"/>
        </a:defRPr>
      </a:lvl8pPr>
      <a:lvl9pPr marL="3657600" lvl="8" algn="l" defTabSz="914400">
        <a:defRPr sz="1800" kern="1200">
          <a:solidFill>
            <a:schemeClr val="tx1"/>
          </a:solidFill>
          <a:latin typeface="等线" panose="02010600030101010101" charset="-122"/>
          <a:ea typeface="等线" panose="02010600030101010101" charset="-122"/>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0" y="-48566"/>
            <a:ext cx="12212217" cy="6955131"/>
          </a:xfrm>
          <a:prstGeom prst="rect">
            <a:avLst/>
          </a:prstGeom>
          <a:solidFill>
            <a:srgbClr val="9A0001"/>
          </a:solidFill>
          <a:ln>
            <a:noFill/>
          </a:ln>
        </p:spPr>
        <p:txBody>
          <a:bodyPr anchor="ctr"/>
          <a:lstStyle/>
          <a:p>
            <a:pPr algn="ctr"/>
            <a:endParaRPr lang="zh-CN" altLang="zh-CN" dirty="0">
              <a:solidFill>
                <a:schemeClr val="lt1"/>
              </a:solidFill>
              <a:latin typeface="思源黑体 CN Light"/>
              <a:ea typeface="思源黑体 CN Light"/>
            </a:endParaRPr>
          </a:p>
        </p:txBody>
      </p:sp>
      <p:pic>
        <p:nvPicPr>
          <p:cNvPr id="3" name="图片 2"/>
          <p:cNvPicPr>
            <a:picLocks noChangeAspect="1"/>
          </p:cNvPicPr>
          <p:nvPr/>
        </p:nvPicPr>
        <p:blipFill rotWithShape="1">
          <a:blip r:embed="rId2"/>
          <a:srcRect l="57443"/>
          <a:stretch>
            <a:fillRect/>
          </a:stretch>
        </p:blipFill>
        <p:spPr>
          <a:xfrm>
            <a:off x="6888869" y="4832935"/>
            <a:ext cx="5342484" cy="2574825"/>
          </a:xfrm>
          <a:prstGeom prst="rect">
            <a:avLst/>
          </a:prstGeom>
        </p:spPr>
      </p:pic>
      <p:sp>
        <p:nvSpPr>
          <p:cNvPr id="7" name="文本框 6"/>
          <p:cNvSpPr txBox="1"/>
          <p:nvPr/>
        </p:nvSpPr>
        <p:spPr>
          <a:xfrm>
            <a:off x="1375345" y="2594794"/>
            <a:ext cx="9801992" cy="1746885"/>
          </a:xfrm>
          <a:prstGeom prst="rect">
            <a:avLst/>
          </a:prstGeom>
          <a:noFill/>
        </p:spPr>
        <p:txBody>
          <a:bodyPr wrap="square">
            <a:noAutofit/>
          </a:bodyPr>
          <a:lstStyle/>
          <a:p>
            <a:pPr algn="ctr"/>
            <a:r>
              <a:rPr lang="zh-CN" altLang="en-US" sz="4400" dirty="0">
                <a:solidFill>
                  <a:schemeClr val="bg1"/>
                </a:solidFill>
                <a:latin typeface="方正粗黑宋简体" panose="02000000000000000000" charset="-122"/>
                <a:ea typeface="方正粗黑宋简体" panose="02000000000000000000" charset="-122"/>
              </a:rPr>
              <a:t>多租户大语言模型的侧信道攻击</a:t>
            </a:r>
            <a:endParaRPr lang="zh-CN" altLang="en-US" sz="3600" dirty="0">
              <a:solidFill>
                <a:schemeClr val="bg1"/>
              </a:solidFill>
              <a:latin typeface="方正粗黑宋简体" panose="02000000000000000000" charset="-122"/>
              <a:ea typeface="方正粗黑宋简体" panose="02000000000000000000" charset="-122"/>
            </a:endParaRPr>
          </a:p>
        </p:txBody>
      </p:sp>
      <p:cxnSp>
        <p:nvCxnSpPr>
          <p:cNvPr id="11" name="直接连接符 10"/>
          <p:cNvCxnSpPr/>
          <p:nvPr/>
        </p:nvCxnSpPr>
        <p:spPr>
          <a:xfrm>
            <a:off x="5838313" y="4240505"/>
            <a:ext cx="997882" cy="0"/>
          </a:xfrm>
          <a:prstGeom prst="line">
            <a:avLst/>
          </a:prstGeom>
          <a:ln w="28575">
            <a:solidFill>
              <a:srgbClr val="9A0001"/>
            </a:solidFill>
            <a:prstDash val="solid"/>
            <a:miter/>
          </a:ln>
        </p:spPr>
      </p:cxnSp>
      <p:sp>
        <p:nvSpPr>
          <p:cNvPr id="28" name="文本框 27"/>
          <p:cNvSpPr txBox="1"/>
          <p:nvPr/>
        </p:nvSpPr>
        <p:spPr>
          <a:xfrm>
            <a:off x="7150330" y="4242940"/>
            <a:ext cx="4092789" cy="2356399"/>
          </a:xfrm>
          <a:prstGeom prst="rect">
            <a:avLst/>
          </a:prstGeom>
          <a:noFill/>
        </p:spPr>
        <p:txBody>
          <a:bodyPr wrap="square" anchor="t">
            <a:noAutofit/>
          </a:bodyPr>
          <a:lstStyle/>
          <a:p>
            <a:pPr algn="ctr">
              <a:lnSpc>
                <a:spcPct val="150000"/>
              </a:lnSpc>
            </a:pPr>
            <a:r>
              <a:rPr lang="zh-CN" altLang="en-US" sz="2000" dirty="0">
                <a:solidFill>
                  <a:schemeClr val="bg1"/>
                </a:solidFill>
                <a:latin typeface="方正粗黑宋简体" panose="02000000000000000000" charset="-122"/>
                <a:ea typeface="方正粗黑宋简体" panose="02000000000000000000" charset="-122"/>
              </a:rPr>
              <a:t>分享人：罗笛晓</a:t>
            </a:r>
            <a:endParaRPr lang="en-US" altLang="zh-CN" sz="2000" dirty="0">
              <a:solidFill>
                <a:schemeClr val="bg1"/>
              </a:solidFill>
              <a:latin typeface="方正粗黑宋简体" panose="02000000000000000000" charset="-122"/>
              <a:ea typeface="方正粗黑宋简体" panose="02000000000000000000" charset="-122"/>
            </a:endParaRPr>
          </a:p>
          <a:p>
            <a:pPr algn="ctr">
              <a:lnSpc>
                <a:spcPct val="150000"/>
              </a:lnSpc>
            </a:pPr>
            <a:r>
              <a:rPr lang="en-US" altLang="zh-CN" sz="2000" dirty="0">
                <a:solidFill>
                  <a:schemeClr val="bg1"/>
                </a:solidFill>
                <a:latin typeface="方正粗黑宋简体" panose="02000000000000000000" charset="-122"/>
                <a:ea typeface="方正粗黑宋简体" panose="02000000000000000000" charset="-122"/>
              </a:rPr>
              <a:t>2026.01.13</a:t>
            </a:r>
            <a:endParaRPr lang="zh-CN" altLang="en-US" sz="2000" dirty="0">
              <a:solidFill>
                <a:schemeClr val="bg1"/>
              </a:solidFill>
              <a:latin typeface="方正粗黑宋简体" panose="02000000000000000000" charset="-122"/>
              <a:ea typeface="方正粗黑宋简体" panose="02000000000000000000" charset="-122"/>
            </a:endParaRPr>
          </a:p>
        </p:txBody>
      </p:sp>
      <p:pic>
        <p:nvPicPr>
          <p:cNvPr id="43" name="图片 42"/>
          <p:cNvPicPr>
            <a:picLocks noChangeAspect="1"/>
          </p:cNvPicPr>
          <p:nvPr/>
        </p:nvPicPr>
        <p:blipFill>
          <a:blip r:embed="rId3"/>
          <a:stretch>
            <a:fillRect/>
          </a:stretch>
        </p:blipFill>
        <p:spPr>
          <a:xfrm>
            <a:off x="9739991" y="458041"/>
            <a:ext cx="1758315" cy="495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54D38-B1C2-9E60-5F4A-69B4809B16EA}"/>
            </a:ext>
          </a:extLst>
        </p:cNvPr>
        <p:cNvGrpSpPr/>
        <p:nvPr/>
      </p:nvGrpSpPr>
      <p:grpSpPr>
        <a:xfrm>
          <a:off x="0" y="0"/>
          <a:ext cx="0" cy="0"/>
          <a:chOff x="0" y="0"/>
          <a:chExt cx="0" cy="0"/>
        </a:xfrm>
      </p:grpSpPr>
      <p:sp>
        <p:nvSpPr>
          <p:cNvPr id="38" name="矩形 37">
            <a:extLst>
              <a:ext uri="{FF2B5EF4-FFF2-40B4-BE49-F238E27FC236}">
                <a16:creationId xmlns:a16="http://schemas.microsoft.com/office/drawing/2014/main" id="{4CBA922D-F25D-7DE2-63B5-2FFE0BC0C9CA}"/>
              </a:ext>
            </a:extLst>
          </p:cNvPr>
          <p:cNvSpPr/>
          <p:nvPr/>
        </p:nvSpPr>
        <p:spPr>
          <a:xfrm>
            <a:off x="6836194" y="6780865"/>
            <a:ext cx="5381839" cy="97126"/>
          </a:xfrm>
          <a:prstGeom prst="rect">
            <a:avLst/>
          </a:prstGeom>
          <a:solidFill>
            <a:srgbClr val="9A0001"/>
          </a:solidFill>
          <a:ln>
            <a:noFill/>
          </a:ln>
        </p:spPr>
        <p:txBody>
          <a:bodyPr anchor="ctr"/>
          <a:lstStyle/>
          <a:p>
            <a:pPr algn="ctr"/>
            <a:endParaRPr lang="zh-CN" altLang="zh-CN">
              <a:solidFill>
                <a:schemeClr val="lt1"/>
              </a:solidFill>
              <a:latin typeface="思源黑体 CN Light"/>
              <a:ea typeface="思源黑体 CN Light"/>
            </a:endParaRPr>
          </a:p>
        </p:txBody>
      </p:sp>
      <p:pic>
        <p:nvPicPr>
          <p:cNvPr id="61" name="图片 60">
            <a:extLst>
              <a:ext uri="{FF2B5EF4-FFF2-40B4-BE49-F238E27FC236}">
                <a16:creationId xmlns:a16="http://schemas.microsoft.com/office/drawing/2014/main" id="{A48ECB85-6820-5DEB-3A3A-0D3595BA5854}"/>
              </a:ext>
            </a:extLst>
          </p:cNvPr>
          <p:cNvPicPr>
            <a:picLocks noChangeAspect="1"/>
          </p:cNvPicPr>
          <p:nvPr/>
        </p:nvPicPr>
        <p:blipFill>
          <a:blip r:embed="rId3"/>
          <a:stretch>
            <a:fillRect/>
          </a:stretch>
        </p:blipFill>
        <p:spPr>
          <a:xfrm>
            <a:off x="637976" y="422723"/>
            <a:ext cx="1675797" cy="467802"/>
          </a:xfrm>
          <a:prstGeom prst="rect">
            <a:avLst/>
          </a:prstGeom>
        </p:spPr>
      </p:pic>
      <p:sp>
        <p:nvSpPr>
          <p:cNvPr id="63" name="文本框 62">
            <a:extLst>
              <a:ext uri="{FF2B5EF4-FFF2-40B4-BE49-F238E27FC236}">
                <a16:creationId xmlns:a16="http://schemas.microsoft.com/office/drawing/2014/main" id="{988E4FD9-895C-24A4-D02D-9AD80212583F}"/>
              </a:ext>
            </a:extLst>
          </p:cNvPr>
          <p:cNvSpPr txBox="1"/>
          <p:nvPr/>
        </p:nvSpPr>
        <p:spPr>
          <a:xfrm>
            <a:off x="767988" y="2210270"/>
            <a:ext cx="8045839" cy="2822491"/>
          </a:xfrm>
          <a:prstGeom prst="rect">
            <a:avLst/>
          </a:prstGeom>
          <a:noFill/>
        </p:spPr>
        <p:txBody>
          <a:bodyPr wrap="none">
            <a:noAutofit/>
          </a:bodyPr>
          <a:lstStyle/>
          <a:p>
            <a:r>
              <a:rPr lang="en-US" altLang="zh-CN" sz="2500" b="1" dirty="0">
                <a:latin typeface="方正粗黑宋简体" panose="02000000000000000000" charset="-122"/>
                <a:ea typeface="方正粗黑宋简体" panose="02000000000000000000" charset="-122"/>
              </a:rPr>
              <a:t>Part</a:t>
            </a:r>
            <a:r>
              <a:rPr lang="en-US" altLang="en-US" sz="2500" b="1" dirty="0">
                <a:latin typeface="方正粗黑宋简体" panose="02000000000000000000" charset="-122"/>
                <a:ea typeface="方正粗黑宋简体" panose="02000000000000000000" charset="-122"/>
              </a:rPr>
              <a:t> 01 </a:t>
            </a:r>
            <a:r>
              <a:rPr lang="zh-CN" altLang="en-US" sz="2500" b="1" dirty="0">
                <a:latin typeface="方正粗黑宋简体" panose="02000000000000000000" charset="-122"/>
                <a:ea typeface="方正粗黑宋简体" panose="02000000000000000000" charset="-122"/>
              </a:rPr>
              <a:t>背景简介</a:t>
            </a:r>
            <a:endParaRPr lang="en-US" altLang="zh-CN" sz="2500" b="1" dirty="0">
              <a:latin typeface="方正粗黑宋简体" panose="02000000000000000000" charset="-122"/>
              <a:ea typeface="方正粗黑宋简体" panose="02000000000000000000" charset="-122"/>
            </a:endParaRPr>
          </a:p>
          <a:p>
            <a:endParaRPr lang="en-US" altLang="zh-CN" sz="2500" b="1" dirty="0">
              <a:latin typeface="方正粗黑宋简体" panose="02000000000000000000" charset="-122"/>
              <a:ea typeface="方正粗黑宋简体" panose="02000000000000000000" charset="-122"/>
            </a:endParaRPr>
          </a:p>
          <a:p>
            <a:r>
              <a:rPr lang="en-US" altLang="zh-CN" sz="2500" b="1" dirty="0">
                <a:latin typeface="方正粗黑宋简体" panose="02000000000000000000" charset="-122"/>
                <a:ea typeface="方正粗黑宋简体" panose="02000000000000000000" charset="-122"/>
              </a:rPr>
              <a:t>Part 02 </a:t>
            </a:r>
            <a:r>
              <a:rPr lang="zh-CN" altLang="en-US" sz="2500" b="1" dirty="0">
                <a:latin typeface="方正粗黑宋简体" panose="02000000000000000000" charset="-122"/>
                <a:ea typeface="方正粗黑宋简体" panose="02000000000000000000" charset="-122"/>
              </a:rPr>
              <a:t>基于软件层缓存的侧信道攻击</a:t>
            </a:r>
            <a:endParaRPr lang="en-US" altLang="zh-CN" sz="2500" b="1" dirty="0">
              <a:latin typeface="方正粗黑宋简体" panose="02000000000000000000" charset="-122"/>
              <a:ea typeface="方正粗黑宋简体" panose="02000000000000000000" charset="-122"/>
            </a:endParaRPr>
          </a:p>
          <a:p>
            <a:endParaRPr lang="en-US" altLang="zh-CN" sz="2500" b="1" dirty="0">
              <a:latin typeface="方正粗黑宋简体" panose="02000000000000000000" charset="-122"/>
              <a:ea typeface="方正粗黑宋简体" panose="02000000000000000000" charset="-122"/>
            </a:endParaRPr>
          </a:p>
          <a:p>
            <a:r>
              <a:rPr lang="en-US" altLang="zh-CN" sz="2500" b="1" dirty="0">
                <a:latin typeface="方正粗黑宋简体" panose="02000000000000000000" charset="-122"/>
                <a:ea typeface="方正粗黑宋简体" panose="02000000000000000000" charset="-122"/>
              </a:rPr>
              <a:t>Part 03 </a:t>
            </a:r>
            <a:r>
              <a:rPr lang="zh-CN" altLang="en-US" sz="2500" b="1" dirty="0">
                <a:latin typeface="方正粗黑宋简体" panose="02000000000000000000" charset="-122"/>
                <a:ea typeface="方正粗黑宋简体" panose="02000000000000000000" charset="-122"/>
              </a:rPr>
              <a:t>基于硬件层缓存的侧信道攻击</a:t>
            </a:r>
            <a:endParaRPr lang="en-US" altLang="zh-CN" sz="2500" b="1" dirty="0">
              <a:latin typeface="方正粗黑宋简体" panose="02000000000000000000" charset="-122"/>
              <a:ea typeface="方正粗黑宋简体" panose="02000000000000000000" charset="-122"/>
            </a:endParaRPr>
          </a:p>
          <a:p>
            <a:endParaRPr lang="en-US" altLang="zh-CN" sz="2500" b="1" dirty="0">
              <a:latin typeface="方正粗黑宋简体" panose="02000000000000000000" charset="-122"/>
              <a:ea typeface="方正粗黑宋简体" panose="02000000000000000000" charset="-122"/>
            </a:endParaRPr>
          </a:p>
          <a:p>
            <a:r>
              <a:rPr lang="en-US" altLang="zh-CN" sz="2500" b="1" dirty="0">
                <a:latin typeface="方正粗黑宋简体" panose="02000000000000000000" charset="-122"/>
                <a:ea typeface="方正粗黑宋简体" panose="02000000000000000000" charset="-122"/>
              </a:rPr>
              <a:t>Part 04 </a:t>
            </a:r>
            <a:r>
              <a:rPr lang="zh-CN" altLang="en-US" sz="2500" b="1" dirty="0">
                <a:latin typeface="方正粗黑宋简体" panose="02000000000000000000" charset="-122"/>
                <a:ea typeface="方正粗黑宋简体" panose="02000000000000000000" charset="-122"/>
              </a:rPr>
              <a:t>对比与思考</a:t>
            </a:r>
            <a:endParaRPr lang="en-US" altLang="zh-CN" sz="2500" b="1" dirty="0">
              <a:latin typeface="方正粗黑宋简体" panose="02000000000000000000" charset="-122"/>
              <a:ea typeface="方正粗黑宋简体" panose="02000000000000000000" charset="-122"/>
            </a:endParaRPr>
          </a:p>
          <a:p>
            <a:endParaRPr lang="en-US" altLang="zh-CN" sz="2500" b="1" dirty="0">
              <a:latin typeface="方正粗黑宋简体" panose="02000000000000000000" charset="-122"/>
              <a:ea typeface="方正粗黑宋简体" panose="02000000000000000000" charset="-122"/>
            </a:endParaRPr>
          </a:p>
        </p:txBody>
      </p:sp>
      <p:grpSp>
        <p:nvGrpSpPr>
          <p:cNvPr id="5" name="组合 4">
            <a:extLst>
              <a:ext uri="{FF2B5EF4-FFF2-40B4-BE49-F238E27FC236}">
                <a16:creationId xmlns:a16="http://schemas.microsoft.com/office/drawing/2014/main" id="{324EA4E8-3288-AE3F-BD32-91A3E9BE6501}"/>
              </a:ext>
            </a:extLst>
          </p:cNvPr>
          <p:cNvGrpSpPr/>
          <p:nvPr/>
        </p:nvGrpSpPr>
        <p:grpSpPr>
          <a:xfrm>
            <a:off x="2649435" y="596757"/>
            <a:ext cx="1130656" cy="197719"/>
            <a:chOff x="2551974" y="630077"/>
            <a:chExt cx="697715" cy="122010"/>
          </a:xfrm>
        </p:grpSpPr>
        <p:sp>
          <p:nvSpPr>
            <p:cNvPr id="81" name="椭圆 80">
              <a:extLst>
                <a:ext uri="{FF2B5EF4-FFF2-40B4-BE49-F238E27FC236}">
                  <a16:creationId xmlns:a16="http://schemas.microsoft.com/office/drawing/2014/main" id="{E20DD356-6667-9E31-664E-B053EB770ECA}"/>
                </a:ext>
              </a:extLst>
            </p:cNvPr>
            <p:cNvSpPr/>
            <p:nvPr/>
          </p:nvSpPr>
          <p:spPr>
            <a:xfrm>
              <a:off x="2551974" y="630077"/>
              <a:ext cx="122010" cy="122010"/>
            </a:xfrm>
            <a:prstGeom prst="ellipse">
              <a:avLst/>
            </a:prstGeom>
            <a:solidFill>
              <a:srgbClr val="9A0000"/>
            </a:solidFill>
            <a:ln>
              <a:noFill/>
            </a:ln>
          </p:spPr>
          <p:txBody>
            <a:bodyPr anchor="ctr"/>
            <a:lstStyle/>
            <a:p>
              <a:pPr algn="ctr"/>
              <a:endParaRPr lang="zh-CN" altLang="zh-CN" sz="3200">
                <a:solidFill>
                  <a:schemeClr val="lt1"/>
                </a:solidFill>
              </a:endParaRPr>
            </a:p>
          </p:txBody>
        </p:sp>
        <p:sp>
          <p:nvSpPr>
            <p:cNvPr id="82" name="椭圆 81">
              <a:extLst>
                <a:ext uri="{FF2B5EF4-FFF2-40B4-BE49-F238E27FC236}">
                  <a16:creationId xmlns:a16="http://schemas.microsoft.com/office/drawing/2014/main" id="{AFCD6F39-1AD9-CC68-4463-7F42E5664F19}"/>
                </a:ext>
              </a:extLst>
            </p:cNvPr>
            <p:cNvSpPr/>
            <p:nvPr/>
          </p:nvSpPr>
          <p:spPr>
            <a:xfrm>
              <a:off x="2839826" y="630077"/>
              <a:ext cx="122010" cy="122010"/>
            </a:xfrm>
            <a:prstGeom prst="ellipse">
              <a:avLst/>
            </a:prstGeom>
            <a:solidFill>
              <a:srgbClr val="9A0000">
                <a:alpha val="60000"/>
              </a:srgbClr>
            </a:solidFill>
            <a:ln>
              <a:noFill/>
            </a:ln>
          </p:spPr>
          <p:txBody>
            <a:bodyPr anchor="ctr"/>
            <a:lstStyle/>
            <a:p>
              <a:pPr algn="ctr"/>
              <a:endParaRPr lang="zh-CN" altLang="zh-CN" sz="3200">
                <a:solidFill>
                  <a:schemeClr val="lt1"/>
                </a:solidFill>
              </a:endParaRPr>
            </a:p>
          </p:txBody>
        </p:sp>
        <p:sp>
          <p:nvSpPr>
            <p:cNvPr id="83" name="椭圆 82">
              <a:extLst>
                <a:ext uri="{FF2B5EF4-FFF2-40B4-BE49-F238E27FC236}">
                  <a16:creationId xmlns:a16="http://schemas.microsoft.com/office/drawing/2014/main" id="{E4E41070-7831-11A9-62F0-C8E472C1EA73}"/>
                </a:ext>
              </a:extLst>
            </p:cNvPr>
            <p:cNvSpPr/>
            <p:nvPr/>
          </p:nvSpPr>
          <p:spPr>
            <a:xfrm>
              <a:off x="3127679" y="630077"/>
              <a:ext cx="122010" cy="122010"/>
            </a:xfrm>
            <a:prstGeom prst="ellipse">
              <a:avLst/>
            </a:prstGeom>
            <a:solidFill>
              <a:srgbClr val="9A0000">
                <a:alpha val="20000"/>
              </a:srgbClr>
            </a:solidFill>
            <a:ln>
              <a:noFill/>
            </a:ln>
          </p:spPr>
          <p:txBody>
            <a:bodyPr anchor="ctr"/>
            <a:lstStyle/>
            <a:p>
              <a:pPr algn="ctr"/>
              <a:endParaRPr lang="zh-CN" altLang="zh-CN" sz="3200">
                <a:solidFill>
                  <a:schemeClr val="lt1"/>
                </a:solidFill>
              </a:endParaRPr>
            </a:p>
          </p:txBody>
        </p:sp>
      </p:grpSp>
      <p:sp>
        <p:nvSpPr>
          <p:cNvPr id="9" name="文本框 8">
            <a:extLst>
              <a:ext uri="{FF2B5EF4-FFF2-40B4-BE49-F238E27FC236}">
                <a16:creationId xmlns:a16="http://schemas.microsoft.com/office/drawing/2014/main" id="{30B0829F-384C-732D-4297-CB3F05882693}"/>
              </a:ext>
            </a:extLst>
          </p:cNvPr>
          <p:cNvSpPr txBox="1"/>
          <p:nvPr/>
        </p:nvSpPr>
        <p:spPr>
          <a:xfrm>
            <a:off x="767988" y="1134899"/>
            <a:ext cx="1415772" cy="830997"/>
          </a:xfrm>
          <a:prstGeom prst="rect">
            <a:avLst/>
          </a:prstGeom>
          <a:noFill/>
        </p:spPr>
        <p:txBody>
          <a:bodyPr wrap="none" rtlCol="0">
            <a:spAutoFit/>
          </a:bodyPr>
          <a:lstStyle/>
          <a:p>
            <a:r>
              <a:rPr lang="zh-CN" altLang="en-US" sz="4800" b="1" dirty="0">
                <a:ea typeface="方正粗黑宋简体" panose="02000000000000000000" charset="-122"/>
              </a:rPr>
              <a:t>目录</a:t>
            </a:r>
          </a:p>
        </p:txBody>
      </p:sp>
    </p:spTree>
    <p:extLst>
      <p:ext uri="{BB962C8B-B14F-4D97-AF65-F5344CB8AC3E}">
        <p14:creationId xmlns:p14="http://schemas.microsoft.com/office/powerpoint/2010/main" val="1047298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p:nvPr/>
        </p:nvSpPr>
        <p:spPr>
          <a:xfrm>
            <a:off x="6836194" y="6780865"/>
            <a:ext cx="5381839" cy="97126"/>
          </a:xfrm>
          <a:prstGeom prst="rect">
            <a:avLst/>
          </a:prstGeom>
          <a:solidFill>
            <a:srgbClr val="9A0001"/>
          </a:solidFill>
          <a:ln>
            <a:noFill/>
          </a:ln>
        </p:spPr>
        <p:txBody>
          <a:bodyPr anchor="ctr"/>
          <a:lstStyle/>
          <a:p>
            <a:pPr algn="ctr"/>
            <a:endParaRPr lang="zh-CN" altLang="zh-CN">
              <a:solidFill>
                <a:schemeClr val="lt1"/>
              </a:solidFill>
              <a:latin typeface="思源黑体 CN Light"/>
              <a:ea typeface="思源黑体 CN Light"/>
            </a:endParaRPr>
          </a:p>
        </p:txBody>
      </p:sp>
      <p:sp>
        <p:nvSpPr>
          <p:cNvPr id="48" name="矩形 47"/>
          <p:cNvSpPr/>
          <p:nvPr/>
        </p:nvSpPr>
        <p:spPr>
          <a:xfrm>
            <a:off x="0" y="1239655"/>
            <a:ext cx="766614" cy="3436705"/>
          </a:xfrm>
          <a:prstGeom prst="rect">
            <a:avLst/>
          </a:prstGeom>
          <a:solidFill>
            <a:srgbClr val="9A0001"/>
          </a:solidFill>
          <a:ln>
            <a:noFill/>
          </a:ln>
          <a:effectLst>
            <a:outerShdw blurRad="127000" dist="38100" dir="2700000" algn="tl" rotWithShape="0">
              <a:srgbClr val="000000">
                <a:alpha val="20000"/>
              </a:srgbClr>
            </a:outerShdw>
          </a:effectLst>
        </p:spPr>
        <p:txBody>
          <a:bodyPr anchor="ctr"/>
          <a:lstStyle/>
          <a:p>
            <a:pPr algn="ctr"/>
            <a:endParaRPr lang="zh-CN" altLang="zh-CN">
              <a:solidFill>
                <a:schemeClr val="lt1"/>
              </a:solidFill>
              <a:ea typeface="字魂105号-简雅黑"/>
            </a:endParaRPr>
          </a:p>
        </p:txBody>
      </p:sp>
      <p:pic>
        <p:nvPicPr>
          <p:cNvPr id="61" name="图片 60"/>
          <p:cNvPicPr>
            <a:picLocks noChangeAspect="1"/>
          </p:cNvPicPr>
          <p:nvPr/>
        </p:nvPicPr>
        <p:blipFill>
          <a:blip r:embed="rId3"/>
          <a:stretch>
            <a:fillRect/>
          </a:stretch>
        </p:blipFill>
        <p:spPr>
          <a:xfrm>
            <a:off x="637976" y="422723"/>
            <a:ext cx="1675797" cy="467802"/>
          </a:xfrm>
          <a:prstGeom prst="rect">
            <a:avLst/>
          </a:prstGeom>
        </p:spPr>
      </p:pic>
      <p:grpSp>
        <p:nvGrpSpPr>
          <p:cNvPr id="62" name="组合 61"/>
          <p:cNvGrpSpPr/>
          <p:nvPr/>
        </p:nvGrpSpPr>
        <p:grpSpPr>
          <a:xfrm>
            <a:off x="1112534" y="2247668"/>
            <a:ext cx="3561734" cy="2428692"/>
            <a:chOff x="1209755" y="4179558"/>
            <a:chExt cx="2599850" cy="1889218"/>
          </a:xfrm>
        </p:grpSpPr>
        <p:sp>
          <p:nvSpPr>
            <p:cNvPr id="63" name="文本框 62"/>
            <p:cNvSpPr txBox="1"/>
            <p:nvPr/>
          </p:nvSpPr>
          <p:spPr>
            <a:xfrm>
              <a:off x="1525350" y="4179558"/>
              <a:ext cx="1320165" cy="1122680"/>
            </a:xfrm>
            <a:prstGeom prst="rect">
              <a:avLst/>
            </a:prstGeom>
            <a:noFill/>
          </p:spPr>
          <p:txBody>
            <a:bodyPr wrap="none">
              <a:noAutofit/>
            </a:bodyPr>
            <a:lstStyle/>
            <a:p>
              <a:r>
                <a:rPr lang="en-US" altLang="en-US" sz="8800" b="1" dirty="0">
                  <a:latin typeface="方正粗黑宋简体" panose="02000000000000000000" charset="-122"/>
                  <a:ea typeface="方正粗黑宋简体" panose="02000000000000000000" charset="-122"/>
                </a:rPr>
                <a:t>Part 01</a:t>
              </a:r>
              <a:endParaRPr lang="zh-CN" altLang="zh-CN" sz="8800" b="1" dirty="0">
                <a:latin typeface="方正粗黑宋简体" panose="02000000000000000000" charset="-122"/>
                <a:ea typeface="方正粗黑宋简体" panose="02000000000000000000" charset="-122"/>
              </a:endParaRPr>
            </a:p>
          </p:txBody>
        </p:sp>
        <p:sp>
          <p:nvSpPr>
            <p:cNvPr id="64" name="文本框 63"/>
            <p:cNvSpPr txBox="1"/>
            <p:nvPr/>
          </p:nvSpPr>
          <p:spPr>
            <a:xfrm>
              <a:off x="1573095" y="5360890"/>
              <a:ext cx="2236510" cy="707886"/>
            </a:xfrm>
            <a:prstGeom prst="rect">
              <a:avLst/>
            </a:prstGeom>
            <a:noFill/>
          </p:spPr>
          <p:txBody>
            <a:bodyPr wrap="none">
              <a:spAutoFit/>
            </a:bodyPr>
            <a:lstStyle/>
            <a:p>
              <a:r>
                <a:rPr lang="zh-CN" altLang="en-US" sz="4000" dirty="0">
                  <a:latin typeface="FZShengShiKaiShuS-EB-GB"/>
                  <a:ea typeface="FZShengShiKaiShuS-EB-GB"/>
                </a:rPr>
                <a:t>背景简介</a:t>
              </a:r>
              <a:endParaRPr lang="zh-CN" altLang="zh-CN" sz="4000" dirty="0">
                <a:latin typeface="FZShengShiKaiShuS-EB-GB"/>
                <a:ea typeface="FZShengShiKaiShuS-EB-GB"/>
              </a:endParaRPr>
            </a:p>
          </p:txBody>
        </p:sp>
        <p:cxnSp>
          <p:nvCxnSpPr>
            <p:cNvPr id="66" name="直接连接符 55"/>
            <p:cNvCxnSpPr/>
            <p:nvPr/>
          </p:nvCxnSpPr>
          <p:spPr>
            <a:xfrm>
              <a:off x="1209755" y="4396902"/>
              <a:ext cx="0" cy="1579587"/>
            </a:xfrm>
            <a:prstGeom prst="line">
              <a:avLst/>
            </a:prstGeom>
            <a:ln w="127000">
              <a:solidFill>
                <a:srgbClr val="9A0001"/>
              </a:solidFill>
              <a:prstDash val="solid"/>
              <a:miter/>
            </a:ln>
          </p:spPr>
        </p:cxnSp>
      </p:grpSp>
      <p:grpSp>
        <p:nvGrpSpPr>
          <p:cNvPr id="71" name="组合 70"/>
          <p:cNvGrpSpPr/>
          <p:nvPr/>
        </p:nvGrpSpPr>
        <p:grpSpPr>
          <a:xfrm>
            <a:off x="10307248" y="1339509"/>
            <a:ext cx="1528321" cy="302448"/>
            <a:chOff x="5796136" y="4189567"/>
            <a:chExt cx="1146539" cy="226895"/>
          </a:xfrm>
          <a:solidFill>
            <a:srgbClr val="9A0001"/>
          </a:solidFill>
        </p:grpSpPr>
        <p:sp>
          <p:nvSpPr>
            <p:cNvPr id="72" name="流程图: 数据 9"/>
            <p:cNvSpPr/>
            <p:nvPr/>
          </p:nvSpPr>
          <p:spPr>
            <a:xfrm>
              <a:off x="579613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3" name="流程图: 数据 9"/>
            <p:cNvSpPr/>
            <p:nvPr/>
          </p:nvSpPr>
          <p:spPr>
            <a:xfrm>
              <a:off x="593750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4" name="流程图: 数据 9"/>
            <p:cNvSpPr/>
            <p:nvPr/>
          </p:nvSpPr>
          <p:spPr>
            <a:xfrm>
              <a:off x="607887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5" name="流程图: 数据 9"/>
            <p:cNvSpPr/>
            <p:nvPr/>
          </p:nvSpPr>
          <p:spPr>
            <a:xfrm>
              <a:off x="622024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6" name="流程图: 数据 9"/>
            <p:cNvSpPr/>
            <p:nvPr/>
          </p:nvSpPr>
          <p:spPr>
            <a:xfrm>
              <a:off x="636161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7" name="流程图: 数据 9"/>
            <p:cNvSpPr/>
            <p:nvPr/>
          </p:nvSpPr>
          <p:spPr>
            <a:xfrm>
              <a:off x="650298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8" name="流程图: 数据 9"/>
            <p:cNvSpPr/>
            <p:nvPr/>
          </p:nvSpPr>
          <p:spPr>
            <a:xfrm>
              <a:off x="664435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9" name="流程图: 数据 9"/>
            <p:cNvSpPr/>
            <p:nvPr/>
          </p:nvSpPr>
          <p:spPr>
            <a:xfrm>
              <a:off x="6785729"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grpSp>
      <p:cxnSp>
        <p:nvCxnSpPr>
          <p:cNvPr id="80" name="直接连接符 92"/>
          <p:cNvCxnSpPr/>
          <p:nvPr/>
        </p:nvCxnSpPr>
        <p:spPr>
          <a:xfrm>
            <a:off x="5365746" y="1490733"/>
            <a:ext cx="4726249" cy="0"/>
          </a:xfrm>
          <a:prstGeom prst="line">
            <a:avLst/>
          </a:prstGeom>
          <a:ln w="38100">
            <a:solidFill>
              <a:srgbClr val="9A0001"/>
            </a:solidFill>
            <a:prstDash val="solid"/>
            <a:miter/>
          </a:ln>
        </p:spPr>
      </p:cxnSp>
      <p:grpSp>
        <p:nvGrpSpPr>
          <p:cNvPr id="5" name="组合 4"/>
          <p:cNvGrpSpPr/>
          <p:nvPr/>
        </p:nvGrpSpPr>
        <p:grpSpPr>
          <a:xfrm>
            <a:off x="2649435" y="596757"/>
            <a:ext cx="1130656" cy="197719"/>
            <a:chOff x="2551974" y="630077"/>
            <a:chExt cx="697715" cy="122010"/>
          </a:xfrm>
        </p:grpSpPr>
        <p:sp>
          <p:nvSpPr>
            <p:cNvPr id="81" name="椭圆 80"/>
            <p:cNvSpPr/>
            <p:nvPr/>
          </p:nvSpPr>
          <p:spPr>
            <a:xfrm>
              <a:off x="2551974" y="630077"/>
              <a:ext cx="122010" cy="122010"/>
            </a:xfrm>
            <a:prstGeom prst="ellipse">
              <a:avLst/>
            </a:prstGeom>
            <a:solidFill>
              <a:srgbClr val="9A0000"/>
            </a:solidFill>
            <a:ln>
              <a:noFill/>
            </a:ln>
          </p:spPr>
          <p:txBody>
            <a:bodyPr anchor="ctr"/>
            <a:lstStyle/>
            <a:p>
              <a:pPr algn="ctr"/>
              <a:endParaRPr lang="zh-CN" altLang="zh-CN" sz="3200">
                <a:solidFill>
                  <a:schemeClr val="lt1"/>
                </a:solidFill>
              </a:endParaRPr>
            </a:p>
          </p:txBody>
        </p:sp>
        <p:sp>
          <p:nvSpPr>
            <p:cNvPr id="82" name="椭圆 81"/>
            <p:cNvSpPr/>
            <p:nvPr/>
          </p:nvSpPr>
          <p:spPr>
            <a:xfrm>
              <a:off x="2839826" y="630077"/>
              <a:ext cx="122010" cy="122010"/>
            </a:xfrm>
            <a:prstGeom prst="ellipse">
              <a:avLst/>
            </a:prstGeom>
            <a:solidFill>
              <a:srgbClr val="9A0000">
                <a:alpha val="60000"/>
              </a:srgbClr>
            </a:solidFill>
            <a:ln>
              <a:noFill/>
            </a:ln>
          </p:spPr>
          <p:txBody>
            <a:bodyPr anchor="ctr"/>
            <a:lstStyle/>
            <a:p>
              <a:pPr algn="ctr"/>
              <a:endParaRPr lang="zh-CN" altLang="zh-CN" sz="3200">
                <a:solidFill>
                  <a:schemeClr val="lt1"/>
                </a:solidFill>
              </a:endParaRPr>
            </a:p>
          </p:txBody>
        </p:sp>
        <p:sp>
          <p:nvSpPr>
            <p:cNvPr id="83" name="椭圆 82"/>
            <p:cNvSpPr/>
            <p:nvPr/>
          </p:nvSpPr>
          <p:spPr>
            <a:xfrm>
              <a:off x="3127679" y="630077"/>
              <a:ext cx="122010" cy="122010"/>
            </a:xfrm>
            <a:prstGeom prst="ellipse">
              <a:avLst/>
            </a:prstGeom>
            <a:solidFill>
              <a:srgbClr val="9A0000">
                <a:alpha val="20000"/>
              </a:srgbClr>
            </a:solidFill>
            <a:ln>
              <a:noFill/>
            </a:ln>
          </p:spPr>
          <p:txBody>
            <a:bodyPr anchor="ctr"/>
            <a:lstStyle/>
            <a:p>
              <a:pPr algn="ctr"/>
              <a:endParaRPr lang="zh-CN" altLang="zh-CN" sz="3200">
                <a:solidFill>
                  <a:schemeClr val="lt1"/>
                </a:solidFil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F4D9B-40E7-CF76-D2EB-C7E69F22F356}"/>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59C60115-C1BA-B228-3770-1B95A6E36EB8}"/>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9AC9E04E-584C-4420-2B66-B9AA793EF23A}"/>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847E16C0-5322-7651-A64E-AC0EE0113BDF}"/>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09C89D91-BC69-1F39-A371-A25F4675D3B4}"/>
              </a:ext>
            </a:extLst>
          </p:cNvPr>
          <p:cNvSpPr txBox="1"/>
          <p:nvPr/>
        </p:nvSpPr>
        <p:spPr>
          <a:xfrm>
            <a:off x="845481" y="478670"/>
            <a:ext cx="10946591" cy="646331"/>
          </a:xfrm>
          <a:prstGeom prst="rect">
            <a:avLst/>
          </a:prstGeom>
          <a:noFill/>
        </p:spPr>
        <p:txBody>
          <a:bodyPr wrap="square" rtlCol="0">
            <a:spAutoFit/>
          </a:bodyPr>
          <a:lstStyle/>
          <a:p>
            <a:r>
              <a:rPr lang="en-US" altLang="zh-CN" sz="3600" b="1" dirty="0">
                <a:latin typeface="+mj-lt"/>
                <a:ea typeface="宋体" panose="02010600030101010101" pitchFamily="2" charset="-122"/>
                <a:cs typeface="宋体" panose="02010600030101010101" pitchFamily="2" charset="-122"/>
              </a:rPr>
              <a:t>1.</a:t>
            </a:r>
            <a:r>
              <a:rPr lang="zh-CN" altLang="en-US" sz="3600" b="1" dirty="0">
                <a:latin typeface="+mj-lt"/>
                <a:ea typeface="宋体" panose="02010600030101010101" pitchFamily="2" charset="-122"/>
                <a:cs typeface="宋体" panose="02010600030101010101" pitchFamily="2" charset="-122"/>
              </a:rPr>
              <a:t>多租户</a:t>
            </a:r>
            <a:r>
              <a:rPr lang="en-US" altLang="zh-CN" sz="3600" b="1" dirty="0">
                <a:latin typeface="+mj-lt"/>
                <a:ea typeface="宋体" panose="02010600030101010101" pitchFamily="2" charset="-122"/>
                <a:cs typeface="宋体" panose="02010600030101010101" pitchFamily="2" charset="-122"/>
              </a:rPr>
              <a:t>LLM</a:t>
            </a:r>
            <a:r>
              <a:rPr lang="zh-CN" altLang="en-US" sz="3600" b="1" dirty="0">
                <a:latin typeface="+mj-lt"/>
                <a:ea typeface="宋体" panose="02010600030101010101" pitchFamily="2" charset="-122"/>
                <a:cs typeface="宋体" panose="02010600030101010101" pitchFamily="2" charset="-122"/>
              </a:rPr>
              <a:t>环境</a:t>
            </a:r>
          </a:p>
        </p:txBody>
      </p:sp>
      <p:sp>
        <p:nvSpPr>
          <p:cNvPr id="3" name="文本框 2">
            <a:extLst>
              <a:ext uri="{FF2B5EF4-FFF2-40B4-BE49-F238E27FC236}">
                <a16:creationId xmlns:a16="http://schemas.microsoft.com/office/drawing/2014/main" id="{1B028BB6-A1E4-4BAF-846C-15FA265C3AA2}"/>
              </a:ext>
            </a:extLst>
          </p:cNvPr>
          <p:cNvSpPr txBox="1"/>
          <p:nvPr/>
        </p:nvSpPr>
        <p:spPr>
          <a:xfrm>
            <a:off x="845481" y="1914526"/>
            <a:ext cx="10629833" cy="1706878"/>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i="0" dirty="0">
                <a:solidFill>
                  <a:srgbClr val="0F1115"/>
                </a:solidFill>
                <a:effectLst/>
                <a:latin typeface="楷体" panose="02010609060101010101" pitchFamily="49" charset="-122"/>
                <a:ea typeface="楷体" panose="02010609060101010101" pitchFamily="49" charset="-122"/>
              </a:rPr>
              <a:t>多租户意味着多个独立用户或组织（租户）共享同一套庞大的</a:t>
            </a:r>
            <a:r>
              <a:rPr lang="en-US" altLang="zh-CN" i="0" dirty="0">
                <a:solidFill>
                  <a:srgbClr val="0F1115"/>
                </a:solidFill>
                <a:effectLst/>
                <a:latin typeface="楷体" panose="02010609060101010101" pitchFamily="49" charset="-122"/>
                <a:ea typeface="楷体" panose="02010609060101010101" pitchFamily="49" charset="-122"/>
              </a:rPr>
              <a:t>LLM</a:t>
            </a:r>
            <a:r>
              <a:rPr lang="zh-CN" altLang="en-US" i="0" dirty="0">
                <a:solidFill>
                  <a:srgbClr val="0F1115"/>
                </a:solidFill>
                <a:effectLst/>
                <a:latin typeface="楷体" panose="02010609060101010101" pitchFamily="49" charset="-122"/>
                <a:ea typeface="楷体" panose="02010609060101010101" pitchFamily="49" charset="-122"/>
              </a:rPr>
              <a:t>底层设施（</a:t>
            </a:r>
            <a:r>
              <a:rPr lang="en-US" altLang="zh-CN" i="0" dirty="0">
                <a:solidFill>
                  <a:srgbClr val="0F1115"/>
                </a:solidFill>
                <a:effectLst/>
                <a:latin typeface="楷体" panose="02010609060101010101" pitchFamily="49" charset="-122"/>
                <a:ea typeface="楷体" panose="02010609060101010101" pitchFamily="49" charset="-122"/>
              </a:rPr>
              <a:t>GPU</a:t>
            </a:r>
            <a:r>
              <a:rPr lang="zh-CN" altLang="en-US" i="0" dirty="0">
                <a:solidFill>
                  <a:srgbClr val="0F1115"/>
                </a:solidFill>
                <a:effectLst/>
                <a:latin typeface="楷体" panose="02010609060101010101" pitchFamily="49" charset="-122"/>
                <a:ea typeface="楷体" panose="02010609060101010101" pitchFamily="49" charset="-122"/>
              </a:rPr>
              <a:t>集群、模型、内存）</a:t>
            </a:r>
            <a:endParaRPr lang="en-US" altLang="zh-CN" i="0" dirty="0">
              <a:solidFill>
                <a:srgbClr val="0F1115"/>
              </a:solidFill>
              <a:effectLst/>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zh-CN" altLang="en-US" i="0" dirty="0">
                <a:solidFill>
                  <a:srgbClr val="0F1115"/>
                </a:solidFill>
                <a:effectLst/>
                <a:latin typeface="楷体" panose="02010609060101010101" pitchFamily="49" charset="-122"/>
                <a:ea typeface="楷体" panose="02010609060101010101" pitchFamily="49" charset="-122"/>
              </a:rPr>
              <a:t>其核心驱动力是 “提升资源利用率，降低单次推理成本”</a:t>
            </a:r>
            <a:endParaRPr lang="en-US" altLang="zh-CN" dirty="0">
              <a:solidFill>
                <a:srgbClr val="0F1115"/>
              </a:solidFill>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endParaRPr lang="en-US" altLang="zh-CN" dirty="0">
              <a:solidFill>
                <a:srgbClr val="0F1115"/>
              </a:solidFill>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en-US" altLang="zh-CN" dirty="0">
                <a:solidFill>
                  <a:srgbClr val="0F1115"/>
                </a:solidFill>
                <a:latin typeface="楷体" panose="02010609060101010101" pitchFamily="49" charset="-122"/>
                <a:ea typeface="楷体" panose="02010609060101010101" pitchFamily="49" charset="-122"/>
              </a:rPr>
              <a:t>——</a:t>
            </a:r>
            <a:r>
              <a:rPr lang="zh-CN" altLang="en-US" i="0" dirty="0">
                <a:solidFill>
                  <a:srgbClr val="0F1115"/>
                </a:solidFill>
                <a:effectLst/>
                <a:latin typeface="楷体" panose="02010609060101010101" pitchFamily="49" charset="-122"/>
                <a:ea typeface="楷体" panose="02010609060101010101" pitchFamily="49" charset="-122"/>
              </a:rPr>
              <a:t>“追求效率的共享” 与 “保障安全的隔离” 之间的根本性冲突</a:t>
            </a: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631025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933FA-C33C-5003-1A6C-F479E56D8929}"/>
            </a:ext>
          </a:extLst>
        </p:cNvPr>
        <p:cNvGrpSpPr/>
        <p:nvPr/>
      </p:nvGrpSpPr>
      <p:grpSpPr>
        <a:xfrm>
          <a:off x="0" y="0"/>
          <a:ext cx="0" cy="0"/>
          <a:chOff x="0" y="0"/>
          <a:chExt cx="0" cy="0"/>
        </a:xfrm>
      </p:grpSpPr>
      <p:sp>
        <p:nvSpPr>
          <p:cNvPr id="38" name="矩形 37">
            <a:extLst>
              <a:ext uri="{FF2B5EF4-FFF2-40B4-BE49-F238E27FC236}">
                <a16:creationId xmlns:a16="http://schemas.microsoft.com/office/drawing/2014/main" id="{1117EA84-CFCC-E74D-E770-793FCA6201DE}"/>
              </a:ext>
            </a:extLst>
          </p:cNvPr>
          <p:cNvSpPr/>
          <p:nvPr/>
        </p:nvSpPr>
        <p:spPr>
          <a:xfrm>
            <a:off x="6836194" y="6780865"/>
            <a:ext cx="5381839" cy="97126"/>
          </a:xfrm>
          <a:prstGeom prst="rect">
            <a:avLst/>
          </a:prstGeom>
          <a:solidFill>
            <a:srgbClr val="9A0001"/>
          </a:solidFill>
          <a:ln>
            <a:noFill/>
          </a:ln>
        </p:spPr>
        <p:txBody>
          <a:bodyPr anchor="ctr"/>
          <a:lstStyle/>
          <a:p>
            <a:pPr algn="ctr"/>
            <a:endParaRPr lang="zh-CN" altLang="zh-CN">
              <a:solidFill>
                <a:schemeClr val="lt1"/>
              </a:solidFill>
              <a:latin typeface="思源黑体 CN Light"/>
              <a:ea typeface="思源黑体 CN Light"/>
            </a:endParaRPr>
          </a:p>
        </p:txBody>
      </p:sp>
      <p:sp>
        <p:nvSpPr>
          <p:cNvPr id="48" name="矩形 47">
            <a:extLst>
              <a:ext uri="{FF2B5EF4-FFF2-40B4-BE49-F238E27FC236}">
                <a16:creationId xmlns:a16="http://schemas.microsoft.com/office/drawing/2014/main" id="{DFA32785-EA39-49C2-AB2B-F135681A39AD}"/>
              </a:ext>
            </a:extLst>
          </p:cNvPr>
          <p:cNvSpPr/>
          <p:nvPr/>
        </p:nvSpPr>
        <p:spPr>
          <a:xfrm>
            <a:off x="0" y="1239655"/>
            <a:ext cx="766614" cy="3436705"/>
          </a:xfrm>
          <a:prstGeom prst="rect">
            <a:avLst/>
          </a:prstGeom>
          <a:solidFill>
            <a:srgbClr val="9A0001"/>
          </a:solidFill>
          <a:ln>
            <a:noFill/>
          </a:ln>
          <a:effectLst>
            <a:outerShdw blurRad="127000" dist="38100" dir="2700000" algn="tl" rotWithShape="0">
              <a:srgbClr val="000000">
                <a:alpha val="20000"/>
              </a:srgbClr>
            </a:outerShdw>
          </a:effectLst>
        </p:spPr>
        <p:txBody>
          <a:bodyPr anchor="ctr"/>
          <a:lstStyle/>
          <a:p>
            <a:pPr algn="ctr"/>
            <a:endParaRPr lang="zh-CN" altLang="zh-CN">
              <a:solidFill>
                <a:schemeClr val="lt1"/>
              </a:solidFill>
              <a:ea typeface="字魂105号-简雅黑"/>
            </a:endParaRPr>
          </a:p>
        </p:txBody>
      </p:sp>
      <p:pic>
        <p:nvPicPr>
          <p:cNvPr id="61" name="图片 60">
            <a:extLst>
              <a:ext uri="{FF2B5EF4-FFF2-40B4-BE49-F238E27FC236}">
                <a16:creationId xmlns:a16="http://schemas.microsoft.com/office/drawing/2014/main" id="{1E225667-954D-73E9-E412-566484DF73A0}"/>
              </a:ext>
            </a:extLst>
          </p:cNvPr>
          <p:cNvPicPr>
            <a:picLocks noChangeAspect="1"/>
          </p:cNvPicPr>
          <p:nvPr/>
        </p:nvPicPr>
        <p:blipFill>
          <a:blip r:embed="rId3"/>
          <a:stretch>
            <a:fillRect/>
          </a:stretch>
        </p:blipFill>
        <p:spPr>
          <a:xfrm>
            <a:off x="637976" y="422723"/>
            <a:ext cx="1675797" cy="467802"/>
          </a:xfrm>
          <a:prstGeom prst="rect">
            <a:avLst/>
          </a:prstGeom>
        </p:spPr>
      </p:pic>
      <p:grpSp>
        <p:nvGrpSpPr>
          <p:cNvPr id="62" name="组合 61">
            <a:extLst>
              <a:ext uri="{FF2B5EF4-FFF2-40B4-BE49-F238E27FC236}">
                <a16:creationId xmlns:a16="http://schemas.microsoft.com/office/drawing/2014/main" id="{E546F41B-FD79-8315-61FD-0635BFE234D3}"/>
              </a:ext>
            </a:extLst>
          </p:cNvPr>
          <p:cNvGrpSpPr/>
          <p:nvPr/>
        </p:nvGrpSpPr>
        <p:grpSpPr>
          <a:xfrm>
            <a:off x="1112534" y="2247668"/>
            <a:ext cx="1635760" cy="1889218"/>
            <a:chOff x="1209755" y="4179558"/>
            <a:chExt cx="1635760" cy="1889218"/>
          </a:xfrm>
        </p:grpSpPr>
        <p:sp>
          <p:nvSpPr>
            <p:cNvPr id="63" name="文本框 62">
              <a:extLst>
                <a:ext uri="{FF2B5EF4-FFF2-40B4-BE49-F238E27FC236}">
                  <a16:creationId xmlns:a16="http://schemas.microsoft.com/office/drawing/2014/main" id="{486AF003-2A4B-8E26-9236-A5D83710E15A}"/>
                </a:ext>
              </a:extLst>
            </p:cNvPr>
            <p:cNvSpPr txBox="1"/>
            <p:nvPr/>
          </p:nvSpPr>
          <p:spPr>
            <a:xfrm>
              <a:off x="1525350" y="4179558"/>
              <a:ext cx="1320165" cy="1122680"/>
            </a:xfrm>
            <a:prstGeom prst="rect">
              <a:avLst/>
            </a:prstGeom>
            <a:noFill/>
          </p:spPr>
          <p:txBody>
            <a:bodyPr wrap="none">
              <a:noAutofit/>
            </a:bodyPr>
            <a:lstStyle/>
            <a:p>
              <a:r>
                <a:rPr lang="en-US" altLang="en-US" sz="8800" b="1" dirty="0">
                  <a:latin typeface="方正粗黑宋简体" panose="02000000000000000000" charset="-122"/>
                  <a:ea typeface="方正粗黑宋简体" panose="02000000000000000000" charset="-122"/>
                </a:rPr>
                <a:t>Part 02</a:t>
              </a:r>
              <a:endParaRPr lang="zh-CN" altLang="zh-CN" sz="8800" b="1" dirty="0">
                <a:latin typeface="方正粗黑宋简体" panose="02000000000000000000" charset="-122"/>
                <a:ea typeface="方正粗黑宋简体" panose="02000000000000000000" charset="-122"/>
              </a:endParaRPr>
            </a:p>
          </p:txBody>
        </p:sp>
        <p:sp>
          <p:nvSpPr>
            <p:cNvPr id="64" name="文本框 63">
              <a:extLst>
                <a:ext uri="{FF2B5EF4-FFF2-40B4-BE49-F238E27FC236}">
                  <a16:creationId xmlns:a16="http://schemas.microsoft.com/office/drawing/2014/main" id="{ABC4EA21-9AF4-0D57-ECEA-50A417A80462}"/>
                </a:ext>
              </a:extLst>
            </p:cNvPr>
            <p:cNvSpPr txBox="1"/>
            <p:nvPr/>
          </p:nvSpPr>
          <p:spPr>
            <a:xfrm>
              <a:off x="1447269" y="5360890"/>
              <a:ext cx="184731" cy="707886"/>
            </a:xfrm>
            <a:prstGeom prst="rect">
              <a:avLst/>
            </a:prstGeom>
            <a:noFill/>
          </p:spPr>
          <p:txBody>
            <a:bodyPr wrap="none">
              <a:spAutoFit/>
            </a:bodyPr>
            <a:lstStyle/>
            <a:p>
              <a:endParaRPr lang="zh-CN" altLang="zh-CN" sz="4000" dirty="0">
                <a:latin typeface="FZShengShiKaiShuS-EB-GB"/>
                <a:ea typeface="FZShengShiKaiShuS-EB-GB"/>
              </a:endParaRPr>
            </a:p>
          </p:txBody>
        </p:sp>
        <p:cxnSp>
          <p:nvCxnSpPr>
            <p:cNvPr id="66" name="直接连接符 55">
              <a:extLst>
                <a:ext uri="{FF2B5EF4-FFF2-40B4-BE49-F238E27FC236}">
                  <a16:creationId xmlns:a16="http://schemas.microsoft.com/office/drawing/2014/main" id="{B492B17F-D7F3-76E7-9414-82CD10153770}"/>
                </a:ext>
              </a:extLst>
            </p:cNvPr>
            <p:cNvCxnSpPr/>
            <p:nvPr/>
          </p:nvCxnSpPr>
          <p:spPr>
            <a:xfrm>
              <a:off x="1209755" y="4396902"/>
              <a:ext cx="0" cy="1579587"/>
            </a:xfrm>
            <a:prstGeom prst="line">
              <a:avLst/>
            </a:prstGeom>
            <a:ln w="127000">
              <a:solidFill>
                <a:srgbClr val="9A0001"/>
              </a:solidFill>
              <a:prstDash val="solid"/>
              <a:miter/>
            </a:ln>
          </p:spPr>
        </p:cxnSp>
      </p:grpSp>
      <p:grpSp>
        <p:nvGrpSpPr>
          <p:cNvPr id="71" name="组合 70">
            <a:extLst>
              <a:ext uri="{FF2B5EF4-FFF2-40B4-BE49-F238E27FC236}">
                <a16:creationId xmlns:a16="http://schemas.microsoft.com/office/drawing/2014/main" id="{972F6806-CE29-4589-D794-FB330E2F38CE}"/>
              </a:ext>
            </a:extLst>
          </p:cNvPr>
          <p:cNvGrpSpPr/>
          <p:nvPr/>
        </p:nvGrpSpPr>
        <p:grpSpPr>
          <a:xfrm>
            <a:off x="10307248" y="1339509"/>
            <a:ext cx="1528321" cy="302448"/>
            <a:chOff x="5796136" y="4189567"/>
            <a:chExt cx="1146539" cy="226895"/>
          </a:xfrm>
          <a:solidFill>
            <a:srgbClr val="9A0001"/>
          </a:solidFill>
        </p:grpSpPr>
        <p:sp>
          <p:nvSpPr>
            <p:cNvPr id="72" name="流程图: 数据 9">
              <a:extLst>
                <a:ext uri="{FF2B5EF4-FFF2-40B4-BE49-F238E27FC236}">
                  <a16:creationId xmlns:a16="http://schemas.microsoft.com/office/drawing/2014/main" id="{7E962B53-2EE3-E84E-EC2F-F73CF13B3583}"/>
                </a:ext>
              </a:extLst>
            </p:cNvPr>
            <p:cNvSpPr/>
            <p:nvPr/>
          </p:nvSpPr>
          <p:spPr>
            <a:xfrm>
              <a:off x="579613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3" name="流程图: 数据 9">
              <a:extLst>
                <a:ext uri="{FF2B5EF4-FFF2-40B4-BE49-F238E27FC236}">
                  <a16:creationId xmlns:a16="http://schemas.microsoft.com/office/drawing/2014/main" id="{9A0FF77D-6E4A-A18B-0262-64D955893A58}"/>
                </a:ext>
              </a:extLst>
            </p:cNvPr>
            <p:cNvSpPr/>
            <p:nvPr/>
          </p:nvSpPr>
          <p:spPr>
            <a:xfrm>
              <a:off x="593750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4" name="流程图: 数据 9">
              <a:extLst>
                <a:ext uri="{FF2B5EF4-FFF2-40B4-BE49-F238E27FC236}">
                  <a16:creationId xmlns:a16="http://schemas.microsoft.com/office/drawing/2014/main" id="{0A15F022-EC37-4DA4-77A2-CB21216DA4A6}"/>
                </a:ext>
              </a:extLst>
            </p:cNvPr>
            <p:cNvSpPr/>
            <p:nvPr/>
          </p:nvSpPr>
          <p:spPr>
            <a:xfrm>
              <a:off x="607887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5" name="流程图: 数据 9">
              <a:extLst>
                <a:ext uri="{FF2B5EF4-FFF2-40B4-BE49-F238E27FC236}">
                  <a16:creationId xmlns:a16="http://schemas.microsoft.com/office/drawing/2014/main" id="{4F11DFED-6C83-F7F4-2136-42C3DF82232D}"/>
                </a:ext>
              </a:extLst>
            </p:cNvPr>
            <p:cNvSpPr/>
            <p:nvPr/>
          </p:nvSpPr>
          <p:spPr>
            <a:xfrm>
              <a:off x="622024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6" name="流程图: 数据 9">
              <a:extLst>
                <a:ext uri="{FF2B5EF4-FFF2-40B4-BE49-F238E27FC236}">
                  <a16:creationId xmlns:a16="http://schemas.microsoft.com/office/drawing/2014/main" id="{9D053D15-9F2B-B45D-2425-A1A095A9623A}"/>
                </a:ext>
              </a:extLst>
            </p:cNvPr>
            <p:cNvSpPr/>
            <p:nvPr/>
          </p:nvSpPr>
          <p:spPr>
            <a:xfrm>
              <a:off x="636161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7" name="流程图: 数据 9">
              <a:extLst>
                <a:ext uri="{FF2B5EF4-FFF2-40B4-BE49-F238E27FC236}">
                  <a16:creationId xmlns:a16="http://schemas.microsoft.com/office/drawing/2014/main" id="{0B7FB254-8C71-EC97-1673-91313C70C69D}"/>
                </a:ext>
              </a:extLst>
            </p:cNvPr>
            <p:cNvSpPr/>
            <p:nvPr/>
          </p:nvSpPr>
          <p:spPr>
            <a:xfrm>
              <a:off x="650298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8" name="流程图: 数据 9">
              <a:extLst>
                <a:ext uri="{FF2B5EF4-FFF2-40B4-BE49-F238E27FC236}">
                  <a16:creationId xmlns:a16="http://schemas.microsoft.com/office/drawing/2014/main" id="{E990E3CF-32AC-21C1-4B38-469DC7F7F959}"/>
                </a:ext>
              </a:extLst>
            </p:cNvPr>
            <p:cNvSpPr/>
            <p:nvPr/>
          </p:nvSpPr>
          <p:spPr>
            <a:xfrm>
              <a:off x="664435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9" name="流程图: 数据 9">
              <a:extLst>
                <a:ext uri="{FF2B5EF4-FFF2-40B4-BE49-F238E27FC236}">
                  <a16:creationId xmlns:a16="http://schemas.microsoft.com/office/drawing/2014/main" id="{19FC571E-5F90-C316-C768-8FECCB95A4D1}"/>
                </a:ext>
              </a:extLst>
            </p:cNvPr>
            <p:cNvSpPr/>
            <p:nvPr/>
          </p:nvSpPr>
          <p:spPr>
            <a:xfrm>
              <a:off x="6785729"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grpSp>
      <p:cxnSp>
        <p:nvCxnSpPr>
          <p:cNvPr id="80" name="直接连接符 92">
            <a:extLst>
              <a:ext uri="{FF2B5EF4-FFF2-40B4-BE49-F238E27FC236}">
                <a16:creationId xmlns:a16="http://schemas.microsoft.com/office/drawing/2014/main" id="{A8DF8F0D-CA85-AE9F-20BE-090E5A2247B9}"/>
              </a:ext>
            </a:extLst>
          </p:cNvPr>
          <p:cNvCxnSpPr/>
          <p:nvPr/>
        </p:nvCxnSpPr>
        <p:spPr>
          <a:xfrm>
            <a:off x="5365746" y="1490733"/>
            <a:ext cx="4726249" cy="0"/>
          </a:xfrm>
          <a:prstGeom prst="line">
            <a:avLst/>
          </a:prstGeom>
          <a:ln w="38100">
            <a:solidFill>
              <a:srgbClr val="9A0001"/>
            </a:solidFill>
            <a:prstDash val="solid"/>
            <a:miter/>
          </a:ln>
        </p:spPr>
      </p:cxnSp>
      <p:grpSp>
        <p:nvGrpSpPr>
          <p:cNvPr id="5" name="组合 4">
            <a:extLst>
              <a:ext uri="{FF2B5EF4-FFF2-40B4-BE49-F238E27FC236}">
                <a16:creationId xmlns:a16="http://schemas.microsoft.com/office/drawing/2014/main" id="{12AF5A35-203D-0F48-2458-319883312760}"/>
              </a:ext>
            </a:extLst>
          </p:cNvPr>
          <p:cNvGrpSpPr/>
          <p:nvPr/>
        </p:nvGrpSpPr>
        <p:grpSpPr>
          <a:xfrm>
            <a:off x="2649435" y="596757"/>
            <a:ext cx="1130656" cy="197719"/>
            <a:chOff x="2551974" y="630077"/>
            <a:chExt cx="697715" cy="122010"/>
          </a:xfrm>
        </p:grpSpPr>
        <p:sp>
          <p:nvSpPr>
            <p:cNvPr id="81" name="椭圆 80">
              <a:extLst>
                <a:ext uri="{FF2B5EF4-FFF2-40B4-BE49-F238E27FC236}">
                  <a16:creationId xmlns:a16="http://schemas.microsoft.com/office/drawing/2014/main" id="{49A11890-C61D-644A-7AE8-AB106907CDE8}"/>
                </a:ext>
              </a:extLst>
            </p:cNvPr>
            <p:cNvSpPr/>
            <p:nvPr/>
          </p:nvSpPr>
          <p:spPr>
            <a:xfrm>
              <a:off x="2551974" y="630077"/>
              <a:ext cx="122010" cy="122010"/>
            </a:xfrm>
            <a:prstGeom prst="ellipse">
              <a:avLst/>
            </a:prstGeom>
            <a:solidFill>
              <a:srgbClr val="9A0000"/>
            </a:solidFill>
            <a:ln>
              <a:noFill/>
            </a:ln>
          </p:spPr>
          <p:txBody>
            <a:bodyPr anchor="ctr"/>
            <a:lstStyle/>
            <a:p>
              <a:pPr algn="ctr"/>
              <a:endParaRPr lang="zh-CN" altLang="zh-CN" sz="3200">
                <a:solidFill>
                  <a:schemeClr val="lt1"/>
                </a:solidFill>
              </a:endParaRPr>
            </a:p>
          </p:txBody>
        </p:sp>
        <p:sp>
          <p:nvSpPr>
            <p:cNvPr id="82" name="椭圆 81">
              <a:extLst>
                <a:ext uri="{FF2B5EF4-FFF2-40B4-BE49-F238E27FC236}">
                  <a16:creationId xmlns:a16="http://schemas.microsoft.com/office/drawing/2014/main" id="{0926DB7E-2909-71EA-5C02-C15F55CD4283}"/>
                </a:ext>
              </a:extLst>
            </p:cNvPr>
            <p:cNvSpPr/>
            <p:nvPr/>
          </p:nvSpPr>
          <p:spPr>
            <a:xfrm>
              <a:off x="2839826" y="630077"/>
              <a:ext cx="122010" cy="122010"/>
            </a:xfrm>
            <a:prstGeom prst="ellipse">
              <a:avLst/>
            </a:prstGeom>
            <a:solidFill>
              <a:srgbClr val="9A0000">
                <a:alpha val="60000"/>
              </a:srgbClr>
            </a:solidFill>
            <a:ln>
              <a:noFill/>
            </a:ln>
          </p:spPr>
          <p:txBody>
            <a:bodyPr anchor="ctr"/>
            <a:lstStyle/>
            <a:p>
              <a:pPr algn="ctr"/>
              <a:endParaRPr lang="zh-CN" altLang="zh-CN" sz="3200">
                <a:solidFill>
                  <a:schemeClr val="lt1"/>
                </a:solidFill>
              </a:endParaRPr>
            </a:p>
          </p:txBody>
        </p:sp>
        <p:sp>
          <p:nvSpPr>
            <p:cNvPr id="83" name="椭圆 82">
              <a:extLst>
                <a:ext uri="{FF2B5EF4-FFF2-40B4-BE49-F238E27FC236}">
                  <a16:creationId xmlns:a16="http://schemas.microsoft.com/office/drawing/2014/main" id="{5F99069D-F4BD-500B-5E44-CF9FBCC98F57}"/>
                </a:ext>
              </a:extLst>
            </p:cNvPr>
            <p:cNvSpPr/>
            <p:nvPr/>
          </p:nvSpPr>
          <p:spPr>
            <a:xfrm>
              <a:off x="3127679" y="630077"/>
              <a:ext cx="122010" cy="122010"/>
            </a:xfrm>
            <a:prstGeom prst="ellipse">
              <a:avLst/>
            </a:prstGeom>
            <a:solidFill>
              <a:srgbClr val="9A0000">
                <a:alpha val="20000"/>
              </a:srgbClr>
            </a:solidFill>
            <a:ln>
              <a:noFill/>
            </a:ln>
          </p:spPr>
          <p:txBody>
            <a:bodyPr anchor="ctr"/>
            <a:lstStyle/>
            <a:p>
              <a:pPr algn="ctr"/>
              <a:endParaRPr lang="zh-CN" altLang="zh-CN" sz="3200">
                <a:solidFill>
                  <a:schemeClr val="lt1"/>
                </a:solidFill>
              </a:endParaRPr>
            </a:p>
          </p:txBody>
        </p:sp>
      </p:grpSp>
    </p:spTree>
    <p:extLst>
      <p:ext uri="{BB962C8B-B14F-4D97-AF65-F5344CB8AC3E}">
        <p14:creationId xmlns:p14="http://schemas.microsoft.com/office/powerpoint/2010/main" val="2391635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F4D9B-40E7-CF76-D2EB-C7E69F22F356}"/>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59C60115-C1BA-B228-3770-1B95A6E36EB8}"/>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9AC9E04E-584C-4420-2B66-B9AA793EF23A}"/>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847E16C0-5322-7651-A64E-AC0EE0113BDF}"/>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09C89D91-BC69-1F39-A371-A25F4675D3B4}"/>
              </a:ext>
            </a:extLst>
          </p:cNvPr>
          <p:cNvSpPr txBox="1"/>
          <p:nvPr/>
        </p:nvSpPr>
        <p:spPr>
          <a:xfrm>
            <a:off x="845481" y="478670"/>
            <a:ext cx="10946591" cy="646331"/>
          </a:xfrm>
          <a:prstGeom prst="rect">
            <a:avLst/>
          </a:prstGeom>
          <a:noFill/>
        </p:spPr>
        <p:txBody>
          <a:bodyPr wrap="square" rtlCol="0">
            <a:spAutoFit/>
          </a:bodyPr>
          <a:lstStyle/>
          <a:p>
            <a:r>
              <a:rPr lang="zh-CN" altLang="en-US" sz="3600" b="1" dirty="0">
                <a:latin typeface="+mj-lt"/>
                <a:ea typeface="宋体" panose="02010600030101010101" pitchFamily="2" charset="-122"/>
                <a:cs typeface="宋体" panose="02010600030101010101" pitchFamily="2" charset="-122"/>
              </a:rPr>
              <a:t>文章简介</a:t>
            </a:r>
          </a:p>
        </p:txBody>
      </p:sp>
      <p:pic>
        <p:nvPicPr>
          <p:cNvPr id="5" name="图片 4">
            <a:extLst>
              <a:ext uri="{FF2B5EF4-FFF2-40B4-BE49-F238E27FC236}">
                <a16:creationId xmlns:a16="http://schemas.microsoft.com/office/drawing/2014/main" id="{984D646C-AC1D-4983-A32F-DC4E6B88A256}"/>
              </a:ext>
            </a:extLst>
          </p:cNvPr>
          <p:cNvPicPr>
            <a:picLocks noChangeAspect="1"/>
          </p:cNvPicPr>
          <p:nvPr/>
        </p:nvPicPr>
        <p:blipFill>
          <a:blip r:embed="rId3"/>
          <a:stretch>
            <a:fillRect/>
          </a:stretch>
        </p:blipFill>
        <p:spPr>
          <a:xfrm>
            <a:off x="1314450" y="1403228"/>
            <a:ext cx="9563100" cy="3116990"/>
          </a:xfrm>
          <a:prstGeom prst="rect">
            <a:avLst/>
          </a:prstGeom>
        </p:spPr>
      </p:pic>
      <p:sp>
        <p:nvSpPr>
          <p:cNvPr id="6" name="文本框 5">
            <a:extLst>
              <a:ext uri="{FF2B5EF4-FFF2-40B4-BE49-F238E27FC236}">
                <a16:creationId xmlns:a16="http://schemas.microsoft.com/office/drawing/2014/main" id="{DFF226F6-A43F-472A-A5B9-EBCDE6C59F7A}"/>
              </a:ext>
            </a:extLst>
          </p:cNvPr>
          <p:cNvSpPr txBox="1"/>
          <p:nvPr/>
        </p:nvSpPr>
        <p:spPr>
          <a:xfrm>
            <a:off x="9076119" y="4613779"/>
            <a:ext cx="1723549" cy="369332"/>
          </a:xfrm>
          <a:prstGeom prst="rect">
            <a:avLst/>
          </a:prstGeom>
          <a:noFill/>
        </p:spPr>
        <p:txBody>
          <a:bodyPr wrap="none" rtlCol="0">
            <a:spAutoFit/>
          </a:bodyPr>
          <a:lstStyle/>
          <a:p>
            <a:r>
              <a:rPr lang="zh-CN" altLang="en-US" b="0" i="0" dirty="0">
                <a:solidFill>
                  <a:srgbClr val="0F1115"/>
                </a:solidFill>
                <a:effectLst/>
                <a:latin typeface="quote-cjk-patch"/>
              </a:rPr>
              <a:t>（</a:t>
            </a:r>
            <a:r>
              <a:rPr lang="en-US" altLang="zh-CN" b="0" i="0" dirty="0">
                <a:solidFill>
                  <a:srgbClr val="0F1115"/>
                </a:solidFill>
                <a:effectLst/>
                <a:latin typeface="quote-cjk-patch"/>
              </a:rPr>
              <a:t>2025 NDSS</a:t>
            </a:r>
            <a:r>
              <a:rPr lang="zh-CN" altLang="en-US" b="0" i="0" dirty="0">
                <a:solidFill>
                  <a:srgbClr val="0F1115"/>
                </a:solidFill>
                <a:effectLst/>
                <a:latin typeface="quote-cjk-patch"/>
              </a:rPr>
              <a:t>）</a:t>
            </a:r>
            <a:endParaRPr lang="zh-CN" altLang="en-US" dirty="0"/>
          </a:p>
        </p:txBody>
      </p:sp>
    </p:spTree>
    <p:extLst>
      <p:ext uri="{BB962C8B-B14F-4D97-AF65-F5344CB8AC3E}">
        <p14:creationId xmlns:p14="http://schemas.microsoft.com/office/powerpoint/2010/main" val="1390881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33C1-3A47-9E67-87BE-C72239F124A6}"/>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82A02862-BBB9-B70C-E8AF-976220236534}"/>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1D98A0C6-912B-8B24-3BEB-1CDB717B50D3}"/>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1E2FC15-751D-17CE-EB3D-8D38C58AB00F}"/>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3FCF4D95-0D5E-2859-D6E2-7FE8D8C9F193}"/>
              </a:ext>
            </a:extLst>
          </p:cNvPr>
          <p:cNvSpPr txBox="1"/>
          <p:nvPr/>
        </p:nvSpPr>
        <p:spPr>
          <a:xfrm>
            <a:off x="857513" y="545564"/>
            <a:ext cx="10946591" cy="523220"/>
          </a:xfrm>
          <a:prstGeom prst="rect">
            <a:avLst/>
          </a:prstGeom>
          <a:noFill/>
        </p:spPr>
        <p:txBody>
          <a:bodyPr wrap="square" rtlCol="0">
            <a:spAutoFit/>
          </a:bodyPr>
          <a:lstStyle/>
          <a:p>
            <a:r>
              <a:rPr lang="en-US" altLang="zh-CN" sz="2800" b="1" dirty="0">
                <a:latin typeface="+mj-lt"/>
                <a:ea typeface="宋体" panose="02010600030101010101" pitchFamily="2" charset="-122"/>
                <a:cs typeface="宋体" panose="02010600030101010101" pitchFamily="2" charset="-122"/>
              </a:rPr>
              <a:t>Key-Value</a:t>
            </a:r>
            <a:r>
              <a:rPr lang="zh-CN" altLang="en-US" sz="2800" b="1" dirty="0">
                <a:latin typeface="+mj-lt"/>
                <a:ea typeface="宋体" panose="02010600030101010101" pitchFamily="2" charset="-122"/>
                <a:cs typeface="宋体" panose="02010600030101010101" pitchFamily="2" charset="-122"/>
              </a:rPr>
              <a:t>缓存</a:t>
            </a:r>
          </a:p>
        </p:txBody>
      </p:sp>
      <p:pic>
        <p:nvPicPr>
          <p:cNvPr id="13" name="图片 12">
            <a:extLst>
              <a:ext uri="{FF2B5EF4-FFF2-40B4-BE49-F238E27FC236}">
                <a16:creationId xmlns:a16="http://schemas.microsoft.com/office/drawing/2014/main" id="{C9FD0D40-8CCC-4387-AA13-3F038D9EED89}"/>
              </a:ext>
            </a:extLst>
          </p:cNvPr>
          <p:cNvPicPr/>
          <p:nvPr/>
        </p:nvPicPr>
        <p:blipFill rotWithShape="1">
          <a:blip r:embed="rId3"/>
          <a:srcRect b="21164"/>
          <a:stretch/>
        </p:blipFill>
        <p:spPr>
          <a:xfrm>
            <a:off x="794456" y="1719053"/>
            <a:ext cx="4586777" cy="1919304"/>
          </a:xfrm>
          <a:prstGeom prst="rect">
            <a:avLst/>
          </a:prstGeom>
        </p:spPr>
      </p:pic>
      <p:sp>
        <p:nvSpPr>
          <p:cNvPr id="3" name="文本框 2">
            <a:extLst>
              <a:ext uri="{FF2B5EF4-FFF2-40B4-BE49-F238E27FC236}">
                <a16:creationId xmlns:a16="http://schemas.microsoft.com/office/drawing/2014/main" id="{46E32BE9-CDA8-4F16-A564-137B85B2F0CE}"/>
              </a:ext>
            </a:extLst>
          </p:cNvPr>
          <p:cNvSpPr txBox="1"/>
          <p:nvPr/>
        </p:nvSpPr>
        <p:spPr>
          <a:xfrm>
            <a:off x="5507861" y="1140303"/>
            <a:ext cx="5666936" cy="3351367"/>
          </a:xfrm>
          <a:prstGeom prst="rect">
            <a:avLst/>
          </a:prstGeom>
          <a:noFill/>
        </p:spPr>
        <p:txBody>
          <a:bodyPr wrap="none" rtlCol="0">
            <a:spAutoFit/>
          </a:bodyPr>
          <a:lstStyle/>
          <a:p>
            <a:pPr algn="l">
              <a:lnSpc>
                <a:spcPct val="150000"/>
              </a:lnSpc>
            </a:pPr>
            <a:r>
              <a:rPr lang="zh-CN" altLang="en-US" i="0" dirty="0">
                <a:solidFill>
                  <a:srgbClr val="0F1115"/>
                </a:solidFill>
                <a:effectLst/>
                <a:latin typeface="楷体" panose="02010609060101010101" pitchFamily="49" charset="-122"/>
                <a:ea typeface="楷体" panose="02010609060101010101" pitchFamily="49" charset="-122"/>
              </a:rPr>
              <a:t>每个输入</a:t>
            </a:r>
            <a:r>
              <a:rPr lang="en-US" altLang="zh-CN" i="0" dirty="0">
                <a:solidFill>
                  <a:srgbClr val="0F1115"/>
                </a:solidFill>
                <a:effectLst/>
                <a:latin typeface="楷体" panose="02010609060101010101" pitchFamily="49" charset="-122"/>
                <a:ea typeface="楷体" panose="02010609060101010101" pitchFamily="49" charset="-122"/>
              </a:rPr>
              <a:t>Token</a:t>
            </a:r>
            <a:r>
              <a:rPr lang="zh-CN" altLang="en-US" i="0" dirty="0">
                <a:solidFill>
                  <a:srgbClr val="0F1115"/>
                </a:solidFill>
                <a:effectLst/>
                <a:latin typeface="楷体" panose="02010609060101010101" pitchFamily="49" charset="-122"/>
                <a:ea typeface="楷体" panose="02010609060101010101" pitchFamily="49" charset="-122"/>
              </a:rPr>
              <a:t>会生成一对向量：</a:t>
            </a:r>
          </a:p>
          <a:p>
            <a:pPr algn="l">
              <a:lnSpc>
                <a:spcPct val="150000"/>
              </a:lnSpc>
              <a:buFont typeface="Arial" panose="020B0604020202020204" pitchFamily="34" charset="0"/>
              <a:buChar char="•"/>
            </a:pPr>
            <a:r>
              <a:rPr lang="en-US" altLang="zh-CN" i="0" dirty="0">
                <a:solidFill>
                  <a:srgbClr val="0F1115"/>
                </a:solidFill>
                <a:effectLst/>
                <a:latin typeface="楷体" panose="02010609060101010101" pitchFamily="49" charset="-122"/>
                <a:ea typeface="楷体" panose="02010609060101010101" pitchFamily="49" charset="-122"/>
              </a:rPr>
              <a:t> Key</a:t>
            </a:r>
            <a:r>
              <a:rPr lang="zh-CN" altLang="en-US" i="0" dirty="0">
                <a:solidFill>
                  <a:srgbClr val="0F1115"/>
                </a:solidFill>
                <a:effectLst/>
                <a:latin typeface="楷体" panose="02010609060101010101" pitchFamily="49" charset="-122"/>
                <a:ea typeface="楷体" panose="02010609060101010101" pitchFamily="49" charset="-122"/>
              </a:rPr>
              <a:t>：</a:t>
            </a:r>
            <a:r>
              <a:rPr lang="zh-CN" altLang="en-US" i="0" dirty="0">
                <a:solidFill>
                  <a:srgbClr val="191B1F"/>
                </a:solidFill>
                <a:effectLst/>
                <a:latin typeface="楷体" panose="02010609060101010101" pitchFamily="49" charset="-122"/>
                <a:ea typeface="楷体" panose="02010609060101010101" pitchFamily="49" charset="-122"/>
              </a:rPr>
              <a:t>作为一个可被查询的“标签”</a:t>
            </a:r>
            <a:r>
              <a:rPr lang="zh-CN" altLang="en-US" i="0" dirty="0">
                <a:solidFill>
                  <a:srgbClr val="0F1115"/>
                </a:solidFill>
                <a:effectLst/>
                <a:latin typeface="楷体" panose="02010609060101010101" pitchFamily="49" charset="-122"/>
                <a:ea typeface="楷体" panose="02010609060101010101" pitchFamily="49" charset="-122"/>
              </a:rPr>
              <a:t>。</a:t>
            </a:r>
          </a:p>
          <a:p>
            <a:pPr algn="l">
              <a:lnSpc>
                <a:spcPct val="150000"/>
              </a:lnSpc>
              <a:buFont typeface="Arial" panose="020B0604020202020204" pitchFamily="34" charset="0"/>
              <a:buChar char="•"/>
            </a:pPr>
            <a:r>
              <a:rPr lang="en-US" altLang="zh-CN" i="0" dirty="0">
                <a:solidFill>
                  <a:srgbClr val="0F1115"/>
                </a:solidFill>
                <a:effectLst/>
                <a:latin typeface="楷体" panose="02010609060101010101" pitchFamily="49" charset="-122"/>
                <a:ea typeface="楷体" panose="02010609060101010101" pitchFamily="49" charset="-122"/>
              </a:rPr>
              <a:t> Value</a:t>
            </a:r>
            <a:r>
              <a:rPr lang="zh-CN" altLang="en-US" i="0" dirty="0">
                <a:solidFill>
                  <a:srgbClr val="0F1115"/>
                </a:solidFill>
                <a:effectLst/>
                <a:latin typeface="楷体" panose="02010609060101010101" pitchFamily="49" charset="-122"/>
                <a:ea typeface="楷体" panose="02010609060101010101" pitchFamily="49" charset="-122"/>
              </a:rPr>
              <a:t>：</a:t>
            </a:r>
            <a:r>
              <a:rPr lang="zh-CN" altLang="en-US" i="0" dirty="0">
                <a:solidFill>
                  <a:srgbClr val="191B1F"/>
                </a:solidFill>
                <a:effectLst/>
                <a:latin typeface="楷体" panose="02010609060101010101" pitchFamily="49" charset="-122"/>
                <a:ea typeface="楷体" panose="02010609060101010101" pitchFamily="49" charset="-122"/>
              </a:rPr>
              <a:t>包含着实际的信息</a:t>
            </a:r>
            <a:r>
              <a:rPr lang="zh-CN" altLang="en-US" i="0" dirty="0">
                <a:solidFill>
                  <a:srgbClr val="0F1115"/>
                </a:solidFill>
                <a:effectLst/>
                <a:latin typeface="楷体" panose="02010609060101010101" pitchFamily="49" charset="-122"/>
                <a:ea typeface="楷体" panose="02010609060101010101" pitchFamily="49" charset="-122"/>
              </a:rPr>
              <a:t>。</a:t>
            </a:r>
          </a:p>
          <a:p>
            <a:pPr algn="l">
              <a:lnSpc>
                <a:spcPct val="150000"/>
              </a:lnSpc>
            </a:pPr>
            <a:r>
              <a:rPr lang="en-US" altLang="zh-CN" i="0" dirty="0">
                <a:solidFill>
                  <a:srgbClr val="191B1F"/>
                </a:solidFill>
                <a:effectLst/>
                <a:latin typeface="楷体" panose="02010609060101010101" pitchFamily="49" charset="-122"/>
                <a:ea typeface="楷体" panose="02010609060101010101" pitchFamily="49" charset="-122"/>
              </a:rPr>
              <a:t>KV</a:t>
            </a:r>
            <a:r>
              <a:rPr lang="zh-CN" altLang="en-US" i="0" dirty="0">
                <a:solidFill>
                  <a:srgbClr val="191B1F"/>
                </a:solidFill>
                <a:effectLst/>
                <a:latin typeface="楷体" panose="02010609060101010101" pitchFamily="49" charset="-122"/>
                <a:ea typeface="楷体" panose="02010609060101010101" pitchFamily="49" charset="-122"/>
              </a:rPr>
              <a:t>缓存</a:t>
            </a:r>
            <a:r>
              <a:rPr lang="zh-CN" altLang="en-US" dirty="0">
                <a:solidFill>
                  <a:srgbClr val="191B1F"/>
                </a:solidFill>
                <a:latin typeface="楷体" panose="02010609060101010101" pitchFamily="49" charset="-122"/>
                <a:ea typeface="楷体" panose="02010609060101010101" pitchFamily="49" charset="-122"/>
              </a:rPr>
              <a:t>的</a:t>
            </a:r>
            <a:r>
              <a:rPr lang="zh-CN" altLang="en-US" i="0" dirty="0">
                <a:solidFill>
                  <a:srgbClr val="191B1F"/>
                </a:solidFill>
                <a:effectLst/>
                <a:latin typeface="楷体" panose="02010609060101010101" pitchFamily="49" charset="-122"/>
                <a:ea typeface="楷体" panose="02010609060101010101" pitchFamily="49" charset="-122"/>
              </a:rPr>
              <a:t>核心思想：将已经计算过的</a:t>
            </a:r>
            <a:r>
              <a:rPr lang="en-US" altLang="zh-CN" i="0" dirty="0">
                <a:solidFill>
                  <a:srgbClr val="191B1F"/>
                </a:solidFill>
                <a:effectLst/>
                <a:latin typeface="楷体" panose="02010609060101010101" pitchFamily="49" charset="-122"/>
                <a:ea typeface="楷体" panose="02010609060101010101" pitchFamily="49" charset="-122"/>
              </a:rPr>
              <a:t>Key</a:t>
            </a:r>
            <a:r>
              <a:rPr lang="zh-CN" altLang="en-US" i="0" dirty="0">
                <a:solidFill>
                  <a:srgbClr val="191B1F"/>
                </a:solidFill>
                <a:effectLst/>
                <a:latin typeface="楷体" panose="02010609060101010101" pitchFamily="49" charset="-122"/>
                <a:ea typeface="楷体" panose="02010609060101010101" pitchFamily="49" charset="-122"/>
              </a:rPr>
              <a:t>和</a:t>
            </a:r>
            <a:r>
              <a:rPr lang="en-US" altLang="zh-CN" i="0" dirty="0">
                <a:solidFill>
                  <a:srgbClr val="191B1F"/>
                </a:solidFill>
                <a:effectLst/>
                <a:latin typeface="楷体" panose="02010609060101010101" pitchFamily="49" charset="-122"/>
                <a:ea typeface="楷体" panose="02010609060101010101" pitchFamily="49" charset="-122"/>
              </a:rPr>
              <a:t>Value</a:t>
            </a:r>
            <a:r>
              <a:rPr lang="zh-CN" altLang="en-US" i="0" dirty="0">
                <a:solidFill>
                  <a:srgbClr val="191B1F"/>
                </a:solidFill>
                <a:effectLst/>
                <a:latin typeface="楷体" panose="02010609060101010101" pitchFamily="49" charset="-122"/>
                <a:ea typeface="楷体" panose="02010609060101010101" pitchFamily="49" charset="-122"/>
              </a:rPr>
              <a:t>向量</a:t>
            </a:r>
            <a:endParaRPr lang="en-US" altLang="zh-CN" i="0" dirty="0">
              <a:solidFill>
                <a:srgbClr val="191B1F"/>
              </a:solidFill>
              <a:effectLst/>
              <a:latin typeface="楷体" panose="02010609060101010101" pitchFamily="49" charset="-122"/>
              <a:ea typeface="楷体" panose="02010609060101010101" pitchFamily="49" charset="-122"/>
            </a:endParaRPr>
          </a:p>
          <a:p>
            <a:pPr algn="l">
              <a:lnSpc>
                <a:spcPct val="150000"/>
              </a:lnSpc>
            </a:pPr>
            <a:r>
              <a:rPr lang="zh-CN" altLang="en-US" i="0" dirty="0">
                <a:solidFill>
                  <a:srgbClr val="191B1F"/>
                </a:solidFill>
                <a:effectLst/>
                <a:latin typeface="楷体" panose="02010609060101010101" pitchFamily="49" charset="-122"/>
                <a:ea typeface="楷体" panose="02010609060101010101" pitchFamily="49" charset="-122"/>
              </a:rPr>
              <a:t>存储起来，避免重复计算。具有以下特点：</a:t>
            </a:r>
            <a:endParaRPr lang="en-US" altLang="zh-CN" dirty="0">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rPr>
              <a:t>计算依赖于所有之前的 </a:t>
            </a:r>
            <a:r>
              <a:rPr lang="en-US" altLang="zh-CN" dirty="0">
                <a:latin typeface="楷体" panose="02010609060101010101" pitchFamily="49" charset="-122"/>
                <a:ea typeface="楷体" panose="02010609060101010101" pitchFamily="49" charset="-122"/>
              </a:rPr>
              <a:t>token</a:t>
            </a:r>
          </a:p>
          <a:p>
            <a:pPr marL="285750" indent="-285750">
              <a:lnSpc>
                <a:spcPct val="150000"/>
              </a:lnSpc>
              <a:buFont typeface="Arial" panose="020B0604020202020204" pitchFamily="34" charset="0"/>
              <a:buChar char="•"/>
            </a:pPr>
            <a:r>
              <a:rPr lang="en-US" altLang="zh-CN" sz="1800" dirty="0" err="1">
                <a:effectLst/>
                <a:latin typeface="楷体" panose="02010609060101010101" pitchFamily="49" charset="-122"/>
                <a:ea typeface="楷体" panose="02010609060101010101" pitchFamily="49" charset="-122"/>
                <a:cs typeface="Times New Roman" panose="02020603050405020304" pitchFamily="18" charset="0"/>
              </a:rPr>
              <a:t>当前面的</a:t>
            </a:r>
            <a:r>
              <a:rPr lang="en-US" altLang="zh-CN" sz="1800" dirty="0">
                <a:effectLst/>
                <a:latin typeface="楷体" panose="02010609060101010101" pitchFamily="49" charset="-122"/>
                <a:ea typeface="楷体" panose="02010609060101010101" pitchFamily="49" charset="-122"/>
                <a:cs typeface="Times New Roman" panose="02020603050405020304" pitchFamily="18" charset="0"/>
              </a:rPr>
              <a:t> token </a:t>
            </a:r>
            <a:r>
              <a:rPr lang="en-US" altLang="zh-CN" sz="1800" dirty="0" err="1">
                <a:effectLst/>
                <a:latin typeface="楷体" panose="02010609060101010101" pitchFamily="49" charset="-122"/>
                <a:ea typeface="楷体" panose="02010609060101010101" pitchFamily="49" charset="-122"/>
                <a:cs typeface="Times New Roman" panose="02020603050405020304" pitchFamily="18" charset="0"/>
              </a:rPr>
              <a:t>相同，它们产生的</a:t>
            </a:r>
            <a:r>
              <a:rPr lang="en-US" altLang="zh-CN" sz="1800" dirty="0">
                <a:effectLst/>
                <a:latin typeface="楷体" panose="02010609060101010101" pitchFamily="49" charset="-122"/>
                <a:ea typeface="楷体" panose="02010609060101010101" pitchFamily="49" charset="-122"/>
                <a:cs typeface="Times New Roman" panose="02020603050405020304" pitchFamily="18" charset="0"/>
              </a:rPr>
              <a:t> KV </a:t>
            </a:r>
            <a:r>
              <a:rPr lang="en-US" altLang="zh-CN" sz="1800" dirty="0" err="1">
                <a:effectLst/>
                <a:latin typeface="楷体" panose="02010609060101010101" pitchFamily="49" charset="-122"/>
                <a:ea typeface="楷体" panose="02010609060101010101" pitchFamily="49" charset="-122"/>
                <a:cs typeface="Times New Roman" panose="02020603050405020304" pitchFamily="18" charset="0"/>
              </a:rPr>
              <a:t>缓存也相同</a:t>
            </a:r>
            <a:endParaRPr lang="en-US" altLang="zh-CN" sz="18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en-US" altLang="zh-CN" sz="1800" kern="0" dirty="0" err="1">
                <a:effectLst/>
                <a:latin typeface="楷体" panose="02010609060101010101" pitchFamily="49" charset="-122"/>
                <a:ea typeface="楷体" panose="02010609060101010101" pitchFamily="49" charset="-122"/>
                <a:cs typeface="Times New Roman" panose="02020603050405020304" pitchFamily="18" charset="0"/>
              </a:rPr>
              <a:t>需要大量内存</a:t>
            </a:r>
            <a:endParaRPr lang="zh-CN" altLang="en-US" dirty="0">
              <a:latin typeface="楷体" panose="02010609060101010101" pitchFamily="49" charset="-122"/>
              <a:ea typeface="楷体" panose="02010609060101010101" pitchFamily="49" charset="-122"/>
            </a:endParaRPr>
          </a:p>
        </p:txBody>
      </p:sp>
      <p:sp>
        <p:nvSpPr>
          <p:cNvPr id="4" name="文本框 3">
            <a:extLst>
              <a:ext uri="{FF2B5EF4-FFF2-40B4-BE49-F238E27FC236}">
                <a16:creationId xmlns:a16="http://schemas.microsoft.com/office/drawing/2014/main" id="{5076D2B5-00B7-428B-A911-FFE75D1ADE6A}"/>
              </a:ext>
            </a:extLst>
          </p:cNvPr>
          <p:cNvSpPr txBox="1"/>
          <p:nvPr/>
        </p:nvSpPr>
        <p:spPr>
          <a:xfrm>
            <a:off x="857513" y="4788569"/>
            <a:ext cx="10239713" cy="858377"/>
          </a:xfrm>
          <a:prstGeom prst="rect">
            <a:avLst/>
          </a:prstGeom>
          <a:noFill/>
        </p:spPr>
        <p:txBody>
          <a:bodyPr wrap="square" rtlCol="0">
            <a:spAutoFit/>
          </a:bodyPr>
          <a:lstStyle/>
          <a:p>
            <a:pPr>
              <a:lnSpc>
                <a:spcPct val="150000"/>
              </a:lnSpc>
            </a:pPr>
            <a:r>
              <a:rPr lang="en-US" altLang="zh-CN" sz="1800" kern="0" dirty="0" err="1">
                <a:effectLst/>
                <a:latin typeface="楷体" panose="02010609060101010101" pitchFamily="49" charset="-122"/>
                <a:ea typeface="楷体" panose="02010609060101010101" pitchFamily="49" charset="-122"/>
                <a:cs typeface="Times New Roman" panose="02020603050405020304" pitchFamily="18" charset="0"/>
              </a:rPr>
              <a:t>最近最少使用（LRU）策略</a:t>
            </a:r>
            <a:r>
              <a:rPr lang="zh-CN" altLang="en-US" sz="1800" kern="0" dirty="0">
                <a:effectLst/>
                <a:latin typeface="楷体" panose="02010609060101010101" pitchFamily="49" charset="-122"/>
                <a:ea typeface="楷体" panose="02010609060101010101" pitchFamily="49" charset="-122"/>
                <a:cs typeface="Times New Roman" panose="02020603050405020304" pitchFamily="18" charset="0"/>
              </a:rPr>
              <a:t>：</a:t>
            </a:r>
            <a:r>
              <a:rPr lang="en-US" altLang="zh-CN" sz="1800" kern="0" dirty="0" err="1">
                <a:effectLst/>
                <a:latin typeface="楷体" panose="02010609060101010101" pitchFamily="49" charset="-122"/>
                <a:ea typeface="楷体" panose="02010609060101010101" pitchFamily="49" charset="-122"/>
                <a:cs typeface="Times New Roman" panose="02020603050405020304" pitchFamily="18" charset="0"/>
              </a:rPr>
              <a:t>仅保留当前正在运行的批次中token的KV缓存，移除所有其他条目</a:t>
            </a:r>
            <a:r>
              <a:rPr lang="zh-CN" altLang="en-US" sz="1800" kern="0" dirty="0">
                <a:effectLst/>
                <a:latin typeface="楷体" panose="02010609060101010101" pitchFamily="49" charset="-122"/>
                <a:ea typeface="楷体" panose="02010609060101010101" pitchFamily="49" charset="-122"/>
                <a:cs typeface="Times New Roman" panose="02020603050405020304" pitchFamily="18" charset="0"/>
              </a:rPr>
              <a:t>；</a:t>
            </a:r>
            <a:endParaRPr lang="en-US" altLang="zh-CN" sz="1800" kern="0" dirty="0">
              <a:effectLst/>
              <a:latin typeface="楷体" panose="02010609060101010101" pitchFamily="49" charset="-122"/>
              <a:ea typeface="楷体" panose="02010609060101010101" pitchFamily="49" charset="-122"/>
              <a:cs typeface="Times New Roman" panose="02020603050405020304" pitchFamily="18" charset="0"/>
            </a:endParaRPr>
          </a:p>
          <a:p>
            <a:pPr>
              <a:lnSpc>
                <a:spcPct val="150000"/>
              </a:lnSpc>
            </a:pPr>
            <a:r>
              <a:rPr lang="en-US" altLang="zh-CN" sz="1800" kern="0" dirty="0" err="1">
                <a:effectLst/>
                <a:latin typeface="楷体" panose="02010609060101010101" pitchFamily="49" charset="-122"/>
                <a:ea typeface="楷体" panose="02010609060101010101" pitchFamily="49" charset="-122"/>
                <a:cs typeface="Times New Roman" panose="02020603050405020304" pitchFamily="18" charset="0"/>
              </a:rPr>
              <a:t>最长前缀匹配（LPM</a:t>
            </a:r>
            <a:r>
              <a:rPr lang="en-US" altLang="zh-CN" sz="1800" kern="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en-US" kern="0" dirty="0">
                <a:latin typeface="楷体" panose="02010609060101010101" pitchFamily="49" charset="-122"/>
                <a:ea typeface="楷体" panose="02010609060101010101" pitchFamily="49" charset="-122"/>
                <a:cs typeface="Times New Roman" panose="02020603050405020304" pitchFamily="18" charset="0"/>
              </a:rPr>
              <a:t>策略：优先处理与已缓存内容共享最长连续前缀的请求。</a:t>
            </a: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03555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33C1-3A47-9E67-87BE-C72239F124A6}"/>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82A02862-BBB9-B70C-E8AF-976220236534}"/>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1D98A0C6-912B-8B24-3BEB-1CDB717B50D3}"/>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1E2FC15-751D-17CE-EB3D-8D38C58AB00F}"/>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3FCF4D95-0D5E-2859-D6E2-7FE8D8C9F193}"/>
              </a:ext>
            </a:extLst>
          </p:cNvPr>
          <p:cNvSpPr txBox="1"/>
          <p:nvPr/>
        </p:nvSpPr>
        <p:spPr>
          <a:xfrm>
            <a:off x="857513" y="545564"/>
            <a:ext cx="10946591" cy="523220"/>
          </a:xfrm>
          <a:prstGeom prst="rect">
            <a:avLst/>
          </a:prstGeom>
          <a:noFill/>
        </p:spPr>
        <p:txBody>
          <a:bodyPr wrap="square" rtlCol="0">
            <a:spAutoFit/>
          </a:bodyPr>
          <a:lstStyle/>
          <a:p>
            <a:r>
              <a:rPr lang="en-US" altLang="zh-CN" sz="2800" b="1" dirty="0" err="1">
                <a:latin typeface="+mj-lt"/>
                <a:ea typeface="宋体" panose="02010600030101010101" pitchFamily="2" charset="-122"/>
                <a:cs typeface="宋体" panose="02010600030101010101" pitchFamily="2" charset="-122"/>
              </a:rPr>
              <a:t>PromptPeek</a:t>
            </a:r>
            <a:r>
              <a:rPr lang="zh-CN" altLang="en-US" sz="2800" b="1" dirty="0">
                <a:latin typeface="+mj-lt"/>
                <a:ea typeface="宋体" panose="02010600030101010101" pitchFamily="2" charset="-122"/>
                <a:cs typeface="宋体" panose="02010600030101010101" pitchFamily="2" charset="-122"/>
              </a:rPr>
              <a:t>方法</a:t>
            </a:r>
          </a:p>
        </p:txBody>
      </p:sp>
      <p:sp>
        <p:nvSpPr>
          <p:cNvPr id="10" name="文本框 9">
            <a:extLst>
              <a:ext uri="{FF2B5EF4-FFF2-40B4-BE49-F238E27FC236}">
                <a16:creationId xmlns:a16="http://schemas.microsoft.com/office/drawing/2014/main" id="{45857DF0-23FB-405E-A9AF-A2F6376B139F}"/>
              </a:ext>
            </a:extLst>
          </p:cNvPr>
          <p:cNvSpPr txBox="1"/>
          <p:nvPr/>
        </p:nvSpPr>
        <p:spPr>
          <a:xfrm>
            <a:off x="258453" y="1201367"/>
            <a:ext cx="11953002" cy="4043864"/>
          </a:xfrm>
          <a:prstGeom prst="rect">
            <a:avLst/>
          </a:prstGeom>
          <a:noFill/>
        </p:spPr>
        <p:txBody>
          <a:bodyPr wrap="square">
            <a:spAutoFit/>
          </a:bodyPr>
          <a:lstStyle/>
          <a:p>
            <a:endParaRPr lang="en-US" altLang="zh-CN" kern="0" dirty="0">
              <a:latin typeface="等线" panose="02010600030101010101" pitchFamily="2" charset="-122"/>
              <a:ea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sz="1800" b="1" dirty="0">
                <a:effectLst/>
                <a:latin typeface="楷体" panose="02010609060101010101" pitchFamily="49" charset="-122"/>
                <a:ea typeface="楷体" panose="02010609060101010101" pitchFamily="49" charset="-122"/>
                <a:cs typeface="Times New Roman" panose="02020603050405020304" pitchFamily="18" charset="0"/>
              </a:rPr>
              <a:t>攻击模型</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：攻击者是</a:t>
            </a:r>
            <a:r>
              <a:rPr lang="en-US" altLang="zh-CN" sz="1800" dirty="0">
                <a:effectLst/>
                <a:latin typeface="楷体" panose="02010609060101010101" pitchFamily="49" charset="-122"/>
                <a:ea typeface="楷体" panose="02010609060101010101" pitchFamily="49" charset="-122"/>
                <a:cs typeface="Times New Roman" panose="02020603050405020304" pitchFamily="18" charset="0"/>
              </a:rPr>
              <a:t>一个普通</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的、</a:t>
            </a:r>
            <a:r>
              <a:rPr lang="en-US" altLang="zh-CN" sz="1800" kern="0" dirty="0">
                <a:effectLst/>
                <a:latin typeface="楷体" panose="02010609060101010101" pitchFamily="49" charset="-122"/>
                <a:ea typeface="楷体" panose="02010609060101010101" pitchFamily="49" charset="-122"/>
                <a:cs typeface="Times New Roman" panose="02020603050405020304" pitchFamily="18" charset="0"/>
              </a:rPr>
              <a:t>与受害者共享同一个LLM服务后端 </a:t>
            </a:r>
            <a:r>
              <a:rPr lang="en-US" altLang="zh-CN" sz="1800" dirty="0" err="1">
                <a:effectLst/>
                <a:latin typeface="楷体" panose="02010609060101010101" pitchFamily="49" charset="-122"/>
                <a:ea typeface="楷体" panose="02010609060101010101" pitchFamily="49" charset="-122"/>
                <a:cs typeface="Times New Roman" panose="02020603050405020304" pitchFamily="18" charset="0"/>
              </a:rPr>
              <a:t>API用户</a:t>
            </a:r>
            <a:r>
              <a:rPr lang="zh-CN" altLang="en-US" kern="0" dirty="0">
                <a:latin typeface="楷体" panose="02010609060101010101" pitchFamily="49" charset="-122"/>
                <a:ea typeface="楷体" panose="02010609060101010101" pitchFamily="49" charset="-122"/>
                <a:cs typeface="Times New Roman" panose="02020603050405020304" pitchFamily="18" charset="0"/>
              </a:rPr>
              <a:t>。</a:t>
            </a:r>
            <a:endParaRPr lang="en-US" altLang="zh-CN" sz="18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b="1" dirty="0">
                <a:latin typeface="楷体" panose="02010609060101010101" pitchFamily="49" charset="-122"/>
                <a:ea typeface="楷体" panose="02010609060101010101" pitchFamily="49" charset="-122"/>
                <a:cs typeface="Times New Roman" panose="02020603050405020304" pitchFamily="18" charset="0"/>
              </a:rPr>
              <a:t>攻击</a:t>
            </a:r>
            <a:r>
              <a:rPr lang="zh-CN" altLang="en-US" sz="1800" b="1" dirty="0">
                <a:effectLst/>
                <a:latin typeface="楷体" panose="02010609060101010101" pitchFamily="49" charset="-122"/>
                <a:ea typeface="楷体" panose="02010609060101010101" pitchFamily="49" charset="-122"/>
                <a:cs typeface="Times New Roman" panose="02020603050405020304" pitchFamily="18" charset="0"/>
              </a:rPr>
              <a:t>目标</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a:t>
            </a:r>
            <a:r>
              <a:rPr lang="en-US" altLang="zh-CN" sz="1800" dirty="0">
                <a:effectLst/>
                <a:latin typeface="楷体" panose="02010609060101010101" pitchFamily="49" charset="-122"/>
                <a:ea typeface="楷体" panose="02010609060101010101" pitchFamily="49" charset="-122"/>
                <a:cs typeface="Times New Roman" panose="02020603050405020304" pitchFamily="18" charset="0"/>
              </a:rPr>
              <a:t>窃取其他用户输入的Prompt</a:t>
            </a:r>
          </a:p>
          <a:p>
            <a:pPr marL="285750" indent="-285750">
              <a:lnSpc>
                <a:spcPct val="150000"/>
              </a:lnSpc>
              <a:buFont typeface="Arial" panose="020B0604020202020204" pitchFamily="34" charset="0"/>
              <a:buChar char="•"/>
            </a:pPr>
            <a:r>
              <a:rPr lang="zh-CN" altLang="en-US" sz="1800" b="1" dirty="0">
                <a:effectLst/>
                <a:latin typeface="楷体" panose="02010609060101010101" pitchFamily="49" charset="-122"/>
                <a:ea typeface="楷体" panose="02010609060101010101" pitchFamily="49" charset="-122"/>
                <a:cs typeface="Times New Roman" panose="02020603050405020304" pitchFamily="18" charset="0"/>
              </a:rPr>
              <a:t>利用漏洞</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a:t>
            </a:r>
            <a:r>
              <a:rPr lang="en-US" altLang="zh-CN" sz="1800" dirty="0">
                <a:effectLst/>
                <a:latin typeface="楷体" panose="02010609060101010101" pitchFamily="49" charset="-122"/>
                <a:ea typeface="楷体" panose="02010609060101010101" pitchFamily="49" charset="-122"/>
                <a:cs typeface="Times New Roman" panose="02020603050405020304" pitchFamily="18" charset="0"/>
              </a:rPr>
              <a:t>KV</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缓存共享与</a:t>
            </a:r>
            <a:r>
              <a:rPr lang="en-US" altLang="zh-CN" sz="1800" dirty="0">
                <a:effectLst/>
                <a:latin typeface="楷体" panose="02010609060101010101" pitchFamily="49" charset="-122"/>
                <a:ea typeface="楷体" panose="02010609060101010101" pitchFamily="49" charset="-122"/>
                <a:cs typeface="Times New Roman" panose="02020603050405020304" pitchFamily="18" charset="0"/>
              </a:rPr>
              <a:t>LPM</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a:t>
            </a:r>
            <a:r>
              <a:rPr lang="en-US" altLang="zh-CN" sz="1800" dirty="0">
                <a:effectLst/>
                <a:latin typeface="楷体" panose="02010609060101010101" pitchFamily="49" charset="-122"/>
                <a:ea typeface="楷体" panose="02010609060101010101" pitchFamily="49" charset="-122"/>
                <a:cs typeface="Times New Roman" panose="02020603050405020304" pitchFamily="18" charset="0"/>
              </a:rPr>
              <a:t>最长前缀匹配</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）调度策略。</a:t>
            </a:r>
            <a:r>
              <a:rPr lang="zh-CN" altLang="en-US" dirty="0">
                <a:latin typeface="楷体" panose="02010609060101010101" pitchFamily="49" charset="-122"/>
                <a:ea typeface="楷体" panose="02010609060101010101" pitchFamily="49" charset="-122"/>
                <a:cs typeface="Times New Roman" panose="02020603050405020304" pitchFamily="18" charset="0"/>
              </a:rPr>
              <a:t>即，</a:t>
            </a:r>
            <a:r>
              <a:rPr lang="en-US" altLang="zh-CN" sz="1800" dirty="0">
                <a:effectLst/>
                <a:latin typeface="楷体" panose="02010609060101010101" pitchFamily="49" charset="-122"/>
                <a:ea typeface="楷体" panose="02010609060101010101" pitchFamily="49" charset="-122"/>
                <a:cs typeface="Times New Roman" panose="02020603050405020304" pitchFamily="18" charset="0"/>
              </a:rPr>
              <a:t>匹配成功的请求</a:t>
            </a:r>
            <a:r>
              <a:rPr lang="zh-CN" altLang="en-US" dirty="0">
                <a:latin typeface="楷体" panose="02010609060101010101" pitchFamily="49" charset="-122"/>
                <a:ea typeface="楷体" panose="02010609060101010101" pitchFamily="49" charset="-122"/>
                <a:cs typeface="Times New Roman" panose="02020603050405020304" pitchFamily="18" charset="0"/>
              </a:rPr>
              <a:t>的</a:t>
            </a:r>
            <a:r>
              <a:rPr lang="en-US" altLang="zh-CN" sz="1800" dirty="0">
                <a:effectLst/>
                <a:latin typeface="楷体" panose="02010609060101010101" pitchFamily="49" charset="-122"/>
                <a:ea typeface="楷体" panose="02010609060101010101" pitchFamily="49" charset="-122"/>
                <a:cs typeface="Times New Roman" panose="02020603050405020304" pitchFamily="18" charset="0"/>
              </a:rPr>
              <a:t>响应顺序会被提前</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a:t>
            </a: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a:lnSpc>
                <a:spcPct val="150000"/>
              </a:lnSpc>
            </a:pP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en-US" altLang="zh-CN" sz="1800" b="1" dirty="0">
                <a:effectLst/>
                <a:latin typeface="楷体" panose="02010609060101010101" pitchFamily="49" charset="-122"/>
                <a:ea typeface="楷体" panose="02010609060101010101" pitchFamily="49" charset="-122"/>
                <a:cs typeface="Times New Roman" panose="02020603050405020304" pitchFamily="18" charset="0"/>
              </a:rPr>
              <a:t>三种常见场景</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a:t>
            </a:r>
            <a:endParaRPr lang="en-US" altLang="zh-CN" sz="1800" dirty="0">
              <a:effectLst/>
              <a:latin typeface="楷体" panose="02010609060101010101" pitchFamily="49" charset="-122"/>
              <a:ea typeface="楷体" panose="02010609060101010101" pitchFamily="49" charset="-122"/>
              <a:cs typeface="Times New Roman" panose="02020603050405020304" pitchFamily="18" charset="0"/>
            </a:endParaRPr>
          </a:p>
          <a:p>
            <a:pPr lvl="1">
              <a:lnSpc>
                <a:spcPct val="150000"/>
              </a:lnSpc>
            </a:pPr>
            <a:r>
              <a:rPr lang="en-US" altLang="zh-CN" dirty="0">
                <a:effectLst/>
                <a:latin typeface="楷体" panose="02010609060101010101" pitchFamily="49" charset="-122"/>
                <a:ea typeface="楷体" panose="02010609060101010101" pitchFamily="49" charset="-122"/>
                <a:cs typeface="Times New Roman" panose="02020603050405020304" pitchFamily="18" charset="0"/>
              </a:rPr>
              <a:t>	全提示词重建——攻击者对受害用户或提示词没有任何先验知识；</a:t>
            </a:r>
          </a:p>
          <a:p>
            <a:pPr lvl="1">
              <a:lnSpc>
                <a:spcPct val="150000"/>
              </a:lnSpc>
            </a:pPr>
            <a:r>
              <a:rPr lang="en-US" altLang="zh-CN" dirty="0">
                <a:effectLst/>
                <a:latin typeface="楷体" panose="02010609060101010101" pitchFamily="49" charset="-122"/>
                <a:ea typeface="楷体" panose="02010609060101010101" pitchFamily="49" charset="-122"/>
                <a:cs typeface="Times New Roman" panose="02020603050405020304" pitchFamily="18" charset="0"/>
              </a:rPr>
              <a:t>	输入重建——攻击者拥有用户提示词模板的额外知识，并试图重建用户的具体输入，</a:t>
            </a:r>
          </a:p>
          <a:p>
            <a:pPr lvl="1">
              <a:lnSpc>
                <a:spcPct val="150000"/>
              </a:lnSpc>
            </a:pPr>
            <a:r>
              <a:rPr lang="en-US" altLang="zh-CN" dirty="0">
                <a:effectLst/>
                <a:latin typeface="楷体" panose="02010609060101010101" pitchFamily="49" charset="-122"/>
                <a:ea typeface="楷体" panose="02010609060101010101" pitchFamily="49" charset="-122"/>
                <a:cs typeface="Times New Roman" panose="02020603050405020304" pitchFamily="18" charset="0"/>
              </a:rPr>
              <a:t>如填空式提示、前缀式提示；</a:t>
            </a:r>
          </a:p>
          <a:p>
            <a:pPr lvl="1">
              <a:lnSpc>
                <a:spcPct val="150000"/>
              </a:lnSpc>
            </a:pPr>
            <a:r>
              <a:rPr lang="en-US" altLang="zh-CN" dirty="0">
                <a:effectLst/>
                <a:latin typeface="楷体" panose="02010609060101010101" pitchFamily="49" charset="-122"/>
                <a:ea typeface="楷体" panose="02010609060101010101" pitchFamily="49" charset="-122"/>
                <a:cs typeface="Times New Roman" panose="02020603050405020304" pitchFamily="18" charset="0"/>
              </a:rPr>
              <a:t>	模板重建——</a:t>
            </a:r>
            <a:r>
              <a:rPr lang="en-US" altLang="zh-CN" dirty="0" err="1">
                <a:effectLst/>
                <a:latin typeface="楷体" panose="02010609060101010101" pitchFamily="49" charset="-122"/>
                <a:ea typeface="楷体" panose="02010609060101010101" pitchFamily="49" charset="-122"/>
                <a:cs typeface="Times New Roman" panose="02020603050405020304" pitchFamily="18" charset="0"/>
              </a:rPr>
              <a:t>输入已知，模板未知</a:t>
            </a:r>
            <a:r>
              <a:rPr lang="zh-CN" altLang="en-US" dirty="0">
                <a:latin typeface="楷体" panose="02010609060101010101" pitchFamily="49" charset="-122"/>
                <a:ea typeface="楷体" panose="02010609060101010101" pitchFamily="49" charset="-122"/>
                <a:cs typeface="Times New Roman" panose="02020603050405020304" pitchFamily="18" charset="0"/>
              </a:rPr>
              <a:t>。</a:t>
            </a: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574521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33C1-3A47-9E67-87BE-C72239F124A6}"/>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1EEFB706-2B40-4C57-B0D6-9AB036ABC8F5}"/>
              </a:ext>
            </a:extLst>
          </p:cNvPr>
          <p:cNvPicPr/>
          <p:nvPr/>
        </p:nvPicPr>
        <p:blipFill rotWithShape="1">
          <a:blip r:embed="rId2"/>
          <a:srcRect b="16740"/>
          <a:stretch/>
        </p:blipFill>
        <p:spPr>
          <a:xfrm>
            <a:off x="7078264" y="1068784"/>
            <a:ext cx="5113736" cy="2069746"/>
          </a:xfrm>
          <a:prstGeom prst="rect">
            <a:avLst/>
          </a:prstGeom>
        </p:spPr>
      </p:pic>
      <p:sp>
        <p:nvSpPr>
          <p:cNvPr id="33" name="矩形 32">
            <a:extLst>
              <a:ext uri="{FF2B5EF4-FFF2-40B4-BE49-F238E27FC236}">
                <a16:creationId xmlns:a16="http://schemas.microsoft.com/office/drawing/2014/main" id="{82A02862-BBB9-B70C-E8AF-976220236534}"/>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1D98A0C6-912B-8B24-3BEB-1CDB717B50D3}"/>
              </a:ext>
            </a:extLst>
          </p:cNvPr>
          <p:cNvPicPr>
            <a:picLocks noChangeAspect="1"/>
          </p:cNvPicPr>
          <p:nvPr/>
        </p:nvPicPr>
        <p:blipFill>
          <a:blip r:embed="rId3"/>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1E2FC15-751D-17CE-EB3D-8D38C58AB00F}"/>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3FCF4D95-0D5E-2859-D6E2-7FE8D8C9F193}"/>
              </a:ext>
            </a:extLst>
          </p:cNvPr>
          <p:cNvSpPr txBox="1"/>
          <p:nvPr/>
        </p:nvSpPr>
        <p:spPr>
          <a:xfrm>
            <a:off x="857513" y="545564"/>
            <a:ext cx="10946591" cy="523220"/>
          </a:xfrm>
          <a:prstGeom prst="rect">
            <a:avLst/>
          </a:prstGeom>
          <a:noFill/>
        </p:spPr>
        <p:txBody>
          <a:bodyPr wrap="square" rtlCol="0">
            <a:spAutoFit/>
          </a:bodyPr>
          <a:lstStyle/>
          <a:p>
            <a:r>
              <a:rPr lang="en-US" altLang="zh-CN" sz="2800" b="1" dirty="0">
                <a:latin typeface="+mj-lt"/>
                <a:ea typeface="宋体" panose="02010600030101010101" pitchFamily="2" charset="-122"/>
                <a:cs typeface="宋体" panose="02010600030101010101" pitchFamily="2" charset="-122"/>
              </a:rPr>
              <a:t>Token</a:t>
            </a:r>
            <a:r>
              <a:rPr lang="zh-CN" altLang="en-US" sz="2800" b="1" dirty="0">
                <a:latin typeface="+mj-lt"/>
                <a:ea typeface="宋体" panose="02010600030101010101" pitchFamily="2" charset="-122"/>
                <a:cs typeface="宋体" panose="02010600030101010101" pitchFamily="2" charset="-122"/>
              </a:rPr>
              <a:t>提取</a:t>
            </a:r>
          </a:p>
        </p:txBody>
      </p:sp>
      <p:sp>
        <p:nvSpPr>
          <p:cNvPr id="7" name="文本框 6">
            <a:extLst>
              <a:ext uri="{FF2B5EF4-FFF2-40B4-BE49-F238E27FC236}">
                <a16:creationId xmlns:a16="http://schemas.microsoft.com/office/drawing/2014/main" id="{ACE8AB25-DF4F-4FD3-B147-2B846E2926CA}"/>
              </a:ext>
            </a:extLst>
          </p:cNvPr>
          <p:cNvSpPr txBox="1"/>
          <p:nvPr/>
        </p:nvSpPr>
        <p:spPr>
          <a:xfrm>
            <a:off x="484534" y="1305112"/>
            <a:ext cx="11119924" cy="4182363"/>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生成攻击批次：</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攻击者基于已知前缀生成多个候选的</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algn="just">
              <a:lnSpc>
                <a:spcPct val="150000"/>
              </a:lnSpc>
            </a:pP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，同时生成一个极不可能的</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作为</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dummy 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a:t>
            </a:r>
          </a:p>
          <a:p>
            <a:pPr marL="285750" indent="-285750" algn="just">
              <a:lnSpc>
                <a:spcPct val="150000"/>
              </a:lnSpc>
              <a:buFont typeface="Arial" panose="020B0604020202020204" pitchFamily="34" charset="0"/>
              <a:buChar char="•"/>
            </a:pP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发送攻击批次：</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algn="just">
              <a:lnSpc>
                <a:spcPct val="150000"/>
              </a:lnSpc>
            </a:pPr>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攻击者按顺序发送</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dummy</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请求——候选请求——</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dummy</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请求</a:t>
            </a:r>
          </a:p>
          <a:p>
            <a:pPr marL="285750" indent="-285750" algn="just">
              <a:lnSpc>
                <a:spcPct val="150000"/>
              </a:lnSpc>
              <a:buFont typeface="Arial" panose="020B0604020202020204" pitchFamily="34" charset="0"/>
              <a:buChar char="•"/>
            </a:pP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大语言模型的系统调度策略开始工作。</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algn="just">
              <a:lnSpc>
                <a:spcPct val="150000"/>
              </a:lnSpc>
            </a:pPr>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根据</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LPM</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策略，</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等待队列中与</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GPU</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内存中受害者的缓存完全匹配</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的请求会被优先调度，</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algn="just">
              <a:lnSpc>
                <a:spcPct val="150000"/>
              </a:lnSpc>
            </a:pPr>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插队到第二批</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dummy</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请求之前执行。</a:t>
            </a:r>
          </a:p>
          <a:p>
            <a:pPr marL="285750" indent="-285750" algn="just">
              <a:lnSpc>
                <a:spcPct val="150000"/>
              </a:lnSpc>
              <a:buFont typeface="Arial" panose="020B0604020202020204" pitchFamily="34" charset="0"/>
              <a:buChar char="•"/>
            </a:pP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观察结果</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endParaRPr lang="en-US" altLang="zh-CN" kern="100" dirty="0">
              <a:latin typeface="楷体" panose="02010609060101010101" pitchFamily="49" charset="-122"/>
              <a:ea typeface="楷体" panose="02010609060101010101" pitchFamily="49" charset="-122"/>
              <a:cs typeface="Times New Roman" panose="02020603050405020304" pitchFamily="18" charset="0"/>
            </a:endParaRPr>
          </a:p>
          <a:p>
            <a:pPr lvl="1" algn="just">
              <a:lnSpc>
                <a:spcPct val="150000"/>
              </a:lnSpc>
            </a:pPr>
            <a:r>
              <a:rPr lang="en-US" altLang="zh-CN" kern="100" dirty="0">
                <a:effectLst/>
                <a:latin typeface="楷体" panose="02010609060101010101" pitchFamily="49" charset="-122"/>
                <a:ea typeface="楷体" panose="02010609060101010101" pitchFamily="49" charset="-122"/>
                <a:cs typeface="Times New Roman" panose="02020603050405020304" pitchFamily="18" charset="0"/>
              </a:rPr>
              <a:t>	</a:t>
            </a:r>
            <a:r>
              <a:rPr lang="zh-CN" altLang="en-US" kern="100" dirty="0">
                <a:effectLst/>
                <a:latin typeface="楷体" panose="02010609060101010101" pitchFamily="49" charset="-122"/>
                <a:ea typeface="楷体" panose="02010609060101010101" pitchFamily="49" charset="-122"/>
                <a:cs typeface="Times New Roman" panose="02020603050405020304" pitchFamily="18" charset="0"/>
              </a:rPr>
              <a:t>若</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匹配发生</a:t>
            </a:r>
            <a:r>
              <a:rPr lang="zh-CN" altLang="en-US" kern="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返回请求顺序为第一批</a:t>
            </a:r>
            <a:r>
              <a:rPr lang="en-US" altLang="zh-CN" kern="100" dirty="0">
                <a:effectLst/>
                <a:latin typeface="楷体" panose="02010609060101010101" pitchFamily="49" charset="-122"/>
                <a:ea typeface="楷体" panose="02010609060101010101" pitchFamily="49" charset="-122"/>
                <a:cs typeface="Times New Roman" panose="02020603050405020304" pitchFamily="18" charset="0"/>
              </a:rPr>
              <a:t>dummy</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请求、匹配请求、第二批</a:t>
            </a:r>
            <a:r>
              <a:rPr lang="en-US" altLang="zh-CN" kern="100" dirty="0">
                <a:effectLst/>
                <a:latin typeface="楷体" panose="02010609060101010101" pitchFamily="49" charset="-122"/>
                <a:ea typeface="楷体" panose="02010609060101010101" pitchFamily="49" charset="-122"/>
                <a:cs typeface="Times New Roman" panose="02020603050405020304" pitchFamily="18" charset="0"/>
              </a:rPr>
              <a:t>dummy</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请求、剩余的候选请求；</a:t>
            </a:r>
          </a:p>
          <a:p>
            <a:pPr lvl="1" algn="just">
              <a:lnSpc>
                <a:spcPct val="150000"/>
              </a:lnSpc>
            </a:pPr>
            <a:r>
              <a:rPr lang="en-US" altLang="zh-CN" kern="100" dirty="0">
                <a:effectLst/>
                <a:latin typeface="楷体" panose="02010609060101010101" pitchFamily="49" charset="-122"/>
                <a:ea typeface="楷体" panose="02010609060101010101" pitchFamily="49" charset="-122"/>
                <a:cs typeface="Times New Roman" panose="02020603050405020304" pitchFamily="18" charset="0"/>
              </a:rPr>
              <a:t>    </a:t>
            </a:r>
            <a:r>
              <a:rPr lang="zh-CN" altLang="en-US" kern="100" dirty="0">
                <a:effectLst/>
                <a:latin typeface="楷体" panose="02010609060101010101" pitchFamily="49" charset="-122"/>
                <a:ea typeface="楷体" panose="02010609060101010101" pitchFamily="49" charset="-122"/>
                <a:cs typeface="Times New Roman" panose="02020603050405020304" pitchFamily="18" charset="0"/>
              </a:rPr>
              <a:t>若</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匹配未发生</a:t>
            </a:r>
            <a:r>
              <a:rPr lang="zh-CN" altLang="en-US" kern="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返回请求顺序为第一批</a:t>
            </a:r>
            <a:r>
              <a:rPr lang="en-US" altLang="zh-CN" kern="100" dirty="0">
                <a:effectLst/>
                <a:latin typeface="楷体" panose="02010609060101010101" pitchFamily="49" charset="-122"/>
                <a:ea typeface="楷体" panose="02010609060101010101" pitchFamily="49" charset="-122"/>
                <a:cs typeface="Times New Roman" panose="02020603050405020304" pitchFamily="18" charset="0"/>
              </a:rPr>
              <a:t>dummy</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请求、第二批</a:t>
            </a:r>
            <a:r>
              <a:rPr lang="en-US" altLang="zh-CN" kern="100" dirty="0">
                <a:effectLst/>
                <a:latin typeface="楷体" panose="02010609060101010101" pitchFamily="49" charset="-122"/>
                <a:ea typeface="楷体" panose="02010609060101010101" pitchFamily="49" charset="-122"/>
                <a:cs typeface="Times New Roman" panose="02020603050405020304" pitchFamily="18" charset="0"/>
              </a:rPr>
              <a:t>dummy</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请求、所有候选请求。</a:t>
            </a:r>
          </a:p>
        </p:txBody>
      </p:sp>
    </p:spTree>
    <p:extLst>
      <p:ext uri="{BB962C8B-B14F-4D97-AF65-F5344CB8AC3E}">
        <p14:creationId xmlns:p14="http://schemas.microsoft.com/office/powerpoint/2010/main" val="172028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33C1-3A47-9E67-87BE-C72239F124A6}"/>
            </a:ext>
          </a:extLst>
        </p:cNvPr>
        <p:cNvGrpSpPr/>
        <p:nvPr/>
      </p:nvGrpSpPr>
      <p:grpSpPr>
        <a:xfrm>
          <a:off x="0" y="0"/>
          <a:ext cx="0" cy="0"/>
          <a:chOff x="0" y="0"/>
          <a:chExt cx="0" cy="0"/>
        </a:xfrm>
      </p:grpSpPr>
      <p:pic>
        <p:nvPicPr>
          <p:cNvPr id="8" name="图片 7">
            <a:extLst>
              <a:ext uri="{FF2B5EF4-FFF2-40B4-BE49-F238E27FC236}">
                <a16:creationId xmlns:a16="http://schemas.microsoft.com/office/drawing/2014/main" id="{26147F1D-EF24-453F-AB34-EE2F033649C9}"/>
              </a:ext>
            </a:extLst>
          </p:cNvPr>
          <p:cNvPicPr/>
          <p:nvPr/>
        </p:nvPicPr>
        <p:blipFill rotWithShape="1">
          <a:blip r:embed="rId2"/>
          <a:srcRect b="15017"/>
          <a:stretch/>
        </p:blipFill>
        <p:spPr>
          <a:xfrm>
            <a:off x="7086601" y="1833630"/>
            <a:ext cx="4969043" cy="2630085"/>
          </a:xfrm>
          <a:prstGeom prst="rect">
            <a:avLst/>
          </a:prstGeom>
        </p:spPr>
      </p:pic>
      <p:sp>
        <p:nvSpPr>
          <p:cNvPr id="33" name="矩形 32">
            <a:extLst>
              <a:ext uri="{FF2B5EF4-FFF2-40B4-BE49-F238E27FC236}">
                <a16:creationId xmlns:a16="http://schemas.microsoft.com/office/drawing/2014/main" id="{82A02862-BBB9-B70C-E8AF-976220236534}"/>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1D98A0C6-912B-8B24-3BEB-1CDB717B50D3}"/>
              </a:ext>
            </a:extLst>
          </p:cNvPr>
          <p:cNvPicPr>
            <a:picLocks noChangeAspect="1"/>
          </p:cNvPicPr>
          <p:nvPr/>
        </p:nvPicPr>
        <p:blipFill>
          <a:blip r:embed="rId3"/>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1E2FC15-751D-17CE-EB3D-8D38C58AB00F}"/>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3FCF4D95-0D5E-2859-D6E2-7FE8D8C9F193}"/>
              </a:ext>
            </a:extLst>
          </p:cNvPr>
          <p:cNvSpPr txBox="1"/>
          <p:nvPr/>
        </p:nvSpPr>
        <p:spPr>
          <a:xfrm>
            <a:off x="857513" y="545564"/>
            <a:ext cx="10946591" cy="523220"/>
          </a:xfrm>
          <a:prstGeom prst="rect">
            <a:avLst/>
          </a:prstGeom>
          <a:noFill/>
        </p:spPr>
        <p:txBody>
          <a:bodyPr wrap="square" rtlCol="0">
            <a:spAutoFit/>
          </a:bodyPr>
          <a:lstStyle/>
          <a:p>
            <a:r>
              <a:rPr lang="en-US" altLang="zh-CN" sz="2800" b="1" dirty="0">
                <a:latin typeface="+mj-lt"/>
                <a:ea typeface="宋体" panose="02010600030101010101" pitchFamily="2" charset="-122"/>
                <a:cs typeface="宋体" panose="02010600030101010101" pitchFamily="2" charset="-122"/>
              </a:rPr>
              <a:t>Prompt</a:t>
            </a:r>
            <a:r>
              <a:rPr lang="zh-CN" altLang="en-US" sz="2800" b="1" dirty="0">
                <a:latin typeface="+mj-lt"/>
                <a:ea typeface="宋体" panose="02010600030101010101" pitchFamily="2" charset="-122"/>
                <a:cs typeface="宋体" panose="02010600030101010101" pitchFamily="2" charset="-122"/>
              </a:rPr>
              <a:t>重建</a:t>
            </a:r>
          </a:p>
        </p:txBody>
      </p:sp>
      <p:sp>
        <p:nvSpPr>
          <p:cNvPr id="7" name="文本框 6">
            <a:extLst>
              <a:ext uri="{FF2B5EF4-FFF2-40B4-BE49-F238E27FC236}">
                <a16:creationId xmlns:a16="http://schemas.microsoft.com/office/drawing/2014/main" id="{7D7E1F1B-7EF5-4454-A54D-FBACDF2FDE71}"/>
              </a:ext>
            </a:extLst>
          </p:cNvPr>
          <p:cNvSpPr txBox="1"/>
          <p:nvPr/>
        </p:nvSpPr>
        <p:spPr>
          <a:xfrm>
            <a:off x="297781" y="1833630"/>
            <a:ext cx="6788820" cy="2520370"/>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将上述操作作为循环单元重建整个</a:t>
            </a:r>
            <a:r>
              <a:rPr lang="en-US" altLang="zh-CN" kern="100" dirty="0">
                <a:effectLst/>
                <a:latin typeface="楷体" panose="02010609060101010101" pitchFamily="49" charset="-122"/>
                <a:ea typeface="楷体" panose="02010609060101010101" pitchFamily="49" charset="-122"/>
                <a:cs typeface="Times New Roman" panose="02020603050405020304" pitchFamily="18" charset="0"/>
              </a:rPr>
              <a:t>Prompt</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a:t>
            </a:r>
            <a:endParaRPr lang="en-US" altLang="zh-CN"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关键问题为</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决定何时完成一个</a:t>
            </a:r>
            <a:r>
              <a:rPr lang="en-US" altLang="zh-CN" kern="0" dirty="0">
                <a:effectLst/>
                <a:latin typeface="楷体" panose="02010609060101010101" pitchFamily="49" charset="-122"/>
                <a:ea typeface="楷体" panose="02010609060101010101" pitchFamily="49" charset="-122"/>
                <a:cs typeface="Times New Roman" panose="02020603050405020304" pitchFamily="18" charset="0"/>
              </a:rPr>
              <a:t>prompt</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的重建</a:t>
            </a:r>
            <a:r>
              <a:rPr lang="zh-CN" altLang="en-US" kern="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并切换到另一个。</a:t>
            </a:r>
            <a:endParaRPr lang="zh-CN" altLang="zh-CN"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kern="0" dirty="0">
                <a:latin typeface="楷体" panose="02010609060101010101" pitchFamily="49" charset="-122"/>
                <a:ea typeface="楷体" panose="02010609060101010101" pitchFamily="49" charset="-122"/>
                <a:cs typeface="Times New Roman" panose="02020603050405020304" pitchFamily="18" charset="0"/>
              </a:rPr>
              <a:t>决定：</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根据</a:t>
            </a:r>
            <a:r>
              <a:rPr lang="en-US" altLang="zh-CN" kern="0" dirty="0">
                <a:effectLst/>
                <a:latin typeface="楷体" panose="02010609060101010101" pitchFamily="49" charset="-122"/>
                <a:ea typeface="楷体" panose="02010609060101010101" pitchFamily="49" charset="-122"/>
                <a:cs typeface="Times New Roman" panose="02020603050405020304" pitchFamily="18" charset="0"/>
              </a:rPr>
              <a:t>LRU</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策略</a:t>
            </a:r>
            <a:r>
              <a:rPr lang="zh-CN" altLang="en-US" kern="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可以通过周期性地重新发送一个旧的未匹配的候选请求来推测。</a:t>
            </a:r>
            <a:endParaRPr lang="en-US" altLang="zh-CN" kern="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切换</a:t>
            </a:r>
            <a:r>
              <a:rPr lang="zh-CN" altLang="en-US" kern="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发送</a:t>
            </a:r>
            <a:r>
              <a:rPr lang="zh-CN" altLang="en-US" kern="0" dirty="0">
                <a:latin typeface="楷体" panose="02010609060101010101" pitchFamily="49" charset="-122"/>
                <a:ea typeface="楷体" panose="02010609060101010101" pitchFamily="49" charset="-122"/>
                <a:cs typeface="Times New Roman" panose="02020603050405020304" pitchFamily="18" charset="0"/>
              </a:rPr>
              <a:t>不</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同的</a:t>
            </a:r>
            <a:r>
              <a:rPr lang="en-US" altLang="zh-CN" kern="0" dirty="0">
                <a:effectLst/>
                <a:latin typeface="楷体" panose="02010609060101010101" pitchFamily="49" charset="-122"/>
                <a:ea typeface="楷体" panose="02010609060101010101" pitchFamily="49" charset="-122"/>
                <a:cs typeface="Times New Roman" panose="02020603050405020304" pitchFamily="18" charset="0"/>
              </a:rPr>
              <a:t>dummy</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请求以饱和</a:t>
            </a:r>
            <a:r>
              <a:rPr lang="en-US" altLang="zh-CN" kern="0" dirty="0">
                <a:effectLst/>
                <a:latin typeface="楷体" panose="02010609060101010101" pitchFamily="49" charset="-122"/>
                <a:ea typeface="楷体" panose="02010609060101010101" pitchFamily="49" charset="-122"/>
                <a:cs typeface="Times New Roman" panose="02020603050405020304" pitchFamily="18" charset="0"/>
              </a:rPr>
              <a:t> GPU </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内存</a:t>
            </a:r>
            <a:r>
              <a:rPr lang="zh-CN" altLang="en-US" kern="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触发缓存清除策略，以此手动清空</a:t>
            </a:r>
            <a:r>
              <a:rPr lang="en-US" altLang="zh-CN" kern="0" dirty="0">
                <a:effectLst/>
                <a:latin typeface="楷体" panose="02010609060101010101" pitchFamily="49" charset="-122"/>
                <a:ea typeface="楷体" panose="02010609060101010101" pitchFamily="49" charset="-122"/>
                <a:cs typeface="Times New Roman" panose="02020603050405020304" pitchFamily="18" charset="0"/>
              </a:rPr>
              <a:t> GPU </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的</a:t>
            </a:r>
            <a:r>
              <a:rPr lang="en-US" altLang="zh-CN" kern="0" dirty="0">
                <a:effectLst/>
                <a:latin typeface="楷体" panose="02010609060101010101" pitchFamily="49" charset="-122"/>
                <a:ea typeface="楷体" panose="02010609060101010101" pitchFamily="49" charset="-122"/>
                <a:cs typeface="Times New Roman" panose="02020603050405020304" pitchFamily="18" charset="0"/>
              </a:rPr>
              <a:t> KV </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缓存</a:t>
            </a:r>
            <a:r>
              <a:rPr lang="zh-CN" altLang="en-US" kern="0" dirty="0">
                <a:effectLst/>
                <a:latin typeface="楷体" panose="02010609060101010101" pitchFamily="49" charset="-122"/>
                <a:ea typeface="楷体" panose="02010609060101010101" pitchFamily="49" charset="-122"/>
                <a:cs typeface="Times New Roman" panose="02020603050405020304" pitchFamily="18" charset="0"/>
              </a:rPr>
              <a:t>。</a:t>
            </a:r>
            <a:endParaRPr lang="zh-CN" altLang="zh-CN" kern="100" dirty="0">
              <a:effectLst/>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709905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33C1-3A47-9E67-87BE-C72239F124A6}"/>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82A02862-BBB9-B70C-E8AF-976220236534}"/>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1D98A0C6-912B-8B24-3BEB-1CDB717B50D3}"/>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1E2FC15-751D-17CE-EB3D-8D38C58AB00F}"/>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3FCF4D95-0D5E-2859-D6E2-7FE8D8C9F193}"/>
              </a:ext>
            </a:extLst>
          </p:cNvPr>
          <p:cNvSpPr txBox="1"/>
          <p:nvPr/>
        </p:nvSpPr>
        <p:spPr>
          <a:xfrm>
            <a:off x="857513" y="545564"/>
            <a:ext cx="10946591" cy="523220"/>
          </a:xfrm>
          <a:prstGeom prst="rect">
            <a:avLst/>
          </a:prstGeom>
          <a:noFill/>
        </p:spPr>
        <p:txBody>
          <a:bodyPr wrap="square" rtlCol="0">
            <a:spAutoFit/>
          </a:bodyPr>
          <a:lstStyle/>
          <a:p>
            <a:r>
              <a:rPr lang="zh-CN" altLang="en-US" sz="2800" b="1" dirty="0">
                <a:latin typeface="+mj-lt"/>
                <a:ea typeface="宋体" panose="02010600030101010101" pitchFamily="2" charset="-122"/>
                <a:cs typeface="宋体" panose="02010600030101010101" pitchFamily="2" charset="-122"/>
              </a:rPr>
              <a:t>效果问题</a:t>
            </a:r>
          </a:p>
        </p:txBody>
      </p:sp>
      <p:sp>
        <p:nvSpPr>
          <p:cNvPr id="7" name="文本框 6">
            <a:extLst>
              <a:ext uri="{FF2B5EF4-FFF2-40B4-BE49-F238E27FC236}">
                <a16:creationId xmlns:a16="http://schemas.microsoft.com/office/drawing/2014/main" id="{073E8B0A-7C6B-461C-864A-38B37AB0E236}"/>
              </a:ext>
            </a:extLst>
          </p:cNvPr>
          <p:cNvSpPr txBox="1"/>
          <p:nvPr/>
        </p:nvSpPr>
        <p:spPr>
          <a:xfrm>
            <a:off x="411973" y="3586316"/>
            <a:ext cx="10889522" cy="2538452"/>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并行用户数量</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当用户数量超过</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200</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时，因用户请求快速挤占内存，攻击窗口缩小，恢复长度下降。这说明攻击在系统负载不高时威胁最大。</a:t>
            </a:r>
          </a:p>
          <a:p>
            <a:pPr marL="285750" indent="-285750" algn="just">
              <a:lnSpc>
                <a:spcPct val="150000"/>
              </a:lnSpc>
              <a:buFont typeface="Arial" panose="020B0604020202020204" pitchFamily="34" charset="0"/>
              <a:buChar char="•"/>
            </a:pP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GPU</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内存容量</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当专用于</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KV</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缓存的可用</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GPU</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内存低于</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70GB</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时，可恢复的</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prompt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长度开始显著下降。</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攻击批</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量</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大小</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lvl="1" algn="just">
              <a:lnSpc>
                <a:spcPct val="150000"/>
              </a:lnSpc>
            </a:pPr>
            <a:r>
              <a:rPr lang="en-US" altLang="zh-CN" kern="100" dirty="0">
                <a:effectLst/>
                <a:latin typeface="楷体" panose="02010609060101010101" pitchFamily="49" charset="-122"/>
                <a:ea typeface="楷体" panose="02010609060101010101" pitchFamily="49" charset="-122"/>
                <a:cs typeface="Times New Roman" panose="02020603050405020304" pitchFamily="18" charset="0"/>
              </a:rPr>
              <a:t>1</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）随着候选批量大小逐渐增加，攻击有效性先上升然后下降，在批量大小为</a:t>
            </a:r>
            <a:r>
              <a:rPr lang="en-US" altLang="zh-CN" kern="100" dirty="0">
                <a:effectLst/>
                <a:latin typeface="楷体" panose="02010609060101010101" pitchFamily="49" charset="-122"/>
                <a:ea typeface="楷体" panose="02010609060101010101" pitchFamily="49" charset="-122"/>
                <a:cs typeface="Times New Roman" panose="02020603050405020304" pitchFamily="18" charset="0"/>
              </a:rPr>
              <a:t>40</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时达到峰值。</a:t>
            </a:r>
            <a:endParaRPr lang="en-US" altLang="zh-CN" kern="100" dirty="0">
              <a:effectLst/>
              <a:latin typeface="楷体" panose="02010609060101010101" pitchFamily="49" charset="-122"/>
              <a:ea typeface="楷体" panose="02010609060101010101" pitchFamily="49" charset="-122"/>
              <a:cs typeface="Times New Roman" panose="02020603050405020304" pitchFamily="18" charset="0"/>
            </a:endParaRPr>
          </a:p>
          <a:p>
            <a:pPr lvl="1" algn="just">
              <a:lnSpc>
                <a:spcPct val="150000"/>
              </a:lnSpc>
            </a:pPr>
            <a:r>
              <a:rPr lang="en-US" altLang="zh-CN" kern="100" dirty="0">
                <a:effectLst/>
                <a:latin typeface="楷体" panose="02010609060101010101" pitchFamily="49" charset="-122"/>
                <a:ea typeface="楷体" panose="02010609060101010101" pitchFamily="49" charset="-122"/>
                <a:cs typeface="Times New Roman" panose="02020603050405020304" pitchFamily="18" charset="0"/>
              </a:rPr>
              <a:t>2</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en-US" kern="100" dirty="0">
                <a:effectLst/>
                <a:latin typeface="楷体" panose="02010609060101010101" pitchFamily="49" charset="-122"/>
                <a:ea typeface="楷体" panose="02010609060101010101" pitchFamily="49" charset="-122"/>
                <a:cs typeface="Times New Roman" panose="02020603050405020304" pitchFamily="18" charset="0"/>
              </a:rPr>
              <a:t>较大</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大的</a:t>
            </a:r>
            <a:r>
              <a:rPr lang="en-US" altLang="zh-CN" kern="100" dirty="0">
                <a:effectLst/>
                <a:latin typeface="楷体" panose="02010609060101010101" pitchFamily="49" charset="-122"/>
                <a:ea typeface="楷体" panose="02010609060101010101" pitchFamily="49" charset="-122"/>
                <a:cs typeface="Times New Roman" panose="02020603050405020304" pitchFamily="18" charset="0"/>
              </a:rPr>
              <a:t>dummy</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批量大小会降低攻击的有效性</a:t>
            </a:r>
            <a:r>
              <a:rPr lang="zh-CN" altLang="en-US" kern="100" dirty="0">
                <a:effectLst/>
                <a:latin typeface="楷体" panose="02010609060101010101" pitchFamily="49" charset="-122"/>
                <a:ea typeface="楷体" panose="02010609060101010101" pitchFamily="49" charset="-122"/>
                <a:cs typeface="Times New Roman" panose="02020603050405020304" pitchFamily="18" charset="0"/>
              </a:rPr>
              <a:t>。</a:t>
            </a:r>
            <a:endParaRPr lang="zh-CN" altLang="en-US" dirty="0">
              <a:latin typeface="楷体" panose="02010609060101010101" pitchFamily="49" charset="-122"/>
              <a:ea typeface="楷体" panose="02010609060101010101" pitchFamily="49" charset="-122"/>
            </a:endParaRPr>
          </a:p>
        </p:txBody>
      </p:sp>
      <p:pic>
        <p:nvPicPr>
          <p:cNvPr id="10" name="图片 9">
            <a:extLst>
              <a:ext uri="{FF2B5EF4-FFF2-40B4-BE49-F238E27FC236}">
                <a16:creationId xmlns:a16="http://schemas.microsoft.com/office/drawing/2014/main" id="{6630B4C9-6AED-4199-AA85-59D27F72B791}"/>
              </a:ext>
            </a:extLst>
          </p:cNvPr>
          <p:cNvPicPr/>
          <p:nvPr/>
        </p:nvPicPr>
        <p:blipFill>
          <a:blip r:embed="rId3"/>
          <a:stretch>
            <a:fillRect/>
          </a:stretch>
        </p:blipFill>
        <p:spPr>
          <a:xfrm>
            <a:off x="1678781" y="1058109"/>
            <a:ext cx="8565357" cy="2538452"/>
          </a:xfrm>
          <a:prstGeom prst="rect">
            <a:avLst/>
          </a:prstGeom>
        </p:spPr>
      </p:pic>
    </p:spTree>
    <p:extLst>
      <p:ext uri="{BB962C8B-B14F-4D97-AF65-F5344CB8AC3E}">
        <p14:creationId xmlns:p14="http://schemas.microsoft.com/office/powerpoint/2010/main" val="2304744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33C1-3A47-9E67-87BE-C72239F124A6}"/>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82A02862-BBB9-B70C-E8AF-976220236534}"/>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1D98A0C6-912B-8B24-3BEB-1CDB717B50D3}"/>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1E2FC15-751D-17CE-EB3D-8D38C58AB00F}"/>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3FCF4D95-0D5E-2859-D6E2-7FE8D8C9F193}"/>
              </a:ext>
            </a:extLst>
          </p:cNvPr>
          <p:cNvSpPr txBox="1"/>
          <p:nvPr/>
        </p:nvSpPr>
        <p:spPr>
          <a:xfrm>
            <a:off x="857513" y="545564"/>
            <a:ext cx="10946591" cy="523220"/>
          </a:xfrm>
          <a:prstGeom prst="rect">
            <a:avLst/>
          </a:prstGeom>
          <a:noFill/>
        </p:spPr>
        <p:txBody>
          <a:bodyPr wrap="square" rtlCol="0">
            <a:spAutoFit/>
          </a:bodyPr>
          <a:lstStyle/>
          <a:p>
            <a:r>
              <a:rPr lang="zh-CN" altLang="en-US" sz="2800" b="1" dirty="0">
                <a:latin typeface="+mj-lt"/>
                <a:ea typeface="宋体" panose="02010600030101010101" pitchFamily="2" charset="-122"/>
                <a:cs typeface="宋体" panose="02010600030101010101" pitchFamily="2" charset="-122"/>
              </a:rPr>
              <a:t>成本问题</a:t>
            </a:r>
          </a:p>
        </p:txBody>
      </p:sp>
      <p:sp>
        <p:nvSpPr>
          <p:cNvPr id="7" name="文本框 6">
            <a:extLst>
              <a:ext uri="{FF2B5EF4-FFF2-40B4-BE49-F238E27FC236}">
                <a16:creationId xmlns:a16="http://schemas.microsoft.com/office/drawing/2014/main" id="{073E8B0A-7C6B-461C-864A-38B37AB0E236}"/>
              </a:ext>
            </a:extLst>
          </p:cNvPr>
          <p:cNvSpPr txBox="1"/>
          <p:nvPr/>
        </p:nvSpPr>
        <p:spPr>
          <a:xfrm>
            <a:off x="794456" y="1329550"/>
            <a:ext cx="8099513" cy="210487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sz="1800" dirty="0" err="1">
                <a:solidFill>
                  <a:srgbClr val="0F1115"/>
                </a:solidFill>
                <a:effectLst/>
                <a:latin typeface="楷体" panose="02010609060101010101" pitchFamily="49" charset="-122"/>
                <a:ea typeface="楷体" panose="02010609060101010101" pitchFamily="49" charset="-122"/>
              </a:rPr>
              <a:t>攻击的成本</a:t>
            </a:r>
            <a:r>
              <a:rPr lang="zh-CN" altLang="en-US" sz="1800" dirty="0">
                <a:solidFill>
                  <a:srgbClr val="0F1115"/>
                </a:solidFill>
                <a:effectLst/>
                <a:latin typeface="楷体" panose="02010609060101010101" pitchFamily="49" charset="-122"/>
                <a:ea typeface="楷体" panose="02010609060101010101" pitchFamily="49" charset="-122"/>
              </a:rPr>
              <a:t>（为获取一个</a:t>
            </a:r>
            <a:r>
              <a:rPr lang="en-US" altLang="zh-CN" sz="1800" dirty="0">
                <a:solidFill>
                  <a:srgbClr val="0F1115"/>
                </a:solidFill>
                <a:effectLst/>
                <a:latin typeface="楷体" panose="02010609060101010101" pitchFamily="49" charset="-122"/>
                <a:ea typeface="楷体" panose="02010609060101010101" pitchFamily="49" charset="-122"/>
              </a:rPr>
              <a:t>Prompt</a:t>
            </a:r>
            <a:r>
              <a:rPr lang="zh-CN" altLang="en-US" sz="1800" dirty="0">
                <a:solidFill>
                  <a:srgbClr val="0F1115"/>
                </a:solidFill>
                <a:effectLst/>
                <a:latin typeface="楷体" panose="02010609060101010101" pitchFamily="49" charset="-122"/>
                <a:ea typeface="楷体" panose="02010609060101010101" pitchFamily="49" charset="-122"/>
              </a:rPr>
              <a:t>发送的攻击请求次数）</a:t>
            </a:r>
            <a:r>
              <a:rPr lang="en-US" altLang="zh-CN" sz="1800" dirty="0">
                <a:solidFill>
                  <a:srgbClr val="0F1115"/>
                </a:solidFill>
                <a:effectLst/>
                <a:latin typeface="楷体" panose="02010609060101010101" pitchFamily="49" charset="-122"/>
                <a:ea typeface="楷体" panose="02010609060101010101" pitchFamily="49" charset="-122"/>
              </a:rPr>
              <a:t>低</a:t>
            </a:r>
            <a:r>
              <a:rPr lang="zh-CN" altLang="en-US" sz="1800" dirty="0">
                <a:solidFill>
                  <a:srgbClr val="0F1115"/>
                </a:solidFill>
                <a:effectLst/>
                <a:latin typeface="楷体" panose="02010609060101010101" pitchFamily="49" charset="-122"/>
                <a:ea typeface="楷体" panose="02010609060101010101" pitchFamily="49" charset="-122"/>
              </a:rPr>
              <a:t>。</a:t>
            </a:r>
            <a:endParaRPr lang="en-US" altLang="zh-CN" sz="1800" dirty="0">
              <a:solidFill>
                <a:srgbClr val="0F1115"/>
              </a:solidFill>
              <a:effectLst/>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endParaRPr lang="en-US" altLang="zh-CN" sz="1800" dirty="0">
              <a:solidFill>
                <a:srgbClr val="0F1115"/>
              </a:solidFill>
              <a:effectLst/>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en-US" altLang="zh-CN" sz="1800" dirty="0" err="1">
                <a:solidFill>
                  <a:srgbClr val="0F1115"/>
                </a:solidFill>
                <a:effectLst/>
                <a:latin typeface="楷体" panose="02010609060101010101" pitchFamily="49" charset="-122"/>
                <a:ea typeface="楷体" panose="02010609060101010101" pitchFamily="49" charset="-122"/>
              </a:rPr>
              <a:t>拥有任何背景知识都能大幅降低成本，使攻击效率呈数量级提升</a:t>
            </a:r>
            <a:r>
              <a:rPr lang="en-US" altLang="zh-CN" sz="1800" dirty="0">
                <a:solidFill>
                  <a:srgbClr val="0F1115"/>
                </a:solidFill>
                <a:effectLst/>
                <a:latin typeface="楷体" panose="02010609060101010101" pitchFamily="49" charset="-122"/>
                <a:ea typeface="楷体" panose="02010609060101010101" pitchFamily="49" charset="-122"/>
              </a:rPr>
              <a:t>。</a:t>
            </a:r>
          </a:p>
          <a:p>
            <a:pPr marL="285750" indent="-285750">
              <a:lnSpc>
                <a:spcPct val="150000"/>
              </a:lnSpc>
              <a:buFont typeface="Arial" panose="020B0604020202020204" pitchFamily="34" charset="0"/>
              <a:buChar char="•"/>
            </a:pPr>
            <a:r>
              <a:rPr lang="en-US" altLang="zh-CN" sz="1800" dirty="0">
                <a:solidFill>
                  <a:srgbClr val="0F1115"/>
                </a:solidFill>
                <a:effectLst/>
                <a:latin typeface="楷体" panose="02010609060101010101" pitchFamily="49" charset="-122"/>
                <a:ea typeface="楷体" panose="02010609060101010101" pitchFamily="49" charset="-122"/>
              </a:rPr>
              <a:t>这是因为</a:t>
            </a:r>
            <a:r>
              <a:rPr lang="en-US" altLang="zh-CN" sz="1800" kern="0" dirty="0">
                <a:effectLst/>
                <a:latin typeface="楷体" panose="02010609060101010101" pitchFamily="49" charset="-122"/>
                <a:ea typeface="楷体" panose="02010609060101010101" pitchFamily="49" charset="-122"/>
                <a:cs typeface="Times New Roman" panose="02020603050405020304" pitchFamily="18" charset="0"/>
              </a:rPr>
              <a:t>额外的背景知识使攻击者的本地大语言模型更容易生成正确的候选项，同时意味着攻击者已经知道部分提示，降低了每个token的攻击成本。</a:t>
            </a:r>
            <a:endParaRPr lang="zh-CN" altLang="en-US" dirty="0">
              <a:latin typeface="楷体" panose="02010609060101010101" pitchFamily="49" charset="-122"/>
              <a:ea typeface="楷体" panose="02010609060101010101" pitchFamily="49" charset="-122"/>
            </a:endParaRPr>
          </a:p>
        </p:txBody>
      </p:sp>
      <p:pic>
        <p:nvPicPr>
          <p:cNvPr id="4" name="图片 3">
            <a:extLst>
              <a:ext uri="{FF2B5EF4-FFF2-40B4-BE49-F238E27FC236}">
                <a16:creationId xmlns:a16="http://schemas.microsoft.com/office/drawing/2014/main" id="{5FC4EB63-775D-46C5-AB54-64FE1E499FBF}"/>
              </a:ext>
            </a:extLst>
          </p:cNvPr>
          <p:cNvPicPr>
            <a:picLocks noChangeAspect="1"/>
          </p:cNvPicPr>
          <p:nvPr/>
        </p:nvPicPr>
        <p:blipFill>
          <a:blip r:embed="rId3"/>
          <a:stretch>
            <a:fillRect/>
          </a:stretch>
        </p:blipFill>
        <p:spPr>
          <a:xfrm>
            <a:off x="723914" y="3724992"/>
            <a:ext cx="10946591" cy="2670305"/>
          </a:xfrm>
          <a:prstGeom prst="rect">
            <a:avLst/>
          </a:prstGeom>
        </p:spPr>
      </p:pic>
    </p:spTree>
    <p:extLst>
      <p:ext uri="{BB962C8B-B14F-4D97-AF65-F5344CB8AC3E}">
        <p14:creationId xmlns:p14="http://schemas.microsoft.com/office/powerpoint/2010/main" val="1184807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33C1-3A47-9E67-87BE-C72239F124A6}"/>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82A02862-BBB9-B70C-E8AF-976220236534}"/>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1D98A0C6-912B-8B24-3BEB-1CDB717B50D3}"/>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1E2FC15-751D-17CE-EB3D-8D38C58AB00F}"/>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3FCF4D95-0D5E-2859-D6E2-7FE8D8C9F193}"/>
              </a:ext>
            </a:extLst>
          </p:cNvPr>
          <p:cNvSpPr txBox="1"/>
          <p:nvPr/>
        </p:nvSpPr>
        <p:spPr>
          <a:xfrm>
            <a:off x="857513" y="545564"/>
            <a:ext cx="10946591" cy="523220"/>
          </a:xfrm>
          <a:prstGeom prst="rect">
            <a:avLst/>
          </a:prstGeom>
          <a:noFill/>
        </p:spPr>
        <p:txBody>
          <a:bodyPr wrap="square" rtlCol="0">
            <a:spAutoFit/>
          </a:bodyPr>
          <a:lstStyle/>
          <a:p>
            <a:r>
              <a:rPr lang="zh-CN" altLang="en-US" sz="2800" b="1" dirty="0">
                <a:latin typeface="+mj-lt"/>
                <a:ea typeface="宋体" panose="02010600030101010101" pitchFamily="2" charset="-122"/>
                <a:cs typeface="宋体" panose="02010600030101010101" pitchFamily="2" charset="-122"/>
              </a:rPr>
              <a:t>攻击条件与防御针对</a:t>
            </a:r>
          </a:p>
        </p:txBody>
      </p:sp>
      <p:sp>
        <p:nvSpPr>
          <p:cNvPr id="7" name="文本框 6">
            <a:extLst>
              <a:ext uri="{FF2B5EF4-FFF2-40B4-BE49-F238E27FC236}">
                <a16:creationId xmlns:a16="http://schemas.microsoft.com/office/drawing/2014/main" id="{073E8B0A-7C6B-461C-864A-38B37AB0E236}"/>
              </a:ext>
            </a:extLst>
          </p:cNvPr>
          <p:cNvSpPr txBox="1"/>
          <p:nvPr/>
        </p:nvSpPr>
        <p:spPr>
          <a:xfrm>
            <a:off x="706856" y="1612520"/>
            <a:ext cx="7468602" cy="3766865"/>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zh-CN" altLang="zh-CN" sz="1800" kern="0" dirty="0">
                <a:effectLst/>
                <a:latin typeface="楷体" panose="02010609060101010101" pitchFamily="49" charset="-122"/>
                <a:ea typeface="楷体" panose="02010609060101010101" pitchFamily="49" charset="-122"/>
                <a:cs typeface="Times New Roman" panose="02020603050405020304" pitchFamily="18" charset="0"/>
              </a:rPr>
              <a:t>三个关键的攻击条件：</a:t>
            </a:r>
            <a:endParaRPr lang="en-US" altLang="zh-CN" sz="1800" kern="0" dirty="0">
              <a:effectLst/>
              <a:latin typeface="楷体" panose="02010609060101010101" pitchFamily="49" charset="-122"/>
              <a:ea typeface="楷体" panose="02010609060101010101" pitchFamily="49" charset="-122"/>
              <a:cs typeface="Times New Roman" panose="02020603050405020304" pitchFamily="18" charset="0"/>
            </a:endParaRPr>
          </a:p>
          <a:p>
            <a:pPr lvl="1" algn="just">
              <a:lnSpc>
                <a:spcPct val="150000"/>
              </a:lnSpc>
            </a:pP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足够的</a:t>
            </a:r>
            <a:r>
              <a:rPr lang="en-US" altLang="zh-CN" kern="0" dirty="0">
                <a:effectLst/>
                <a:latin typeface="楷体" panose="02010609060101010101" pitchFamily="49" charset="-122"/>
                <a:ea typeface="楷体" panose="02010609060101010101" pitchFamily="49" charset="-122"/>
                <a:cs typeface="Times New Roman" panose="02020603050405020304" pitchFamily="18" charset="0"/>
              </a:rPr>
              <a:t>GPU</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内存，让</a:t>
            </a:r>
            <a:r>
              <a:rPr lang="en-US" altLang="zh-CN" kern="0" dirty="0">
                <a:effectLst/>
                <a:latin typeface="楷体" panose="02010609060101010101" pitchFamily="49" charset="-122"/>
                <a:ea typeface="楷体" panose="02010609060101010101" pitchFamily="49" charset="-122"/>
                <a:cs typeface="Times New Roman" panose="02020603050405020304" pitchFamily="18" charset="0"/>
              </a:rPr>
              <a:t>KV</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缓存持续存在；</a:t>
            </a:r>
            <a:endParaRPr lang="en-US" altLang="zh-CN" kern="0" dirty="0">
              <a:effectLst/>
              <a:latin typeface="楷体" panose="02010609060101010101" pitchFamily="49" charset="-122"/>
              <a:ea typeface="楷体" panose="02010609060101010101" pitchFamily="49" charset="-122"/>
              <a:cs typeface="Times New Roman" panose="02020603050405020304" pitchFamily="18" charset="0"/>
            </a:endParaRPr>
          </a:p>
          <a:p>
            <a:pPr lvl="1" algn="just">
              <a:lnSpc>
                <a:spcPct val="150000"/>
              </a:lnSpc>
            </a:pP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缓存命中可以通过</a:t>
            </a:r>
            <a:r>
              <a:rPr lang="zh-CN" altLang="en-US" kern="0" dirty="0">
                <a:effectLst/>
                <a:latin typeface="楷体" panose="02010609060101010101" pitchFamily="49" charset="-122"/>
                <a:ea typeface="楷体" panose="02010609060101010101" pitchFamily="49" charset="-122"/>
                <a:cs typeface="Times New Roman" panose="02020603050405020304" pitchFamily="18" charset="0"/>
              </a:rPr>
              <a:t>侧</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信道从客户端观测；</a:t>
            </a:r>
            <a:endParaRPr lang="en-US" altLang="zh-CN" kern="0" dirty="0">
              <a:effectLst/>
              <a:latin typeface="楷体" panose="02010609060101010101" pitchFamily="49" charset="-122"/>
              <a:ea typeface="楷体" panose="02010609060101010101" pitchFamily="49" charset="-122"/>
              <a:cs typeface="Times New Roman" panose="02020603050405020304" pitchFamily="18" charset="0"/>
            </a:endParaRPr>
          </a:p>
          <a:p>
            <a:pPr lvl="1" algn="just">
              <a:lnSpc>
                <a:spcPct val="150000"/>
              </a:lnSpc>
            </a:pP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客户端</a:t>
            </a:r>
            <a:r>
              <a:rPr lang="zh-CN" altLang="en-US" kern="0" dirty="0">
                <a:effectLst/>
                <a:latin typeface="楷体" panose="02010609060101010101" pitchFamily="49" charset="-122"/>
                <a:ea typeface="楷体" panose="02010609060101010101" pitchFamily="49" charset="-122"/>
                <a:cs typeface="Times New Roman" panose="02020603050405020304" pitchFamily="18" charset="0"/>
              </a:rPr>
              <a:t>可以</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灵活、大量地发送探测请求。</a:t>
            </a:r>
            <a:endParaRPr lang="en-US" altLang="zh-CN" kern="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en-US" altLang="zh-CN" kern="0" dirty="0">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800" kern="0" dirty="0">
                <a:effectLst/>
                <a:latin typeface="楷体" panose="02010609060101010101" pitchFamily="49" charset="-122"/>
                <a:ea typeface="楷体" panose="02010609060101010101" pitchFamily="49" charset="-122"/>
                <a:cs typeface="Times New Roman" panose="02020603050405020304" pitchFamily="18" charset="0"/>
              </a:rPr>
              <a:t>针对的防御措施</a:t>
            </a:r>
            <a:r>
              <a:rPr lang="zh-CN" altLang="en-US" sz="1800" kern="0" dirty="0">
                <a:effectLst/>
                <a:latin typeface="楷体" panose="02010609060101010101" pitchFamily="49" charset="-122"/>
                <a:ea typeface="楷体" panose="02010609060101010101" pitchFamily="49" charset="-122"/>
                <a:cs typeface="Times New Roman" panose="02020603050405020304" pitchFamily="18" charset="0"/>
              </a:rPr>
              <a:t>：</a:t>
            </a:r>
            <a:endParaRPr lang="en-US" altLang="zh-CN" sz="1800" kern="0" dirty="0">
              <a:effectLst/>
              <a:latin typeface="楷体" panose="02010609060101010101" pitchFamily="49" charset="-122"/>
              <a:ea typeface="楷体" panose="02010609060101010101" pitchFamily="49" charset="-122"/>
              <a:cs typeface="Times New Roman" panose="02020603050405020304" pitchFamily="18" charset="0"/>
            </a:endParaRPr>
          </a:p>
          <a:p>
            <a:pPr lvl="1" algn="just">
              <a:lnSpc>
                <a:spcPct val="150000"/>
              </a:lnSpc>
            </a:pP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可以更激进地</a:t>
            </a:r>
            <a:r>
              <a:rPr lang="zh-CN" altLang="en-US" kern="0" dirty="0">
                <a:effectLst/>
                <a:latin typeface="楷体" panose="02010609060101010101" pitchFamily="49" charset="-122"/>
                <a:ea typeface="楷体" panose="02010609060101010101" pitchFamily="49" charset="-122"/>
                <a:cs typeface="Times New Roman" panose="02020603050405020304" pitchFamily="18" charset="0"/>
              </a:rPr>
              <a:t>删除</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缓存；</a:t>
            </a:r>
            <a:endParaRPr lang="en-US" altLang="zh-CN" kern="0" dirty="0">
              <a:effectLst/>
              <a:latin typeface="楷体" panose="02010609060101010101" pitchFamily="49" charset="-122"/>
              <a:ea typeface="楷体" panose="02010609060101010101" pitchFamily="49" charset="-122"/>
              <a:cs typeface="Times New Roman" panose="02020603050405020304" pitchFamily="18" charset="0"/>
            </a:endParaRPr>
          </a:p>
          <a:p>
            <a:pPr lvl="1" algn="just">
              <a:lnSpc>
                <a:spcPct val="150000"/>
              </a:lnSpc>
            </a:pP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引入随机性，设计混淆响应顺序的调度算法；</a:t>
            </a:r>
            <a:endParaRPr lang="en-US" altLang="zh-CN" kern="0" dirty="0">
              <a:effectLst/>
              <a:latin typeface="楷体" panose="02010609060101010101" pitchFamily="49" charset="-122"/>
              <a:ea typeface="楷体" panose="02010609060101010101" pitchFamily="49" charset="-122"/>
              <a:cs typeface="Times New Roman" panose="02020603050405020304" pitchFamily="18" charset="0"/>
            </a:endParaRPr>
          </a:p>
          <a:p>
            <a:pPr lvl="1" algn="just">
              <a:lnSpc>
                <a:spcPct val="150000"/>
              </a:lnSpc>
            </a:pP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对</a:t>
            </a:r>
            <a:r>
              <a:rPr lang="en-US" altLang="zh-CN" kern="0" dirty="0">
                <a:effectLst/>
                <a:latin typeface="楷体" panose="02010609060101010101" pitchFamily="49" charset="-122"/>
                <a:ea typeface="楷体" panose="02010609060101010101" pitchFamily="49" charset="-122"/>
                <a:cs typeface="Times New Roman" panose="02020603050405020304" pitchFamily="18" charset="0"/>
              </a:rPr>
              <a:t>API</a:t>
            </a:r>
            <a:r>
              <a:rPr lang="zh-CN" altLang="zh-CN" kern="0" dirty="0">
                <a:effectLst/>
                <a:latin typeface="楷体" panose="02010609060101010101" pitchFamily="49" charset="-122"/>
                <a:ea typeface="楷体" panose="02010609060101010101" pitchFamily="49" charset="-122"/>
                <a:cs typeface="Times New Roman" panose="02020603050405020304" pitchFamily="18" charset="0"/>
              </a:rPr>
              <a:t>请求进行速率限制或异常检测。</a:t>
            </a:r>
            <a:endParaRPr lang="zh-CN" altLang="zh-CN" kern="100" dirty="0">
              <a:effectLst/>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906238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E33C1-3A47-9E67-87BE-C72239F124A6}"/>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82A02862-BBB9-B70C-E8AF-976220236534}"/>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1D98A0C6-912B-8B24-3BEB-1CDB717B50D3}"/>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1E2FC15-751D-17CE-EB3D-8D38C58AB00F}"/>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3FCF4D95-0D5E-2859-D6E2-7FE8D8C9F193}"/>
              </a:ext>
            </a:extLst>
          </p:cNvPr>
          <p:cNvSpPr txBox="1"/>
          <p:nvPr/>
        </p:nvSpPr>
        <p:spPr>
          <a:xfrm>
            <a:off x="857513" y="545564"/>
            <a:ext cx="10946591" cy="523220"/>
          </a:xfrm>
          <a:prstGeom prst="rect">
            <a:avLst/>
          </a:prstGeom>
          <a:noFill/>
        </p:spPr>
        <p:txBody>
          <a:bodyPr wrap="square" rtlCol="0">
            <a:spAutoFit/>
          </a:bodyPr>
          <a:lstStyle/>
          <a:p>
            <a:r>
              <a:rPr lang="zh-CN" altLang="en-US" sz="2800" b="1" dirty="0">
                <a:latin typeface="+mj-lt"/>
                <a:ea typeface="宋体" panose="02010600030101010101" pitchFamily="2" charset="-122"/>
                <a:cs typeface="宋体" panose="02010600030101010101" pitchFamily="2" charset="-122"/>
              </a:rPr>
              <a:t>进一步思考</a:t>
            </a:r>
          </a:p>
        </p:txBody>
      </p:sp>
      <p:sp>
        <p:nvSpPr>
          <p:cNvPr id="7" name="文本框 6">
            <a:extLst>
              <a:ext uri="{FF2B5EF4-FFF2-40B4-BE49-F238E27FC236}">
                <a16:creationId xmlns:a16="http://schemas.microsoft.com/office/drawing/2014/main" id="{073E8B0A-7C6B-461C-864A-38B37AB0E236}"/>
              </a:ext>
            </a:extLst>
          </p:cNvPr>
          <p:cNvSpPr txBox="1"/>
          <p:nvPr/>
        </p:nvSpPr>
        <p:spPr>
          <a:xfrm>
            <a:off x="932818" y="1201367"/>
            <a:ext cx="7934456" cy="2485745"/>
          </a:xfrm>
          <a:prstGeom prst="rect">
            <a:avLst/>
          </a:prstGeom>
          <a:noFill/>
        </p:spPr>
        <p:txBody>
          <a:bodyPr wrap="square">
            <a:spAutoFit/>
          </a:bodyPr>
          <a:lstStyle/>
          <a:p>
            <a:pPr algn="just"/>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a:t>
            </a:r>
          </a:p>
          <a:p>
            <a:pPr marL="285750" indent="-285750" algn="just">
              <a:lnSpc>
                <a:spcPct val="200000"/>
              </a:lnSpc>
              <a:buFont typeface="Arial" panose="020B0604020202020204" pitchFamily="34" charset="0"/>
              <a:buChar char="•"/>
            </a:pP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该实验在公共云上是否可行？</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200000"/>
              </a:lnSpc>
              <a:buFont typeface="Arial" panose="020B0604020202020204" pitchFamily="34" charset="0"/>
              <a:buChar char="•"/>
            </a:pP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能否进行针对性攻击？</a:t>
            </a:r>
          </a:p>
          <a:p>
            <a:pPr marL="285750" indent="-285750" algn="just">
              <a:lnSpc>
                <a:spcPct val="200000"/>
              </a:lnSpc>
              <a:buFont typeface="Arial" panose="020B0604020202020204" pitchFamily="34" charset="0"/>
              <a:buChar char="•"/>
            </a:pP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其他调度策略是否可行？</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200000"/>
              </a:lnSpc>
              <a:buFont typeface="Arial" panose="020B0604020202020204" pitchFamily="34" charset="0"/>
              <a:buChar char="•"/>
            </a:pP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a:t>
            </a:r>
            <a:endPar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p:txBody>
      </p:sp>
      <p:pic>
        <p:nvPicPr>
          <p:cNvPr id="2050" name="Picture 2">
            <a:extLst>
              <a:ext uri="{FF2B5EF4-FFF2-40B4-BE49-F238E27FC236}">
                <a16:creationId xmlns:a16="http://schemas.microsoft.com/office/drawing/2014/main" id="{F4EC93D5-3F5C-4487-9A1D-BD45EE0027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047" y="3819695"/>
            <a:ext cx="8099998" cy="2575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96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06A81-999F-2AAE-D409-5FA9BD282A5F}"/>
            </a:ext>
          </a:extLst>
        </p:cNvPr>
        <p:cNvGrpSpPr/>
        <p:nvPr/>
      </p:nvGrpSpPr>
      <p:grpSpPr>
        <a:xfrm>
          <a:off x="0" y="0"/>
          <a:ext cx="0" cy="0"/>
          <a:chOff x="0" y="0"/>
          <a:chExt cx="0" cy="0"/>
        </a:xfrm>
      </p:grpSpPr>
      <p:sp>
        <p:nvSpPr>
          <p:cNvPr id="38" name="矩形 37">
            <a:extLst>
              <a:ext uri="{FF2B5EF4-FFF2-40B4-BE49-F238E27FC236}">
                <a16:creationId xmlns:a16="http://schemas.microsoft.com/office/drawing/2014/main" id="{0A068817-5150-38FB-AB35-73EE3641F1A3}"/>
              </a:ext>
            </a:extLst>
          </p:cNvPr>
          <p:cNvSpPr/>
          <p:nvPr/>
        </p:nvSpPr>
        <p:spPr>
          <a:xfrm>
            <a:off x="6836194" y="6780865"/>
            <a:ext cx="5381839" cy="97126"/>
          </a:xfrm>
          <a:prstGeom prst="rect">
            <a:avLst/>
          </a:prstGeom>
          <a:solidFill>
            <a:srgbClr val="9A0001"/>
          </a:solidFill>
          <a:ln>
            <a:noFill/>
          </a:ln>
        </p:spPr>
        <p:txBody>
          <a:bodyPr anchor="ctr"/>
          <a:lstStyle/>
          <a:p>
            <a:pPr algn="ctr"/>
            <a:endParaRPr lang="zh-CN" altLang="zh-CN">
              <a:solidFill>
                <a:schemeClr val="lt1"/>
              </a:solidFill>
              <a:latin typeface="思源黑体 CN Light"/>
              <a:ea typeface="思源黑体 CN Light"/>
            </a:endParaRPr>
          </a:p>
        </p:txBody>
      </p:sp>
      <p:sp>
        <p:nvSpPr>
          <p:cNvPr id="48" name="矩形 47">
            <a:extLst>
              <a:ext uri="{FF2B5EF4-FFF2-40B4-BE49-F238E27FC236}">
                <a16:creationId xmlns:a16="http://schemas.microsoft.com/office/drawing/2014/main" id="{B7C76EF5-09CD-65A9-CDEA-0066C67469DB}"/>
              </a:ext>
            </a:extLst>
          </p:cNvPr>
          <p:cNvSpPr/>
          <p:nvPr/>
        </p:nvSpPr>
        <p:spPr>
          <a:xfrm>
            <a:off x="0" y="1239655"/>
            <a:ext cx="766614" cy="3436705"/>
          </a:xfrm>
          <a:prstGeom prst="rect">
            <a:avLst/>
          </a:prstGeom>
          <a:solidFill>
            <a:srgbClr val="9A0001"/>
          </a:solidFill>
          <a:ln>
            <a:noFill/>
          </a:ln>
          <a:effectLst>
            <a:outerShdw blurRad="127000" dist="38100" dir="2700000" algn="tl" rotWithShape="0">
              <a:srgbClr val="000000">
                <a:alpha val="20000"/>
              </a:srgbClr>
            </a:outerShdw>
          </a:effectLst>
        </p:spPr>
        <p:txBody>
          <a:bodyPr anchor="ctr"/>
          <a:lstStyle/>
          <a:p>
            <a:pPr algn="ctr"/>
            <a:endParaRPr lang="zh-CN" altLang="zh-CN">
              <a:solidFill>
                <a:schemeClr val="lt1"/>
              </a:solidFill>
              <a:ea typeface="字魂105号-简雅黑"/>
            </a:endParaRPr>
          </a:p>
        </p:txBody>
      </p:sp>
      <p:pic>
        <p:nvPicPr>
          <p:cNvPr id="61" name="图片 60">
            <a:extLst>
              <a:ext uri="{FF2B5EF4-FFF2-40B4-BE49-F238E27FC236}">
                <a16:creationId xmlns:a16="http://schemas.microsoft.com/office/drawing/2014/main" id="{A3AAA866-BAC7-B7FE-AD36-06FEE3E2EC40}"/>
              </a:ext>
            </a:extLst>
          </p:cNvPr>
          <p:cNvPicPr>
            <a:picLocks noChangeAspect="1"/>
          </p:cNvPicPr>
          <p:nvPr/>
        </p:nvPicPr>
        <p:blipFill>
          <a:blip r:embed="rId3"/>
          <a:stretch>
            <a:fillRect/>
          </a:stretch>
        </p:blipFill>
        <p:spPr>
          <a:xfrm>
            <a:off x="637976" y="422723"/>
            <a:ext cx="1675797" cy="467802"/>
          </a:xfrm>
          <a:prstGeom prst="rect">
            <a:avLst/>
          </a:prstGeom>
        </p:spPr>
      </p:pic>
      <p:grpSp>
        <p:nvGrpSpPr>
          <p:cNvPr id="62" name="组合 61">
            <a:extLst>
              <a:ext uri="{FF2B5EF4-FFF2-40B4-BE49-F238E27FC236}">
                <a16:creationId xmlns:a16="http://schemas.microsoft.com/office/drawing/2014/main" id="{43610671-FFDB-FA6C-5B12-0112E16EB1FA}"/>
              </a:ext>
            </a:extLst>
          </p:cNvPr>
          <p:cNvGrpSpPr/>
          <p:nvPr/>
        </p:nvGrpSpPr>
        <p:grpSpPr>
          <a:xfrm>
            <a:off x="1112534" y="2247668"/>
            <a:ext cx="1635760" cy="1889218"/>
            <a:chOff x="1209755" y="4179558"/>
            <a:chExt cx="1635760" cy="1889218"/>
          </a:xfrm>
        </p:grpSpPr>
        <p:sp>
          <p:nvSpPr>
            <p:cNvPr id="63" name="文本框 62">
              <a:extLst>
                <a:ext uri="{FF2B5EF4-FFF2-40B4-BE49-F238E27FC236}">
                  <a16:creationId xmlns:a16="http://schemas.microsoft.com/office/drawing/2014/main" id="{4DF9EFF9-C1C4-9198-9866-FA299842C32D}"/>
                </a:ext>
              </a:extLst>
            </p:cNvPr>
            <p:cNvSpPr txBox="1"/>
            <p:nvPr/>
          </p:nvSpPr>
          <p:spPr>
            <a:xfrm>
              <a:off x="1525350" y="4179558"/>
              <a:ext cx="1320165" cy="1122680"/>
            </a:xfrm>
            <a:prstGeom prst="rect">
              <a:avLst/>
            </a:prstGeom>
            <a:noFill/>
          </p:spPr>
          <p:txBody>
            <a:bodyPr wrap="none">
              <a:noAutofit/>
            </a:bodyPr>
            <a:lstStyle/>
            <a:p>
              <a:r>
                <a:rPr lang="en-US" altLang="en-US" sz="8800" b="1" dirty="0">
                  <a:latin typeface="方正粗黑宋简体" panose="02000000000000000000" charset="-122"/>
                  <a:ea typeface="方正粗黑宋简体" panose="02000000000000000000" charset="-122"/>
                </a:rPr>
                <a:t>Part 03</a:t>
              </a:r>
              <a:endParaRPr lang="zh-CN" altLang="zh-CN" sz="8800" b="1" dirty="0">
                <a:latin typeface="方正粗黑宋简体" panose="02000000000000000000" charset="-122"/>
                <a:ea typeface="方正粗黑宋简体" panose="02000000000000000000" charset="-122"/>
              </a:endParaRPr>
            </a:p>
          </p:txBody>
        </p:sp>
        <p:sp>
          <p:nvSpPr>
            <p:cNvPr id="64" name="文本框 63">
              <a:extLst>
                <a:ext uri="{FF2B5EF4-FFF2-40B4-BE49-F238E27FC236}">
                  <a16:creationId xmlns:a16="http://schemas.microsoft.com/office/drawing/2014/main" id="{958818DA-2EC4-4458-20AF-53F101C93860}"/>
                </a:ext>
              </a:extLst>
            </p:cNvPr>
            <p:cNvSpPr txBox="1"/>
            <p:nvPr/>
          </p:nvSpPr>
          <p:spPr>
            <a:xfrm>
              <a:off x="1447269" y="5360890"/>
              <a:ext cx="184731" cy="707886"/>
            </a:xfrm>
            <a:prstGeom prst="rect">
              <a:avLst/>
            </a:prstGeom>
            <a:noFill/>
          </p:spPr>
          <p:txBody>
            <a:bodyPr wrap="none">
              <a:spAutoFit/>
            </a:bodyPr>
            <a:lstStyle/>
            <a:p>
              <a:endParaRPr lang="zh-CN" altLang="zh-CN" sz="4000" dirty="0">
                <a:latin typeface="FZShengShiKaiShuS-EB-GB"/>
                <a:ea typeface="FZShengShiKaiShuS-EB-GB"/>
              </a:endParaRPr>
            </a:p>
          </p:txBody>
        </p:sp>
        <p:cxnSp>
          <p:nvCxnSpPr>
            <p:cNvPr id="66" name="直接连接符 55">
              <a:extLst>
                <a:ext uri="{FF2B5EF4-FFF2-40B4-BE49-F238E27FC236}">
                  <a16:creationId xmlns:a16="http://schemas.microsoft.com/office/drawing/2014/main" id="{D20ECAA1-B9CA-D75A-F36C-BF10DCC985A9}"/>
                </a:ext>
              </a:extLst>
            </p:cNvPr>
            <p:cNvCxnSpPr/>
            <p:nvPr/>
          </p:nvCxnSpPr>
          <p:spPr>
            <a:xfrm>
              <a:off x="1209755" y="4396902"/>
              <a:ext cx="0" cy="1579587"/>
            </a:xfrm>
            <a:prstGeom prst="line">
              <a:avLst/>
            </a:prstGeom>
            <a:ln w="127000">
              <a:solidFill>
                <a:srgbClr val="9A0001"/>
              </a:solidFill>
              <a:prstDash val="solid"/>
              <a:miter/>
            </a:ln>
          </p:spPr>
        </p:cxnSp>
      </p:grpSp>
      <p:grpSp>
        <p:nvGrpSpPr>
          <p:cNvPr id="71" name="组合 70">
            <a:extLst>
              <a:ext uri="{FF2B5EF4-FFF2-40B4-BE49-F238E27FC236}">
                <a16:creationId xmlns:a16="http://schemas.microsoft.com/office/drawing/2014/main" id="{C7DBC705-CC2F-C97F-2C8C-D9EE5CE748AE}"/>
              </a:ext>
            </a:extLst>
          </p:cNvPr>
          <p:cNvGrpSpPr/>
          <p:nvPr/>
        </p:nvGrpSpPr>
        <p:grpSpPr>
          <a:xfrm>
            <a:off x="10307248" y="1339509"/>
            <a:ext cx="1528321" cy="302448"/>
            <a:chOff x="5796136" y="4189567"/>
            <a:chExt cx="1146539" cy="226895"/>
          </a:xfrm>
          <a:solidFill>
            <a:srgbClr val="9A0001"/>
          </a:solidFill>
        </p:grpSpPr>
        <p:sp>
          <p:nvSpPr>
            <p:cNvPr id="72" name="流程图: 数据 9">
              <a:extLst>
                <a:ext uri="{FF2B5EF4-FFF2-40B4-BE49-F238E27FC236}">
                  <a16:creationId xmlns:a16="http://schemas.microsoft.com/office/drawing/2014/main" id="{C6655B3B-FCDA-0143-D31F-9909B39BBC42}"/>
                </a:ext>
              </a:extLst>
            </p:cNvPr>
            <p:cNvSpPr/>
            <p:nvPr/>
          </p:nvSpPr>
          <p:spPr>
            <a:xfrm>
              <a:off x="579613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3" name="流程图: 数据 9">
              <a:extLst>
                <a:ext uri="{FF2B5EF4-FFF2-40B4-BE49-F238E27FC236}">
                  <a16:creationId xmlns:a16="http://schemas.microsoft.com/office/drawing/2014/main" id="{191769B2-C945-7730-E502-5CDBDFEF0246}"/>
                </a:ext>
              </a:extLst>
            </p:cNvPr>
            <p:cNvSpPr/>
            <p:nvPr/>
          </p:nvSpPr>
          <p:spPr>
            <a:xfrm>
              <a:off x="593750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4" name="流程图: 数据 9">
              <a:extLst>
                <a:ext uri="{FF2B5EF4-FFF2-40B4-BE49-F238E27FC236}">
                  <a16:creationId xmlns:a16="http://schemas.microsoft.com/office/drawing/2014/main" id="{F3E93CAF-5A0D-5FE1-E4A4-CB40C5DDA57F}"/>
                </a:ext>
              </a:extLst>
            </p:cNvPr>
            <p:cNvSpPr/>
            <p:nvPr/>
          </p:nvSpPr>
          <p:spPr>
            <a:xfrm>
              <a:off x="607887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5" name="流程图: 数据 9">
              <a:extLst>
                <a:ext uri="{FF2B5EF4-FFF2-40B4-BE49-F238E27FC236}">
                  <a16:creationId xmlns:a16="http://schemas.microsoft.com/office/drawing/2014/main" id="{B1AF9E48-C6FA-8AF2-D035-1E0726D8417B}"/>
                </a:ext>
              </a:extLst>
            </p:cNvPr>
            <p:cNvSpPr/>
            <p:nvPr/>
          </p:nvSpPr>
          <p:spPr>
            <a:xfrm>
              <a:off x="622024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6" name="流程图: 数据 9">
              <a:extLst>
                <a:ext uri="{FF2B5EF4-FFF2-40B4-BE49-F238E27FC236}">
                  <a16:creationId xmlns:a16="http://schemas.microsoft.com/office/drawing/2014/main" id="{5436B228-AD43-0B5C-47D8-6457D188EDC0}"/>
                </a:ext>
              </a:extLst>
            </p:cNvPr>
            <p:cNvSpPr/>
            <p:nvPr/>
          </p:nvSpPr>
          <p:spPr>
            <a:xfrm>
              <a:off x="636161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7" name="流程图: 数据 9">
              <a:extLst>
                <a:ext uri="{FF2B5EF4-FFF2-40B4-BE49-F238E27FC236}">
                  <a16:creationId xmlns:a16="http://schemas.microsoft.com/office/drawing/2014/main" id="{CEC264D3-ADF5-A742-511B-70CF829CCB40}"/>
                </a:ext>
              </a:extLst>
            </p:cNvPr>
            <p:cNvSpPr/>
            <p:nvPr/>
          </p:nvSpPr>
          <p:spPr>
            <a:xfrm>
              <a:off x="650298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8" name="流程图: 数据 9">
              <a:extLst>
                <a:ext uri="{FF2B5EF4-FFF2-40B4-BE49-F238E27FC236}">
                  <a16:creationId xmlns:a16="http://schemas.microsoft.com/office/drawing/2014/main" id="{60DBFF0E-1ADA-D3B3-5E44-E403FC9600C1}"/>
                </a:ext>
              </a:extLst>
            </p:cNvPr>
            <p:cNvSpPr/>
            <p:nvPr/>
          </p:nvSpPr>
          <p:spPr>
            <a:xfrm>
              <a:off x="664435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9" name="流程图: 数据 9">
              <a:extLst>
                <a:ext uri="{FF2B5EF4-FFF2-40B4-BE49-F238E27FC236}">
                  <a16:creationId xmlns:a16="http://schemas.microsoft.com/office/drawing/2014/main" id="{7DFC3D92-BE86-03D7-BA7C-2F6B8BA0522E}"/>
                </a:ext>
              </a:extLst>
            </p:cNvPr>
            <p:cNvSpPr/>
            <p:nvPr/>
          </p:nvSpPr>
          <p:spPr>
            <a:xfrm>
              <a:off x="6785729"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grpSp>
      <p:cxnSp>
        <p:nvCxnSpPr>
          <p:cNvPr id="80" name="直接连接符 92">
            <a:extLst>
              <a:ext uri="{FF2B5EF4-FFF2-40B4-BE49-F238E27FC236}">
                <a16:creationId xmlns:a16="http://schemas.microsoft.com/office/drawing/2014/main" id="{62F2D528-6148-4DDA-680B-6BE518656C38}"/>
              </a:ext>
            </a:extLst>
          </p:cNvPr>
          <p:cNvCxnSpPr/>
          <p:nvPr/>
        </p:nvCxnSpPr>
        <p:spPr>
          <a:xfrm>
            <a:off x="5365746" y="1490733"/>
            <a:ext cx="4726249" cy="0"/>
          </a:xfrm>
          <a:prstGeom prst="line">
            <a:avLst/>
          </a:prstGeom>
          <a:ln w="38100">
            <a:solidFill>
              <a:srgbClr val="9A0001"/>
            </a:solidFill>
            <a:prstDash val="solid"/>
            <a:miter/>
          </a:ln>
        </p:spPr>
      </p:cxnSp>
      <p:grpSp>
        <p:nvGrpSpPr>
          <p:cNvPr id="5" name="组合 4">
            <a:extLst>
              <a:ext uri="{FF2B5EF4-FFF2-40B4-BE49-F238E27FC236}">
                <a16:creationId xmlns:a16="http://schemas.microsoft.com/office/drawing/2014/main" id="{C94D85AA-B27E-4834-9ACC-791DEB36C72B}"/>
              </a:ext>
            </a:extLst>
          </p:cNvPr>
          <p:cNvGrpSpPr/>
          <p:nvPr/>
        </p:nvGrpSpPr>
        <p:grpSpPr>
          <a:xfrm>
            <a:off x="2649435" y="596757"/>
            <a:ext cx="1130656" cy="197719"/>
            <a:chOff x="2551974" y="630077"/>
            <a:chExt cx="697715" cy="122010"/>
          </a:xfrm>
        </p:grpSpPr>
        <p:sp>
          <p:nvSpPr>
            <p:cNvPr id="81" name="椭圆 80">
              <a:extLst>
                <a:ext uri="{FF2B5EF4-FFF2-40B4-BE49-F238E27FC236}">
                  <a16:creationId xmlns:a16="http://schemas.microsoft.com/office/drawing/2014/main" id="{349E22A5-ED63-D49D-D103-CF240113233F}"/>
                </a:ext>
              </a:extLst>
            </p:cNvPr>
            <p:cNvSpPr/>
            <p:nvPr/>
          </p:nvSpPr>
          <p:spPr>
            <a:xfrm>
              <a:off x="2551974" y="630077"/>
              <a:ext cx="122010" cy="122010"/>
            </a:xfrm>
            <a:prstGeom prst="ellipse">
              <a:avLst/>
            </a:prstGeom>
            <a:solidFill>
              <a:srgbClr val="9A0000"/>
            </a:solidFill>
            <a:ln>
              <a:noFill/>
            </a:ln>
          </p:spPr>
          <p:txBody>
            <a:bodyPr anchor="ctr"/>
            <a:lstStyle/>
            <a:p>
              <a:pPr algn="ctr"/>
              <a:endParaRPr lang="zh-CN" altLang="zh-CN" sz="3200">
                <a:solidFill>
                  <a:schemeClr val="lt1"/>
                </a:solidFill>
              </a:endParaRPr>
            </a:p>
          </p:txBody>
        </p:sp>
        <p:sp>
          <p:nvSpPr>
            <p:cNvPr id="82" name="椭圆 81">
              <a:extLst>
                <a:ext uri="{FF2B5EF4-FFF2-40B4-BE49-F238E27FC236}">
                  <a16:creationId xmlns:a16="http://schemas.microsoft.com/office/drawing/2014/main" id="{C394BC09-2A45-376B-13EC-57439A1D3EAD}"/>
                </a:ext>
              </a:extLst>
            </p:cNvPr>
            <p:cNvSpPr/>
            <p:nvPr/>
          </p:nvSpPr>
          <p:spPr>
            <a:xfrm>
              <a:off x="2839826" y="630077"/>
              <a:ext cx="122010" cy="122010"/>
            </a:xfrm>
            <a:prstGeom prst="ellipse">
              <a:avLst/>
            </a:prstGeom>
            <a:solidFill>
              <a:srgbClr val="9A0000">
                <a:alpha val="60000"/>
              </a:srgbClr>
            </a:solidFill>
            <a:ln>
              <a:noFill/>
            </a:ln>
          </p:spPr>
          <p:txBody>
            <a:bodyPr anchor="ctr"/>
            <a:lstStyle/>
            <a:p>
              <a:pPr algn="ctr"/>
              <a:endParaRPr lang="zh-CN" altLang="zh-CN" sz="3200">
                <a:solidFill>
                  <a:schemeClr val="lt1"/>
                </a:solidFill>
              </a:endParaRPr>
            </a:p>
          </p:txBody>
        </p:sp>
        <p:sp>
          <p:nvSpPr>
            <p:cNvPr id="83" name="椭圆 82">
              <a:extLst>
                <a:ext uri="{FF2B5EF4-FFF2-40B4-BE49-F238E27FC236}">
                  <a16:creationId xmlns:a16="http://schemas.microsoft.com/office/drawing/2014/main" id="{7454CABE-F409-A0A4-3811-461C09CBC68D}"/>
                </a:ext>
              </a:extLst>
            </p:cNvPr>
            <p:cNvSpPr/>
            <p:nvPr/>
          </p:nvSpPr>
          <p:spPr>
            <a:xfrm>
              <a:off x="3127679" y="630077"/>
              <a:ext cx="122010" cy="122010"/>
            </a:xfrm>
            <a:prstGeom prst="ellipse">
              <a:avLst/>
            </a:prstGeom>
            <a:solidFill>
              <a:srgbClr val="9A0000">
                <a:alpha val="20000"/>
              </a:srgbClr>
            </a:solidFill>
            <a:ln>
              <a:noFill/>
            </a:ln>
          </p:spPr>
          <p:txBody>
            <a:bodyPr anchor="ctr"/>
            <a:lstStyle/>
            <a:p>
              <a:pPr algn="ctr"/>
              <a:endParaRPr lang="zh-CN" altLang="zh-CN" sz="3200">
                <a:solidFill>
                  <a:schemeClr val="lt1"/>
                </a:solidFill>
              </a:endParaRPr>
            </a:p>
          </p:txBody>
        </p:sp>
      </p:grpSp>
    </p:spTree>
    <p:extLst>
      <p:ext uri="{BB962C8B-B14F-4D97-AF65-F5344CB8AC3E}">
        <p14:creationId xmlns:p14="http://schemas.microsoft.com/office/powerpoint/2010/main" val="287549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F4D9B-40E7-CF76-D2EB-C7E69F22F356}"/>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59C60115-C1BA-B228-3770-1B95A6E36EB8}"/>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9AC9E04E-584C-4420-2B66-B9AA793EF23A}"/>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847E16C0-5322-7651-A64E-AC0EE0113BDF}"/>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09C89D91-BC69-1F39-A371-A25F4675D3B4}"/>
              </a:ext>
            </a:extLst>
          </p:cNvPr>
          <p:cNvSpPr txBox="1"/>
          <p:nvPr/>
        </p:nvSpPr>
        <p:spPr>
          <a:xfrm>
            <a:off x="845481" y="478670"/>
            <a:ext cx="10946591" cy="646331"/>
          </a:xfrm>
          <a:prstGeom prst="rect">
            <a:avLst/>
          </a:prstGeom>
          <a:noFill/>
        </p:spPr>
        <p:txBody>
          <a:bodyPr wrap="square" rtlCol="0">
            <a:spAutoFit/>
          </a:bodyPr>
          <a:lstStyle/>
          <a:p>
            <a:r>
              <a:rPr lang="zh-CN" altLang="en-US" sz="3600" b="1" dirty="0">
                <a:latin typeface="+mj-lt"/>
                <a:ea typeface="宋体" panose="02010600030101010101" pitchFamily="2" charset="-122"/>
                <a:cs typeface="宋体" panose="02010600030101010101" pitchFamily="2" charset="-122"/>
              </a:rPr>
              <a:t>文章简介</a:t>
            </a:r>
          </a:p>
        </p:txBody>
      </p:sp>
      <p:pic>
        <p:nvPicPr>
          <p:cNvPr id="5" name="图片 4">
            <a:extLst>
              <a:ext uri="{FF2B5EF4-FFF2-40B4-BE49-F238E27FC236}">
                <a16:creationId xmlns:a16="http://schemas.microsoft.com/office/drawing/2014/main" id="{8712CBFA-C869-45AF-B7F7-C37FFDE05630}"/>
              </a:ext>
            </a:extLst>
          </p:cNvPr>
          <p:cNvPicPr>
            <a:picLocks noChangeAspect="1"/>
          </p:cNvPicPr>
          <p:nvPr/>
        </p:nvPicPr>
        <p:blipFill>
          <a:blip r:embed="rId3"/>
          <a:stretch>
            <a:fillRect/>
          </a:stretch>
        </p:blipFill>
        <p:spPr>
          <a:xfrm>
            <a:off x="2219325" y="1423737"/>
            <a:ext cx="7753350" cy="1905000"/>
          </a:xfrm>
          <a:prstGeom prst="rect">
            <a:avLst/>
          </a:prstGeom>
        </p:spPr>
      </p:pic>
      <p:sp>
        <p:nvSpPr>
          <p:cNvPr id="9" name="文本框 8">
            <a:extLst>
              <a:ext uri="{FF2B5EF4-FFF2-40B4-BE49-F238E27FC236}">
                <a16:creationId xmlns:a16="http://schemas.microsoft.com/office/drawing/2014/main" id="{DA82DC99-E670-45C4-BDC7-574581FF58A1}"/>
              </a:ext>
            </a:extLst>
          </p:cNvPr>
          <p:cNvSpPr txBox="1"/>
          <p:nvPr/>
        </p:nvSpPr>
        <p:spPr>
          <a:xfrm>
            <a:off x="8861806" y="3764287"/>
            <a:ext cx="1401346" cy="369332"/>
          </a:xfrm>
          <a:prstGeom prst="rect">
            <a:avLst/>
          </a:prstGeom>
          <a:noFill/>
        </p:spPr>
        <p:txBody>
          <a:bodyPr wrap="none" rtlCol="0">
            <a:spAutoFit/>
          </a:bodyPr>
          <a:lstStyle/>
          <a:p>
            <a:r>
              <a:rPr lang="zh-CN" altLang="en-US" b="0" i="0" dirty="0">
                <a:solidFill>
                  <a:srgbClr val="0F1115"/>
                </a:solidFill>
                <a:effectLst/>
                <a:latin typeface="quote-cjk-patch"/>
              </a:rPr>
              <a:t>（</a:t>
            </a:r>
            <a:r>
              <a:rPr lang="en-US" altLang="zh-CN" b="0" i="0" dirty="0">
                <a:solidFill>
                  <a:srgbClr val="0F1115"/>
                </a:solidFill>
                <a:effectLst/>
                <a:latin typeface="quote-cjk-patch"/>
              </a:rPr>
              <a:t>2025.05</a:t>
            </a:r>
            <a:r>
              <a:rPr lang="zh-CN" altLang="en-US" b="0" i="0" dirty="0">
                <a:solidFill>
                  <a:srgbClr val="0F1115"/>
                </a:solidFill>
                <a:effectLst/>
                <a:latin typeface="quote-cjk-patch"/>
              </a:rPr>
              <a:t>）</a:t>
            </a:r>
            <a:endParaRPr lang="zh-CN" altLang="en-US" dirty="0"/>
          </a:p>
        </p:txBody>
      </p:sp>
    </p:spTree>
    <p:extLst>
      <p:ext uri="{BB962C8B-B14F-4D97-AF65-F5344CB8AC3E}">
        <p14:creationId xmlns:p14="http://schemas.microsoft.com/office/powerpoint/2010/main" val="2067550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E2194-5069-7445-9E86-12FAF962DAE1}"/>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38EE5E24-FF8E-5B5B-B8E1-C4C6FD79A4F9}"/>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5DC250AB-BC9D-E3B5-8984-A467A0B02AAB}"/>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F45736D-D0CB-DEB1-EAED-35EA0751D2F3}"/>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1D4E0C70-3ABD-769F-1C0C-6E6097CD5284}"/>
              </a:ext>
            </a:extLst>
          </p:cNvPr>
          <p:cNvSpPr txBox="1"/>
          <p:nvPr/>
        </p:nvSpPr>
        <p:spPr>
          <a:xfrm>
            <a:off x="845481" y="478670"/>
            <a:ext cx="10946591" cy="646331"/>
          </a:xfrm>
          <a:prstGeom prst="rect">
            <a:avLst/>
          </a:prstGeom>
          <a:noFill/>
        </p:spPr>
        <p:txBody>
          <a:bodyPr wrap="square" rtlCol="0">
            <a:spAutoFit/>
          </a:bodyPr>
          <a:lstStyle/>
          <a:p>
            <a:r>
              <a:rPr lang="en-US" altLang="zh-CN" sz="3600" b="1" dirty="0">
                <a:latin typeface="+mj-lt"/>
                <a:ea typeface="宋体" panose="02010600030101010101" pitchFamily="2" charset="-122"/>
                <a:cs typeface="宋体" panose="02010600030101010101" pitchFamily="2" charset="-122"/>
              </a:rPr>
              <a:t>Spill The Beans</a:t>
            </a:r>
            <a:r>
              <a:rPr lang="zh-CN" altLang="en-US" sz="3600" b="1" dirty="0">
                <a:latin typeface="+mj-lt"/>
                <a:ea typeface="宋体" panose="02010600030101010101" pitchFamily="2" charset="-122"/>
                <a:cs typeface="宋体" panose="02010600030101010101" pitchFamily="2" charset="-122"/>
              </a:rPr>
              <a:t>攻击</a:t>
            </a:r>
          </a:p>
        </p:txBody>
      </p:sp>
      <p:sp>
        <p:nvSpPr>
          <p:cNvPr id="7" name="文本框 6">
            <a:extLst>
              <a:ext uri="{FF2B5EF4-FFF2-40B4-BE49-F238E27FC236}">
                <a16:creationId xmlns:a16="http://schemas.microsoft.com/office/drawing/2014/main" id="{E99FD041-914B-4C96-9099-E474C4DD4B59}"/>
              </a:ext>
            </a:extLst>
          </p:cNvPr>
          <p:cNvSpPr txBox="1"/>
          <p:nvPr/>
        </p:nvSpPr>
        <p:spPr>
          <a:xfrm>
            <a:off x="238998" y="1351386"/>
            <a:ext cx="10612358" cy="4597862"/>
          </a:xfrm>
          <a:prstGeom prst="rect">
            <a:avLst/>
          </a:prstGeom>
          <a:noFill/>
        </p:spPr>
        <p:txBody>
          <a:bodyPr wrap="square">
            <a:spAutoFit/>
          </a:bodyPr>
          <a:lstStyle/>
          <a:p>
            <a:pPr marL="285750" indent="-285750" algn="just">
              <a:lnSpc>
                <a:spcPct val="150000"/>
              </a:lnSpc>
              <a:buFont typeface="Arial" panose="020B0604020202020204" pitchFamily="34" charset="0"/>
              <a:buChar char="•"/>
            </a:pPr>
            <a:endParaRPr lang="en-US" altLang="zh-CN" kern="0" dirty="0">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800" b="1" dirty="0">
                <a:effectLst/>
                <a:latin typeface="楷体" panose="02010609060101010101" pitchFamily="49" charset="-122"/>
                <a:ea typeface="楷体" panose="02010609060101010101" pitchFamily="49" charset="-122"/>
                <a:cs typeface="Times New Roman" panose="02020603050405020304" pitchFamily="18" charset="0"/>
              </a:rPr>
              <a:t>攻击模型</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攻击者需要与受害者的</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LLM</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进程共置在同一台物理服务器的</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CPU</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上。攻击者无法直接访问</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GPU</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或模型，但可以运行本地进程。</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b="1" dirty="0">
                <a:latin typeface="楷体" panose="02010609060101010101" pitchFamily="49" charset="-122"/>
                <a:ea typeface="楷体" panose="02010609060101010101" pitchFamily="49" charset="-122"/>
                <a:cs typeface="Times New Roman" panose="02020603050405020304" pitchFamily="18" charset="0"/>
              </a:rPr>
              <a:t>攻击</a:t>
            </a:r>
            <a:r>
              <a:rPr lang="zh-CN" altLang="en-US" sz="1800" b="1" dirty="0">
                <a:effectLst/>
                <a:latin typeface="楷体" panose="02010609060101010101" pitchFamily="49" charset="-122"/>
                <a:ea typeface="楷体" panose="02010609060101010101" pitchFamily="49" charset="-122"/>
                <a:cs typeface="Times New Roman" panose="02020603050405020304" pitchFamily="18" charset="0"/>
              </a:rPr>
              <a:t>目标</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利用</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CPU</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缓存侧信道来窃取大语言模型正在生成的</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，针对</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LLM</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嵌入层（</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embedding layers</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）的硬件级缓存。</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lang="en-US" altLang="zh-CN" sz="18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800" b="1" dirty="0">
                <a:effectLst/>
                <a:latin typeface="楷体" panose="02010609060101010101" pitchFamily="49" charset="-122"/>
                <a:ea typeface="楷体" panose="02010609060101010101" pitchFamily="49" charset="-122"/>
                <a:cs typeface="Times New Roman" panose="02020603050405020304" pitchFamily="18" charset="0"/>
              </a:rPr>
              <a:t>利用漏洞</a:t>
            </a:r>
            <a:r>
              <a:rPr lang="zh-CN" altLang="en-US" sz="18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当大语言模型在</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GPU</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上生成一个</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时，它需要从嵌入表中读取对应的向量。这个表存在于由</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CPU</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和</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GPU</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共享的统一内存中</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读取操作会在</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CPU</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缓存中留下痕迹。</a:t>
            </a:r>
          </a:p>
          <a:p>
            <a:pPr marL="285750" indent="-285750">
              <a:lnSpc>
                <a:spcPct val="150000"/>
              </a:lnSpc>
              <a:buFont typeface="Arial" panose="020B0604020202020204" pitchFamily="34" charset="0"/>
              <a:buChar char="•"/>
            </a:pPr>
            <a:endParaRPr lang="en-US" altLang="zh-CN" dirty="0">
              <a:latin typeface="楷体" panose="02010609060101010101" pitchFamily="49" charset="-122"/>
              <a:ea typeface="楷体" panose="02010609060101010101" pitchFamily="49" charset="-122"/>
              <a:cs typeface="Times New Roman" panose="02020603050405020304" pitchFamily="18" charset="0"/>
            </a:endParaRPr>
          </a:p>
          <a:p>
            <a:pPr marL="285750" indent="-285750">
              <a:lnSpc>
                <a:spcPct val="150000"/>
              </a:lnSpc>
              <a:buFont typeface="Arial" panose="020B0604020202020204" pitchFamily="34" charset="0"/>
              <a:buChar char="•"/>
            </a:pPr>
            <a:endParaRPr lang="zh-CN" altLang="en-US"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697551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E2194-5069-7445-9E86-12FAF962DAE1}"/>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38EE5E24-FF8E-5B5B-B8E1-C4C6FD79A4F9}"/>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5DC250AB-BC9D-E3B5-8984-A467A0B02AAB}"/>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F45736D-D0CB-DEB1-EAED-35EA0751D2F3}"/>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1D4E0C70-3ABD-769F-1C0C-6E6097CD5284}"/>
              </a:ext>
            </a:extLst>
          </p:cNvPr>
          <p:cNvSpPr txBox="1"/>
          <p:nvPr/>
        </p:nvSpPr>
        <p:spPr>
          <a:xfrm>
            <a:off x="845481" y="478670"/>
            <a:ext cx="10946591" cy="646331"/>
          </a:xfrm>
          <a:prstGeom prst="rect">
            <a:avLst/>
          </a:prstGeom>
          <a:noFill/>
        </p:spPr>
        <p:txBody>
          <a:bodyPr wrap="square" rtlCol="0">
            <a:spAutoFit/>
          </a:bodyPr>
          <a:lstStyle/>
          <a:p>
            <a:r>
              <a:rPr lang="zh-CN" altLang="en-US" sz="3600" b="1" dirty="0">
                <a:latin typeface="+mj-lt"/>
                <a:ea typeface="宋体" panose="02010600030101010101" pitchFamily="2" charset="-122"/>
                <a:cs typeface="宋体" panose="02010600030101010101" pitchFamily="2" charset="-122"/>
              </a:rPr>
              <a:t>攻击前准备</a:t>
            </a:r>
          </a:p>
        </p:txBody>
      </p:sp>
      <p:sp>
        <p:nvSpPr>
          <p:cNvPr id="3" name="文本框 2">
            <a:extLst>
              <a:ext uri="{FF2B5EF4-FFF2-40B4-BE49-F238E27FC236}">
                <a16:creationId xmlns:a16="http://schemas.microsoft.com/office/drawing/2014/main" id="{FFE94AE5-1D6F-4E9A-8D47-88940D322E33}"/>
              </a:ext>
            </a:extLst>
          </p:cNvPr>
          <p:cNvSpPr txBox="1"/>
          <p:nvPr/>
        </p:nvSpPr>
        <p:spPr>
          <a:xfrm>
            <a:off x="397228" y="1606683"/>
            <a:ext cx="9762876" cy="293586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实现共置：攻击者必须确保自己的进程与目标</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LLM</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服务进程运行在同一物理</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CPU</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核心或共享末级缓存的核心上。</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sz="1800" kern="100" dirty="0">
                <a:solidFill>
                  <a:srgbClr val="0F1115"/>
                </a:solidFill>
                <a:effectLst/>
                <a:latin typeface="楷体" panose="02010609060101010101" pitchFamily="49" charset="-122"/>
                <a:ea typeface="楷体" panose="02010609060101010101" pitchFamily="49" charset="-122"/>
                <a:cs typeface="Segoe UI" panose="020B0502040204020203" pitchFamily="34" charset="0"/>
              </a:rPr>
              <a:t>获取模型：</a:t>
            </a:r>
            <a:r>
              <a:rPr lang="zh-CN" altLang="zh-CN" sz="1800" kern="100" dirty="0">
                <a:solidFill>
                  <a:srgbClr val="0F1115"/>
                </a:solidFill>
                <a:effectLst/>
                <a:latin typeface="楷体" panose="02010609060101010101" pitchFamily="49" charset="-122"/>
                <a:ea typeface="楷体" panose="02010609060101010101" pitchFamily="49" charset="-122"/>
                <a:cs typeface="Segoe UI" panose="020B0502040204020203" pitchFamily="34" charset="0"/>
              </a:rPr>
              <a:t>通过解析文件头，可以精确计算出</a:t>
            </a:r>
            <a:r>
              <a:rPr lang="zh-CN" altLang="zh-CN" sz="1800" b="0" kern="100" dirty="0">
                <a:effectLst/>
                <a:latin typeface="楷体" panose="02010609060101010101" pitchFamily="49" charset="-122"/>
                <a:ea typeface="楷体" panose="02010609060101010101" pitchFamily="49" charset="-122"/>
                <a:cs typeface="Segoe UI" panose="020B0502040204020203" pitchFamily="34" charset="0"/>
              </a:rPr>
              <a:t>嵌入层</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在内存中的起始地址，以及每个令牌对应向量的偏移量。</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en-US" kern="100" dirty="0">
                <a:solidFill>
                  <a:srgbClr val="0F1115"/>
                </a:solidFill>
                <a:latin typeface="楷体" panose="02010609060101010101" pitchFamily="49" charset="-122"/>
                <a:ea typeface="楷体" panose="02010609060101010101" pitchFamily="49" charset="-122"/>
                <a:cs typeface="Times New Roman" panose="02020603050405020304" pitchFamily="18" charset="0"/>
              </a:rPr>
              <a:t>选取目标：</a:t>
            </a:r>
            <a:r>
              <a:rPr lang="zh-CN" altLang="zh-CN" sz="1800" kern="100" dirty="0">
                <a:solidFill>
                  <a:srgbClr val="0F1115"/>
                </a:solidFill>
                <a:effectLst/>
                <a:latin typeface="楷体" panose="02010609060101010101" pitchFamily="49" charset="-122"/>
                <a:ea typeface="楷体" panose="02010609060101010101" pitchFamily="49" charset="-122"/>
                <a:cs typeface="Segoe UI" panose="020B0502040204020203" pitchFamily="34" charset="0"/>
              </a:rPr>
              <a:t>攻击者根据攻击目标，选择一个</a:t>
            </a:r>
            <a:r>
              <a:rPr lang="zh-CN" altLang="zh-CN" sz="1800" b="0" kern="100" dirty="0">
                <a:effectLst/>
                <a:latin typeface="楷体" panose="02010609060101010101" pitchFamily="49" charset="-122"/>
                <a:ea typeface="楷体" panose="02010609060101010101" pitchFamily="49" charset="-122"/>
                <a:cs typeface="Segoe UI" panose="020B0502040204020203" pitchFamily="34" charset="0"/>
              </a:rPr>
              <a:t>目标</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b="0" kern="100" dirty="0">
                <a:solidFill>
                  <a:srgbClr val="0F1115"/>
                </a:solidFill>
                <a:effectLst/>
                <a:latin typeface="楷体" panose="02010609060101010101" pitchFamily="49" charset="-122"/>
                <a:ea typeface="楷体" panose="02010609060101010101" pitchFamily="49" charset="-122"/>
                <a:cs typeface="Segoe UI" panose="020B0502040204020203" pitchFamily="34" charset="0"/>
              </a:rPr>
              <a:t>集合。</a:t>
            </a:r>
            <a:endPar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835157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E2194-5069-7445-9E86-12FAF962DAE1}"/>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38EE5E24-FF8E-5B5B-B8E1-C4C6FD79A4F9}"/>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5DC250AB-BC9D-E3B5-8984-A467A0B02AAB}"/>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F45736D-D0CB-DEB1-EAED-35EA0751D2F3}"/>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1D4E0C70-3ABD-769F-1C0C-6E6097CD5284}"/>
              </a:ext>
            </a:extLst>
          </p:cNvPr>
          <p:cNvSpPr txBox="1"/>
          <p:nvPr/>
        </p:nvSpPr>
        <p:spPr>
          <a:xfrm>
            <a:off x="845481" y="478670"/>
            <a:ext cx="10946591" cy="646331"/>
          </a:xfrm>
          <a:prstGeom prst="rect">
            <a:avLst/>
          </a:prstGeom>
          <a:noFill/>
        </p:spPr>
        <p:txBody>
          <a:bodyPr wrap="square" rtlCol="0">
            <a:spAutoFit/>
          </a:bodyPr>
          <a:lstStyle/>
          <a:p>
            <a:r>
              <a:rPr lang="zh-CN" altLang="en-US" sz="3600" b="1" dirty="0">
                <a:latin typeface="+mj-lt"/>
                <a:ea typeface="宋体" panose="02010600030101010101" pitchFamily="2" charset="-122"/>
                <a:cs typeface="宋体" panose="02010600030101010101" pitchFamily="2" charset="-122"/>
              </a:rPr>
              <a:t>攻击步骤（</a:t>
            </a:r>
            <a:r>
              <a:rPr lang="en-US" altLang="zh-CN" sz="3600" b="1" dirty="0">
                <a:latin typeface="+mj-lt"/>
                <a:ea typeface="宋体" panose="02010600030101010101" pitchFamily="2" charset="-122"/>
                <a:cs typeface="宋体" panose="02010600030101010101" pitchFamily="2" charset="-122"/>
              </a:rPr>
              <a:t>1</a:t>
            </a:r>
            <a:r>
              <a:rPr lang="zh-CN" altLang="en-US" sz="3600" b="1" dirty="0">
                <a:latin typeface="+mj-lt"/>
                <a:ea typeface="宋体" panose="02010600030101010101" pitchFamily="2" charset="-122"/>
                <a:cs typeface="宋体" panose="02010600030101010101" pitchFamily="2" charset="-122"/>
              </a:rPr>
              <a:t>）</a:t>
            </a:r>
          </a:p>
        </p:txBody>
      </p:sp>
      <p:sp>
        <p:nvSpPr>
          <p:cNvPr id="3" name="文本框 2">
            <a:extLst>
              <a:ext uri="{FF2B5EF4-FFF2-40B4-BE49-F238E27FC236}">
                <a16:creationId xmlns:a16="http://schemas.microsoft.com/office/drawing/2014/main" id="{FFE94AE5-1D6F-4E9A-8D47-88940D322E33}"/>
              </a:ext>
            </a:extLst>
          </p:cNvPr>
          <p:cNvSpPr txBox="1"/>
          <p:nvPr/>
        </p:nvSpPr>
        <p:spPr>
          <a:xfrm>
            <a:off x="695338" y="1512673"/>
            <a:ext cx="10284230" cy="168937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1</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Setup</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（启动）：攻击者在与受害者进程相同的物理</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CPU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上放置一个恶意进程，从而能够访问共享的</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CPU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内存空间。 </a:t>
            </a:r>
          </a:p>
          <a:p>
            <a:pPr marL="285750" indent="-285750" algn="just">
              <a:lnSpc>
                <a:spcPct val="150000"/>
              </a:lnSpc>
              <a:buFont typeface="Arial" panose="020B0604020202020204" pitchFamily="34" charset="0"/>
              <a:buChar char="•"/>
            </a:pP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2</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Calibration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（校对）：攻击者使用元数据识别模型文件中嵌入层的内存位置，并计算目标</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token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的偏移量。</a:t>
            </a:r>
          </a:p>
        </p:txBody>
      </p:sp>
      <p:pic>
        <p:nvPicPr>
          <p:cNvPr id="7" name="图片 6">
            <a:extLst>
              <a:ext uri="{FF2B5EF4-FFF2-40B4-BE49-F238E27FC236}">
                <a16:creationId xmlns:a16="http://schemas.microsoft.com/office/drawing/2014/main" id="{415096E8-458B-4A00-848F-DA3E4ABB7810}"/>
              </a:ext>
            </a:extLst>
          </p:cNvPr>
          <p:cNvPicPr/>
          <p:nvPr/>
        </p:nvPicPr>
        <p:blipFill>
          <a:blip r:embed="rId3"/>
          <a:stretch>
            <a:fillRect/>
          </a:stretch>
        </p:blipFill>
        <p:spPr>
          <a:xfrm>
            <a:off x="931928" y="3349088"/>
            <a:ext cx="5644834" cy="2353881"/>
          </a:xfrm>
          <a:prstGeom prst="rect">
            <a:avLst/>
          </a:prstGeom>
        </p:spPr>
      </p:pic>
    </p:spTree>
    <p:extLst>
      <p:ext uri="{BB962C8B-B14F-4D97-AF65-F5344CB8AC3E}">
        <p14:creationId xmlns:p14="http://schemas.microsoft.com/office/powerpoint/2010/main" val="735558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E2194-5069-7445-9E86-12FAF962DAE1}"/>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38EE5E24-FF8E-5B5B-B8E1-C4C6FD79A4F9}"/>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5DC250AB-BC9D-E3B5-8984-A467A0B02AAB}"/>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F45736D-D0CB-DEB1-EAED-35EA0751D2F3}"/>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1D4E0C70-3ABD-769F-1C0C-6E6097CD5284}"/>
              </a:ext>
            </a:extLst>
          </p:cNvPr>
          <p:cNvSpPr txBox="1"/>
          <p:nvPr/>
        </p:nvSpPr>
        <p:spPr>
          <a:xfrm>
            <a:off x="845481" y="478670"/>
            <a:ext cx="10946591" cy="646331"/>
          </a:xfrm>
          <a:prstGeom prst="rect">
            <a:avLst/>
          </a:prstGeom>
          <a:noFill/>
        </p:spPr>
        <p:txBody>
          <a:bodyPr wrap="square" rtlCol="0">
            <a:spAutoFit/>
          </a:bodyPr>
          <a:lstStyle/>
          <a:p>
            <a:r>
              <a:rPr lang="zh-CN" altLang="en-US" sz="3600" b="1" dirty="0">
                <a:latin typeface="+mj-lt"/>
                <a:ea typeface="宋体" panose="02010600030101010101" pitchFamily="2" charset="-122"/>
                <a:cs typeface="宋体" panose="02010600030101010101" pitchFamily="2" charset="-122"/>
              </a:rPr>
              <a:t>攻击步骤（</a:t>
            </a:r>
            <a:r>
              <a:rPr lang="en-US" altLang="zh-CN" sz="3600" b="1" dirty="0">
                <a:latin typeface="+mj-lt"/>
                <a:ea typeface="宋体" panose="02010600030101010101" pitchFamily="2" charset="-122"/>
                <a:cs typeface="宋体" panose="02010600030101010101" pitchFamily="2" charset="-122"/>
              </a:rPr>
              <a:t>2</a:t>
            </a:r>
            <a:r>
              <a:rPr lang="zh-CN" altLang="en-US" sz="3600" b="1" dirty="0">
                <a:latin typeface="+mj-lt"/>
                <a:ea typeface="宋体" panose="02010600030101010101" pitchFamily="2" charset="-122"/>
                <a:cs typeface="宋体" panose="02010600030101010101" pitchFamily="2" charset="-122"/>
              </a:rPr>
              <a:t>）</a:t>
            </a:r>
          </a:p>
        </p:txBody>
      </p:sp>
      <p:sp>
        <p:nvSpPr>
          <p:cNvPr id="3" name="文本框 2">
            <a:extLst>
              <a:ext uri="{FF2B5EF4-FFF2-40B4-BE49-F238E27FC236}">
                <a16:creationId xmlns:a16="http://schemas.microsoft.com/office/drawing/2014/main" id="{FFE94AE5-1D6F-4E9A-8D47-88940D322E33}"/>
              </a:ext>
            </a:extLst>
          </p:cNvPr>
          <p:cNvSpPr txBox="1"/>
          <p:nvPr/>
        </p:nvSpPr>
        <p:spPr>
          <a:xfrm>
            <a:off x="794456" y="1347663"/>
            <a:ext cx="10857672" cy="4247317"/>
          </a:xfrm>
          <a:prstGeom prst="rect">
            <a:avLst/>
          </a:prstGeom>
          <a:noFill/>
        </p:spPr>
        <p:txBody>
          <a:bodyPr wrap="square" rtlCol="0">
            <a:spAutoFit/>
          </a:bodyPr>
          <a:lstStyle/>
          <a:p>
            <a:pPr marL="285750" indent="-285750" algn="just">
              <a:buFont typeface="Arial" panose="020B0604020202020204" pitchFamily="34" charset="0"/>
              <a:buChar char="•"/>
            </a:pP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3</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Flush</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（清除）：攻击者使用</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a:t>
            </a:r>
            <a:r>
              <a:rPr lang="en-US" altLang="zh-CN" sz="1800" kern="100" dirty="0" err="1">
                <a:effectLst/>
                <a:latin typeface="楷体" panose="02010609060101010101" pitchFamily="49" charset="-122"/>
                <a:ea typeface="楷体" panose="02010609060101010101" pitchFamily="49" charset="-122"/>
                <a:cs typeface="Times New Roman" panose="02020603050405020304" pitchFamily="18" charset="0"/>
              </a:rPr>
              <a:t>clflush</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指令将对应嵌入向量的特定内存地址从缓存中清除。</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algn="just"/>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 </a:t>
            </a:r>
          </a:p>
          <a:p>
            <a:pPr marL="285750" indent="-285750" algn="just">
              <a:buFont typeface="Arial" panose="020B0604020202020204" pitchFamily="34" charset="0"/>
              <a:buChar char="•"/>
            </a:pP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4</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Monitor</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（监控）</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在受害者进行</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LLM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推理时，攻击者测量内存访问时间以检测缓存命中。缓存命中表明受害者访问了特定</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的嵌入向量。</a:t>
            </a:r>
          </a:p>
          <a:p>
            <a:pPr indent="266700" algn="just"/>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这里使用了轮询监控的模式：从模型的词汇表中识别感兴趣的</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token ID</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&gt;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将每个</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 ID</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转换为嵌入层中对应的偏移量，得到一个绝对偏移量列表—</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&gt;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以快速的轮询方式（</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round-robin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）遍历每个目标</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的内存位置。</a:t>
            </a:r>
          </a:p>
          <a:p>
            <a:pPr indent="266700" algn="just"/>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轮询步骤如下：</a:t>
            </a:r>
          </a:p>
          <a:p>
            <a:pPr indent="266700" algn="l"/>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Access:</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在</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GGUF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文件中按计算出的偏移加载缓存行。</a:t>
            </a:r>
          </a:p>
          <a:p>
            <a:pPr indent="266700" algn="l"/>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Time Measurement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：使用高精度计时源记录完成此加载所需的时间</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endPar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indent="266700" algn="l"/>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Flush</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：使用</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a:t>
            </a:r>
            <a:r>
              <a:rPr lang="en-US" altLang="zh-CN" sz="1800" kern="100" dirty="0" err="1">
                <a:effectLst/>
                <a:latin typeface="楷体" panose="02010609060101010101" pitchFamily="49" charset="-122"/>
                <a:ea typeface="楷体" panose="02010609060101010101" pitchFamily="49" charset="-122"/>
                <a:cs typeface="Times New Roman" panose="02020603050405020304" pitchFamily="18" charset="0"/>
              </a:rPr>
              <a:t>clflush</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立即刷新同一缓存行，确保该行从所有级别的缓存中被清理。</a:t>
            </a:r>
          </a:p>
          <a:p>
            <a:pPr indent="266700" algn="l"/>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Record</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：如果</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访问在指定的时间限制内，尽可能以最小开销记录缓存命中。</a:t>
            </a:r>
          </a:p>
          <a:p>
            <a:pPr indent="266700" algn="l"/>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Next 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：轮询继续到下一个</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以进行刷新重载。</a:t>
            </a:r>
          </a:p>
          <a:p>
            <a:pPr indent="266700" algn="l"/>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如果记录的访问时间低于预定阈值（例如</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200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个</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CPU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周期），攻击者会得出结论，</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最近被模型访问过，因此在缓存中</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命中</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1975105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E2194-5069-7445-9E86-12FAF962DAE1}"/>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38EE5E24-FF8E-5B5B-B8E1-C4C6FD79A4F9}"/>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5DC250AB-BC9D-E3B5-8984-A467A0B02AAB}"/>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F45736D-D0CB-DEB1-EAED-35EA0751D2F3}"/>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1D4E0C70-3ABD-769F-1C0C-6E6097CD5284}"/>
              </a:ext>
            </a:extLst>
          </p:cNvPr>
          <p:cNvSpPr txBox="1"/>
          <p:nvPr/>
        </p:nvSpPr>
        <p:spPr>
          <a:xfrm>
            <a:off x="845481" y="478670"/>
            <a:ext cx="10946591" cy="646331"/>
          </a:xfrm>
          <a:prstGeom prst="rect">
            <a:avLst/>
          </a:prstGeom>
          <a:noFill/>
        </p:spPr>
        <p:txBody>
          <a:bodyPr wrap="square" rtlCol="0">
            <a:spAutoFit/>
          </a:bodyPr>
          <a:lstStyle/>
          <a:p>
            <a:r>
              <a:rPr lang="zh-CN" altLang="en-US" sz="3600" b="1" dirty="0">
                <a:latin typeface="+mj-lt"/>
                <a:ea typeface="宋体" panose="02010600030101010101" pitchFamily="2" charset="-122"/>
                <a:cs typeface="宋体" panose="02010600030101010101" pitchFamily="2" charset="-122"/>
              </a:rPr>
              <a:t>攻击步骤（</a:t>
            </a:r>
            <a:r>
              <a:rPr lang="en-US" altLang="zh-CN" sz="3600" b="1" dirty="0">
                <a:latin typeface="+mj-lt"/>
                <a:ea typeface="宋体" panose="02010600030101010101" pitchFamily="2" charset="-122"/>
                <a:cs typeface="宋体" panose="02010600030101010101" pitchFamily="2" charset="-122"/>
              </a:rPr>
              <a:t>3</a:t>
            </a:r>
            <a:r>
              <a:rPr lang="zh-CN" altLang="en-US" sz="3600" b="1" dirty="0">
                <a:latin typeface="+mj-lt"/>
                <a:ea typeface="宋体" panose="02010600030101010101" pitchFamily="2" charset="-122"/>
                <a:cs typeface="宋体" panose="02010600030101010101" pitchFamily="2" charset="-122"/>
              </a:rPr>
              <a:t>）</a:t>
            </a:r>
          </a:p>
        </p:txBody>
      </p:sp>
      <p:sp>
        <p:nvSpPr>
          <p:cNvPr id="3" name="文本框 2">
            <a:extLst>
              <a:ext uri="{FF2B5EF4-FFF2-40B4-BE49-F238E27FC236}">
                <a16:creationId xmlns:a16="http://schemas.microsoft.com/office/drawing/2014/main" id="{FFE94AE5-1D6F-4E9A-8D47-88940D322E33}"/>
              </a:ext>
            </a:extLst>
          </p:cNvPr>
          <p:cNvSpPr txBox="1"/>
          <p:nvPr/>
        </p:nvSpPr>
        <p:spPr>
          <a:xfrm>
            <a:off x="530138" y="1615916"/>
            <a:ext cx="6084975" cy="252037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5</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Inference Reconstruction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（推理重建）</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攻击者将检测到的缓存命中与</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 ID</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关联，以逐</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重建受害者的</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LLM</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推理输出。</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algn="just">
              <a:lnSpc>
                <a:spcPct val="150000"/>
              </a:lnSpc>
            </a:pPr>
            <a:endPar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6</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Iteration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（迭代）：攻击者重复此过程以监控多个</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，优化检测可靠性与词汇覆盖率之间的平衡点。</a:t>
            </a:r>
          </a:p>
        </p:txBody>
      </p:sp>
      <p:pic>
        <p:nvPicPr>
          <p:cNvPr id="7" name="图片 6">
            <a:extLst>
              <a:ext uri="{FF2B5EF4-FFF2-40B4-BE49-F238E27FC236}">
                <a16:creationId xmlns:a16="http://schemas.microsoft.com/office/drawing/2014/main" id="{9DF3142E-96D8-4223-8973-44722ECD29BB}"/>
              </a:ext>
            </a:extLst>
          </p:cNvPr>
          <p:cNvPicPr/>
          <p:nvPr/>
        </p:nvPicPr>
        <p:blipFill rotWithShape="1">
          <a:blip r:embed="rId3"/>
          <a:srcRect b="14143"/>
          <a:stretch/>
        </p:blipFill>
        <p:spPr>
          <a:xfrm>
            <a:off x="6722269" y="1352692"/>
            <a:ext cx="5025255" cy="3540777"/>
          </a:xfrm>
          <a:prstGeom prst="rect">
            <a:avLst/>
          </a:prstGeom>
        </p:spPr>
      </p:pic>
    </p:spTree>
    <p:extLst>
      <p:ext uri="{BB962C8B-B14F-4D97-AF65-F5344CB8AC3E}">
        <p14:creationId xmlns:p14="http://schemas.microsoft.com/office/powerpoint/2010/main" val="2409718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E2194-5069-7445-9E86-12FAF962DAE1}"/>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38EE5E24-FF8E-5B5B-B8E1-C4C6FD79A4F9}"/>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5DC250AB-BC9D-E3B5-8984-A467A0B02AAB}"/>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F45736D-D0CB-DEB1-EAED-35EA0751D2F3}"/>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1D4E0C70-3ABD-769F-1C0C-6E6097CD5284}"/>
              </a:ext>
            </a:extLst>
          </p:cNvPr>
          <p:cNvSpPr txBox="1"/>
          <p:nvPr/>
        </p:nvSpPr>
        <p:spPr>
          <a:xfrm>
            <a:off x="845481" y="478670"/>
            <a:ext cx="10946591" cy="646331"/>
          </a:xfrm>
          <a:prstGeom prst="rect">
            <a:avLst/>
          </a:prstGeom>
          <a:noFill/>
        </p:spPr>
        <p:txBody>
          <a:bodyPr wrap="square" rtlCol="0">
            <a:spAutoFit/>
          </a:bodyPr>
          <a:lstStyle/>
          <a:p>
            <a:r>
              <a:rPr lang="zh-CN" altLang="en-US" sz="3600" b="1" dirty="0">
                <a:latin typeface="+mj-lt"/>
                <a:ea typeface="宋体" panose="02010600030101010101" pitchFamily="2" charset="-122"/>
                <a:cs typeface="宋体" panose="02010600030101010101" pitchFamily="2" charset="-122"/>
              </a:rPr>
              <a:t>攻击效果</a:t>
            </a:r>
          </a:p>
        </p:txBody>
      </p:sp>
      <p:sp>
        <p:nvSpPr>
          <p:cNvPr id="3" name="文本框 2">
            <a:extLst>
              <a:ext uri="{FF2B5EF4-FFF2-40B4-BE49-F238E27FC236}">
                <a16:creationId xmlns:a16="http://schemas.microsoft.com/office/drawing/2014/main" id="{FFE94AE5-1D6F-4E9A-8D47-88940D322E33}"/>
              </a:ext>
            </a:extLst>
          </p:cNvPr>
          <p:cNvSpPr txBox="1"/>
          <p:nvPr/>
        </p:nvSpPr>
        <p:spPr>
          <a:xfrm>
            <a:off x="128875" y="1676588"/>
            <a:ext cx="11715367" cy="3351367"/>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API</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密钥</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看似随机，但</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集合远小于自然语言词汇，反而更易被完全捕获。</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英文</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明文</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文本</a:t>
            </a:r>
            <a:r>
              <a:rPr lang="zh-CN" altLang="en-US" sz="1800" kern="100" dirty="0">
                <a:effectLst/>
                <a:latin typeface="楷体" panose="02010609060101010101" pitchFamily="49" charset="-122"/>
                <a:ea typeface="楷体" panose="02010609060101010101" pitchFamily="49" charset="-122"/>
                <a:cs typeface="Times New Roman" panose="02020603050405020304" pitchFamily="18" charset="0"/>
              </a:rPr>
              <a:t>：</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algn="just">
              <a:lnSpc>
                <a:spcPct val="150000"/>
              </a:lnSpc>
            </a:pPr>
            <a:r>
              <a:rPr lang="en-US" altLang="zh-CN" kern="100" dirty="0">
                <a:latin typeface="楷体" panose="02010609060101010101" pitchFamily="49" charset="-122"/>
                <a:ea typeface="楷体" panose="02010609060101010101" pitchFamily="49" charset="-122"/>
                <a:cs typeface="Times New Roman" panose="02020603050405020304" pitchFamily="18" charset="0"/>
              </a:rPr>
              <a:t>	1</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尽管攻击者缺乏先验知识，但通过有选择地监控使用最频繁的单词，攻击者仍然可以推断出生成的英</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文</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的相当一部分。</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algn="just">
              <a:lnSpc>
                <a:spcPct val="150000"/>
              </a:lnSpc>
            </a:pPr>
            <a:r>
              <a:rPr lang="en-US" altLang="zh-CN" kern="100" dirty="0">
                <a:latin typeface="楷体" panose="02010609060101010101" pitchFamily="49" charset="-122"/>
                <a:ea typeface="楷体" panose="02010609060101010101" pitchFamily="49" charset="-122"/>
                <a:cs typeface="Times New Roman" panose="02020603050405020304" pitchFamily="18" charset="0"/>
              </a:rPr>
              <a:t>	2</a:t>
            </a:r>
            <a:r>
              <a:rPr lang="zh-CN" altLang="en-US" kern="100" dirty="0">
                <a:latin typeface="楷体" panose="02010609060101010101" pitchFamily="49" charset="-122"/>
                <a:ea typeface="楷体" panose="02010609060101010101" pitchFamily="49" charset="-122"/>
                <a:cs typeface="Times New Roman" panose="02020603050405020304" pitchFamily="18" charset="0"/>
              </a:rPr>
              <a:t>）</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将监控集合的规模增加到大约</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150-250</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个</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token</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以上时收益逐渐递减。</a:t>
            </a:r>
          </a:p>
          <a:p>
            <a:pPr algn="just">
              <a:lnSpc>
                <a:spcPct val="150000"/>
              </a:lnSpc>
            </a:pP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这也说明了这种攻击方式的局限：攻击对自然文本的覆盖率受限于语言本身的统计特性和缓存轮询速</a:t>
            </a:r>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a:t>
            </a: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度这一物理上限。</a:t>
            </a:r>
          </a:p>
        </p:txBody>
      </p:sp>
    </p:spTree>
    <p:extLst>
      <p:ext uri="{BB962C8B-B14F-4D97-AF65-F5344CB8AC3E}">
        <p14:creationId xmlns:p14="http://schemas.microsoft.com/office/powerpoint/2010/main" val="14336086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E2194-5069-7445-9E86-12FAF962DAE1}"/>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38EE5E24-FF8E-5B5B-B8E1-C4C6FD79A4F9}"/>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5DC250AB-BC9D-E3B5-8984-A467A0B02AAB}"/>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F45736D-D0CB-DEB1-EAED-35EA0751D2F3}"/>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1D4E0C70-3ABD-769F-1C0C-6E6097CD5284}"/>
              </a:ext>
            </a:extLst>
          </p:cNvPr>
          <p:cNvSpPr txBox="1"/>
          <p:nvPr/>
        </p:nvSpPr>
        <p:spPr>
          <a:xfrm>
            <a:off x="845481" y="478670"/>
            <a:ext cx="10946591" cy="646331"/>
          </a:xfrm>
          <a:prstGeom prst="rect">
            <a:avLst/>
          </a:prstGeom>
          <a:noFill/>
        </p:spPr>
        <p:txBody>
          <a:bodyPr wrap="square" rtlCol="0">
            <a:spAutoFit/>
          </a:bodyPr>
          <a:lstStyle/>
          <a:p>
            <a:r>
              <a:rPr lang="zh-CN" altLang="en-US" sz="3600" b="1" dirty="0">
                <a:latin typeface="+mj-lt"/>
                <a:ea typeface="宋体" panose="02010600030101010101" pitchFamily="2" charset="-122"/>
                <a:cs typeface="宋体" panose="02010600030101010101" pitchFamily="2" charset="-122"/>
              </a:rPr>
              <a:t>攻击局限性与防范</a:t>
            </a:r>
          </a:p>
        </p:txBody>
      </p:sp>
      <p:sp>
        <p:nvSpPr>
          <p:cNvPr id="3" name="文本框 2">
            <a:extLst>
              <a:ext uri="{FF2B5EF4-FFF2-40B4-BE49-F238E27FC236}">
                <a16:creationId xmlns:a16="http://schemas.microsoft.com/office/drawing/2014/main" id="{FFE94AE5-1D6F-4E9A-8D47-88940D322E33}"/>
              </a:ext>
            </a:extLst>
          </p:cNvPr>
          <p:cNvSpPr txBox="1"/>
          <p:nvPr/>
        </p:nvSpPr>
        <p:spPr>
          <a:xfrm>
            <a:off x="503226" y="1768642"/>
            <a:ext cx="10850063" cy="258532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zh-CN" altLang="en-US" kern="100" dirty="0">
                <a:effectLst/>
                <a:latin typeface="楷体" panose="02010609060101010101" pitchFamily="49" charset="-122"/>
                <a:ea typeface="楷体" panose="02010609060101010101" pitchFamily="49" charset="-122"/>
                <a:cs typeface="Times New Roman" panose="02020603050405020304" pitchFamily="18" charset="0"/>
              </a:rPr>
              <a:t>硬件上的局限</a:t>
            </a:r>
            <a:endParaRPr lang="en-US" altLang="zh-CN" kern="100" dirty="0">
              <a:effectLst/>
              <a:latin typeface="楷体" panose="02010609060101010101" pitchFamily="49" charset="-122"/>
              <a:ea typeface="楷体" panose="02010609060101010101" pitchFamily="49" charset="-122"/>
              <a:cs typeface="Times New Roman" panose="02020603050405020304" pitchFamily="18" charset="0"/>
            </a:endParaRPr>
          </a:p>
          <a:p>
            <a:pPr algn="just">
              <a:lnSpc>
                <a:spcPct val="150000"/>
              </a:lnSpc>
            </a:pPr>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强共置前提：在管理良好的云环境中实现与特定目标的稳定共置，是一个独立且困难的前置挑战。</a:t>
            </a:r>
          </a:p>
          <a:p>
            <a:pPr algn="just">
              <a:lnSpc>
                <a:spcPct val="150000"/>
              </a:lnSpc>
            </a:pPr>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对模型文件的依赖：攻击者需要知道受害者使用的精确模型，以计算正确的内存偏移。</a:t>
            </a:r>
          </a:p>
          <a:p>
            <a:pPr algn="just">
              <a:lnSpc>
                <a:spcPct val="150000"/>
              </a:lnSpc>
            </a:pPr>
            <a:r>
              <a:rPr lang="en-US" altLang="zh-CN" kern="100" dirty="0">
                <a:latin typeface="楷体" panose="02010609060101010101" pitchFamily="49" charset="-122"/>
                <a:ea typeface="楷体" panose="02010609060101010101" pitchFamily="49" charset="-122"/>
                <a:cs typeface="Times New Roman" panose="02020603050405020304" pitchFamily="18" charset="0"/>
              </a:rPr>
              <a:t>      </a:t>
            </a:r>
            <a:r>
              <a:rPr lang="zh-CN" altLang="zh-CN" kern="100" dirty="0">
                <a:effectLst/>
                <a:latin typeface="楷体" panose="02010609060101010101" pitchFamily="49" charset="-122"/>
                <a:ea typeface="楷体" panose="02010609060101010101" pitchFamily="49" charset="-122"/>
                <a:cs typeface="Times New Roman" panose="02020603050405020304" pitchFamily="18" charset="0"/>
              </a:rPr>
              <a:t>噪声环境：在高度嘈杂、多任务共享的物理服务器上，信号可能被淹没。</a:t>
            </a:r>
          </a:p>
          <a:p>
            <a:pPr algn="just"/>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rPr>
              <a:t>针对此类攻击的防御需在硬件系统层进行。</a:t>
            </a:r>
            <a:endPar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a:p>
            <a:pPr algn="just"/>
            <a:r>
              <a:rPr lang="en-US" altLang="zh-CN" sz="1800" kern="100" dirty="0">
                <a:effectLst/>
                <a:latin typeface="楷体" panose="02010609060101010101" pitchFamily="49" charset="-122"/>
                <a:ea typeface="楷体" panose="02010609060101010101" pitchFamily="49" charset="-122"/>
                <a:cs typeface="Times New Roman" panose="02020603050405020304" pitchFamily="18" charset="0"/>
              </a:rPr>
              <a:t>	</a:t>
            </a:r>
            <a:endParaRPr lang="zh-CN" altLang="zh-CN" sz="1800" kern="100" dirty="0">
              <a:effectLst/>
              <a:latin typeface="楷体" panose="02010609060101010101" pitchFamily="49" charset="-122"/>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3465489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06A81-999F-2AAE-D409-5FA9BD282A5F}"/>
            </a:ext>
          </a:extLst>
        </p:cNvPr>
        <p:cNvGrpSpPr/>
        <p:nvPr/>
      </p:nvGrpSpPr>
      <p:grpSpPr>
        <a:xfrm>
          <a:off x="0" y="0"/>
          <a:ext cx="0" cy="0"/>
          <a:chOff x="0" y="0"/>
          <a:chExt cx="0" cy="0"/>
        </a:xfrm>
      </p:grpSpPr>
      <p:sp>
        <p:nvSpPr>
          <p:cNvPr id="38" name="矩形 37">
            <a:extLst>
              <a:ext uri="{FF2B5EF4-FFF2-40B4-BE49-F238E27FC236}">
                <a16:creationId xmlns:a16="http://schemas.microsoft.com/office/drawing/2014/main" id="{0A068817-5150-38FB-AB35-73EE3641F1A3}"/>
              </a:ext>
            </a:extLst>
          </p:cNvPr>
          <p:cNvSpPr/>
          <p:nvPr/>
        </p:nvSpPr>
        <p:spPr>
          <a:xfrm>
            <a:off x="6836194" y="6780865"/>
            <a:ext cx="5381839" cy="97126"/>
          </a:xfrm>
          <a:prstGeom prst="rect">
            <a:avLst/>
          </a:prstGeom>
          <a:solidFill>
            <a:srgbClr val="9A0001"/>
          </a:solidFill>
          <a:ln>
            <a:noFill/>
          </a:ln>
        </p:spPr>
        <p:txBody>
          <a:bodyPr anchor="ctr"/>
          <a:lstStyle/>
          <a:p>
            <a:pPr algn="ctr"/>
            <a:endParaRPr lang="zh-CN" altLang="zh-CN">
              <a:solidFill>
                <a:schemeClr val="lt1"/>
              </a:solidFill>
              <a:latin typeface="思源黑体 CN Light"/>
              <a:ea typeface="思源黑体 CN Light"/>
            </a:endParaRPr>
          </a:p>
        </p:txBody>
      </p:sp>
      <p:sp>
        <p:nvSpPr>
          <p:cNvPr id="48" name="矩形 47">
            <a:extLst>
              <a:ext uri="{FF2B5EF4-FFF2-40B4-BE49-F238E27FC236}">
                <a16:creationId xmlns:a16="http://schemas.microsoft.com/office/drawing/2014/main" id="{B7C76EF5-09CD-65A9-CDEA-0066C67469DB}"/>
              </a:ext>
            </a:extLst>
          </p:cNvPr>
          <p:cNvSpPr/>
          <p:nvPr/>
        </p:nvSpPr>
        <p:spPr>
          <a:xfrm>
            <a:off x="0" y="1239655"/>
            <a:ext cx="766614" cy="3436705"/>
          </a:xfrm>
          <a:prstGeom prst="rect">
            <a:avLst/>
          </a:prstGeom>
          <a:solidFill>
            <a:srgbClr val="9A0001"/>
          </a:solidFill>
          <a:ln>
            <a:noFill/>
          </a:ln>
          <a:effectLst>
            <a:outerShdw blurRad="127000" dist="38100" dir="2700000" algn="tl" rotWithShape="0">
              <a:srgbClr val="000000">
                <a:alpha val="20000"/>
              </a:srgbClr>
            </a:outerShdw>
          </a:effectLst>
        </p:spPr>
        <p:txBody>
          <a:bodyPr anchor="ctr"/>
          <a:lstStyle/>
          <a:p>
            <a:pPr algn="ctr"/>
            <a:endParaRPr lang="zh-CN" altLang="zh-CN">
              <a:solidFill>
                <a:schemeClr val="lt1"/>
              </a:solidFill>
              <a:ea typeface="字魂105号-简雅黑"/>
            </a:endParaRPr>
          </a:p>
        </p:txBody>
      </p:sp>
      <p:pic>
        <p:nvPicPr>
          <p:cNvPr id="61" name="图片 60">
            <a:extLst>
              <a:ext uri="{FF2B5EF4-FFF2-40B4-BE49-F238E27FC236}">
                <a16:creationId xmlns:a16="http://schemas.microsoft.com/office/drawing/2014/main" id="{A3AAA866-BAC7-B7FE-AD36-06FEE3E2EC40}"/>
              </a:ext>
            </a:extLst>
          </p:cNvPr>
          <p:cNvPicPr>
            <a:picLocks noChangeAspect="1"/>
          </p:cNvPicPr>
          <p:nvPr/>
        </p:nvPicPr>
        <p:blipFill>
          <a:blip r:embed="rId3"/>
          <a:stretch>
            <a:fillRect/>
          </a:stretch>
        </p:blipFill>
        <p:spPr>
          <a:xfrm>
            <a:off x="637976" y="422723"/>
            <a:ext cx="1675797" cy="467802"/>
          </a:xfrm>
          <a:prstGeom prst="rect">
            <a:avLst/>
          </a:prstGeom>
        </p:spPr>
      </p:pic>
      <p:grpSp>
        <p:nvGrpSpPr>
          <p:cNvPr id="62" name="组合 61">
            <a:extLst>
              <a:ext uri="{FF2B5EF4-FFF2-40B4-BE49-F238E27FC236}">
                <a16:creationId xmlns:a16="http://schemas.microsoft.com/office/drawing/2014/main" id="{43610671-FFDB-FA6C-5B12-0112E16EB1FA}"/>
              </a:ext>
            </a:extLst>
          </p:cNvPr>
          <p:cNvGrpSpPr/>
          <p:nvPr/>
        </p:nvGrpSpPr>
        <p:grpSpPr>
          <a:xfrm>
            <a:off x="1112534" y="2247668"/>
            <a:ext cx="1635760" cy="1889218"/>
            <a:chOff x="1209755" y="4179558"/>
            <a:chExt cx="1635760" cy="1889218"/>
          </a:xfrm>
        </p:grpSpPr>
        <p:sp>
          <p:nvSpPr>
            <p:cNvPr id="63" name="文本框 62">
              <a:extLst>
                <a:ext uri="{FF2B5EF4-FFF2-40B4-BE49-F238E27FC236}">
                  <a16:creationId xmlns:a16="http://schemas.microsoft.com/office/drawing/2014/main" id="{4DF9EFF9-C1C4-9198-9866-FA299842C32D}"/>
                </a:ext>
              </a:extLst>
            </p:cNvPr>
            <p:cNvSpPr txBox="1"/>
            <p:nvPr/>
          </p:nvSpPr>
          <p:spPr>
            <a:xfrm>
              <a:off x="1525350" y="4179558"/>
              <a:ext cx="1320165" cy="1122680"/>
            </a:xfrm>
            <a:prstGeom prst="rect">
              <a:avLst/>
            </a:prstGeom>
            <a:noFill/>
          </p:spPr>
          <p:txBody>
            <a:bodyPr wrap="none">
              <a:noAutofit/>
            </a:bodyPr>
            <a:lstStyle/>
            <a:p>
              <a:r>
                <a:rPr lang="en-US" altLang="en-US" sz="8800" b="1" dirty="0">
                  <a:latin typeface="方正粗黑宋简体" panose="02000000000000000000" charset="-122"/>
                  <a:ea typeface="方正粗黑宋简体" panose="02000000000000000000" charset="-122"/>
                </a:rPr>
                <a:t>Part 04</a:t>
              </a:r>
              <a:endParaRPr lang="zh-CN" altLang="zh-CN" sz="8800" b="1" dirty="0">
                <a:latin typeface="方正粗黑宋简体" panose="02000000000000000000" charset="-122"/>
                <a:ea typeface="方正粗黑宋简体" panose="02000000000000000000" charset="-122"/>
              </a:endParaRPr>
            </a:p>
          </p:txBody>
        </p:sp>
        <p:sp>
          <p:nvSpPr>
            <p:cNvPr id="64" name="文本框 63">
              <a:extLst>
                <a:ext uri="{FF2B5EF4-FFF2-40B4-BE49-F238E27FC236}">
                  <a16:creationId xmlns:a16="http://schemas.microsoft.com/office/drawing/2014/main" id="{958818DA-2EC4-4458-20AF-53F101C93860}"/>
                </a:ext>
              </a:extLst>
            </p:cNvPr>
            <p:cNvSpPr txBox="1"/>
            <p:nvPr/>
          </p:nvSpPr>
          <p:spPr>
            <a:xfrm>
              <a:off x="1447269" y="5360890"/>
              <a:ext cx="184731" cy="707886"/>
            </a:xfrm>
            <a:prstGeom prst="rect">
              <a:avLst/>
            </a:prstGeom>
            <a:noFill/>
          </p:spPr>
          <p:txBody>
            <a:bodyPr wrap="none">
              <a:spAutoFit/>
            </a:bodyPr>
            <a:lstStyle/>
            <a:p>
              <a:endParaRPr lang="zh-CN" altLang="zh-CN" sz="4000" dirty="0">
                <a:latin typeface="FZShengShiKaiShuS-EB-GB"/>
                <a:ea typeface="FZShengShiKaiShuS-EB-GB"/>
              </a:endParaRPr>
            </a:p>
          </p:txBody>
        </p:sp>
        <p:cxnSp>
          <p:nvCxnSpPr>
            <p:cNvPr id="66" name="直接连接符 55">
              <a:extLst>
                <a:ext uri="{FF2B5EF4-FFF2-40B4-BE49-F238E27FC236}">
                  <a16:creationId xmlns:a16="http://schemas.microsoft.com/office/drawing/2014/main" id="{D20ECAA1-B9CA-D75A-F36C-BF10DCC985A9}"/>
                </a:ext>
              </a:extLst>
            </p:cNvPr>
            <p:cNvCxnSpPr/>
            <p:nvPr/>
          </p:nvCxnSpPr>
          <p:spPr>
            <a:xfrm>
              <a:off x="1209755" y="4396902"/>
              <a:ext cx="0" cy="1579587"/>
            </a:xfrm>
            <a:prstGeom prst="line">
              <a:avLst/>
            </a:prstGeom>
            <a:ln w="127000">
              <a:solidFill>
                <a:srgbClr val="9A0001"/>
              </a:solidFill>
              <a:prstDash val="solid"/>
              <a:miter/>
            </a:ln>
          </p:spPr>
        </p:cxnSp>
      </p:grpSp>
      <p:grpSp>
        <p:nvGrpSpPr>
          <p:cNvPr id="71" name="组合 70">
            <a:extLst>
              <a:ext uri="{FF2B5EF4-FFF2-40B4-BE49-F238E27FC236}">
                <a16:creationId xmlns:a16="http://schemas.microsoft.com/office/drawing/2014/main" id="{C7DBC705-CC2F-C97F-2C8C-D9EE5CE748AE}"/>
              </a:ext>
            </a:extLst>
          </p:cNvPr>
          <p:cNvGrpSpPr/>
          <p:nvPr/>
        </p:nvGrpSpPr>
        <p:grpSpPr>
          <a:xfrm>
            <a:off x="10307248" y="1339509"/>
            <a:ext cx="1528321" cy="302448"/>
            <a:chOff x="5796136" y="4189567"/>
            <a:chExt cx="1146539" cy="226895"/>
          </a:xfrm>
          <a:solidFill>
            <a:srgbClr val="9A0001"/>
          </a:solidFill>
        </p:grpSpPr>
        <p:sp>
          <p:nvSpPr>
            <p:cNvPr id="72" name="流程图: 数据 9">
              <a:extLst>
                <a:ext uri="{FF2B5EF4-FFF2-40B4-BE49-F238E27FC236}">
                  <a16:creationId xmlns:a16="http://schemas.microsoft.com/office/drawing/2014/main" id="{C6655B3B-FCDA-0143-D31F-9909B39BBC42}"/>
                </a:ext>
              </a:extLst>
            </p:cNvPr>
            <p:cNvSpPr/>
            <p:nvPr/>
          </p:nvSpPr>
          <p:spPr>
            <a:xfrm>
              <a:off x="579613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3" name="流程图: 数据 9">
              <a:extLst>
                <a:ext uri="{FF2B5EF4-FFF2-40B4-BE49-F238E27FC236}">
                  <a16:creationId xmlns:a16="http://schemas.microsoft.com/office/drawing/2014/main" id="{191769B2-C945-7730-E502-5CDBDFEF0246}"/>
                </a:ext>
              </a:extLst>
            </p:cNvPr>
            <p:cNvSpPr/>
            <p:nvPr/>
          </p:nvSpPr>
          <p:spPr>
            <a:xfrm>
              <a:off x="593750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4" name="流程图: 数据 9">
              <a:extLst>
                <a:ext uri="{FF2B5EF4-FFF2-40B4-BE49-F238E27FC236}">
                  <a16:creationId xmlns:a16="http://schemas.microsoft.com/office/drawing/2014/main" id="{F3E93CAF-5A0D-5FE1-E4A4-CB40C5DDA57F}"/>
                </a:ext>
              </a:extLst>
            </p:cNvPr>
            <p:cNvSpPr/>
            <p:nvPr/>
          </p:nvSpPr>
          <p:spPr>
            <a:xfrm>
              <a:off x="607887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5" name="流程图: 数据 9">
              <a:extLst>
                <a:ext uri="{FF2B5EF4-FFF2-40B4-BE49-F238E27FC236}">
                  <a16:creationId xmlns:a16="http://schemas.microsoft.com/office/drawing/2014/main" id="{B1AF9E48-C6FA-8AF2-D035-1E0726D8417B}"/>
                </a:ext>
              </a:extLst>
            </p:cNvPr>
            <p:cNvSpPr/>
            <p:nvPr/>
          </p:nvSpPr>
          <p:spPr>
            <a:xfrm>
              <a:off x="622024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6" name="流程图: 数据 9">
              <a:extLst>
                <a:ext uri="{FF2B5EF4-FFF2-40B4-BE49-F238E27FC236}">
                  <a16:creationId xmlns:a16="http://schemas.microsoft.com/office/drawing/2014/main" id="{5436B228-AD43-0B5C-47D8-6457D188EDC0}"/>
                </a:ext>
              </a:extLst>
            </p:cNvPr>
            <p:cNvSpPr/>
            <p:nvPr/>
          </p:nvSpPr>
          <p:spPr>
            <a:xfrm>
              <a:off x="636161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7" name="流程图: 数据 9">
              <a:extLst>
                <a:ext uri="{FF2B5EF4-FFF2-40B4-BE49-F238E27FC236}">
                  <a16:creationId xmlns:a16="http://schemas.microsoft.com/office/drawing/2014/main" id="{CEC264D3-ADF5-A742-511B-70CF829CCB40}"/>
                </a:ext>
              </a:extLst>
            </p:cNvPr>
            <p:cNvSpPr/>
            <p:nvPr/>
          </p:nvSpPr>
          <p:spPr>
            <a:xfrm>
              <a:off x="650298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8" name="流程图: 数据 9">
              <a:extLst>
                <a:ext uri="{FF2B5EF4-FFF2-40B4-BE49-F238E27FC236}">
                  <a16:creationId xmlns:a16="http://schemas.microsoft.com/office/drawing/2014/main" id="{60DBFF0E-1ADA-D3B3-5E44-E403FC9600C1}"/>
                </a:ext>
              </a:extLst>
            </p:cNvPr>
            <p:cNvSpPr/>
            <p:nvPr/>
          </p:nvSpPr>
          <p:spPr>
            <a:xfrm>
              <a:off x="6644356"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sp>
          <p:nvSpPr>
            <p:cNvPr id="79" name="流程图: 数据 9">
              <a:extLst>
                <a:ext uri="{FF2B5EF4-FFF2-40B4-BE49-F238E27FC236}">
                  <a16:creationId xmlns:a16="http://schemas.microsoft.com/office/drawing/2014/main" id="{7DFC3D92-BE86-03D7-BA7C-2F6B8BA0522E}"/>
                </a:ext>
              </a:extLst>
            </p:cNvPr>
            <p:cNvSpPr/>
            <p:nvPr/>
          </p:nvSpPr>
          <p:spPr>
            <a:xfrm>
              <a:off x="6785729" y="4189567"/>
              <a:ext cx="156946" cy="226895"/>
            </a:xfrm>
            <a:custGeom>
              <a:avLst/>
              <a:gdLst/>
              <a:ahLst/>
              <a:cxnLst/>
              <a:rect l="l" t="t" r="r" b="b"/>
              <a:pathLst>
                <a:path w="156946" h="226895">
                  <a:moveTo>
                    <a:pt x="0" y="226895"/>
                  </a:moveTo>
                  <a:lnTo>
                    <a:pt x="90489" y="2847"/>
                  </a:lnTo>
                  <a:lnTo>
                    <a:pt x="156946" y="0"/>
                  </a:lnTo>
                  <a:lnTo>
                    <a:pt x="68957" y="226895"/>
                  </a:lnTo>
                  <a:lnTo>
                    <a:pt x="0" y="226895"/>
                  </a:lnTo>
                  <a:close/>
                </a:path>
              </a:pathLst>
            </a:custGeom>
            <a:grpFill/>
            <a:ln w="12700">
              <a:solidFill>
                <a:srgbClr val="9A0000"/>
              </a:solidFill>
              <a:prstDash val="solid"/>
              <a:miter/>
            </a:ln>
          </p:spPr>
          <p:txBody>
            <a:bodyPr anchor="ctr"/>
            <a:lstStyle/>
            <a:p>
              <a:pPr algn="ctr" defTabSz="1218565"/>
              <a:endParaRPr lang="zh-CN" altLang="zh-CN" sz="2400">
                <a:solidFill>
                  <a:srgbClr val="FFFFFF"/>
                </a:solidFill>
              </a:endParaRPr>
            </a:p>
          </p:txBody>
        </p:sp>
      </p:grpSp>
      <p:cxnSp>
        <p:nvCxnSpPr>
          <p:cNvPr id="80" name="直接连接符 92">
            <a:extLst>
              <a:ext uri="{FF2B5EF4-FFF2-40B4-BE49-F238E27FC236}">
                <a16:creationId xmlns:a16="http://schemas.microsoft.com/office/drawing/2014/main" id="{62F2D528-6148-4DDA-680B-6BE518656C38}"/>
              </a:ext>
            </a:extLst>
          </p:cNvPr>
          <p:cNvCxnSpPr/>
          <p:nvPr/>
        </p:nvCxnSpPr>
        <p:spPr>
          <a:xfrm>
            <a:off x="5365746" y="1490733"/>
            <a:ext cx="4726249" cy="0"/>
          </a:xfrm>
          <a:prstGeom prst="line">
            <a:avLst/>
          </a:prstGeom>
          <a:ln w="38100">
            <a:solidFill>
              <a:srgbClr val="9A0001"/>
            </a:solidFill>
            <a:prstDash val="solid"/>
            <a:miter/>
          </a:ln>
        </p:spPr>
      </p:cxnSp>
      <p:grpSp>
        <p:nvGrpSpPr>
          <p:cNvPr id="5" name="组合 4">
            <a:extLst>
              <a:ext uri="{FF2B5EF4-FFF2-40B4-BE49-F238E27FC236}">
                <a16:creationId xmlns:a16="http://schemas.microsoft.com/office/drawing/2014/main" id="{C94D85AA-B27E-4834-9ACC-791DEB36C72B}"/>
              </a:ext>
            </a:extLst>
          </p:cNvPr>
          <p:cNvGrpSpPr/>
          <p:nvPr/>
        </p:nvGrpSpPr>
        <p:grpSpPr>
          <a:xfrm>
            <a:off x="2649435" y="596757"/>
            <a:ext cx="1130656" cy="197719"/>
            <a:chOff x="2551974" y="630077"/>
            <a:chExt cx="697715" cy="122010"/>
          </a:xfrm>
        </p:grpSpPr>
        <p:sp>
          <p:nvSpPr>
            <p:cNvPr id="81" name="椭圆 80">
              <a:extLst>
                <a:ext uri="{FF2B5EF4-FFF2-40B4-BE49-F238E27FC236}">
                  <a16:creationId xmlns:a16="http://schemas.microsoft.com/office/drawing/2014/main" id="{349E22A5-ED63-D49D-D103-CF240113233F}"/>
                </a:ext>
              </a:extLst>
            </p:cNvPr>
            <p:cNvSpPr/>
            <p:nvPr/>
          </p:nvSpPr>
          <p:spPr>
            <a:xfrm>
              <a:off x="2551974" y="630077"/>
              <a:ext cx="122010" cy="122010"/>
            </a:xfrm>
            <a:prstGeom prst="ellipse">
              <a:avLst/>
            </a:prstGeom>
            <a:solidFill>
              <a:srgbClr val="9A0000"/>
            </a:solidFill>
            <a:ln>
              <a:noFill/>
            </a:ln>
          </p:spPr>
          <p:txBody>
            <a:bodyPr anchor="ctr"/>
            <a:lstStyle/>
            <a:p>
              <a:pPr algn="ctr"/>
              <a:endParaRPr lang="zh-CN" altLang="zh-CN" sz="3200">
                <a:solidFill>
                  <a:schemeClr val="lt1"/>
                </a:solidFill>
              </a:endParaRPr>
            </a:p>
          </p:txBody>
        </p:sp>
        <p:sp>
          <p:nvSpPr>
            <p:cNvPr id="82" name="椭圆 81">
              <a:extLst>
                <a:ext uri="{FF2B5EF4-FFF2-40B4-BE49-F238E27FC236}">
                  <a16:creationId xmlns:a16="http://schemas.microsoft.com/office/drawing/2014/main" id="{C394BC09-2A45-376B-13EC-57439A1D3EAD}"/>
                </a:ext>
              </a:extLst>
            </p:cNvPr>
            <p:cNvSpPr/>
            <p:nvPr/>
          </p:nvSpPr>
          <p:spPr>
            <a:xfrm>
              <a:off x="2839826" y="630077"/>
              <a:ext cx="122010" cy="122010"/>
            </a:xfrm>
            <a:prstGeom prst="ellipse">
              <a:avLst/>
            </a:prstGeom>
            <a:solidFill>
              <a:srgbClr val="9A0000">
                <a:alpha val="60000"/>
              </a:srgbClr>
            </a:solidFill>
            <a:ln>
              <a:noFill/>
            </a:ln>
          </p:spPr>
          <p:txBody>
            <a:bodyPr anchor="ctr"/>
            <a:lstStyle/>
            <a:p>
              <a:pPr algn="ctr"/>
              <a:endParaRPr lang="zh-CN" altLang="zh-CN" sz="3200">
                <a:solidFill>
                  <a:schemeClr val="lt1"/>
                </a:solidFill>
              </a:endParaRPr>
            </a:p>
          </p:txBody>
        </p:sp>
        <p:sp>
          <p:nvSpPr>
            <p:cNvPr id="83" name="椭圆 82">
              <a:extLst>
                <a:ext uri="{FF2B5EF4-FFF2-40B4-BE49-F238E27FC236}">
                  <a16:creationId xmlns:a16="http://schemas.microsoft.com/office/drawing/2014/main" id="{7454CABE-F409-A0A4-3811-461C09CBC68D}"/>
                </a:ext>
              </a:extLst>
            </p:cNvPr>
            <p:cNvSpPr/>
            <p:nvPr/>
          </p:nvSpPr>
          <p:spPr>
            <a:xfrm>
              <a:off x="3127679" y="630077"/>
              <a:ext cx="122010" cy="122010"/>
            </a:xfrm>
            <a:prstGeom prst="ellipse">
              <a:avLst/>
            </a:prstGeom>
            <a:solidFill>
              <a:srgbClr val="9A0000">
                <a:alpha val="20000"/>
              </a:srgbClr>
            </a:solidFill>
            <a:ln>
              <a:noFill/>
            </a:ln>
          </p:spPr>
          <p:txBody>
            <a:bodyPr anchor="ctr"/>
            <a:lstStyle/>
            <a:p>
              <a:pPr algn="ctr"/>
              <a:endParaRPr lang="zh-CN" altLang="zh-CN" sz="3200">
                <a:solidFill>
                  <a:schemeClr val="lt1"/>
                </a:solidFill>
              </a:endParaRPr>
            </a:p>
          </p:txBody>
        </p:sp>
      </p:grpSp>
    </p:spTree>
    <p:extLst>
      <p:ext uri="{BB962C8B-B14F-4D97-AF65-F5344CB8AC3E}">
        <p14:creationId xmlns:p14="http://schemas.microsoft.com/office/powerpoint/2010/main" val="3313952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E2194-5069-7445-9E86-12FAF962DAE1}"/>
            </a:ext>
          </a:extLst>
        </p:cNvPr>
        <p:cNvGrpSpPr/>
        <p:nvPr/>
      </p:nvGrpSpPr>
      <p:grpSpPr>
        <a:xfrm>
          <a:off x="0" y="0"/>
          <a:ext cx="0" cy="0"/>
          <a:chOff x="0" y="0"/>
          <a:chExt cx="0" cy="0"/>
        </a:xfrm>
      </p:grpSpPr>
      <p:sp>
        <p:nvSpPr>
          <p:cNvPr id="33" name="矩形 32">
            <a:extLst>
              <a:ext uri="{FF2B5EF4-FFF2-40B4-BE49-F238E27FC236}">
                <a16:creationId xmlns:a16="http://schemas.microsoft.com/office/drawing/2014/main" id="{38EE5E24-FF8E-5B5B-B8E1-C4C6FD79A4F9}"/>
              </a:ext>
            </a:extLst>
          </p:cNvPr>
          <p:cNvSpPr/>
          <p:nvPr/>
        </p:nvSpPr>
        <p:spPr>
          <a:xfrm>
            <a:off x="0" y="462703"/>
            <a:ext cx="794456" cy="738664"/>
          </a:xfrm>
          <a:prstGeom prst="rect">
            <a:avLst/>
          </a:prstGeom>
          <a:solidFill>
            <a:srgbClr val="9A0001"/>
          </a:solidFill>
          <a:ln>
            <a:noFill/>
          </a:ln>
        </p:spPr>
        <p:txBody>
          <a:bodyPr anchor="ctr"/>
          <a:lstStyle/>
          <a:p>
            <a:pPr algn="ctr"/>
            <a:endParaRPr lang="zh-CN" altLang="zh-CN">
              <a:solidFill>
                <a:schemeClr val="lt1"/>
              </a:solidFill>
            </a:endParaRPr>
          </a:p>
        </p:txBody>
      </p:sp>
      <p:pic>
        <p:nvPicPr>
          <p:cNvPr id="34" name="图片 33">
            <a:extLst>
              <a:ext uri="{FF2B5EF4-FFF2-40B4-BE49-F238E27FC236}">
                <a16:creationId xmlns:a16="http://schemas.microsoft.com/office/drawing/2014/main" id="{5DC250AB-BC9D-E3B5-8984-A467A0B02AAB}"/>
              </a:ext>
            </a:extLst>
          </p:cNvPr>
          <p:cNvPicPr>
            <a:picLocks noChangeAspect="1"/>
          </p:cNvPicPr>
          <p:nvPr/>
        </p:nvPicPr>
        <p:blipFill>
          <a:blip r:embed="rId2"/>
          <a:stretch>
            <a:fillRect/>
          </a:stretch>
        </p:blipFill>
        <p:spPr>
          <a:xfrm>
            <a:off x="9911444" y="545564"/>
            <a:ext cx="1836080" cy="512545"/>
          </a:xfrm>
          <a:prstGeom prst="rect">
            <a:avLst/>
          </a:prstGeom>
        </p:spPr>
      </p:pic>
      <p:sp>
        <p:nvSpPr>
          <p:cNvPr id="37" name="矩形 36">
            <a:extLst>
              <a:ext uri="{FF2B5EF4-FFF2-40B4-BE49-F238E27FC236}">
                <a16:creationId xmlns:a16="http://schemas.microsoft.com/office/drawing/2014/main" id="{AF45736D-D0CB-DEB1-EAED-35EA0751D2F3}"/>
              </a:ext>
            </a:extLst>
          </p:cNvPr>
          <p:cNvSpPr/>
          <p:nvPr/>
        </p:nvSpPr>
        <p:spPr>
          <a:xfrm flipV="1">
            <a:off x="7529454" y="6772905"/>
            <a:ext cx="4682001" cy="128741"/>
          </a:xfrm>
          <a:prstGeom prst="rect">
            <a:avLst/>
          </a:prstGeom>
          <a:solidFill>
            <a:srgbClr val="9A0001"/>
          </a:solidFill>
          <a:ln>
            <a:noFill/>
          </a:ln>
        </p:spPr>
        <p:txBody>
          <a:bodyPr anchor="ctr"/>
          <a:lstStyle/>
          <a:p>
            <a:pPr algn="ctr"/>
            <a:endParaRPr lang="zh-CN" altLang="zh-CN">
              <a:solidFill>
                <a:schemeClr val="lt1"/>
              </a:solidFill>
            </a:endParaRPr>
          </a:p>
        </p:txBody>
      </p:sp>
      <p:sp>
        <p:nvSpPr>
          <p:cNvPr id="2" name="文本框 1">
            <a:extLst>
              <a:ext uri="{FF2B5EF4-FFF2-40B4-BE49-F238E27FC236}">
                <a16:creationId xmlns:a16="http://schemas.microsoft.com/office/drawing/2014/main" id="{1D4E0C70-3ABD-769F-1C0C-6E6097CD5284}"/>
              </a:ext>
            </a:extLst>
          </p:cNvPr>
          <p:cNvSpPr txBox="1"/>
          <p:nvPr/>
        </p:nvSpPr>
        <p:spPr>
          <a:xfrm>
            <a:off x="845481" y="478670"/>
            <a:ext cx="10946591" cy="646331"/>
          </a:xfrm>
          <a:prstGeom prst="rect">
            <a:avLst/>
          </a:prstGeom>
          <a:noFill/>
        </p:spPr>
        <p:txBody>
          <a:bodyPr wrap="square" rtlCol="0">
            <a:spAutoFit/>
          </a:bodyPr>
          <a:lstStyle/>
          <a:p>
            <a:r>
              <a:rPr lang="zh-CN" altLang="en-US" sz="3600" b="1" dirty="0">
                <a:latin typeface="+mj-lt"/>
                <a:ea typeface="宋体" panose="02010600030101010101" pitchFamily="2" charset="-122"/>
                <a:cs typeface="宋体" panose="02010600030101010101" pitchFamily="2" charset="-122"/>
              </a:rPr>
              <a:t>对比</a:t>
            </a:r>
          </a:p>
        </p:txBody>
      </p:sp>
      <p:sp>
        <p:nvSpPr>
          <p:cNvPr id="7" name="文本框 6">
            <a:extLst>
              <a:ext uri="{FF2B5EF4-FFF2-40B4-BE49-F238E27FC236}">
                <a16:creationId xmlns:a16="http://schemas.microsoft.com/office/drawing/2014/main" id="{00DBAFD1-44A3-40E0-854E-EB3104A7711A}"/>
              </a:ext>
            </a:extLst>
          </p:cNvPr>
          <p:cNvSpPr txBox="1"/>
          <p:nvPr/>
        </p:nvSpPr>
        <p:spPr>
          <a:xfrm>
            <a:off x="845481" y="1552074"/>
            <a:ext cx="8436925" cy="3554819"/>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rPr>
              <a:t>漏洞根源：软件设计缺陷 </a:t>
            </a:r>
            <a:r>
              <a:rPr lang="en-US" altLang="zh-CN" dirty="0">
                <a:latin typeface="楷体" panose="02010609060101010101" pitchFamily="49" charset="-122"/>
                <a:ea typeface="楷体" panose="02010609060101010101" pitchFamily="49" charset="-122"/>
              </a:rPr>
              <a:t>vs </a:t>
            </a:r>
            <a:r>
              <a:rPr lang="zh-CN" altLang="en-US" dirty="0">
                <a:latin typeface="楷体" panose="02010609060101010101" pitchFamily="49" charset="-122"/>
                <a:ea typeface="楷体" panose="02010609060101010101" pitchFamily="49" charset="-122"/>
              </a:rPr>
              <a:t>硬件物理特性</a:t>
            </a:r>
            <a:endParaRPr lang="en-US" altLang="zh-CN" dirty="0">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rPr>
              <a:t>攻击前提：是否需要物理共置</a:t>
            </a:r>
            <a:endParaRPr lang="en-US" altLang="zh-CN" dirty="0">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rPr>
              <a:t>泄露信息：应用层语义信息 </a:t>
            </a:r>
            <a:r>
              <a:rPr lang="en-US" altLang="zh-CN" dirty="0">
                <a:latin typeface="楷体" panose="02010609060101010101" pitchFamily="49" charset="-122"/>
                <a:ea typeface="楷体" panose="02010609060101010101" pitchFamily="49" charset="-122"/>
              </a:rPr>
              <a:t>vs </a:t>
            </a:r>
            <a:r>
              <a:rPr lang="zh-CN" altLang="en-US" dirty="0">
                <a:latin typeface="楷体" panose="02010609060101010101" pitchFamily="49" charset="-122"/>
                <a:ea typeface="楷体" panose="02010609060101010101" pitchFamily="49" charset="-122"/>
              </a:rPr>
              <a:t>原始数据流</a:t>
            </a:r>
            <a:endParaRPr lang="en-US" altLang="zh-CN" dirty="0">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rPr>
              <a:t>响应测量：请求的响应延迟</a:t>
            </a:r>
            <a:r>
              <a:rPr lang="en-US" altLang="zh-CN" dirty="0">
                <a:latin typeface="楷体" panose="02010609060101010101" pitchFamily="49" charset="-122"/>
                <a:ea typeface="楷体" panose="02010609060101010101" pitchFamily="49" charset="-122"/>
              </a:rPr>
              <a:t>(Latency) vs CPU</a:t>
            </a:r>
            <a:r>
              <a:rPr lang="zh-CN" altLang="en-US" dirty="0">
                <a:latin typeface="楷体" panose="02010609060101010101" pitchFamily="49" charset="-122"/>
                <a:ea typeface="楷体" panose="02010609060101010101" pitchFamily="49" charset="-122"/>
              </a:rPr>
              <a:t>缓存行的访问延迟</a:t>
            </a:r>
            <a:r>
              <a:rPr lang="en-US" altLang="zh-CN" dirty="0">
                <a:latin typeface="楷体" panose="02010609060101010101" pitchFamily="49" charset="-122"/>
                <a:ea typeface="楷体" panose="02010609060101010101" pitchFamily="49" charset="-122"/>
              </a:rPr>
              <a:t>(Access Time)</a:t>
            </a:r>
          </a:p>
          <a:p>
            <a:pPr marL="285750" indent="-285750">
              <a:lnSpc>
                <a:spcPct val="150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rPr>
              <a:t>防御策略：系统架构与调度算法修改 </a:t>
            </a:r>
            <a:r>
              <a:rPr lang="en-US" altLang="zh-CN" dirty="0">
                <a:latin typeface="楷体" panose="02010609060101010101" pitchFamily="49" charset="-122"/>
                <a:ea typeface="楷体" panose="02010609060101010101" pitchFamily="49" charset="-122"/>
              </a:rPr>
              <a:t>vs </a:t>
            </a:r>
            <a:r>
              <a:rPr lang="zh-CN" altLang="en-US" dirty="0">
                <a:latin typeface="楷体" panose="02010609060101010101" pitchFamily="49" charset="-122"/>
                <a:ea typeface="楷体" panose="02010609060101010101" pitchFamily="49" charset="-122"/>
              </a:rPr>
              <a:t>硬件级改造与隔离</a:t>
            </a:r>
            <a:endParaRPr lang="en-US" altLang="zh-CN" dirty="0">
              <a:latin typeface="楷体" panose="02010609060101010101" pitchFamily="49" charset="-122"/>
              <a:ea typeface="楷体" panose="02010609060101010101" pitchFamily="49" charset="-122"/>
            </a:endParaRPr>
          </a:p>
          <a:p>
            <a:pPr marL="285750" indent="-285750">
              <a:lnSpc>
                <a:spcPct val="150000"/>
              </a:lnSpc>
              <a:buFont typeface="Arial" panose="020B0604020202020204" pitchFamily="34" charset="0"/>
              <a:buChar char="•"/>
            </a:pPr>
            <a:r>
              <a:rPr lang="en-US" altLang="zh-CN" dirty="0">
                <a:latin typeface="楷体" panose="02010609060101010101" pitchFamily="49" charset="-122"/>
                <a:ea typeface="楷体" panose="02010609060101010101" pitchFamily="49" charset="-122"/>
              </a:rPr>
              <a:t>……</a:t>
            </a:r>
          </a:p>
          <a:p>
            <a:pPr marL="285750" indent="-285750">
              <a:lnSpc>
                <a:spcPct val="150000"/>
              </a:lnSpc>
              <a:buFont typeface="Arial" panose="020B0604020202020204" pitchFamily="34" charset="0"/>
              <a:buChar char="•"/>
            </a:pPr>
            <a:r>
              <a:rPr lang="zh-CN" altLang="en-US" dirty="0">
                <a:latin typeface="楷体" panose="02010609060101010101" pitchFamily="49" charset="-122"/>
                <a:ea typeface="楷体" panose="02010609060101010101" pitchFamily="49" charset="-122"/>
              </a:rPr>
              <a:t>其他攻击途径？</a:t>
            </a:r>
            <a:endParaRPr lang="en-US" altLang="zh-CN" dirty="0">
              <a:latin typeface="楷体" panose="02010609060101010101" pitchFamily="49" charset="-122"/>
              <a:ea typeface="楷体" panose="02010609060101010101" pitchFamily="49" charset="-122"/>
            </a:endParaRPr>
          </a:p>
          <a:p>
            <a:endParaRPr lang="en-US" altLang="zh-CN" dirty="0"/>
          </a:p>
          <a:p>
            <a:endParaRPr lang="zh-CN" altLang="en-US" dirty="0"/>
          </a:p>
        </p:txBody>
      </p:sp>
    </p:spTree>
    <p:extLst>
      <p:ext uri="{BB962C8B-B14F-4D97-AF65-F5344CB8AC3E}">
        <p14:creationId xmlns:p14="http://schemas.microsoft.com/office/powerpoint/2010/main" val="8798285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82B5B-7278-15BA-8375-69B579C7F5E6}"/>
            </a:ext>
          </a:extLst>
        </p:cNvPr>
        <p:cNvGrpSpPr/>
        <p:nvPr/>
      </p:nvGrpSpPr>
      <p:grpSpPr>
        <a:xfrm>
          <a:off x="0" y="0"/>
          <a:ext cx="0" cy="0"/>
          <a:chOff x="0" y="0"/>
          <a:chExt cx="0" cy="0"/>
        </a:xfrm>
      </p:grpSpPr>
      <p:sp>
        <p:nvSpPr>
          <p:cNvPr id="37" name="矩形 36">
            <a:extLst>
              <a:ext uri="{FF2B5EF4-FFF2-40B4-BE49-F238E27FC236}">
                <a16:creationId xmlns:a16="http://schemas.microsoft.com/office/drawing/2014/main" id="{52B16A4F-8F20-823E-0DFE-84483EBB7A08}"/>
              </a:ext>
            </a:extLst>
          </p:cNvPr>
          <p:cNvSpPr/>
          <p:nvPr/>
        </p:nvSpPr>
        <p:spPr>
          <a:xfrm>
            <a:off x="-20218" y="-38627"/>
            <a:ext cx="12212217" cy="6955131"/>
          </a:xfrm>
          <a:prstGeom prst="rect">
            <a:avLst/>
          </a:prstGeom>
          <a:solidFill>
            <a:srgbClr val="9A0001"/>
          </a:solidFill>
          <a:ln>
            <a:noFill/>
          </a:ln>
        </p:spPr>
        <p:txBody>
          <a:bodyPr anchor="ctr"/>
          <a:lstStyle/>
          <a:p>
            <a:pPr algn="ctr"/>
            <a:endParaRPr lang="zh-CN" altLang="zh-CN" dirty="0">
              <a:solidFill>
                <a:schemeClr val="lt1"/>
              </a:solidFill>
              <a:latin typeface="思源黑体 CN Light"/>
              <a:ea typeface="思源黑体 CN Light"/>
            </a:endParaRPr>
          </a:p>
        </p:txBody>
      </p:sp>
      <p:pic>
        <p:nvPicPr>
          <p:cNvPr id="3" name="图片 2">
            <a:extLst>
              <a:ext uri="{FF2B5EF4-FFF2-40B4-BE49-F238E27FC236}">
                <a16:creationId xmlns:a16="http://schemas.microsoft.com/office/drawing/2014/main" id="{9127601A-1B0B-616D-B107-71125A8CDF58}"/>
              </a:ext>
            </a:extLst>
          </p:cNvPr>
          <p:cNvPicPr>
            <a:picLocks noChangeAspect="1"/>
          </p:cNvPicPr>
          <p:nvPr/>
        </p:nvPicPr>
        <p:blipFill rotWithShape="1">
          <a:blip r:embed="rId2"/>
          <a:srcRect l="57443"/>
          <a:stretch>
            <a:fillRect/>
          </a:stretch>
        </p:blipFill>
        <p:spPr>
          <a:xfrm>
            <a:off x="6888869" y="4832935"/>
            <a:ext cx="5342484" cy="2574825"/>
          </a:xfrm>
          <a:prstGeom prst="rect">
            <a:avLst/>
          </a:prstGeom>
        </p:spPr>
      </p:pic>
      <p:sp>
        <p:nvSpPr>
          <p:cNvPr id="7" name="文本框 6">
            <a:extLst>
              <a:ext uri="{FF2B5EF4-FFF2-40B4-BE49-F238E27FC236}">
                <a16:creationId xmlns:a16="http://schemas.microsoft.com/office/drawing/2014/main" id="{D797A0AD-3F13-ECA6-2687-2A88F0C8FD87}"/>
              </a:ext>
            </a:extLst>
          </p:cNvPr>
          <p:cNvSpPr txBox="1"/>
          <p:nvPr/>
        </p:nvSpPr>
        <p:spPr>
          <a:xfrm>
            <a:off x="1375345" y="2594794"/>
            <a:ext cx="9421090" cy="1746885"/>
          </a:xfrm>
          <a:prstGeom prst="rect">
            <a:avLst/>
          </a:prstGeom>
          <a:noFill/>
        </p:spPr>
        <p:txBody>
          <a:bodyPr wrap="square">
            <a:noAutofit/>
          </a:bodyPr>
          <a:lstStyle/>
          <a:p>
            <a:pPr algn="ctr"/>
            <a:r>
              <a:rPr lang="zh-CN" altLang="en-US" sz="4400" dirty="0">
                <a:solidFill>
                  <a:schemeClr val="bg1"/>
                </a:solidFill>
                <a:latin typeface="方正粗黑宋简体" panose="02000000000000000000" charset="-122"/>
                <a:ea typeface="方正粗黑宋简体" panose="02000000000000000000" charset="-122"/>
              </a:rPr>
              <a:t>汇报完毕，感谢各位老师与同学的倾听、批评与指导！</a:t>
            </a:r>
            <a:endParaRPr lang="zh-CN" altLang="en-US" sz="3600" dirty="0">
              <a:solidFill>
                <a:schemeClr val="bg1"/>
              </a:solidFill>
              <a:latin typeface="方正粗黑宋简体" panose="02000000000000000000" charset="-122"/>
              <a:ea typeface="方正粗黑宋简体" panose="02000000000000000000" charset="-122"/>
            </a:endParaRPr>
          </a:p>
        </p:txBody>
      </p:sp>
      <p:cxnSp>
        <p:nvCxnSpPr>
          <p:cNvPr id="11" name="直接连接符 10">
            <a:extLst>
              <a:ext uri="{FF2B5EF4-FFF2-40B4-BE49-F238E27FC236}">
                <a16:creationId xmlns:a16="http://schemas.microsoft.com/office/drawing/2014/main" id="{EC3A67BB-E534-924B-83A3-A1C05531B91B}"/>
              </a:ext>
            </a:extLst>
          </p:cNvPr>
          <p:cNvCxnSpPr/>
          <p:nvPr/>
        </p:nvCxnSpPr>
        <p:spPr>
          <a:xfrm>
            <a:off x="5838313" y="4240505"/>
            <a:ext cx="997882" cy="0"/>
          </a:xfrm>
          <a:prstGeom prst="line">
            <a:avLst/>
          </a:prstGeom>
          <a:ln w="28575">
            <a:solidFill>
              <a:srgbClr val="9A0001"/>
            </a:solidFill>
            <a:prstDash val="solid"/>
            <a:miter/>
          </a:ln>
        </p:spPr>
      </p:cxnSp>
      <p:pic>
        <p:nvPicPr>
          <p:cNvPr id="43" name="图片 42">
            <a:extLst>
              <a:ext uri="{FF2B5EF4-FFF2-40B4-BE49-F238E27FC236}">
                <a16:creationId xmlns:a16="http://schemas.microsoft.com/office/drawing/2014/main" id="{B4DC1CC6-6339-A9E2-1CA5-2A731AA13911}"/>
              </a:ext>
            </a:extLst>
          </p:cNvPr>
          <p:cNvPicPr>
            <a:picLocks noChangeAspect="1"/>
          </p:cNvPicPr>
          <p:nvPr/>
        </p:nvPicPr>
        <p:blipFill>
          <a:blip r:embed="rId3"/>
          <a:stretch>
            <a:fillRect/>
          </a:stretch>
        </p:blipFill>
        <p:spPr>
          <a:xfrm>
            <a:off x="9739991" y="458041"/>
            <a:ext cx="1758315" cy="495300"/>
          </a:xfrm>
          <a:prstGeom prst="rect">
            <a:avLst/>
          </a:prstGeom>
        </p:spPr>
      </p:pic>
    </p:spTree>
    <p:extLst>
      <p:ext uri="{BB962C8B-B14F-4D97-AF65-F5344CB8AC3E}">
        <p14:creationId xmlns:p14="http://schemas.microsoft.com/office/powerpoint/2010/main" val="28779326"/>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5331</TotalTime>
  <Words>1669</Words>
  <Application>Microsoft Office PowerPoint</Application>
  <PresentationFormat>宽屏</PresentationFormat>
  <Paragraphs>146</Paragraphs>
  <Slides>26</Slides>
  <Notes>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26</vt:i4>
      </vt:variant>
    </vt:vector>
  </HeadingPairs>
  <TitlesOfParts>
    <vt:vector size="37" baseType="lpstr">
      <vt:lpstr>FZShengShiKaiShuS-EB-GB</vt:lpstr>
      <vt:lpstr>quote-cjk-patch</vt:lpstr>
      <vt:lpstr>等线</vt:lpstr>
      <vt:lpstr>等线 Light</vt:lpstr>
      <vt:lpstr>方正粗黑宋简体</vt:lpstr>
      <vt:lpstr>楷体</vt:lpstr>
      <vt:lpstr>思源黑体 CN Light</vt:lpstr>
      <vt:lpstr>微软雅黑</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xor 3</dc:creator>
  <cp:lastModifiedBy>Siunaus Sora</cp:lastModifiedBy>
  <cp:revision>55</cp:revision>
  <dcterms:created xsi:type="dcterms:W3CDTF">2024-12-14T15:56:00Z</dcterms:created>
  <dcterms:modified xsi:type="dcterms:W3CDTF">2026-01-13T03:49:30Z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931682CB44A94260873C530F2AC01663_13</vt:lpwstr>
  </property>
  <property fmtid="{D5CDD505-2E9C-101B-9397-08002B2CF9AE}" pid="3" name="KSOProductBuildVer">
    <vt:lpwstr>2052-12.1.0.19302</vt:lpwstr>
  </property>
</Properties>
</file>