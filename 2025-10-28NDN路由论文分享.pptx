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3"/>
  </p:sldMasterIdLst>
  <p:notesMasterIdLst>
    <p:notesMasterId r:id="rId5"/>
  </p:notesMasterIdLst>
  <p:handoutMasterIdLst>
    <p:handoutMasterId r:id="rId40"/>
  </p:handoutMasterIdLst>
  <p:sldIdLst>
    <p:sldId id="261" r:id="rId4"/>
    <p:sldId id="748" r:id="rId6"/>
    <p:sldId id="719" r:id="rId7"/>
    <p:sldId id="749" r:id="rId8"/>
    <p:sldId id="751" r:id="rId9"/>
    <p:sldId id="752" r:id="rId10"/>
    <p:sldId id="753" r:id="rId11"/>
    <p:sldId id="754" r:id="rId12"/>
    <p:sldId id="755" r:id="rId13"/>
    <p:sldId id="756" r:id="rId14"/>
    <p:sldId id="757" r:id="rId15"/>
    <p:sldId id="758" r:id="rId16"/>
    <p:sldId id="759" r:id="rId17"/>
    <p:sldId id="763" r:id="rId18"/>
    <p:sldId id="760" r:id="rId19"/>
    <p:sldId id="764" r:id="rId20"/>
    <p:sldId id="761" r:id="rId21"/>
    <p:sldId id="765" r:id="rId22"/>
    <p:sldId id="766" r:id="rId23"/>
    <p:sldId id="767" r:id="rId24"/>
    <p:sldId id="768" r:id="rId25"/>
    <p:sldId id="769" r:id="rId26"/>
    <p:sldId id="770" r:id="rId27"/>
    <p:sldId id="771" r:id="rId28"/>
    <p:sldId id="772" r:id="rId29"/>
    <p:sldId id="775" r:id="rId30"/>
    <p:sldId id="773" r:id="rId31"/>
    <p:sldId id="776" r:id="rId32"/>
    <p:sldId id="762" r:id="rId33"/>
    <p:sldId id="777" r:id="rId34"/>
    <p:sldId id="778" r:id="rId35"/>
    <p:sldId id="779" r:id="rId36"/>
    <p:sldId id="780" r:id="rId37"/>
    <p:sldId id="781" r:id="rId38"/>
    <p:sldId id="497" r:id="rId39"/>
  </p:sldIdLst>
  <p:sldSz cx="12192000" cy="6858000"/>
  <p:notesSz cx="6858000" cy="9144000"/>
  <p:custDataLst>
    <p:tags r:id="rId45"/>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786" userDrawn="1">
          <p15:clr>
            <a:srgbClr val="A4A3A4"/>
          </p15:clr>
        </p15:guide>
        <p15:guide id="2" orient="horz" pos="2017" userDrawn="1">
          <p15:clr>
            <a:srgbClr val="A4A3A4"/>
          </p15:clr>
        </p15:guide>
        <p15:guide id="3" pos="902" userDrawn="1">
          <p15:clr>
            <a:srgbClr val="A4A3A4"/>
          </p15:clr>
        </p15:guide>
        <p15:guide id="4" pos="60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 id="3" name="thelastede" initials="t"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F000B"/>
    <a:srgbClr val="D9D9D9"/>
    <a:srgbClr val="F8F8F8"/>
    <a:srgbClr val="F6F6F6"/>
    <a:srgbClr val="F5F4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91" autoAdjust="0"/>
    <p:restoredTop sz="92471" autoAdjust="0"/>
  </p:normalViewPr>
  <p:slideViewPr>
    <p:cSldViewPr snapToGrid="0" showGuides="1">
      <p:cViewPr varScale="1">
        <p:scale>
          <a:sx n="81" d="100"/>
          <a:sy n="81" d="100"/>
        </p:scale>
        <p:origin x="1056" y="67"/>
      </p:cViewPr>
      <p:guideLst>
        <p:guide orient="horz" pos="786"/>
        <p:guide orient="horz" pos="2017"/>
        <p:guide pos="902"/>
        <p:guide pos="6078"/>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5" Type="http://schemas.openxmlformats.org/officeDocument/2006/relationships/tags" Target="tags/tag91.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B7DAC97F-DDBD-4432-91FA-91D0C011E918}"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509C8FB8-846E-4762-9887-08B1E29DBDB0}"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09C8FB8-846E-4762-9887-08B1E29DBDB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背景先介绍关键术语，然后介绍一下</a:t>
            </a:r>
            <a:r>
              <a:rPr lang="en-US" altLang="zh-CN" dirty="0"/>
              <a:t>NDN</a:t>
            </a:r>
            <a:r>
              <a:rPr lang="zh-CN" altLang="en-US" dirty="0"/>
              <a:t>整体</a:t>
            </a:r>
            <a:r>
              <a:rPr lang="zh-CN" altLang="en-US" dirty="0"/>
              <a:t>流程</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提出了一种基于</a:t>
            </a:r>
            <a:r>
              <a:rPr lang="en-US" altLang="zh-CN" dirty="0"/>
              <a:t>NDN</a:t>
            </a:r>
            <a:r>
              <a:rPr lang="zh-CN" altLang="en-US" dirty="0"/>
              <a:t>的移动自组网数据采集方案，旨在提高数据采集成功率和降低数据采集成本。该方案中，移动的节点无需</a:t>
            </a:r>
            <a:r>
              <a:rPr lang="en-US" altLang="zh-CN" dirty="0"/>
              <a:t>FIB</a:t>
            </a:r>
            <a:r>
              <a:rPr lang="zh-CN" altLang="en-US" dirty="0"/>
              <a:t>就能完成数据的获取，多个消费者通过一个数据采集过程获取数据。此外，该方案还实现了对移动性的支持，以保证反向路径的连续性和数据的成功接收。</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背景先介绍关键术语，然后介绍一下</a:t>
            </a:r>
            <a:r>
              <a:rPr lang="en-US" altLang="zh-CN" dirty="0"/>
              <a:t>NDN</a:t>
            </a:r>
            <a:r>
              <a:rPr lang="zh-CN" altLang="en-US" dirty="0"/>
              <a:t>整体</a:t>
            </a:r>
            <a:r>
              <a:rPr lang="zh-CN" altLang="en-US" dirty="0"/>
              <a:t>流程</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背景先介绍关键术语，然后介绍一下</a:t>
            </a:r>
            <a:r>
              <a:rPr lang="en-US" altLang="zh-CN" dirty="0"/>
              <a:t>NDN</a:t>
            </a:r>
            <a:r>
              <a:rPr lang="zh-CN" altLang="en-US" dirty="0"/>
              <a:t>整体</a:t>
            </a:r>
            <a:r>
              <a:rPr lang="zh-CN" altLang="en-US" dirty="0"/>
              <a:t>流程</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背景先介绍关键术语，然后介绍一下</a:t>
            </a:r>
            <a:r>
              <a:rPr lang="en-US" altLang="zh-CN" dirty="0"/>
              <a:t>NDN</a:t>
            </a:r>
            <a:r>
              <a:rPr lang="zh-CN" altLang="en-US" dirty="0"/>
              <a:t>整体</a:t>
            </a:r>
            <a:r>
              <a:rPr lang="zh-CN" altLang="en-US" dirty="0"/>
              <a:t>流程</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背景先介绍关键术语，然后介绍一下</a:t>
            </a:r>
            <a:r>
              <a:rPr lang="en-US" altLang="zh-CN" dirty="0"/>
              <a:t>NDN</a:t>
            </a:r>
            <a:r>
              <a:rPr lang="zh-CN" altLang="en-US" dirty="0"/>
              <a:t>整体</a:t>
            </a:r>
            <a:r>
              <a:rPr lang="zh-CN" altLang="en-US" dirty="0"/>
              <a:t>流程</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20000"/>
              </a:lnSpc>
              <a:buFont typeface="Arial" panose="020B0604020202020204" pitchFamily="34" charset="0"/>
              <a:buChar char="•"/>
            </a:pPr>
            <a:r>
              <a:rPr lang="zh-CN" altLang="en-US">
                <a:sym typeface="+mn-ea"/>
              </a:rPr>
              <a:t>消费者</a:t>
            </a:r>
            <a:r>
              <a:rPr lang="en-US" altLang="zh-CN">
                <a:sym typeface="+mn-ea"/>
              </a:rPr>
              <a:t> C1 </a:t>
            </a:r>
            <a:r>
              <a:rPr lang="zh-CN" altLang="en-US">
                <a:sym typeface="+mn-ea"/>
              </a:rPr>
              <a:t>发生了移动。</a:t>
            </a:r>
            <a:endParaRPr lang="zh-CN" altLang="en-US"/>
          </a:p>
          <a:p>
            <a:pPr marL="285750" indent="-285750">
              <a:lnSpc>
                <a:spcPct val="120000"/>
              </a:lnSpc>
              <a:buFont typeface="Arial" panose="020B0604020202020204" pitchFamily="34" charset="0"/>
              <a:buChar char="•"/>
            </a:pPr>
            <a:r>
              <a:rPr lang="en-US" altLang="zh-CN">
                <a:sym typeface="+mn-ea"/>
              </a:rPr>
              <a:t>C1 </a:t>
            </a:r>
            <a:r>
              <a:rPr lang="zh-CN" altLang="en-US">
                <a:sym typeface="+mn-ea"/>
              </a:rPr>
              <a:t>与其上游节点</a:t>
            </a:r>
            <a:r>
              <a:rPr lang="en-US" altLang="zh-CN">
                <a:sym typeface="+mn-ea"/>
              </a:rPr>
              <a:t> MN1 </a:t>
            </a:r>
            <a:r>
              <a:rPr lang="zh-CN" altLang="en-US">
                <a:sym typeface="+mn-ea"/>
              </a:rPr>
              <a:t>之间的链路中断。</a:t>
            </a:r>
            <a:endParaRPr lang="zh-CN" altLang="en-US"/>
          </a:p>
          <a:p>
            <a:pPr marL="285750" indent="-285750">
              <a:lnSpc>
                <a:spcPct val="120000"/>
              </a:lnSpc>
              <a:buFont typeface="Arial" panose="020B0604020202020204" pitchFamily="34" charset="0"/>
              <a:buChar char="•"/>
            </a:pPr>
            <a:r>
              <a:rPr lang="en-US" altLang="zh-CN">
                <a:sym typeface="+mn-ea"/>
              </a:rPr>
              <a:t>C1 </a:t>
            </a:r>
            <a:r>
              <a:rPr lang="zh-CN" altLang="en-US">
                <a:sym typeface="+mn-ea"/>
              </a:rPr>
              <a:t>进入了新节点</a:t>
            </a:r>
            <a:r>
              <a:rPr lang="en-US" altLang="zh-CN">
                <a:sym typeface="+mn-ea"/>
              </a:rPr>
              <a:t> MN3 </a:t>
            </a:r>
            <a:r>
              <a:rPr lang="zh-CN" altLang="en-US">
                <a:sym typeface="+mn-ea"/>
              </a:rPr>
              <a:t>的通信范围，与</a:t>
            </a:r>
            <a:r>
              <a:rPr lang="en-US" altLang="zh-CN">
                <a:sym typeface="+mn-ea"/>
              </a:rPr>
              <a:t> MN3 </a:t>
            </a:r>
            <a:r>
              <a:rPr lang="zh-CN" altLang="en-US">
                <a:sym typeface="+mn-ea"/>
              </a:rPr>
              <a:t>建立了新的链路。</a:t>
            </a:r>
            <a:endParaRPr lang="zh-CN" altLang="en-US"/>
          </a:p>
          <a:p>
            <a:pPr marL="285750" indent="-285750">
              <a:lnSpc>
                <a:spcPct val="120000"/>
              </a:lnSpc>
              <a:buFont typeface="Arial" panose="020B0604020202020204" pitchFamily="34" charset="0"/>
              <a:buChar char="•"/>
            </a:pPr>
            <a:r>
              <a:rPr lang="en-US" altLang="zh-CN">
                <a:sym typeface="+mn-ea"/>
              </a:rPr>
              <a:t>C1 </a:t>
            </a:r>
            <a:r>
              <a:rPr lang="zh-CN" altLang="en-US">
                <a:sym typeface="+mn-ea"/>
              </a:rPr>
              <a:t>为了</a:t>
            </a:r>
            <a:r>
              <a:rPr lang="en-US" altLang="zh-CN">
                <a:sym typeface="+mn-ea"/>
              </a:rPr>
              <a:t>“</a:t>
            </a:r>
            <a:r>
              <a:rPr lang="zh-CN" altLang="en-US">
                <a:sym typeface="+mn-ea"/>
              </a:rPr>
              <a:t>重新连接</a:t>
            </a:r>
            <a:r>
              <a:rPr lang="en-US" altLang="zh-CN">
                <a:sym typeface="+mn-ea"/>
              </a:rPr>
              <a:t>”</a:t>
            </a:r>
            <a:r>
              <a:rPr lang="zh-CN" altLang="en-US">
                <a:sym typeface="+mn-ea"/>
              </a:rPr>
              <a:t>回数据路径，构建了一个</a:t>
            </a:r>
            <a:r>
              <a:rPr lang="en-US" altLang="zh-CN">
                <a:sym typeface="+mn-ea"/>
              </a:rPr>
              <a:t>HO</a:t>
            </a:r>
            <a:r>
              <a:rPr lang="zh-CN" altLang="en-US">
                <a:sym typeface="+mn-ea"/>
              </a:rPr>
              <a:t>报文，并将其发送给它的新邻居</a:t>
            </a:r>
            <a:r>
              <a:rPr lang="en-US" altLang="zh-CN">
                <a:sym typeface="+mn-ea"/>
              </a:rPr>
              <a:t> MN3</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背景先介绍关键术语，然后介绍一下</a:t>
            </a:r>
            <a:r>
              <a:rPr lang="en-US" altLang="zh-CN" dirty="0"/>
              <a:t>NDN</a:t>
            </a:r>
            <a:r>
              <a:rPr lang="zh-CN" altLang="en-US" dirty="0"/>
              <a:t>整体</a:t>
            </a:r>
            <a:r>
              <a:rPr lang="zh-CN" altLang="en-US" dirty="0"/>
              <a:t>流程</a:t>
            </a: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509C8FB8-846E-4762-9887-08B1E29DBDB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09C8FB8-846E-4762-9887-08B1E29DBDB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过渡页">
    <p:bg>
      <p:bgPr>
        <a:solidFill>
          <a:schemeClr val="accent1"/>
        </a:solidFill>
        <a:effectLst/>
      </p:bgPr>
    </p:bg>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251450" y="1035050"/>
            <a:ext cx="1689100" cy="15097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solidFill>
          <a:ln>
            <a:noFill/>
          </a:ln>
        </p:spPr>
        <p:txBody>
          <a:bodyPr/>
          <a:lstStyle/>
          <a:p>
            <a:pPr fontAlgn="auto">
              <a:spcBef>
                <a:spcPts val="0"/>
              </a:spcBef>
              <a:spcAft>
                <a:spcPts val="0"/>
              </a:spcAft>
              <a:defRPr/>
            </a:pPr>
            <a:endParaRPr lang="zh-CN" altLang="en-US">
              <a:latin typeface="+mn-lt"/>
              <a:ea typeface="+mn-ea"/>
            </a:endParaRPr>
          </a:p>
        </p:txBody>
      </p:sp>
      <p:sp>
        <p:nvSpPr>
          <p:cNvPr id="2" name="标题 1"/>
          <p:cNvSpPr>
            <a:spLocks noGrp="1"/>
          </p:cNvSpPr>
          <p:nvPr>
            <p:ph type="ctrTitle"/>
          </p:nvPr>
        </p:nvSpPr>
        <p:spPr>
          <a:xfrm>
            <a:off x="1524000" y="2544006"/>
            <a:ext cx="9144000" cy="813556"/>
          </a:xfrm>
        </p:spPr>
        <p:txBody>
          <a:bodyPr anchor="b">
            <a:normAutofit/>
          </a:bodyPr>
          <a:lstStyle>
            <a:lvl1pPr algn="ctr">
              <a:defRPr sz="4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DC7A9820-21D4-44EC-88B5-B12CCA404E8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EC89E0D-213D-4491-8C2B-AB8AD60BF3F2}"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研究概述_需换右下角LOGO">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4" name="文本框 6"/>
          <p:cNvSpPr txBox="1"/>
          <p:nvPr userDrawn="1"/>
        </p:nvSpPr>
        <p:spPr>
          <a:xfrm>
            <a:off x="1303338" y="858838"/>
            <a:ext cx="2373312" cy="307975"/>
          </a:xfrm>
          <a:prstGeom prst="rect">
            <a:avLst/>
          </a:prstGeom>
          <a:noFill/>
        </p:spPr>
        <p:txBody>
          <a:bodyPr>
            <a:spAutoFit/>
          </a:bodyPr>
          <a:lstStyle/>
          <a:p>
            <a:pPr fontAlgn="auto">
              <a:spcBef>
                <a:spcPts val="0"/>
              </a:spcBef>
              <a:spcAft>
                <a:spcPts val="0"/>
              </a:spcAft>
              <a:defRPr/>
            </a:pPr>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5" name="矩形 7"/>
          <p:cNvSpPr/>
          <p:nvPr userDrawn="1"/>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6" name="图片 8"/>
          <p:cNvPicPr>
            <a:picLocks noChangeAspect="1"/>
          </p:cNvPicPr>
          <p:nvPr userDrawn="1"/>
        </p:nvPicPr>
        <p:blipFill>
          <a:blip r:embed="rId2"/>
          <a:srcRect/>
          <a:stretch>
            <a:fillRect/>
          </a:stretch>
        </p:blipFill>
        <p:spPr bwMode="auto">
          <a:xfrm>
            <a:off x="10998200" y="5565775"/>
            <a:ext cx="812800" cy="815975"/>
          </a:xfrm>
          <a:prstGeom prst="rect">
            <a:avLst/>
          </a:prstGeom>
          <a:noFill/>
          <a:ln w="9525">
            <a:noFill/>
            <a:miter lim="800000"/>
            <a:headEnd/>
            <a:tailEnd/>
          </a:ln>
        </p:spPr>
      </p:pic>
      <p:sp>
        <p:nvSpPr>
          <p:cNvPr id="7" name="等腰三角形 9"/>
          <p:cNvSpPr/>
          <p:nvPr userDrawn="1"/>
        </p:nvSpPr>
        <p:spPr>
          <a:xfrm rot="16200000">
            <a:off x="10400506" y="1196182"/>
            <a:ext cx="295275" cy="1381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10"/>
          <p:cNvSpPr txBox="1"/>
          <p:nvPr userDrawn="1"/>
        </p:nvSpPr>
        <p:spPr>
          <a:xfrm>
            <a:off x="10710863" y="10699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bg1"/>
                </a:solidFill>
                <a:latin typeface="微软雅黑" panose="020B0503020204020204" pitchFamily="34" charset="-122"/>
                <a:ea typeface="微软雅黑" panose="020B0503020204020204" pitchFamily="34" charset="-122"/>
              </a:rPr>
              <a:t>研究概述</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9" name="文本框 11"/>
          <p:cNvSpPr txBox="1"/>
          <p:nvPr userDrawn="1"/>
        </p:nvSpPr>
        <p:spPr>
          <a:xfrm>
            <a:off x="10710863" y="18573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研究方法</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0" name="文本框 12"/>
          <p:cNvSpPr txBox="1"/>
          <p:nvPr userDrawn="1"/>
        </p:nvSpPr>
        <p:spPr>
          <a:xfrm>
            <a:off x="10710863" y="26463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研究过程</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1" name="文本框 13"/>
          <p:cNvSpPr txBox="1"/>
          <p:nvPr userDrawn="1"/>
        </p:nvSpPr>
        <p:spPr>
          <a:xfrm>
            <a:off x="10710863" y="34337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研究成果</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2" name="文本框 14"/>
          <p:cNvSpPr txBox="1"/>
          <p:nvPr userDrawn="1"/>
        </p:nvSpPr>
        <p:spPr>
          <a:xfrm>
            <a:off x="10710863" y="4222750"/>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结论建议</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3" name="日期占位符 2"/>
          <p:cNvSpPr>
            <a:spLocks noGrp="1"/>
          </p:cNvSpPr>
          <p:nvPr>
            <p:ph type="dt" sz="half" idx="10"/>
          </p:nvPr>
        </p:nvSpPr>
        <p:spPr/>
        <p:txBody>
          <a:bodyPr/>
          <a:lstStyle>
            <a:lvl1pPr>
              <a:defRPr/>
            </a:lvl1pPr>
          </a:lstStyle>
          <a:p>
            <a:pPr>
              <a:defRPr/>
            </a:pPr>
            <a:fld id="{7AAF49AD-E3D2-42C1-A151-504C3FAD9755}" type="datetimeFigureOut">
              <a:rPr lang="zh-CN" altLang="en-US"/>
            </a:fld>
            <a:endParaRPr lang="zh-CN" altLang="en-US"/>
          </a:p>
        </p:txBody>
      </p:sp>
      <p:sp>
        <p:nvSpPr>
          <p:cNvPr id="14" name="页脚占位符 3"/>
          <p:cNvSpPr>
            <a:spLocks noGrp="1"/>
          </p:cNvSpPr>
          <p:nvPr>
            <p:ph type="ftr" sz="quarter" idx="11"/>
          </p:nvPr>
        </p:nvSpPr>
        <p:spPr/>
        <p:txBody>
          <a:bodyPr/>
          <a:lstStyle>
            <a:lvl1pPr>
              <a:defRPr/>
            </a:lvl1pPr>
          </a:lstStyle>
          <a:p>
            <a:pPr>
              <a:defRPr/>
            </a:pPr>
            <a:endParaRPr lang="zh-CN" altLang="en-US"/>
          </a:p>
        </p:txBody>
      </p:sp>
      <p:sp>
        <p:nvSpPr>
          <p:cNvPr id="15"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pPr>
              <a:defRPr/>
            </a:pPr>
            <a:r>
              <a:rPr lang="en-US" altLang="zh-CN"/>
              <a:t>P</a:t>
            </a:r>
            <a:fld id="{F236D5DC-F53F-4AE8-8C66-4269C5F9BD4F}"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1+#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50" fill="hold"/>
                                        <p:tgtEl>
                                          <p:spTgt spid="8"/>
                                        </p:tgtEl>
                                        <p:attrNameLst>
                                          <p:attrName>ppt_x</p:attrName>
                                        </p:attrNameLst>
                                      </p:cBhvr>
                                      <p:tavLst>
                                        <p:tav tm="0">
                                          <p:val>
                                            <p:strVal val="1+#ppt_w/2"/>
                                          </p:val>
                                        </p:tav>
                                        <p:tav tm="100000">
                                          <p:val>
                                            <p:strVal val="#ppt_x"/>
                                          </p:val>
                                        </p:tav>
                                      </p:tavLst>
                                    </p:anim>
                                    <p:anim calcmode="lin" valueType="num">
                                      <p:cBhvr additive="base">
                                        <p:cTn id="12" dur="2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250" fill="hold"/>
                                        <p:tgtEl>
                                          <p:spTgt spid="9"/>
                                        </p:tgtEl>
                                        <p:attrNameLst>
                                          <p:attrName>ppt_x</p:attrName>
                                        </p:attrNameLst>
                                      </p:cBhvr>
                                      <p:tavLst>
                                        <p:tav tm="0">
                                          <p:val>
                                            <p:strVal val="1+#ppt_w/2"/>
                                          </p:val>
                                        </p:tav>
                                        <p:tav tm="100000">
                                          <p:val>
                                            <p:strVal val="#ppt_x"/>
                                          </p:val>
                                        </p:tav>
                                      </p:tavLst>
                                    </p:anim>
                                    <p:anim calcmode="lin" valueType="num">
                                      <p:cBhvr additive="base">
                                        <p:cTn id="16" dur="25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250" fill="hold"/>
                                        <p:tgtEl>
                                          <p:spTgt spid="10"/>
                                        </p:tgtEl>
                                        <p:attrNameLst>
                                          <p:attrName>ppt_x</p:attrName>
                                        </p:attrNameLst>
                                      </p:cBhvr>
                                      <p:tavLst>
                                        <p:tav tm="0">
                                          <p:val>
                                            <p:strVal val="1+#ppt_w/2"/>
                                          </p:val>
                                        </p:tav>
                                        <p:tav tm="100000">
                                          <p:val>
                                            <p:strVal val="#ppt_x"/>
                                          </p:val>
                                        </p:tav>
                                      </p:tavLst>
                                    </p:anim>
                                    <p:anim calcmode="lin" valueType="num">
                                      <p:cBhvr additive="base">
                                        <p:cTn id="20" dur="25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250" fill="hold"/>
                                        <p:tgtEl>
                                          <p:spTgt spid="11"/>
                                        </p:tgtEl>
                                        <p:attrNameLst>
                                          <p:attrName>ppt_x</p:attrName>
                                        </p:attrNameLst>
                                      </p:cBhvr>
                                      <p:tavLst>
                                        <p:tav tm="0">
                                          <p:val>
                                            <p:strVal val="1+#ppt_w/2"/>
                                          </p:val>
                                        </p:tav>
                                        <p:tav tm="100000">
                                          <p:val>
                                            <p:strVal val="#ppt_x"/>
                                          </p:val>
                                        </p:tav>
                                      </p:tavLst>
                                    </p:anim>
                                    <p:anim calcmode="lin" valueType="num">
                                      <p:cBhvr additive="base">
                                        <p:cTn id="24" dur="25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50" fill="hold"/>
                                        <p:tgtEl>
                                          <p:spTgt spid="12"/>
                                        </p:tgtEl>
                                        <p:attrNameLst>
                                          <p:attrName>ppt_x</p:attrName>
                                        </p:attrNameLst>
                                      </p:cBhvr>
                                      <p:tavLst>
                                        <p:tav tm="0">
                                          <p:val>
                                            <p:strVal val="1+#ppt_w/2"/>
                                          </p:val>
                                        </p:tav>
                                        <p:tav tm="100000">
                                          <p:val>
                                            <p:strVal val="#ppt_x"/>
                                          </p:val>
                                        </p:tav>
                                      </p:tavLst>
                                    </p:anim>
                                    <p:anim calcmode="lin" valueType="num">
                                      <p:cBhvr additive="base">
                                        <p:cTn id="28" dur="250" fill="hold"/>
                                        <p:tgtEl>
                                          <p:spTgt spid="12"/>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6"/>
                                        </p:tgtEl>
                                        <p:attrNameLst>
                                          <p:attrName>style.visibility</p:attrName>
                                        </p:attrNameLst>
                                      </p:cBhvr>
                                      <p:to>
                                        <p:strVal val="visible"/>
                                      </p:to>
                                    </p:set>
                                    <p:anim calcmode="lin" valueType="num">
                                      <p:cBhvr>
                                        <p:cTn id="31" dur="250" fill="hold"/>
                                        <p:tgtEl>
                                          <p:spTgt spid="6"/>
                                        </p:tgtEl>
                                        <p:attrNameLst>
                                          <p:attrName>ppt_w</p:attrName>
                                        </p:attrNameLst>
                                      </p:cBhvr>
                                      <p:tavLst>
                                        <p:tav tm="0">
                                          <p:val>
                                            <p:fltVal val="0"/>
                                          </p:val>
                                        </p:tav>
                                        <p:tav tm="100000">
                                          <p:val>
                                            <p:strVal val="#ppt_w"/>
                                          </p:val>
                                        </p:tav>
                                      </p:tavLst>
                                    </p:anim>
                                    <p:anim calcmode="lin" valueType="num">
                                      <p:cBhvr>
                                        <p:cTn id="32" dur="250" fill="hold"/>
                                        <p:tgtEl>
                                          <p:spTgt spid="6"/>
                                        </p:tgtEl>
                                        <p:attrNameLst>
                                          <p:attrName>ppt_h</p:attrName>
                                        </p:attrNameLst>
                                      </p:cBhvr>
                                      <p:tavLst>
                                        <p:tav tm="0">
                                          <p:val>
                                            <p:fltVal val="0"/>
                                          </p:val>
                                        </p:tav>
                                        <p:tav tm="100000">
                                          <p:val>
                                            <p:strVal val="#ppt_h"/>
                                          </p:val>
                                        </p:tav>
                                      </p:tavLst>
                                    </p:anim>
                                    <p:animEffect transition="in" filter="fade">
                                      <p:cBhvr>
                                        <p:cTn id="33" dur="250"/>
                                        <p:tgtEl>
                                          <p:spTgt spid="6"/>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7"/>
                                        </p:tgtEl>
                                        <p:attrNameLst>
                                          <p:attrName>style.visibility</p:attrName>
                                        </p:attrNameLst>
                                      </p:cBhvr>
                                      <p:to>
                                        <p:strVal val="visible"/>
                                      </p:to>
                                    </p:set>
                                    <p:animEffect transition="in" filter="wipe(right)">
                                      <p:cBhvr>
                                        <p:cTn id="36" dur="25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1000"/>
                                        <p:tgtEl>
                                          <p:spTgt spid="3"/>
                                        </p:tgtEl>
                                      </p:cBhvr>
                                    </p:animEffect>
                                    <p:anim calcmode="lin" valueType="num">
                                      <p:cBhvr>
                                        <p:cTn id="40" dur="1000" fill="hold"/>
                                        <p:tgtEl>
                                          <p:spTgt spid="3"/>
                                        </p:tgtEl>
                                        <p:attrNameLst>
                                          <p:attrName>ppt_x</p:attrName>
                                        </p:attrNameLst>
                                      </p:cBhvr>
                                      <p:tavLst>
                                        <p:tav tm="0">
                                          <p:val>
                                            <p:strVal val="#ppt_x"/>
                                          </p:val>
                                        </p:tav>
                                        <p:tav tm="100000">
                                          <p:val>
                                            <p:strVal val="#ppt_x"/>
                                          </p:val>
                                        </p:tav>
                                      </p:tavLst>
                                    </p:anim>
                                    <p:anim calcmode="lin" valueType="num">
                                      <p:cBhvr>
                                        <p:cTn id="41" dur="1000" fill="hold"/>
                                        <p:tgtEl>
                                          <p:spTgt spid="3"/>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7" grpId="0" animBg="1"/>
      <p:bldP spid="8" grpId="0"/>
      <p:bldP spid="9" grpId="0"/>
      <p:bldP spid="10" grpId="0"/>
      <p:bldP spid="11" grpId="0"/>
      <p:bldP spid="12"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研究方法_需换右下角LOGO">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4" name="文本框 6"/>
          <p:cNvSpPr txBox="1"/>
          <p:nvPr userDrawn="1"/>
        </p:nvSpPr>
        <p:spPr>
          <a:xfrm>
            <a:off x="1303338" y="858838"/>
            <a:ext cx="2373312" cy="307975"/>
          </a:xfrm>
          <a:prstGeom prst="rect">
            <a:avLst/>
          </a:prstGeom>
          <a:noFill/>
        </p:spPr>
        <p:txBody>
          <a:bodyPr>
            <a:spAutoFit/>
          </a:bodyPr>
          <a:lstStyle/>
          <a:p>
            <a:pPr fontAlgn="auto">
              <a:spcBef>
                <a:spcPts val="0"/>
              </a:spcBef>
              <a:spcAft>
                <a:spcPts val="0"/>
              </a:spcAft>
              <a:defRPr/>
            </a:pPr>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5" name="矩形 7"/>
          <p:cNvSpPr/>
          <p:nvPr userDrawn="1"/>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6" name="图片 8"/>
          <p:cNvPicPr>
            <a:picLocks noChangeAspect="1"/>
          </p:cNvPicPr>
          <p:nvPr userDrawn="1"/>
        </p:nvPicPr>
        <p:blipFill>
          <a:blip r:embed="rId2"/>
          <a:srcRect/>
          <a:stretch>
            <a:fillRect/>
          </a:stretch>
        </p:blipFill>
        <p:spPr bwMode="auto">
          <a:xfrm>
            <a:off x="10998200" y="5565775"/>
            <a:ext cx="812800" cy="815975"/>
          </a:xfrm>
          <a:prstGeom prst="rect">
            <a:avLst/>
          </a:prstGeom>
          <a:noFill/>
          <a:ln w="9525">
            <a:noFill/>
            <a:miter lim="800000"/>
            <a:headEnd/>
            <a:tailEnd/>
          </a:ln>
        </p:spPr>
      </p:pic>
      <p:sp>
        <p:nvSpPr>
          <p:cNvPr id="7" name="等腰三角形 9"/>
          <p:cNvSpPr/>
          <p:nvPr userDrawn="1"/>
        </p:nvSpPr>
        <p:spPr>
          <a:xfrm rot="16200000">
            <a:off x="10400506" y="1988345"/>
            <a:ext cx="295275" cy="1381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10"/>
          <p:cNvSpPr txBox="1"/>
          <p:nvPr userDrawn="1"/>
        </p:nvSpPr>
        <p:spPr>
          <a:xfrm>
            <a:off x="10710863" y="10699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研究概述</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9" name="文本框 11"/>
          <p:cNvSpPr txBox="1"/>
          <p:nvPr userDrawn="1"/>
        </p:nvSpPr>
        <p:spPr>
          <a:xfrm>
            <a:off x="10710863" y="18573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bg1"/>
                </a:solidFill>
                <a:latin typeface="微软雅黑" panose="020B0503020204020204" pitchFamily="34" charset="-122"/>
                <a:ea typeface="微软雅黑" panose="020B0503020204020204" pitchFamily="34" charset="-122"/>
              </a:rPr>
              <a:t>研究方法</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0" name="文本框 12"/>
          <p:cNvSpPr txBox="1"/>
          <p:nvPr userDrawn="1"/>
        </p:nvSpPr>
        <p:spPr>
          <a:xfrm>
            <a:off x="10710863" y="26463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研究过程</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1" name="文本框 13"/>
          <p:cNvSpPr txBox="1"/>
          <p:nvPr userDrawn="1"/>
        </p:nvSpPr>
        <p:spPr>
          <a:xfrm>
            <a:off x="10710863" y="34337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研究成果</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2" name="文本框 14"/>
          <p:cNvSpPr txBox="1"/>
          <p:nvPr userDrawn="1"/>
        </p:nvSpPr>
        <p:spPr>
          <a:xfrm>
            <a:off x="10710863" y="4222750"/>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结论建议</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3" name="日期占位符 2"/>
          <p:cNvSpPr>
            <a:spLocks noGrp="1"/>
          </p:cNvSpPr>
          <p:nvPr>
            <p:ph type="dt" sz="half" idx="10"/>
          </p:nvPr>
        </p:nvSpPr>
        <p:spPr/>
        <p:txBody>
          <a:bodyPr/>
          <a:lstStyle>
            <a:lvl1pPr>
              <a:defRPr/>
            </a:lvl1pPr>
          </a:lstStyle>
          <a:p>
            <a:pPr>
              <a:defRPr/>
            </a:pPr>
            <a:fld id="{459ACDBB-6BA3-49B9-897B-F9D7C37421EA}" type="datetimeFigureOut">
              <a:rPr lang="zh-CN" altLang="en-US"/>
            </a:fld>
            <a:endParaRPr lang="zh-CN" altLang="en-US"/>
          </a:p>
        </p:txBody>
      </p:sp>
      <p:sp>
        <p:nvSpPr>
          <p:cNvPr id="14" name="页脚占位符 3"/>
          <p:cNvSpPr>
            <a:spLocks noGrp="1"/>
          </p:cNvSpPr>
          <p:nvPr>
            <p:ph type="ftr" sz="quarter" idx="11"/>
          </p:nvPr>
        </p:nvSpPr>
        <p:spPr/>
        <p:txBody>
          <a:bodyPr/>
          <a:lstStyle>
            <a:lvl1pPr>
              <a:defRPr/>
            </a:lvl1pPr>
          </a:lstStyle>
          <a:p>
            <a:pPr>
              <a:defRPr/>
            </a:pPr>
            <a:endParaRPr lang="zh-CN" altLang="en-US"/>
          </a:p>
        </p:txBody>
      </p:sp>
      <p:sp>
        <p:nvSpPr>
          <p:cNvPr id="15"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pPr>
              <a:defRPr/>
            </a:pPr>
            <a:r>
              <a:rPr lang="en-US" altLang="zh-CN"/>
              <a:t>P</a:t>
            </a:r>
            <a:fld id="{61CEA7D0-566D-4F1A-9DF5-00C51977F316}"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1+#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50" fill="hold"/>
                                        <p:tgtEl>
                                          <p:spTgt spid="8"/>
                                        </p:tgtEl>
                                        <p:attrNameLst>
                                          <p:attrName>ppt_x</p:attrName>
                                        </p:attrNameLst>
                                      </p:cBhvr>
                                      <p:tavLst>
                                        <p:tav tm="0">
                                          <p:val>
                                            <p:strVal val="1+#ppt_w/2"/>
                                          </p:val>
                                        </p:tav>
                                        <p:tav tm="100000">
                                          <p:val>
                                            <p:strVal val="#ppt_x"/>
                                          </p:val>
                                        </p:tav>
                                      </p:tavLst>
                                    </p:anim>
                                    <p:anim calcmode="lin" valueType="num">
                                      <p:cBhvr additive="base">
                                        <p:cTn id="12" dur="2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250" fill="hold"/>
                                        <p:tgtEl>
                                          <p:spTgt spid="9"/>
                                        </p:tgtEl>
                                        <p:attrNameLst>
                                          <p:attrName>ppt_x</p:attrName>
                                        </p:attrNameLst>
                                      </p:cBhvr>
                                      <p:tavLst>
                                        <p:tav tm="0">
                                          <p:val>
                                            <p:strVal val="1+#ppt_w/2"/>
                                          </p:val>
                                        </p:tav>
                                        <p:tav tm="100000">
                                          <p:val>
                                            <p:strVal val="#ppt_x"/>
                                          </p:val>
                                        </p:tav>
                                      </p:tavLst>
                                    </p:anim>
                                    <p:anim calcmode="lin" valueType="num">
                                      <p:cBhvr additive="base">
                                        <p:cTn id="16" dur="25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250" fill="hold"/>
                                        <p:tgtEl>
                                          <p:spTgt spid="10"/>
                                        </p:tgtEl>
                                        <p:attrNameLst>
                                          <p:attrName>ppt_x</p:attrName>
                                        </p:attrNameLst>
                                      </p:cBhvr>
                                      <p:tavLst>
                                        <p:tav tm="0">
                                          <p:val>
                                            <p:strVal val="1+#ppt_w/2"/>
                                          </p:val>
                                        </p:tav>
                                        <p:tav tm="100000">
                                          <p:val>
                                            <p:strVal val="#ppt_x"/>
                                          </p:val>
                                        </p:tav>
                                      </p:tavLst>
                                    </p:anim>
                                    <p:anim calcmode="lin" valueType="num">
                                      <p:cBhvr additive="base">
                                        <p:cTn id="20" dur="25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250" fill="hold"/>
                                        <p:tgtEl>
                                          <p:spTgt spid="11"/>
                                        </p:tgtEl>
                                        <p:attrNameLst>
                                          <p:attrName>ppt_x</p:attrName>
                                        </p:attrNameLst>
                                      </p:cBhvr>
                                      <p:tavLst>
                                        <p:tav tm="0">
                                          <p:val>
                                            <p:strVal val="1+#ppt_w/2"/>
                                          </p:val>
                                        </p:tav>
                                        <p:tav tm="100000">
                                          <p:val>
                                            <p:strVal val="#ppt_x"/>
                                          </p:val>
                                        </p:tav>
                                      </p:tavLst>
                                    </p:anim>
                                    <p:anim calcmode="lin" valueType="num">
                                      <p:cBhvr additive="base">
                                        <p:cTn id="24" dur="25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50" fill="hold"/>
                                        <p:tgtEl>
                                          <p:spTgt spid="12"/>
                                        </p:tgtEl>
                                        <p:attrNameLst>
                                          <p:attrName>ppt_x</p:attrName>
                                        </p:attrNameLst>
                                      </p:cBhvr>
                                      <p:tavLst>
                                        <p:tav tm="0">
                                          <p:val>
                                            <p:strVal val="1+#ppt_w/2"/>
                                          </p:val>
                                        </p:tav>
                                        <p:tav tm="100000">
                                          <p:val>
                                            <p:strVal val="#ppt_x"/>
                                          </p:val>
                                        </p:tav>
                                      </p:tavLst>
                                    </p:anim>
                                    <p:anim calcmode="lin" valueType="num">
                                      <p:cBhvr additive="base">
                                        <p:cTn id="28" dur="250" fill="hold"/>
                                        <p:tgtEl>
                                          <p:spTgt spid="12"/>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6"/>
                                        </p:tgtEl>
                                        <p:attrNameLst>
                                          <p:attrName>style.visibility</p:attrName>
                                        </p:attrNameLst>
                                      </p:cBhvr>
                                      <p:to>
                                        <p:strVal val="visible"/>
                                      </p:to>
                                    </p:set>
                                    <p:anim calcmode="lin" valueType="num">
                                      <p:cBhvr>
                                        <p:cTn id="31" dur="250" fill="hold"/>
                                        <p:tgtEl>
                                          <p:spTgt spid="6"/>
                                        </p:tgtEl>
                                        <p:attrNameLst>
                                          <p:attrName>ppt_w</p:attrName>
                                        </p:attrNameLst>
                                      </p:cBhvr>
                                      <p:tavLst>
                                        <p:tav tm="0">
                                          <p:val>
                                            <p:fltVal val="0"/>
                                          </p:val>
                                        </p:tav>
                                        <p:tav tm="100000">
                                          <p:val>
                                            <p:strVal val="#ppt_w"/>
                                          </p:val>
                                        </p:tav>
                                      </p:tavLst>
                                    </p:anim>
                                    <p:anim calcmode="lin" valueType="num">
                                      <p:cBhvr>
                                        <p:cTn id="32" dur="250" fill="hold"/>
                                        <p:tgtEl>
                                          <p:spTgt spid="6"/>
                                        </p:tgtEl>
                                        <p:attrNameLst>
                                          <p:attrName>ppt_h</p:attrName>
                                        </p:attrNameLst>
                                      </p:cBhvr>
                                      <p:tavLst>
                                        <p:tav tm="0">
                                          <p:val>
                                            <p:fltVal val="0"/>
                                          </p:val>
                                        </p:tav>
                                        <p:tav tm="100000">
                                          <p:val>
                                            <p:strVal val="#ppt_h"/>
                                          </p:val>
                                        </p:tav>
                                      </p:tavLst>
                                    </p:anim>
                                    <p:animEffect transition="in" filter="fade">
                                      <p:cBhvr>
                                        <p:cTn id="33" dur="250"/>
                                        <p:tgtEl>
                                          <p:spTgt spid="6"/>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7"/>
                                        </p:tgtEl>
                                        <p:attrNameLst>
                                          <p:attrName>style.visibility</p:attrName>
                                        </p:attrNameLst>
                                      </p:cBhvr>
                                      <p:to>
                                        <p:strVal val="visible"/>
                                      </p:to>
                                    </p:set>
                                    <p:animEffect transition="in" filter="wipe(right)">
                                      <p:cBhvr>
                                        <p:cTn id="36" dur="25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1000"/>
                                        <p:tgtEl>
                                          <p:spTgt spid="3"/>
                                        </p:tgtEl>
                                      </p:cBhvr>
                                    </p:animEffect>
                                    <p:anim calcmode="lin" valueType="num">
                                      <p:cBhvr>
                                        <p:cTn id="40" dur="1000" fill="hold"/>
                                        <p:tgtEl>
                                          <p:spTgt spid="3"/>
                                        </p:tgtEl>
                                        <p:attrNameLst>
                                          <p:attrName>ppt_x</p:attrName>
                                        </p:attrNameLst>
                                      </p:cBhvr>
                                      <p:tavLst>
                                        <p:tav tm="0">
                                          <p:val>
                                            <p:strVal val="#ppt_x"/>
                                          </p:val>
                                        </p:tav>
                                        <p:tav tm="100000">
                                          <p:val>
                                            <p:strVal val="#ppt_x"/>
                                          </p:val>
                                        </p:tav>
                                      </p:tavLst>
                                    </p:anim>
                                    <p:anim calcmode="lin" valueType="num">
                                      <p:cBhvr>
                                        <p:cTn id="41" dur="1000" fill="hold"/>
                                        <p:tgtEl>
                                          <p:spTgt spid="3"/>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7" grpId="0" animBg="1"/>
      <p:bldP spid="8" grpId="0"/>
      <p:bldP spid="9" grpId="0"/>
      <p:bldP spid="10" grpId="0"/>
      <p:bldP spid="11" grpId="0"/>
      <p:bldP spid="12"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研究过程_需换右下角LOGO">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4" name="文本框 6"/>
          <p:cNvSpPr txBox="1"/>
          <p:nvPr userDrawn="1"/>
        </p:nvSpPr>
        <p:spPr>
          <a:xfrm>
            <a:off x="1303338" y="858838"/>
            <a:ext cx="2373312" cy="307975"/>
          </a:xfrm>
          <a:prstGeom prst="rect">
            <a:avLst/>
          </a:prstGeom>
          <a:noFill/>
        </p:spPr>
        <p:txBody>
          <a:bodyPr>
            <a:spAutoFit/>
          </a:bodyPr>
          <a:lstStyle/>
          <a:p>
            <a:pPr fontAlgn="auto">
              <a:spcBef>
                <a:spcPts val="0"/>
              </a:spcBef>
              <a:spcAft>
                <a:spcPts val="0"/>
              </a:spcAft>
              <a:defRPr/>
            </a:pPr>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5" name="矩形 7"/>
          <p:cNvSpPr/>
          <p:nvPr userDrawn="1"/>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6" name="图片 8"/>
          <p:cNvPicPr>
            <a:picLocks noChangeAspect="1"/>
          </p:cNvPicPr>
          <p:nvPr userDrawn="1"/>
        </p:nvPicPr>
        <p:blipFill>
          <a:blip r:embed="rId2"/>
          <a:srcRect/>
          <a:stretch>
            <a:fillRect/>
          </a:stretch>
        </p:blipFill>
        <p:spPr bwMode="auto">
          <a:xfrm>
            <a:off x="10998200" y="5565775"/>
            <a:ext cx="812800" cy="815975"/>
          </a:xfrm>
          <a:prstGeom prst="rect">
            <a:avLst/>
          </a:prstGeom>
          <a:noFill/>
          <a:ln w="9525">
            <a:noFill/>
            <a:miter lim="800000"/>
            <a:headEnd/>
            <a:tailEnd/>
          </a:ln>
        </p:spPr>
      </p:pic>
      <p:sp>
        <p:nvSpPr>
          <p:cNvPr id="7" name="等腰三角形 9"/>
          <p:cNvSpPr/>
          <p:nvPr userDrawn="1"/>
        </p:nvSpPr>
        <p:spPr>
          <a:xfrm rot="16200000">
            <a:off x="10400506" y="2770982"/>
            <a:ext cx="295275" cy="1381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10"/>
          <p:cNvSpPr txBox="1"/>
          <p:nvPr userDrawn="1"/>
        </p:nvSpPr>
        <p:spPr>
          <a:xfrm>
            <a:off x="10710863" y="10699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研究概述</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9" name="文本框 11"/>
          <p:cNvSpPr txBox="1"/>
          <p:nvPr userDrawn="1"/>
        </p:nvSpPr>
        <p:spPr>
          <a:xfrm>
            <a:off x="10710863" y="18573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研究方法</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0" name="文本框 12"/>
          <p:cNvSpPr txBox="1"/>
          <p:nvPr userDrawn="1"/>
        </p:nvSpPr>
        <p:spPr>
          <a:xfrm>
            <a:off x="10710863" y="26463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bg1"/>
                </a:solidFill>
                <a:latin typeface="微软雅黑" panose="020B0503020204020204" pitchFamily="34" charset="-122"/>
                <a:ea typeface="微软雅黑" panose="020B0503020204020204" pitchFamily="34" charset="-122"/>
              </a:rPr>
              <a:t>研究过程</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1" name="文本框 13"/>
          <p:cNvSpPr txBox="1"/>
          <p:nvPr userDrawn="1"/>
        </p:nvSpPr>
        <p:spPr>
          <a:xfrm>
            <a:off x="10710863" y="34337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研究成果</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2" name="文本框 14"/>
          <p:cNvSpPr txBox="1"/>
          <p:nvPr userDrawn="1"/>
        </p:nvSpPr>
        <p:spPr>
          <a:xfrm>
            <a:off x="10710863" y="4222750"/>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结论建议</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3" name="日期占位符 2"/>
          <p:cNvSpPr>
            <a:spLocks noGrp="1"/>
          </p:cNvSpPr>
          <p:nvPr>
            <p:ph type="dt" sz="half" idx="10"/>
          </p:nvPr>
        </p:nvSpPr>
        <p:spPr/>
        <p:txBody>
          <a:bodyPr/>
          <a:lstStyle>
            <a:lvl1pPr>
              <a:defRPr/>
            </a:lvl1pPr>
          </a:lstStyle>
          <a:p>
            <a:pPr>
              <a:defRPr/>
            </a:pPr>
            <a:fld id="{5AEC87B4-D6CB-4950-ABA2-61A540F74860}" type="datetimeFigureOut">
              <a:rPr lang="zh-CN" altLang="en-US"/>
            </a:fld>
            <a:endParaRPr lang="zh-CN" altLang="en-US"/>
          </a:p>
        </p:txBody>
      </p:sp>
      <p:sp>
        <p:nvSpPr>
          <p:cNvPr id="14" name="页脚占位符 3"/>
          <p:cNvSpPr>
            <a:spLocks noGrp="1"/>
          </p:cNvSpPr>
          <p:nvPr>
            <p:ph type="ftr" sz="quarter" idx="11"/>
          </p:nvPr>
        </p:nvSpPr>
        <p:spPr/>
        <p:txBody>
          <a:bodyPr/>
          <a:lstStyle>
            <a:lvl1pPr>
              <a:defRPr/>
            </a:lvl1pPr>
          </a:lstStyle>
          <a:p>
            <a:pPr>
              <a:defRPr/>
            </a:pPr>
            <a:endParaRPr lang="zh-CN" altLang="en-US"/>
          </a:p>
        </p:txBody>
      </p:sp>
      <p:sp>
        <p:nvSpPr>
          <p:cNvPr id="15"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pPr>
              <a:defRPr/>
            </a:pPr>
            <a:r>
              <a:rPr lang="en-US" altLang="zh-CN"/>
              <a:t>P</a:t>
            </a:r>
            <a:fld id="{BB84904B-C40B-4226-87F2-EDEC50268C44}"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1+#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50" fill="hold"/>
                                        <p:tgtEl>
                                          <p:spTgt spid="8"/>
                                        </p:tgtEl>
                                        <p:attrNameLst>
                                          <p:attrName>ppt_x</p:attrName>
                                        </p:attrNameLst>
                                      </p:cBhvr>
                                      <p:tavLst>
                                        <p:tav tm="0">
                                          <p:val>
                                            <p:strVal val="1+#ppt_w/2"/>
                                          </p:val>
                                        </p:tav>
                                        <p:tav tm="100000">
                                          <p:val>
                                            <p:strVal val="#ppt_x"/>
                                          </p:val>
                                        </p:tav>
                                      </p:tavLst>
                                    </p:anim>
                                    <p:anim calcmode="lin" valueType="num">
                                      <p:cBhvr additive="base">
                                        <p:cTn id="12" dur="2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250" fill="hold"/>
                                        <p:tgtEl>
                                          <p:spTgt spid="9"/>
                                        </p:tgtEl>
                                        <p:attrNameLst>
                                          <p:attrName>ppt_x</p:attrName>
                                        </p:attrNameLst>
                                      </p:cBhvr>
                                      <p:tavLst>
                                        <p:tav tm="0">
                                          <p:val>
                                            <p:strVal val="1+#ppt_w/2"/>
                                          </p:val>
                                        </p:tav>
                                        <p:tav tm="100000">
                                          <p:val>
                                            <p:strVal val="#ppt_x"/>
                                          </p:val>
                                        </p:tav>
                                      </p:tavLst>
                                    </p:anim>
                                    <p:anim calcmode="lin" valueType="num">
                                      <p:cBhvr additive="base">
                                        <p:cTn id="16" dur="25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250" fill="hold"/>
                                        <p:tgtEl>
                                          <p:spTgt spid="10"/>
                                        </p:tgtEl>
                                        <p:attrNameLst>
                                          <p:attrName>ppt_x</p:attrName>
                                        </p:attrNameLst>
                                      </p:cBhvr>
                                      <p:tavLst>
                                        <p:tav tm="0">
                                          <p:val>
                                            <p:strVal val="1+#ppt_w/2"/>
                                          </p:val>
                                        </p:tav>
                                        <p:tav tm="100000">
                                          <p:val>
                                            <p:strVal val="#ppt_x"/>
                                          </p:val>
                                        </p:tav>
                                      </p:tavLst>
                                    </p:anim>
                                    <p:anim calcmode="lin" valueType="num">
                                      <p:cBhvr additive="base">
                                        <p:cTn id="20" dur="25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250" fill="hold"/>
                                        <p:tgtEl>
                                          <p:spTgt spid="11"/>
                                        </p:tgtEl>
                                        <p:attrNameLst>
                                          <p:attrName>ppt_x</p:attrName>
                                        </p:attrNameLst>
                                      </p:cBhvr>
                                      <p:tavLst>
                                        <p:tav tm="0">
                                          <p:val>
                                            <p:strVal val="1+#ppt_w/2"/>
                                          </p:val>
                                        </p:tav>
                                        <p:tav tm="100000">
                                          <p:val>
                                            <p:strVal val="#ppt_x"/>
                                          </p:val>
                                        </p:tav>
                                      </p:tavLst>
                                    </p:anim>
                                    <p:anim calcmode="lin" valueType="num">
                                      <p:cBhvr additive="base">
                                        <p:cTn id="24" dur="25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50" fill="hold"/>
                                        <p:tgtEl>
                                          <p:spTgt spid="12"/>
                                        </p:tgtEl>
                                        <p:attrNameLst>
                                          <p:attrName>ppt_x</p:attrName>
                                        </p:attrNameLst>
                                      </p:cBhvr>
                                      <p:tavLst>
                                        <p:tav tm="0">
                                          <p:val>
                                            <p:strVal val="1+#ppt_w/2"/>
                                          </p:val>
                                        </p:tav>
                                        <p:tav tm="100000">
                                          <p:val>
                                            <p:strVal val="#ppt_x"/>
                                          </p:val>
                                        </p:tav>
                                      </p:tavLst>
                                    </p:anim>
                                    <p:anim calcmode="lin" valueType="num">
                                      <p:cBhvr additive="base">
                                        <p:cTn id="28" dur="250" fill="hold"/>
                                        <p:tgtEl>
                                          <p:spTgt spid="12"/>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6"/>
                                        </p:tgtEl>
                                        <p:attrNameLst>
                                          <p:attrName>style.visibility</p:attrName>
                                        </p:attrNameLst>
                                      </p:cBhvr>
                                      <p:to>
                                        <p:strVal val="visible"/>
                                      </p:to>
                                    </p:set>
                                    <p:anim calcmode="lin" valueType="num">
                                      <p:cBhvr>
                                        <p:cTn id="31" dur="250" fill="hold"/>
                                        <p:tgtEl>
                                          <p:spTgt spid="6"/>
                                        </p:tgtEl>
                                        <p:attrNameLst>
                                          <p:attrName>ppt_w</p:attrName>
                                        </p:attrNameLst>
                                      </p:cBhvr>
                                      <p:tavLst>
                                        <p:tav tm="0">
                                          <p:val>
                                            <p:fltVal val="0"/>
                                          </p:val>
                                        </p:tav>
                                        <p:tav tm="100000">
                                          <p:val>
                                            <p:strVal val="#ppt_w"/>
                                          </p:val>
                                        </p:tav>
                                      </p:tavLst>
                                    </p:anim>
                                    <p:anim calcmode="lin" valueType="num">
                                      <p:cBhvr>
                                        <p:cTn id="32" dur="250" fill="hold"/>
                                        <p:tgtEl>
                                          <p:spTgt spid="6"/>
                                        </p:tgtEl>
                                        <p:attrNameLst>
                                          <p:attrName>ppt_h</p:attrName>
                                        </p:attrNameLst>
                                      </p:cBhvr>
                                      <p:tavLst>
                                        <p:tav tm="0">
                                          <p:val>
                                            <p:fltVal val="0"/>
                                          </p:val>
                                        </p:tav>
                                        <p:tav tm="100000">
                                          <p:val>
                                            <p:strVal val="#ppt_h"/>
                                          </p:val>
                                        </p:tav>
                                      </p:tavLst>
                                    </p:anim>
                                    <p:animEffect transition="in" filter="fade">
                                      <p:cBhvr>
                                        <p:cTn id="33" dur="250"/>
                                        <p:tgtEl>
                                          <p:spTgt spid="6"/>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7"/>
                                        </p:tgtEl>
                                        <p:attrNameLst>
                                          <p:attrName>style.visibility</p:attrName>
                                        </p:attrNameLst>
                                      </p:cBhvr>
                                      <p:to>
                                        <p:strVal val="visible"/>
                                      </p:to>
                                    </p:set>
                                    <p:animEffect transition="in" filter="wipe(right)">
                                      <p:cBhvr>
                                        <p:cTn id="36" dur="25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1000"/>
                                        <p:tgtEl>
                                          <p:spTgt spid="3"/>
                                        </p:tgtEl>
                                      </p:cBhvr>
                                    </p:animEffect>
                                    <p:anim calcmode="lin" valueType="num">
                                      <p:cBhvr>
                                        <p:cTn id="40" dur="1000" fill="hold"/>
                                        <p:tgtEl>
                                          <p:spTgt spid="3"/>
                                        </p:tgtEl>
                                        <p:attrNameLst>
                                          <p:attrName>ppt_x</p:attrName>
                                        </p:attrNameLst>
                                      </p:cBhvr>
                                      <p:tavLst>
                                        <p:tav tm="0">
                                          <p:val>
                                            <p:strVal val="#ppt_x"/>
                                          </p:val>
                                        </p:tav>
                                        <p:tav tm="100000">
                                          <p:val>
                                            <p:strVal val="#ppt_x"/>
                                          </p:val>
                                        </p:tav>
                                      </p:tavLst>
                                    </p:anim>
                                    <p:anim calcmode="lin" valueType="num">
                                      <p:cBhvr>
                                        <p:cTn id="41" dur="1000" fill="hold"/>
                                        <p:tgtEl>
                                          <p:spTgt spid="3"/>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7" grpId="0" animBg="1"/>
      <p:bldP spid="8" grpId="0"/>
      <p:bldP spid="9" grpId="0"/>
      <p:bldP spid="10" grpId="0"/>
      <p:bldP spid="11" grpId="0"/>
      <p:bldP spid="12"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研究成果_需换右下角LOGO">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4" name="文本框 6"/>
          <p:cNvSpPr txBox="1"/>
          <p:nvPr userDrawn="1"/>
        </p:nvSpPr>
        <p:spPr>
          <a:xfrm>
            <a:off x="1303338" y="858838"/>
            <a:ext cx="2373312" cy="307975"/>
          </a:xfrm>
          <a:prstGeom prst="rect">
            <a:avLst/>
          </a:prstGeom>
          <a:noFill/>
        </p:spPr>
        <p:txBody>
          <a:bodyPr>
            <a:spAutoFit/>
          </a:bodyPr>
          <a:lstStyle/>
          <a:p>
            <a:pPr fontAlgn="auto">
              <a:spcBef>
                <a:spcPts val="0"/>
              </a:spcBef>
              <a:spcAft>
                <a:spcPts val="0"/>
              </a:spcAft>
              <a:defRPr/>
            </a:pPr>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5" name="矩形 7"/>
          <p:cNvSpPr/>
          <p:nvPr userDrawn="1"/>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6" name="图片 8"/>
          <p:cNvPicPr>
            <a:picLocks noChangeAspect="1"/>
          </p:cNvPicPr>
          <p:nvPr userDrawn="1"/>
        </p:nvPicPr>
        <p:blipFill>
          <a:blip r:embed="rId2"/>
          <a:srcRect/>
          <a:stretch>
            <a:fillRect/>
          </a:stretch>
        </p:blipFill>
        <p:spPr bwMode="auto">
          <a:xfrm>
            <a:off x="10998200" y="5565775"/>
            <a:ext cx="812800" cy="815975"/>
          </a:xfrm>
          <a:prstGeom prst="rect">
            <a:avLst/>
          </a:prstGeom>
          <a:noFill/>
          <a:ln w="9525">
            <a:noFill/>
            <a:miter lim="800000"/>
            <a:headEnd/>
            <a:tailEnd/>
          </a:ln>
        </p:spPr>
      </p:pic>
      <p:sp>
        <p:nvSpPr>
          <p:cNvPr id="7" name="等腰三角形 9"/>
          <p:cNvSpPr/>
          <p:nvPr userDrawn="1"/>
        </p:nvSpPr>
        <p:spPr>
          <a:xfrm rot="16200000">
            <a:off x="10400506" y="3559970"/>
            <a:ext cx="295275" cy="1381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10"/>
          <p:cNvSpPr txBox="1"/>
          <p:nvPr userDrawn="1"/>
        </p:nvSpPr>
        <p:spPr>
          <a:xfrm>
            <a:off x="10710863" y="10699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研究概述</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9" name="文本框 11"/>
          <p:cNvSpPr txBox="1"/>
          <p:nvPr userDrawn="1"/>
        </p:nvSpPr>
        <p:spPr>
          <a:xfrm>
            <a:off x="10710863" y="18573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研究方法</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0" name="文本框 12"/>
          <p:cNvSpPr txBox="1"/>
          <p:nvPr userDrawn="1"/>
        </p:nvSpPr>
        <p:spPr>
          <a:xfrm>
            <a:off x="10710863" y="26463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研究过程</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1" name="文本框 13"/>
          <p:cNvSpPr txBox="1"/>
          <p:nvPr userDrawn="1"/>
        </p:nvSpPr>
        <p:spPr>
          <a:xfrm>
            <a:off x="10710863" y="34337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bg1"/>
                </a:solidFill>
                <a:latin typeface="微软雅黑" panose="020B0503020204020204" pitchFamily="34" charset="-122"/>
                <a:ea typeface="微软雅黑" panose="020B0503020204020204" pitchFamily="34" charset="-122"/>
              </a:rPr>
              <a:t>研究成果</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2" name="文本框 14"/>
          <p:cNvSpPr txBox="1"/>
          <p:nvPr userDrawn="1"/>
        </p:nvSpPr>
        <p:spPr>
          <a:xfrm>
            <a:off x="10710863" y="4222750"/>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结论建议</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3" name="日期占位符 2"/>
          <p:cNvSpPr>
            <a:spLocks noGrp="1"/>
          </p:cNvSpPr>
          <p:nvPr>
            <p:ph type="dt" sz="half" idx="10"/>
          </p:nvPr>
        </p:nvSpPr>
        <p:spPr/>
        <p:txBody>
          <a:bodyPr/>
          <a:lstStyle>
            <a:lvl1pPr>
              <a:defRPr/>
            </a:lvl1pPr>
          </a:lstStyle>
          <a:p>
            <a:pPr>
              <a:defRPr/>
            </a:pPr>
            <a:fld id="{E76CF3E6-9679-4002-80AE-F092F2797CBF}" type="datetimeFigureOut">
              <a:rPr lang="zh-CN" altLang="en-US"/>
            </a:fld>
            <a:endParaRPr lang="zh-CN" altLang="en-US"/>
          </a:p>
        </p:txBody>
      </p:sp>
      <p:sp>
        <p:nvSpPr>
          <p:cNvPr id="14" name="页脚占位符 3"/>
          <p:cNvSpPr>
            <a:spLocks noGrp="1"/>
          </p:cNvSpPr>
          <p:nvPr>
            <p:ph type="ftr" sz="quarter" idx="11"/>
          </p:nvPr>
        </p:nvSpPr>
        <p:spPr/>
        <p:txBody>
          <a:bodyPr/>
          <a:lstStyle>
            <a:lvl1pPr>
              <a:defRPr/>
            </a:lvl1pPr>
          </a:lstStyle>
          <a:p>
            <a:pPr>
              <a:defRPr/>
            </a:pPr>
            <a:endParaRPr lang="zh-CN" altLang="en-US"/>
          </a:p>
        </p:txBody>
      </p:sp>
      <p:sp>
        <p:nvSpPr>
          <p:cNvPr id="15"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pPr>
              <a:defRPr/>
            </a:pPr>
            <a:r>
              <a:rPr lang="en-US" altLang="zh-CN"/>
              <a:t>P</a:t>
            </a:r>
            <a:fld id="{89575C3D-097C-4334-AB27-3C4B93DE8544}"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1+#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50" fill="hold"/>
                                        <p:tgtEl>
                                          <p:spTgt spid="8"/>
                                        </p:tgtEl>
                                        <p:attrNameLst>
                                          <p:attrName>ppt_x</p:attrName>
                                        </p:attrNameLst>
                                      </p:cBhvr>
                                      <p:tavLst>
                                        <p:tav tm="0">
                                          <p:val>
                                            <p:strVal val="1+#ppt_w/2"/>
                                          </p:val>
                                        </p:tav>
                                        <p:tav tm="100000">
                                          <p:val>
                                            <p:strVal val="#ppt_x"/>
                                          </p:val>
                                        </p:tav>
                                      </p:tavLst>
                                    </p:anim>
                                    <p:anim calcmode="lin" valueType="num">
                                      <p:cBhvr additive="base">
                                        <p:cTn id="12" dur="2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250" fill="hold"/>
                                        <p:tgtEl>
                                          <p:spTgt spid="9"/>
                                        </p:tgtEl>
                                        <p:attrNameLst>
                                          <p:attrName>ppt_x</p:attrName>
                                        </p:attrNameLst>
                                      </p:cBhvr>
                                      <p:tavLst>
                                        <p:tav tm="0">
                                          <p:val>
                                            <p:strVal val="1+#ppt_w/2"/>
                                          </p:val>
                                        </p:tav>
                                        <p:tav tm="100000">
                                          <p:val>
                                            <p:strVal val="#ppt_x"/>
                                          </p:val>
                                        </p:tav>
                                      </p:tavLst>
                                    </p:anim>
                                    <p:anim calcmode="lin" valueType="num">
                                      <p:cBhvr additive="base">
                                        <p:cTn id="16" dur="25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250" fill="hold"/>
                                        <p:tgtEl>
                                          <p:spTgt spid="10"/>
                                        </p:tgtEl>
                                        <p:attrNameLst>
                                          <p:attrName>ppt_x</p:attrName>
                                        </p:attrNameLst>
                                      </p:cBhvr>
                                      <p:tavLst>
                                        <p:tav tm="0">
                                          <p:val>
                                            <p:strVal val="1+#ppt_w/2"/>
                                          </p:val>
                                        </p:tav>
                                        <p:tav tm="100000">
                                          <p:val>
                                            <p:strVal val="#ppt_x"/>
                                          </p:val>
                                        </p:tav>
                                      </p:tavLst>
                                    </p:anim>
                                    <p:anim calcmode="lin" valueType="num">
                                      <p:cBhvr additive="base">
                                        <p:cTn id="20" dur="25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250" fill="hold"/>
                                        <p:tgtEl>
                                          <p:spTgt spid="11"/>
                                        </p:tgtEl>
                                        <p:attrNameLst>
                                          <p:attrName>ppt_x</p:attrName>
                                        </p:attrNameLst>
                                      </p:cBhvr>
                                      <p:tavLst>
                                        <p:tav tm="0">
                                          <p:val>
                                            <p:strVal val="1+#ppt_w/2"/>
                                          </p:val>
                                        </p:tav>
                                        <p:tav tm="100000">
                                          <p:val>
                                            <p:strVal val="#ppt_x"/>
                                          </p:val>
                                        </p:tav>
                                      </p:tavLst>
                                    </p:anim>
                                    <p:anim calcmode="lin" valueType="num">
                                      <p:cBhvr additive="base">
                                        <p:cTn id="24" dur="25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50" fill="hold"/>
                                        <p:tgtEl>
                                          <p:spTgt spid="12"/>
                                        </p:tgtEl>
                                        <p:attrNameLst>
                                          <p:attrName>ppt_x</p:attrName>
                                        </p:attrNameLst>
                                      </p:cBhvr>
                                      <p:tavLst>
                                        <p:tav tm="0">
                                          <p:val>
                                            <p:strVal val="1+#ppt_w/2"/>
                                          </p:val>
                                        </p:tav>
                                        <p:tav tm="100000">
                                          <p:val>
                                            <p:strVal val="#ppt_x"/>
                                          </p:val>
                                        </p:tav>
                                      </p:tavLst>
                                    </p:anim>
                                    <p:anim calcmode="lin" valueType="num">
                                      <p:cBhvr additive="base">
                                        <p:cTn id="28" dur="250" fill="hold"/>
                                        <p:tgtEl>
                                          <p:spTgt spid="12"/>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7"/>
                                        </p:tgtEl>
                                        <p:attrNameLst>
                                          <p:attrName>style.visibility</p:attrName>
                                        </p:attrNameLst>
                                      </p:cBhvr>
                                      <p:to>
                                        <p:strVal val="visible"/>
                                      </p:to>
                                    </p:set>
                                    <p:animEffect transition="in" filter="wipe(right)">
                                      <p:cBhvr>
                                        <p:cTn id="36" dur="50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1000"/>
                                        <p:tgtEl>
                                          <p:spTgt spid="3"/>
                                        </p:tgtEl>
                                      </p:cBhvr>
                                    </p:animEffect>
                                    <p:anim calcmode="lin" valueType="num">
                                      <p:cBhvr>
                                        <p:cTn id="40" dur="1000" fill="hold"/>
                                        <p:tgtEl>
                                          <p:spTgt spid="3"/>
                                        </p:tgtEl>
                                        <p:attrNameLst>
                                          <p:attrName>ppt_x</p:attrName>
                                        </p:attrNameLst>
                                      </p:cBhvr>
                                      <p:tavLst>
                                        <p:tav tm="0">
                                          <p:val>
                                            <p:strVal val="#ppt_x"/>
                                          </p:val>
                                        </p:tav>
                                        <p:tav tm="100000">
                                          <p:val>
                                            <p:strVal val="#ppt_x"/>
                                          </p:val>
                                        </p:tav>
                                      </p:tavLst>
                                    </p:anim>
                                    <p:anim calcmode="lin" valueType="num">
                                      <p:cBhvr>
                                        <p:cTn id="41" dur="1000" fill="hold"/>
                                        <p:tgtEl>
                                          <p:spTgt spid="3"/>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7" grpId="0" animBg="1"/>
      <p:bldP spid="8" grpId="0"/>
      <p:bldP spid="9" grpId="0"/>
      <p:bldP spid="10" grpId="0"/>
      <p:bldP spid="11" grpId="0"/>
      <p:bldP spid="12"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结论建议_需换右下角LOGO">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4" name="文本框 6"/>
          <p:cNvSpPr txBox="1"/>
          <p:nvPr userDrawn="1"/>
        </p:nvSpPr>
        <p:spPr>
          <a:xfrm>
            <a:off x="1303338" y="858838"/>
            <a:ext cx="2373312" cy="307975"/>
          </a:xfrm>
          <a:prstGeom prst="rect">
            <a:avLst/>
          </a:prstGeom>
          <a:noFill/>
        </p:spPr>
        <p:txBody>
          <a:bodyPr>
            <a:spAutoFit/>
          </a:bodyPr>
          <a:lstStyle/>
          <a:p>
            <a:pPr fontAlgn="auto">
              <a:spcBef>
                <a:spcPts val="0"/>
              </a:spcBef>
              <a:spcAft>
                <a:spcPts val="0"/>
              </a:spcAft>
              <a:defRPr/>
            </a:pPr>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5" name="矩形 7"/>
          <p:cNvSpPr/>
          <p:nvPr userDrawn="1"/>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6" name="图片 8"/>
          <p:cNvPicPr>
            <a:picLocks noChangeAspect="1"/>
          </p:cNvPicPr>
          <p:nvPr userDrawn="1"/>
        </p:nvPicPr>
        <p:blipFill>
          <a:blip r:embed="rId2"/>
          <a:srcRect/>
          <a:stretch>
            <a:fillRect/>
          </a:stretch>
        </p:blipFill>
        <p:spPr bwMode="auto">
          <a:xfrm>
            <a:off x="10998200" y="5565775"/>
            <a:ext cx="812800" cy="815975"/>
          </a:xfrm>
          <a:prstGeom prst="rect">
            <a:avLst/>
          </a:prstGeom>
          <a:noFill/>
          <a:ln w="9525">
            <a:noFill/>
            <a:miter lim="800000"/>
            <a:headEnd/>
            <a:tailEnd/>
          </a:ln>
        </p:spPr>
      </p:pic>
      <p:sp>
        <p:nvSpPr>
          <p:cNvPr id="7" name="等腰三角形 9"/>
          <p:cNvSpPr/>
          <p:nvPr userDrawn="1"/>
        </p:nvSpPr>
        <p:spPr>
          <a:xfrm rot="16200000">
            <a:off x="10400506" y="4353720"/>
            <a:ext cx="295275" cy="13811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10"/>
          <p:cNvSpPr txBox="1"/>
          <p:nvPr userDrawn="1"/>
        </p:nvSpPr>
        <p:spPr>
          <a:xfrm>
            <a:off x="10710863" y="10699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研究概述</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9" name="文本框 11"/>
          <p:cNvSpPr txBox="1"/>
          <p:nvPr userDrawn="1"/>
        </p:nvSpPr>
        <p:spPr>
          <a:xfrm>
            <a:off x="10710863" y="1857375"/>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研究方法</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0" name="文本框 12"/>
          <p:cNvSpPr txBox="1"/>
          <p:nvPr userDrawn="1"/>
        </p:nvSpPr>
        <p:spPr>
          <a:xfrm>
            <a:off x="10710863" y="26463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研究过程</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1" name="文本框 13"/>
          <p:cNvSpPr txBox="1"/>
          <p:nvPr userDrawn="1"/>
        </p:nvSpPr>
        <p:spPr>
          <a:xfrm>
            <a:off x="10710863" y="3433763"/>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accent2">
                    <a:lumMod val="75000"/>
                  </a:schemeClr>
                </a:solidFill>
                <a:latin typeface="微软雅黑" panose="020B0503020204020204" pitchFamily="34" charset="-122"/>
                <a:ea typeface="微软雅黑" panose="020B0503020204020204" pitchFamily="34" charset="-122"/>
              </a:rPr>
              <a:t>研究成果</a:t>
            </a:r>
            <a:endParaRPr lang="zh-CN" altLang="en-US" sz="20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2" name="文本框 14"/>
          <p:cNvSpPr txBox="1"/>
          <p:nvPr userDrawn="1"/>
        </p:nvSpPr>
        <p:spPr>
          <a:xfrm>
            <a:off x="10710863" y="4222750"/>
            <a:ext cx="1387475" cy="400050"/>
          </a:xfrm>
          <a:prstGeom prst="rect">
            <a:avLst/>
          </a:prstGeom>
          <a:noFill/>
        </p:spPr>
        <p:txBody>
          <a:bodyPr>
            <a:spAutoFit/>
          </a:bodyPr>
          <a:lstStyle/>
          <a:p>
            <a:pPr algn="ctr" fontAlgn="auto">
              <a:spcBef>
                <a:spcPts val="0"/>
              </a:spcBef>
              <a:spcAft>
                <a:spcPts val="0"/>
              </a:spcAft>
              <a:defRPr/>
            </a:pPr>
            <a:r>
              <a:rPr lang="zh-CN" altLang="en-US" sz="2000" dirty="0">
                <a:solidFill>
                  <a:schemeClr val="bg1"/>
                </a:solidFill>
                <a:latin typeface="微软雅黑" panose="020B0503020204020204" pitchFamily="34" charset="-122"/>
                <a:ea typeface="微软雅黑" panose="020B0503020204020204" pitchFamily="34" charset="-122"/>
              </a:rPr>
              <a:t>结论建议</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3" name="日期占位符 2"/>
          <p:cNvSpPr>
            <a:spLocks noGrp="1"/>
          </p:cNvSpPr>
          <p:nvPr>
            <p:ph type="dt" sz="half" idx="10"/>
          </p:nvPr>
        </p:nvSpPr>
        <p:spPr/>
        <p:txBody>
          <a:bodyPr/>
          <a:lstStyle>
            <a:lvl1pPr>
              <a:defRPr/>
            </a:lvl1pPr>
          </a:lstStyle>
          <a:p>
            <a:pPr>
              <a:defRPr/>
            </a:pPr>
            <a:fld id="{B2FC5620-B53C-4250-9CE2-1DBD0E6F48EB}" type="datetimeFigureOut">
              <a:rPr lang="zh-CN" altLang="en-US"/>
            </a:fld>
            <a:endParaRPr lang="zh-CN" altLang="en-US"/>
          </a:p>
        </p:txBody>
      </p:sp>
      <p:sp>
        <p:nvSpPr>
          <p:cNvPr id="14" name="页脚占位符 3"/>
          <p:cNvSpPr>
            <a:spLocks noGrp="1"/>
          </p:cNvSpPr>
          <p:nvPr>
            <p:ph type="ftr" sz="quarter" idx="11"/>
          </p:nvPr>
        </p:nvSpPr>
        <p:spPr/>
        <p:txBody>
          <a:bodyPr/>
          <a:lstStyle>
            <a:lvl1pPr>
              <a:defRPr/>
            </a:lvl1pPr>
          </a:lstStyle>
          <a:p>
            <a:pPr>
              <a:defRPr/>
            </a:pPr>
            <a:endParaRPr lang="zh-CN" altLang="en-US"/>
          </a:p>
        </p:txBody>
      </p:sp>
      <p:sp>
        <p:nvSpPr>
          <p:cNvPr id="15"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pPr>
              <a:defRPr/>
            </a:pPr>
            <a:r>
              <a:rPr lang="en-US" altLang="zh-CN"/>
              <a:t>P</a:t>
            </a:r>
            <a:fld id="{D2DA9C13-9D11-4214-8A2A-3A389BBE2A9B}"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1+#ppt_w/2"/>
                                          </p:val>
                                        </p:tav>
                                        <p:tav tm="100000">
                                          <p:val>
                                            <p:strVal val="#ppt_x"/>
                                          </p:val>
                                        </p:tav>
                                      </p:tavLst>
                                    </p:anim>
                                    <p:anim calcmode="lin" valueType="num">
                                      <p:cBhvr additive="base">
                                        <p:cTn id="8" dur="2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50" fill="hold"/>
                                        <p:tgtEl>
                                          <p:spTgt spid="8"/>
                                        </p:tgtEl>
                                        <p:attrNameLst>
                                          <p:attrName>ppt_x</p:attrName>
                                        </p:attrNameLst>
                                      </p:cBhvr>
                                      <p:tavLst>
                                        <p:tav tm="0">
                                          <p:val>
                                            <p:strVal val="1+#ppt_w/2"/>
                                          </p:val>
                                        </p:tav>
                                        <p:tav tm="100000">
                                          <p:val>
                                            <p:strVal val="#ppt_x"/>
                                          </p:val>
                                        </p:tav>
                                      </p:tavLst>
                                    </p:anim>
                                    <p:anim calcmode="lin" valueType="num">
                                      <p:cBhvr additive="base">
                                        <p:cTn id="12" dur="2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250" fill="hold"/>
                                        <p:tgtEl>
                                          <p:spTgt spid="9"/>
                                        </p:tgtEl>
                                        <p:attrNameLst>
                                          <p:attrName>ppt_x</p:attrName>
                                        </p:attrNameLst>
                                      </p:cBhvr>
                                      <p:tavLst>
                                        <p:tav tm="0">
                                          <p:val>
                                            <p:strVal val="1+#ppt_w/2"/>
                                          </p:val>
                                        </p:tav>
                                        <p:tav tm="100000">
                                          <p:val>
                                            <p:strVal val="#ppt_x"/>
                                          </p:val>
                                        </p:tav>
                                      </p:tavLst>
                                    </p:anim>
                                    <p:anim calcmode="lin" valueType="num">
                                      <p:cBhvr additive="base">
                                        <p:cTn id="16" dur="25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250" fill="hold"/>
                                        <p:tgtEl>
                                          <p:spTgt spid="10"/>
                                        </p:tgtEl>
                                        <p:attrNameLst>
                                          <p:attrName>ppt_x</p:attrName>
                                        </p:attrNameLst>
                                      </p:cBhvr>
                                      <p:tavLst>
                                        <p:tav tm="0">
                                          <p:val>
                                            <p:strVal val="1+#ppt_w/2"/>
                                          </p:val>
                                        </p:tav>
                                        <p:tav tm="100000">
                                          <p:val>
                                            <p:strVal val="#ppt_x"/>
                                          </p:val>
                                        </p:tav>
                                      </p:tavLst>
                                    </p:anim>
                                    <p:anim calcmode="lin" valueType="num">
                                      <p:cBhvr additive="base">
                                        <p:cTn id="20" dur="25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00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250" fill="hold"/>
                                        <p:tgtEl>
                                          <p:spTgt spid="11"/>
                                        </p:tgtEl>
                                        <p:attrNameLst>
                                          <p:attrName>ppt_x</p:attrName>
                                        </p:attrNameLst>
                                      </p:cBhvr>
                                      <p:tavLst>
                                        <p:tav tm="0">
                                          <p:val>
                                            <p:strVal val="1+#ppt_w/2"/>
                                          </p:val>
                                        </p:tav>
                                        <p:tav tm="100000">
                                          <p:val>
                                            <p:strVal val="#ppt_x"/>
                                          </p:val>
                                        </p:tav>
                                      </p:tavLst>
                                    </p:anim>
                                    <p:anim calcmode="lin" valueType="num">
                                      <p:cBhvr additive="base">
                                        <p:cTn id="24" dur="25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25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50" fill="hold"/>
                                        <p:tgtEl>
                                          <p:spTgt spid="12"/>
                                        </p:tgtEl>
                                        <p:attrNameLst>
                                          <p:attrName>ppt_x</p:attrName>
                                        </p:attrNameLst>
                                      </p:cBhvr>
                                      <p:tavLst>
                                        <p:tav tm="0">
                                          <p:val>
                                            <p:strVal val="1+#ppt_w/2"/>
                                          </p:val>
                                        </p:tav>
                                        <p:tav tm="100000">
                                          <p:val>
                                            <p:strVal val="#ppt_x"/>
                                          </p:val>
                                        </p:tav>
                                      </p:tavLst>
                                    </p:anim>
                                    <p:anim calcmode="lin" valueType="num">
                                      <p:cBhvr additive="base">
                                        <p:cTn id="28" dur="250" fill="hold"/>
                                        <p:tgtEl>
                                          <p:spTgt spid="12"/>
                                        </p:tgtEl>
                                        <p:attrNameLst>
                                          <p:attrName>ppt_y</p:attrName>
                                        </p:attrNameLst>
                                      </p:cBhvr>
                                      <p:tavLst>
                                        <p:tav tm="0">
                                          <p:val>
                                            <p:strVal val="#ppt_y"/>
                                          </p:val>
                                        </p:tav>
                                        <p:tav tm="100000">
                                          <p:val>
                                            <p:strVal val="#ppt_y"/>
                                          </p:val>
                                        </p:tav>
                                      </p:tavLst>
                                    </p:anim>
                                  </p:childTnLst>
                                </p:cTn>
                              </p:par>
                              <p:par>
                                <p:cTn id="29" presetID="53" presetClass="entr" presetSubtype="16" fill="hold" nodeType="withEffect">
                                  <p:stCondLst>
                                    <p:cond delay="1500"/>
                                  </p:stCondLst>
                                  <p:childTnLst>
                                    <p:set>
                                      <p:cBhvr>
                                        <p:cTn id="30" dur="1" fill="hold">
                                          <p:stCondLst>
                                            <p:cond delay="0"/>
                                          </p:stCondLst>
                                        </p:cTn>
                                        <p:tgtEl>
                                          <p:spTgt spid="6"/>
                                        </p:tgtEl>
                                        <p:attrNameLst>
                                          <p:attrName>style.visibility</p:attrName>
                                        </p:attrNameLst>
                                      </p:cBhvr>
                                      <p:to>
                                        <p:strVal val="visible"/>
                                      </p:to>
                                    </p:set>
                                    <p:anim calcmode="lin" valueType="num">
                                      <p:cBhvr>
                                        <p:cTn id="31" dur="250" fill="hold"/>
                                        <p:tgtEl>
                                          <p:spTgt spid="6"/>
                                        </p:tgtEl>
                                        <p:attrNameLst>
                                          <p:attrName>ppt_w</p:attrName>
                                        </p:attrNameLst>
                                      </p:cBhvr>
                                      <p:tavLst>
                                        <p:tav tm="0">
                                          <p:val>
                                            <p:fltVal val="0"/>
                                          </p:val>
                                        </p:tav>
                                        <p:tav tm="100000">
                                          <p:val>
                                            <p:strVal val="#ppt_w"/>
                                          </p:val>
                                        </p:tav>
                                      </p:tavLst>
                                    </p:anim>
                                    <p:anim calcmode="lin" valueType="num">
                                      <p:cBhvr>
                                        <p:cTn id="32" dur="250" fill="hold"/>
                                        <p:tgtEl>
                                          <p:spTgt spid="6"/>
                                        </p:tgtEl>
                                        <p:attrNameLst>
                                          <p:attrName>ppt_h</p:attrName>
                                        </p:attrNameLst>
                                      </p:cBhvr>
                                      <p:tavLst>
                                        <p:tav tm="0">
                                          <p:val>
                                            <p:fltVal val="0"/>
                                          </p:val>
                                        </p:tav>
                                        <p:tav tm="100000">
                                          <p:val>
                                            <p:strVal val="#ppt_h"/>
                                          </p:val>
                                        </p:tav>
                                      </p:tavLst>
                                    </p:anim>
                                    <p:animEffect transition="in" filter="fade">
                                      <p:cBhvr>
                                        <p:cTn id="33" dur="250"/>
                                        <p:tgtEl>
                                          <p:spTgt spid="6"/>
                                        </p:tgtEl>
                                      </p:cBhvr>
                                    </p:animEffect>
                                  </p:childTnLst>
                                </p:cTn>
                              </p:par>
                              <p:par>
                                <p:cTn id="34" presetID="22" presetClass="entr" presetSubtype="2" fill="hold" grpId="0" nodeType="withEffect">
                                  <p:stCondLst>
                                    <p:cond delay="1750"/>
                                  </p:stCondLst>
                                  <p:childTnLst>
                                    <p:set>
                                      <p:cBhvr>
                                        <p:cTn id="35" dur="1" fill="hold">
                                          <p:stCondLst>
                                            <p:cond delay="0"/>
                                          </p:stCondLst>
                                        </p:cTn>
                                        <p:tgtEl>
                                          <p:spTgt spid="7"/>
                                        </p:tgtEl>
                                        <p:attrNameLst>
                                          <p:attrName>style.visibility</p:attrName>
                                        </p:attrNameLst>
                                      </p:cBhvr>
                                      <p:to>
                                        <p:strVal val="visible"/>
                                      </p:to>
                                    </p:set>
                                    <p:animEffect transition="in" filter="wipe(right)">
                                      <p:cBhvr>
                                        <p:cTn id="36" dur="25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1000"/>
                                        <p:tgtEl>
                                          <p:spTgt spid="3"/>
                                        </p:tgtEl>
                                      </p:cBhvr>
                                    </p:animEffect>
                                    <p:anim calcmode="lin" valueType="num">
                                      <p:cBhvr>
                                        <p:cTn id="40" dur="1000" fill="hold"/>
                                        <p:tgtEl>
                                          <p:spTgt spid="3"/>
                                        </p:tgtEl>
                                        <p:attrNameLst>
                                          <p:attrName>ppt_x</p:attrName>
                                        </p:attrNameLst>
                                      </p:cBhvr>
                                      <p:tavLst>
                                        <p:tav tm="0">
                                          <p:val>
                                            <p:strVal val="#ppt_x"/>
                                          </p:val>
                                        </p:tav>
                                        <p:tav tm="100000">
                                          <p:val>
                                            <p:strVal val="#ppt_x"/>
                                          </p:val>
                                        </p:tav>
                                      </p:tavLst>
                                    </p:anim>
                                    <p:anim calcmode="lin" valueType="num">
                                      <p:cBhvr>
                                        <p:cTn id="41" dur="1000" fill="hold"/>
                                        <p:tgtEl>
                                          <p:spTgt spid="3"/>
                                        </p:tgtEl>
                                        <p:attrNameLst>
                                          <p:attrName>ppt_y</p:attrName>
                                        </p:attrNameLst>
                                      </p:cBhvr>
                                      <p:tavLst>
                                        <p:tav tm="0">
                                          <p:val>
                                            <p:strVal val="#ppt_y+.1"/>
                                          </p:val>
                                        </p:tav>
                                        <p:tav tm="100000">
                                          <p:val>
                                            <p:strVal val="#ppt_y"/>
                                          </p:val>
                                        </p:tav>
                                      </p:tavLst>
                                    </p:anim>
                                  </p:childTnLst>
                                </p:cTn>
                              </p:par>
                              <p:par>
                                <p:cTn id="42" presetID="22" presetClass="entr" presetSubtype="8" fill="hold" grpId="0" nodeType="withEffect">
                                  <p:stCondLst>
                                    <p:cond delay="150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7" grpId="0" animBg="1"/>
      <p:bldP spid="8" grpId="0"/>
      <p:bldP spid="9" grpId="0"/>
      <p:bldP spid="10" grpId="0"/>
      <p:bldP spid="11" grpId="0"/>
      <p:bldP spid="1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内容版式_右下角通用LOGO">
    <p:spTree>
      <p:nvGrpSpPr>
        <p:cNvPr id="1" name=""/>
        <p:cNvGrpSpPr/>
        <p:nvPr/>
      </p:nvGrpSpPr>
      <p:grpSpPr>
        <a:xfrm>
          <a:off x="0" y="0"/>
          <a:ext cx="0" cy="0"/>
          <a:chOff x="0" y="0"/>
          <a:chExt cx="0" cy="0"/>
        </a:xfrm>
      </p:grpSpPr>
      <p:sp>
        <p:nvSpPr>
          <p:cNvPr id="3" name="矩形 15"/>
          <p:cNvSpPr/>
          <p:nvPr userDrawn="1"/>
        </p:nvSpPr>
        <p:spPr>
          <a:xfrm>
            <a:off x="10987088" y="4545013"/>
            <a:ext cx="774700" cy="246062"/>
          </a:xfrm>
          <a:prstGeom prst="rect">
            <a:avLst/>
          </a:prstGeom>
        </p:spPr>
        <p:txBody>
          <a:bodyPr>
            <a:spAutoFit/>
          </a:bodyPr>
          <a:lstStyle/>
          <a:p>
            <a:pPr fontAlgn="auto">
              <a:spcBef>
                <a:spcPts val="0"/>
              </a:spcBef>
              <a:spcAft>
                <a:spcPts val="0"/>
              </a:spcAft>
              <a:defRPr/>
            </a:pPr>
            <a:r>
              <a:rPr lang="en-US" altLang="zh-CN" sz="100" kern="0" dirty="0">
                <a:solidFill>
                  <a:prstClr val="white"/>
                </a:solidFill>
                <a:latin typeface="+mn-lt"/>
                <a:ea typeface="+mn-ea"/>
              </a:rPr>
              <a:t>PPT</a:t>
            </a:r>
            <a:r>
              <a:rPr lang="zh-CN" altLang="en-US" sz="100" kern="0" dirty="0">
                <a:solidFill>
                  <a:prstClr val="white"/>
                </a:solidFill>
                <a:latin typeface="+mn-lt"/>
                <a:ea typeface="+mn-ea"/>
              </a:rPr>
              <a:t>模板下载：</a:t>
            </a:r>
            <a:r>
              <a:rPr lang="en-US" altLang="zh-CN" sz="100" kern="0" dirty="0">
                <a:solidFill>
                  <a:prstClr val="white"/>
                </a:solidFill>
                <a:latin typeface="+mn-lt"/>
                <a:ea typeface="+mn-ea"/>
              </a:rPr>
              <a:t>www.1ppt.com/moban/     </a:t>
            </a:r>
            <a:r>
              <a:rPr lang="zh-CN" altLang="en-US" sz="100" kern="0" dirty="0">
                <a:solidFill>
                  <a:prstClr val="white"/>
                </a:solidFill>
                <a:latin typeface="+mn-lt"/>
                <a:ea typeface="+mn-ea"/>
              </a:rPr>
              <a:t>行业</a:t>
            </a:r>
            <a:r>
              <a:rPr lang="en-US" altLang="zh-CN" sz="100" kern="0" dirty="0">
                <a:solidFill>
                  <a:prstClr val="white"/>
                </a:solidFill>
                <a:latin typeface="+mn-lt"/>
                <a:ea typeface="+mn-ea"/>
              </a:rPr>
              <a:t>PPT</a:t>
            </a:r>
            <a:r>
              <a:rPr lang="zh-CN" altLang="en-US" sz="100" kern="0" dirty="0">
                <a:solidFill>
                  <a:prstClr val="white"/>
                </a:solidFill>
                <a:latin typeface="+mn-lt"/>
                <a:ea typeface="+mn-ea"/>
              </a:rPr>
              <a:t>模板：</a:t>
            </a:r>
            <a:r>
              <a:rPr lang="en-US" altLang="zh-CN" sz="100" kern="0" dirty="0">
                <a:solidFill>
                  <a:prstClr val="white"/>
                </a:solidFill>
                <a:latin typeface="+mn-lt"/>
                <a:ea typeface="+mn-ea"/>
              </a:rPr>
              <a:t>www.1ppt.com/hangye/ </a:t>
            </a:r>
            <a:endParaRPr lang="en-US" altLang="zh-CN" sz="100" kern="0" dirty="0">
              <a:solidFill>
                <a:prstClr val="white"/>
              </a:solidFill>
              <a:latin typeface="+mn-lt"/>
              <a:ea typeface="+mn-ea"/>
            </a:endParaRPr>
          </a:p>
          <a:p>
            <a:pPr fontAlgn="auto">
              <a:spcBef>
                <a:spcPts val="0"/>
              </a:spcBef>
              <a:spcAft>
                <a:spcPts val="0"/>
              </a:spcAft>
              <a:defRPr/>
            </a:pPr>
            <a:r>
              <a:rPr lang="zh-CN" altLang="en-US" sz="100" kern="0" dirty="0">
                <a:solidFill>
                  <a:prstClr val="white"/>
                </a:solidFill>
                <a:latin typeface="+mn-lt"/>
                <a:ea typeface="+mn-ea"/>
              </a:rPr>
              <a:t>节日</a:t>
            </a:r>
            <a:r>
              <a:rPr lang="en-US" altLang="zh-CN" sz="100" kern="0" dirty="0">
                <a:solidFill>
                  <a:prstClr val="white"/>
                </a:solidFill>
                <a:latin typeface="+mn-lt"/>
                <a:ea typeface="+mn-ea"/>
              </a:rPr>
              <a:t>PPT</a:t>
            </a:r>
            <a:r>
              <a:rPr lang="zh-CN" altLang="en-US" sz="100" kern="0" dirty="0">
                <a:solidFill>
                  <a:prstClr val="white"/>
                </a:solidFill>
                <a:latin typeface="+mn-lt"/>
                <a:ea typeface="+mn-ea"/>
              </a:rPr>
              <a:t>模板：</a:t>
            </a:r>
            <a:r>
              <a:rPr lang="en-US" altLang="zh-CN" sz="100" kern="0" dirty="0">
                <a:solidFill>
                  <a:prstClr val="white"/>
                </a:solidFill>
                <a:latin typeface="+mn-lt"/>
                <a:ea typeface="+mn-ea"/>
              </a:rPr>
              <a:t>www.1ppt.com/jieri/           PPT</a:t>
            </a:r>
            <a:r>
              <a:rPr lang="zh-CN" altLang="en-US" sz="100" kern="0" dirty="0">
                <a:solidFill>
                  <a:prstClr val="white"/>
                </a:solidFill>
                <a:latin typeface="+mn-lt"/>
                <a:ea typeface="+mn-ea"/>
              </a:rPr>
              <a:t>素材下载：</a:t>
            </a:r>
            <a:r>
              <a:rPr lang="en-US" altLang="zh-CN" sz="100" kern="0" dirty="0">
                <a:solidFill>
                  <a:prstClr val="white"/>
                </a:solidFill>
                <a:latin typeface="+mn-lt"/>
                <a:ea typeface="+mn-ea"/>
              </a:rPr>
              <a:t>www.1ppt.com/sucai/</a:t>
            </a:r>
            <a:endParaRPr lang="en-US" altLang="zh-CN" sz="100" kern="0" dirty="0">
              <a:solidFill>
                <a:prstClr val="white"/>
              </a:solidFill>
              <a:latin typeface="+mn-lt"/>
              <a:ea typeface="+mn-ea"/>
            </a:endParaRPr>
          </a:p>
          <a:p>
            <a:pPr fontAlgn="auto">
              <a:spcBef>
                <a:spcPts val="0"/>
              </a:spcBef>
              <a:spcAft>
                <a:spcPts val="0"/>
              </a:spcAft>
              <a:defRPr/>
            </a:pPr>
            <a:r>
              <a:rPr lang="en-US" altLang="zh-CN" sz="100" kern="0" dirty="0">
                <a:solidFill>
                  <a:prstClr val="white"/>
                </a:solidFill>
                <a:latin typeface="+mn-lt"/>
                <a:ea typeface="+mn-ea"/>
              </a:rPr>
              <a:t>PPT</a:t>
            </a:r>
            <a:r>
              <a:rPr lang="zh-CN" altLang="en-US" sz="100" kern="0" dirty="0">
                <a:solidFill>
                  <a:prstClr val="white"/>
                </a:solidFill>
                <a:latin typeface="+mn-lt"/>
                <a:ea typeface="+mn-ea"/>
              </a:rPr>
              <a:t>背景图片：</a:t>
            </a:r>
            <a:r>
              <a:rPr lang="en-US" altLang="zh-CN" sz="100" kern="0" dirty="0">
                <a:solidFill>
                  <a:prstClr val="white"/>
                </a:solidFill>
                <a:latin typeface="+mn-lt"/>
                <a:ea typeface="+mn-ea"/>
              </a:rPr>
              <a:t>www.1ppt.com/beijing/      PPT</a:t>
            </a:r>
            <a:r>
              <a:rPr lang="zh-CN" altLang="en-US" sz="100" kern="0" dirty="0">
                <a:solidFill>
                  <a:prstClr val="white"/>
                </a:solidFill>
                <a:latin typeface="+mn-lt"/>
                <a:ea typeface="+mn-ea"/>
              </a:rPr>
              <a:t>图表下载：</a:t>
            </a:r>
            <a:r>
              <a:rPr lang="en-US" altLang="zh-CN" sz="100" kern="0" dirty="0">
                <a:solidFill>
                  <a:prstClr val="white"/>
                </a:solidFill>
                <a:latin typeface="+mn-lt"/>
                <a:ea typeface="+mn-ea"/>
              </a:rPr>
              <a:t>www.1ppt.com/tubiao/      </a:t>
            </a:r>
            <a:endParaRPr lang="en-US" altLang="zh-CN" sz="100" kern="0" dirty="0">
              <a:solidFill>
                <a:prstClr val="white"/>
              </a:solidFill>
              <a:latin typeface="+mn-lt"/>
              <a:ea typeface="+mn-ea"/>
            </a:endParaRPr>
          </a:p>
          <a:p>
            <a:pPr fontAlgn="auto">
              <a:spcBef>
                <a:spcPts val="0"/>
              </a:spcBef>
              <a:spcAft>
                <a:spcPts val="0"/>
              </a:spcAft>
              <a:defRPr/>
            </a:pPr>
            <a:r>
              <a:rPr lang="zh-CN" altLang="en-US" sz="100" kern="0" dirty="0">
                <a:solidFill>
                  <a:prstClr val="white"/>
                </a:solidFill>
                <a:latin typeface="+mn-lt"/>
                <a:ea typeface="+mn-ea"/>
              </a:rPr>
              <a:t>优秀</a:t>
            </a:r>
            <a:r>
              <a:rPr lang="en-US" altLang="zh-CN" sz="100" kern="0" dirty="0">
                <a:solidFill>
                  <a:prstClr val="white"/>
                </a:solidFill>
                <a:latin typeface="+mn-lt"/>
                <a:ea typeface="+mn-ea"/>
              </a:rPr>
              <a:t>PPT</a:t>
            </a:r>
            <a:r>
              <a:rPr lang="zh-CN" altLang="en-US" sz="100" kern="0" dirty="0">
                <a:solidFill>
                  <a:prstClr val="white"/>
                </a:solidFill>
                <a:latin typeface="+mn-lt"/>
                <a:ea typeface="+mn-ea"/>
              </a:rPr>
              <a:t>下载：</a:t>
            </a:r>
            <a:r>
              <a:rPr lang="en-US" altLang="zh-CN" sz="100" kern="0" dirty="0">
                <a:solidFill>
                  <a:prstClr val="white"/>
                </a:solidFill>
                <a:latin typeface="+mn-lt"/>
                <a:ea typeface="+mn-ea"/>
              </a:rPr>
              <a:t>www.1ppt.com/xiazai/        PPT</a:t>
            </a:r>
            <a:r>
              <a:rPr lang="zh-CN" altLang="en-US" sz="100" kern="0" dirty="0">
                <a:solidFill>
                  <a:prstClr val="white"/>
                </a:solidFill>
                <a:latin typeface="+mn-lt"/>
                <a:ea typeface="+mn-ea"/>
              </a:rPr>
              <a:t>教程： </a:t>
            </a:r>
            <a:r>
              <a:rPr lang="en-US" altLang="zh-CN" sz="100" kern="0" dirty="0">
                <a:solidFill>
                  <a:prstClr val="white"/>
                </a:solidFill>
                <a:latin typeface="+mn-lt"/>
                <a:ea typeface="+mn-ea"/>
              </a:rPr>
              <a:t>www.1ppt.com/powerpoint/      </a:t>
            </a:r>
            <a:endParaRPr lang="en-US" altLang="zh-CN" sz="100" kern="0" dirty="0">
              <a:solidFill>
                <a:prstClr val="white"/>
              </a:solidFill>
              <a:latin typeface="+mn-lt"/>
              <a:ea typeface="+mn-ea"/>
            </a:endParaRPr>
          </a:p>
          <a:p>
            <a:pPr fontAlgn="auto">
              <a:spcBef>
                <a:spcPts val="0"/>
              </a:spcBef>
              <a:spcAft>
                <a:spcPts val="0"/>
              </a:spcAft>
              <a:defRPr/>
            </a:pPr>
            <a:r>
              <a:rPr lang="en-US" altLang="zh-CN" sz="100" kern="0" dirty="0">
                <a:solidFill>
                  <a:prstClr val="white"/>
                </a:solidFill>
                <a:latin typeface="+mn-lt"/>
                <a:ea typeface="+mn-ea"/>
              </a:rPr>
              <a:t>Word</a:t>
            </a:r>
            <a:r>
              <a:rPr lang="zh-CN" altLang="en-US" sz="100" kern="0" dirty="0">
                <a:solidFill>
                  <a:prstClr val="white"/>
                </a:solidFill>
                <a:latin typeface="+mn-lt"/>
                <a:ea typeface="+mn-ea"/>
              </a:rPr>
              <a:t>教程： </a:t>
            </a:r>
            <a:r>
              <a:rPr lang="en-US" altLang="zh-CN" sz="100" kern="0" dirty="0">
                <a:solidFill>
                  <a:prstClr val="white"/>
                </a:solidFill>
                <a:latin typeface="+mn-lt"/>
                <a:ea typeface="+mn-ea"/>
              </a:rPr>
              <a:t>www.1ppt.com/word/              Excel</a:t>
            </a:r>
            <a:r>
              <a:rPr lang="zh-CN" altLang="en-US" sz="100" kern="0" dirty="0">
                <a:solidFill>
                  <a:prstClr val="white"/>
                </a:solidFill>
                <a:latin typeface="+mn-lt"/>
                <a:ea typeface="+mn-ea"/>
              </a:rPr>
              <a:t>教程：</a:t>
            </a:r>
            <a:r>
              <a:rPr lang="en-US" altLang="zh-CN" sz="100" kern="0" dirty="0">
                <a:solidFill>
                  <a:prstClr val="white"/>
                </a:solidFill>
                <a:latin typeface="+mn-lt"/>
                <a:ea typeface="+mn-ea"/>
              </a:rPr>
              <a:t>www.1ppt.com/excel/  </a:t>
            </a:r>
            <a:endParaRPr lang="en-US" altLang="zh-CN" sz="100" kern="0" dirty="0">
              <a:solidFill>
                <a:prstClr val="white"/>
              </a:solidFill>
              <a:latin typeface="+mn-lt"/>
              <a:ea typeface="+mn-ea"/>
            </a:endParaRPr>
          </a:p>
          <a:p>
            <a:pPr fontAlgn="auto">
              <a:spcBef>
                <a:spcPts val="0"/>
              </a:spcBef>
              <a:spcAft>
                <a:spcPts val="0"/>
              </a:spcAft>
              <a:defRPr/>
            </a:pPr>
            <a:r>
              <a:rPr lang="zh-CN" altLang="en-US" sz="100" kern="0" dirty="0">
                <a:solidFill>
                  <a:prstClr val="white"/>
                </a:solidFill>
                <a:latin typeface="+mn-lt"/>
                <a:ea typeface="+mn-ea"/>
              </a:rPr>
              <a:t>资料下载：</a:t>
            </a:r>
            <a:r>
              <a:rPr lang="en-US" altLang="zh-CN" sz="100" kern="0" dirty="0">
                <a:solidFill>
                  <a:prstClr val="white"/>
                </a:solidFill>
                <a:latin typeface="+mn-lt"/>
                <a:ea typeface="+mn-ea"/>
              </a:rPr>
              <a:t>www.1ppt.com/ziliao/                PPT</a:t>
            </a:r>
            <a:r>
              <a:rPr lang="zh-CN" altLang="en-US" sz="100" kern="0" dirty="0">
                <a:solidFill>
                  <a:prstClr val="white"/>
                </a:solidFill>
                <a:latin typeface="+mn-lt"/>
                <a:ea typeface="+mn-ea"/>
              </a:rPr>
              <a:t>课件下载：</a:t>
            </a:r>
            <a:r>
              <a:rPr lang="en-US" altLang="zh-CN" sz="100" kern="0" dirty="0">
                <a:solidFill>
                  <a:prstClr val="white"/>
                </a:solidFill>
                <a:latin typeface="+mn-lt"/>
                <a:ea typeface="+mn-ea"/>
              </a:rPr>
              <a:t>www.1ppt.com/kejian/ </a:t>
            </a:r>
            <a:endParaRPr lang="en-US" altLang="zh-CN" sz="100" kern="0" dirty="0">
              <a:solidFill>
                <a:prstClr val="white"/>
              </a:solidFill>
              <a:latin typeface="+mn-lt"/>
              <a:ea typeface="+mn-ea"/>
            </a:endParaRPr>
          </a:p>
          <a:p>
            <a:pPr fontAlgn="auto">
              <a:spcBef>
                <a:spcPts val="0"/>
              </a:spcBef>
              <a:spcAft>
                <a:spcPts val="0"/>
              </a:spcAft>
              <a:defRPr/>
            </a:pPr>
            <a:r>
              <a:rPr lang="zh-CN" altLang="en-US" sz="100" kern="0" dirty="0">
                <a:solidFill>
                  <a:prstClr val="white"/>
                </a:solidFill>
                <a:latin typeface="+mn-lt"/>
                <a:ea typeface="+mn-ea"/>
              </a:rPr>
              <a:t>范文下载：</a:t>
            </a:r>
            <a:r>
              <a:rPr lang="en-US" altLang="zh-CN" sz="100" kern="0" dirty="0">
                <a:solidFill>
                  <a:prstClr val="white"/>
                </a:solidFill>
                <a:latin typeface="+mn-lt"/>
                <a:ea typeface="+mn-ea"/>
              </a:rPr>
              <a:t>www.1ppt.com/fanwen/             </a:t>
            </a:r>
            <a:r>
              <a:rPr lang="zh-CN" altLang="en-US" sz="100" kern="0" dirty="0">
                <a:solidFill>
                  <a:prstClr val="white"/>
                </a:solidFill>
                <a:latin typeface="+mn-lt"/>
                <a:ea typeface="+mn-ea"/>
              </a:rPr>
              <a:t>试卷下载：</a:t>
            </a:r>
            <a:r>
              <a:rPr lang="en-US" altLang="zh-CN" sz="100" kern="0" dirty="0">
                <a:solidFill>
                  <a:prstClr val="white"/>
                </a:solidFill>
                <a:latin typeface="+mn-lt"/>
                <a:ea typeface="+mn-ea"/>
              </a:rPr>
              <a:t>www.1ppt.com/shiti/  </a:t>
            </a:r>
            <a:endParaRPr lang="en-US" altLang="zh-CN" sz="100" kern="0" dirty="0">
              <a:solidFill>
                <a:prstClr val="white"/>
              </a:solidFill>
              <a:latin typeface="+mn-lt"/>
              <a:ea typeface="+mn-ea"/>
            </a:endParaRPr>
          </a:p>
          <a:p>
            <a:pPr fontAlgn="auto">
              <a:spcBef>
                <a:spcPts val="0"/>
              </a:spcBef>
              <a:spcAft>
                <a:spcPts val="0"/>
              </a:spcAft>
              <a:defRPr/>
            </a:pPr>
            <a:r>
              <a:rPr lang="zh-CN" altLang="en-US" sz="100" kern="0" dirty="0">
                <a:solidFill>
                  <a:prstClr val="white"/>
                </a:solidFill>
                <a:latin typeface="+mn-lt"/>
                <a:ea typeface="+mn-ea"/>
              </a:rPr>
              <a:t>教案下载：</a:t>
            </a:r>
            <a:r>
              <a:rPr lang="en-US" altLang="zh-CN" sz="100" kern="0" dirty="0">
                <a:solidFill>
                  <a:prstClr val="white"/>
                </a:solidFill>
                <a:latin typeface="+mn-lt"/>
                <a:ea typeface="+mn-ea"/>
              </a:rPr>
              <a:t>www.1ppt.com/jiaoan/        </a:t>
            </a:r>
            <a:endParaRPr lang="en-US" altLang="zh-CN" sz="100" kern="0" dirty="0">
              <a:solidFill>
                <a:prstClr val="white"/>
              </a:solidFill>
              <a:latin typeface="+mn-lt"/>
              <a:ea typeface="+mn-ea"/>
            </a:endParaRPr>
          </a:p>
          <a:p>
            <a:pPr fontAlgn="auto">
              <a:spcBef>
                <a:spcPts val="0"/>
              </a:spcBef>
              <a:spcAft>
                <a:spcPts val="0"/>
              </a:spcAft>
              <a:defRPr/>
            </a:pPr>
            <a:r>
              <a:rPr lang="zh-CN" altLang="en-US" sz="100" kern="0" dirty="0">
                <a:solidFill>
                  <a:prstClr val="white"/>
                </a:solidFill>
                <a:latin typeface="+mn-lt"/>
                <a:ea typeface="+mn-ea"/>
              </a:rPr>
              <a:t>字体下载：</a:t>
            </a:r>
            <a:r>
              <a:rPr lang="en-US" altLang="zh-CN" sz="100" kern="0" dirty="0">
                <a:solidFill>
                  <a:prstClr val="white"/>
                </a:solidFill>
                <a:latin typeface="+mn-lt"/>
                <a:ea typeface="+mn-ea"/>
              </a:rPr>
              <a:t>www.1ppt.com/ziti/</a:t>
            </a:r>
            <a:endParaRPr lang="en-US" altLang="zh-CN" sz="100" kern="0" dirty="0">
              <a:solidFill>
                <a:prstClr val="white"/>
              </a:solidFill>
              <a:latin typeface="+mn-lt"/>
              <a:ea typeface="+mn-ea"/>
            </a:endParaRPr>
          </a:p>
          <a:p>
            <a:pPr fontAlgn="auto">
              <a:spcBef>
                <a:spcPts val="0"/>
              </a:spcBef>
              <a:spcAft>
                <a:spcPts val="0"/>
              </a:spcAft>
              <a:defRPr/>
            </a:pPr>
            <a:r>
              <a:rPr lang="en-US" altLang="zh-CN" sz="100" kern="0" dirty="0">
                <a:solidFill>
                  <a:prstClr val="white"/>
                </a:solidFill>
                <a:latin typeface="+mn-lt"/>
                <a:ea typeface="+mn-ea"/>
              </a:rPr>
              <a:t> </a:t>
            </a:r>
            <a:endParaRPr lang="zh-CN" altLang="en-US" sz="100" kern="0" dirty="0">
              <a:solidFill>
                <a:prstClr val="white"/>
              </a:solidFill>
              <a:latin typeface="+mn-lt"/>
              <a:ea typeface="+mn-ea"/>
            </a:endParaRPr>
          </a:p>
        </p:txBody>
      </p:sp>
      <p:sp>
        <p:nvSpPr>
          <p:cNvPr id="4"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5" name="文本框 6"/>
          <p:cNvSpPr txBox="1"/>
          <p:nvPr userDrawn="1"/>
        </p:nvSpPr>
        <p:spPr>
          <a:xfrm>
            <a:off x="1303338" y="858838"/>
            <a:ext cx="2373312" cy="307975"/>
          </a:xfrm>
          <a:prstGeom prst="rect">
            <a:avLst/>
          </a:prstGeom>
          <a:noFill/>
        </p:spPr>
        <p:txBody>
          <a:bodyPr>
            <a:spAutoFit/>
          </a:bodyPr>
          <a:lstStyle/>
          <a:p>
            <a:pPr fontAlgn="auto">
              <a:spcBef>
                <a:spcPts val="0"/>
              </a:spcBef>
              <a:spcAft>
                <a:spcPts val="0"/>
              </a:spcAft>
              <a:defRPr/>
            </a:pPr>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6" name="矩形 7"/>
          <p:cNvSpPr/>
          <p:nvPr userDrawn="1"/>
        </p:nvSpPr>
        <p:spPr>
          <a:xfrm>
            <a:off x="10617200" y="0"/>
            <a:ext cx="1574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7" name="组合 9"/>
          <p:cNvGrpSpPr/>
          <p:nvPr userDrawn="1"/>
        </p:nvGrpSpPr>
        <p:grpSpPr bwMode="auto">
          <a:xfrm>
            <a:off x="11045825" y="5565775"/>
            <a:ext cx="715963" cy="846138"/>
            <a:chOff x="8367154" y="5203814"/>
            <a:chExt cx="1890395" cy="2232329"/>
          </a:xfrm>
        </p:grpSpPr>
        <p:sp>
          <p:nvSpPr>
            <p:cNvPr id="8" name="Freeform 145"/>
            <p:cNvSpPr/>
            <p:nvPr/>
          </p:nvSpPr>
          <p:spPr bwMode="auto">
            <a:xfrm>
              <a:off x="8367154" y="5203814"/>
              <a:ext cx="1890395" cy="2232329"/>
            </a:xfrm>
            <a:custGeom>
              <a:avLst/>
              <a:gdLst>
                <a:gd name="T0" fmla="*/ 758 w 777"/>
                <a:gd name="T1" fmla="*/ 204 h 918"/>
                <a:gd name="T2" fmla="*/ 389 w 777"/>
                <a:gd name="T3" fmla="*/ 0 h 918"/>
                <a:gd name="T4" fmla="*/ 19 w 777"/>
                <a:gd name="T5" fmla="*/ 204 h 918"/>
                <a:gd name="T6" fmla="*/ 271 w 777"/>
                <a:gd name="T7" fmla="*/ 833 h 918"/>
                <a:gd name="T8" fmla="*/ 389 w 777"/>
                <a:gd name="T9" fmla="*/ 918 h 918"/>
                <a:gd name="T10" fmla="*/ 506 w 777"/>
                <a:gd name="T11" fmla="*/ 832 h 918"/>
                <a:gd name="T12" fmla="*/ 758 w 777"/>
                <a:gd name="T13" fmla="*/ 204 h 918"/>
              </a:gdLst>
              <a:ahLst/>
              <a:cxnLst>
                <a:cxn ang="0">
                  <a:pos x="T0" y="T1"/>
                </a:cxn>
                <a:cxn ang="0">
                  <a:pos x="T2" y="T3"/>
                </a:cxn>
                <a:cxn ang="0">
                  <a:pos x="T4" y="T5"/>
                </a:cxn>
                <a:cxn ang="0">
                  <a:pos x="T6" y="T7"/>
                </a:cxn>
                <a:cxn ang="0">
                  <a:pos x="T8" y="T9"/>
                </a:cxn>
                <a:cxn ang="0">
                  <a:pos x="T10" y="T11"/>
                </a:cxn>
                <a:cxn ang="0">
                  <a:pos x="T12" y="T13"/>
                </a:cxn>
              </a:cxnLst>
              <a:rect l="0" t="0" r="r" b="b"/>
              <a:pathLst>
                <a:path w="777" h="918">
                  <a:moveTo>
                    <a:pt x="758" y="204"/>
                  </a:moveTo>
                  <a:cubicBezTo>
                    <a:pt x="389" y="0"/>
                    <a:pt x="389" y="0"/>
                    <a:pt x="389" y="0"/>
                  </a:cubicBezTo>
                  <a:cubicBezTo>
                    <a:pt x="19" y="204"/>
                    <a:pt x="19" y="204"/>
                    <a:pt x="19" y="204"/>
                  </a:cubicBezTo>
                  <a:cubicBezTo>
                    <a:pt x="19" y="204"/>
                    <a:pt x="0" y="622"/>
                    <a:pt x="271" y="833"/>
                  </a:cubicBezTo>
                  <a:cubicBezTo>
                    <a:pt x="306" y="864"/>
                    <a:pt x="344" y="893"/>
                    <a:pt x="389" y="918"/>
                  </a:cubicBezTo>
                  <a:cubicBezTo>
                    <a:pt x="433" y="893"/>
                    <a:pt x="472" y="864"/>
                    <a:pt x="506" y="832"/>
                  </a:cubicBezTo>
                  <a:cubicBezTo>
                    <a:pt x="777" y="622"/>
                    <a:pt x="758" y="204"/>
                    <a:pt x="758" y="204"/>
                  </a:cubicBezTo>
                  <a:close/>
                </a:path>
              </a:pathLst>
            </a:custGeom>
            <a:solidFill>
              <a:schemeClr val="accent2"/>
            </a:solidFill>
            <a:ln>
              <a:noFill/>
            </a:ln>
          </p:spPr>
          <p:txBody>
            <a:bodyPr/>
            <a:lstStyle/>
            <a:p>
              <a:pPr fontAlgn="auto">
                <a:spcBef>
                  <a:spcPts val="0"/>
                </a:spcBef>
                <a:spcAft>
                  <a:spcPts val="0"/>
                </a:spcAft>
                <a:defRPr/>
              </a:pPr>
              <a:endParaRPr lang="zh-CN" altLang="en-US">
                <a:latin typeface="+mn-lt"/>
                <a:ea typeface="+mn-ea"/>
              </a:endParaRPr>
            </a:p>
          </p:txBody>
        </p:sp>
        <p:sp>
          <p:nvSpPr>
            <p:cNvPr id="9" name="Freeform 146"/>
            <p:cNvSpPr>
              <a:spLocks noEditPoints="1"/>
            </p:cNvSpPr>
            <p:nvPr/>
          </p:nvSpPr>
          <p:spPr bwMode="auto">
            <a:xfrm>
              <a:off x="8530626" y="5337837"/>
              <a:ext cx="1563451" cy="1964282"/>
            </a:xfrm>
            <a:custGeom>
              <a:avLst/>
              <a:gdLst>
                <a:gd name="T0" fmla="*/ 322 w 643"/>
                <a:gd name="T1" fmla="*/ 807 h 807"/>
                <a:gd name="T2" fmla="*/ 317 w 643"/>
                <a:gd name="T3" fmla="*/ 804 h 807"/>
                <a:gd name="T4" fmla="*/ 237 w 643"/>
                <a:gd name="T5" fmla="*/ 742 h 807"/>
                <a:gd name="T6" fmla="*/ 234 w 643"/>
                <a:gd name="T7" fmla="*/ 739 h 807"/>
                <a:gd name="T8" fmla="*/ 0 w 643"/>
                <a:gd name="T9" fmla="*/ 183 h 807"/>
                <a:gd name="T10" fmla="*/ 0 w 643"/>
                <a:gd name="T11" fmla="*/ 178 h 807"/>
                <a:gd name="T12" fmla="*/ 322 w 643"/>
                <a:gd name="T13" fmla="*/ 0 h 807"/>
                <a:gd name="T14" fmla="*/ 643 w 643"/>
                <a:gd name="T15" fmla="*/ 178 h 807"/>
                <a:gd name="T16" fmla="*/ 643 w 643"/>
                <a:gd name="T17" fmla="*/ 183 h 807"/>
                <a:gd name="T18" fmla="*/ 409 w 643"/>
                <a:gd name="T19" fmla="*/ 739 h 807"/>
                <a:gd name="T20" fmla="*/ 406 w 643"/>
                <a:gd name="T21" fmla="*/ 742 h 807"/>
                <a:gd name="T22" fmla="*/ 326 w 643"/>
                <a:gd name="T23" fmla="*/ 804 h 807"/>
                <a:gd name="T24" fmla="*/ 322 w 643"/>
                <a:gd name="T25" fmla="*/ 807 h 807"/>
                <a:gd name="T26" fmla="*/ 18 w 643"/>
                <a:gd name="T27" fmla="*/ 187 h 807"/>
                <a:gd name="T28" fmla="*/ 244 w 643"/>
                <a:gd name="T29" fmla="*/ 726 h 807"/>
                <a:gd name="T30" fmla="*/ 248 w 643"/>
                <a:gd name="T31" fmla="*/ 729 h 807"/>
                <a:gd name="T32" fmla="*/ 322 w 643"/>
                <a:gd name="T33" fmla="*/ 787 h 807"/>
                <a:gd name="T34" fmla="*/ 395 w 643"/>
                <a:gd name="T35" fmla="*/ 729 h 807"/>
                <a:gd name="T36" fmla="*/ 399 w 643"/>
                <a:gd name="T37" fmla="*/ 726 h 807"/>
                <a:gd name="T38" fmla="*/ 625 w 643"/>
                <a:gd name="T39" fmla="*/ 187 h 807"/>
                <a:gd name="T40" fmla="*/ 322 w 643"/>
                <a:gd name="T41" fmla="*/ 19 h 807"/>
                <a:gd name="T42" fmla="*/ 18 w 643"/>
                <a:gd name="T43" fmla="*/ 187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3" h="807">
                  <a:moveTo>
                    <a:pt x="322" y="807"/>
                  </a:moveTo>
                  <a:cubicBezTo>
                    <a:pt x="317" y="804"/>
                    <a:pt x="317" y="804"/>
                    <a:pt x="317" y="804"/>
                  </a:cubicBezTo>
                  <a:cubicBezTo>
                    <a:pt x="289" y="785"/>
                    <a:pt x="262" y="765"/>
                    <a:pt x="237" y="742"/>
                  </a:cubicBezTo>
                  <a:cubicBezTo>
                    <a:pt x="236" y="741"/>
                    <a:pt x="235" y="740"/>
                    <a:pt x="234" y="739"/>
                  </a:cubicBezTo>
                  <a:cubicBezTo>
                    <a:pt x="26" y="578"/>
                    <a:pt x="3" y="273"/>
                    <a:pt x="0" y="183"/>
                  </a:cubicBezTo>
                  <a:cubicBezTo>
                    <a:pt x="0" y="178"/>
                    <a:pt x="0" y="178"/>
                    <a:pt x="0" y="178"/>
                  </a:cubicBezTo>
                  <a:cubicBezTo>
                    <a:pt x="322" y="0"/>
                    <a:pt x="322" y="0"/>
                    <a:pt x="322" y="0"/>
                  </a:cubicBezTo>
                  <a:cubicBezTo>
                    <a:pt x="643" y="178"/>
                    <a:pt x="643" y="178"/>
                    <a:pt x="643" y="178"/>
                  </a:cubicBezTo>
                  <a:cubicBezTo>
                    <a:pt x="643" y="183"/>
                    <a:pt x="643" y="183"/>
                    <a:pt x="643" y="183"/>
                  </a:cubicBezTo>
                  <a:cubicBezTo>
                    <a:pt x="640" y="273"/>
                    <a:pt x="617" y="578"/>
                    <a:pt x="409" y="739"/>
                  </a:cubicBezTo>
                  <a:cubicBezTo>
                    <a:pt x="408" y="740"/>
                    <a:pt x="407" y="741"/>
                    <a:pt x="406" y="742"/>
                  </a:cubicBezTo>
                  <a:cubicBezTo>
                    <a:pt x="382" y="764"/>
                    <a:pt x="355" y="785"/>
                    <a:pt x="326" y="804"/>
                  </a:cubicBezTo>
                  <a:lnTo>
                    <a:pt x="322" y="807"/>
                  </a:lnTo>
                  <a:close/>
                  <a:moveTo>
                    <a:pt x="18" y="187"/>
                  </a:moveTo>
                  <a:cubicBezTo>
                    <a:pt x="21" y="281"/>
                    <a:pt x="46" y="572"/>
                    <a:pt x="244" y="726"/>
                  </a:cubicBezTo>
                  <a:cubicBezTo>
                    <a:pt x="246" y="727"/>
                    <a:pt x="247" y="728"/>
                    <a:pt x="248" y="729"/>
                  </a:cubicBezTo>
                  <a:cubicBezTo>
                    <a:pt x="271" y="750"/>
                    <a:pt x="296" y="769"/>
                    <a:pt x="322" y="787"/>
                  </a:cubicBezTo>
                  <a:cubicBezTo>
                    <a:pt x="347" y="769"/>
                    <a:pt x="372" y="750"/>
                    <a:pt x="395" y="729"/>
                  </a:cubicBezTo>
                  <a:cubicBezTo>
                    <a:pt x="396" y="728"/>
                    <a:pt x="397" y="727"/>
                    <a:pt x="399" y="726"/>
                  </a:cubicBezTo>
                  <a:cubicBezTo>
                    <a:pt x="597" y="572"/>
                    <a:pt x="623" y="281"/>
                    <a:pt x="625" y="187"/>
                  </a:cubicBezTo>
                  <a:cubicBezTo>
                    <a:pt x="322" y="19"/>
                    <a:pt x="322" y="19"/>
                    <a:pt x="322" y="19"/>
                  </a:cubicBezTo>
                  <a:lnTo>
                    <a:pt x="18" y="187"/>
                  </a:ln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10" name="Freeform 147"/>
            <p:cNvSpPr>
              <a:spLocks noEditPoints="1"/>
            </p:cNvSpPr>
            <p:nvPr/>
          </p:nvSpPr>
          <p:spPr bwMode="auto">
            <a:xfrm>
              <a:off x="8463561" y="5258262"/>
              <a:ext cx="1697581" cy="2123432"/>
            </a:xfrm>
            <a:custGeom>
              <a:avLst/>
              <a:gdLst>
                <a:gd name="T0" fmla="*/ 350 w 699"/>
                <a:gd name="T1" fmla="*/ 872 h 872"/>
                <a:gd name="T2" fmla="*/ 348 w 699"/>
                <a:gd name="T3" fmla="*/ 871 h 872"/>
                <a:gd name="T4" fmla="*/ 246 w 699"/>
                <a:gd name="T5" fmla="*/ 795 h 872"/>
                <a:gd name="T6" fmla="*/ 245 w 699"/>
                <a:gd name="T7" fmla="*/ 794 h 872"/>
                <a:gd name="T8" fmla="*/ 0 w 699"/>
                <a:gd name="T9" fmla="*/ 195 h 872"/>
                <a:gd name="T10" fmla="*/ 0 w 699"/>
                <a:gd name="T11" fmla="*/ 193 h 872"/>
                <a:gd name="T12" fmla="*/ 350 w 699"/>
                <a:gd name="T13" fmla="*/ 0 h 872"/>
                <a:gd name="T14" fmla="*/ 699 w 699"/>
                <a:gd name="T15" fmla="*/ 193 h 872"/>
                <a:gd name="T16" fmla="*/ 699 w 699"/>
                <a:gd name="T17" fmla="*/ 195 h 872"/>
                <a:gd name="T18" fmla="*/ 455 w 699"/>
                <a:gd name="T19" fmla="*/ 794 h 872"/>
                <a:gd name="T20" fmla="*/ 453 w 699"/>
                <a:gd name="T21" fmla="*/ 795 h 872"/>
                <a:gd name="T22" fmla="*/ 351 w 699"/>
                <a:gd name="T23" fmla="*/ 871 h 872"/>
                <a:gd name="T24" fmla="*/ 350 w 699"/>
                <a:gd name="T25" fmla="*/ 872 h 872"/>
                <a:gd name="T26" fmla="*/ 6 w 699"/>
                <a:gd name="T27" fmla="*/ 196 h 872"/>
                <a:gd name="T28" fmla="*/ 248 w 699"/>
                <a:gd name="T29" fmla="*/ 789 h 872"/>
                <a:gd name="T30" fmla="*/ 250 w 699"/>
                <a:gd name="T31" fmla="*/ 791 h 872"/>
                <a:gd name="T32" fmla="*/ 350 w 699"/>
                <a:gd name="T33" fmla="*/ 866 h 872"/>
                <a:gd name="T34" fmla="*/ 450 w 699"/>
                <a:gd name="T35" fmla="*/ 791 h 872"/>
                <a:gd name="T36" fmla="*/ 451 w 699"/>
                <a:gd name="T37" fmla="*/ 789 h 872"/>
                <a:gd name="T38" fmla="*/ 694 w 699"/>
                <a:gd name="T39" fmla="*/ 196 h 872"/>
                <a:gd name="T40" fmla="*/ 350 w 699"/>
                <a:gd name="T41" fmla="*/ 6 h 872"/>
                <a:gd name="T42" fmla="*/ 6 w 699"/>
                <a:gd name="T43" fmla="*/ 196 h 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99" h="872">
                  <a:moveTo>
                    <a:pt x="350" y="872"/>
                  </a:moveTo>
                  <a:cubicBezTo>
                    <a:pt x="348" y="871"/>
                    <a:pt x="348" y="871"/>
                    <a:pt x="348" y="871"/>
                  </a:cubicBezTo>
                  <a:cubicBezTo>
                    <a:pt x="312" y="849"/>
                    <a:pt x="277" y="823"/>
                    <a:pt x="246" y="795"/>
                  </a:cubicBezTo>
                  <a:cubicBezTo>
                    <a:pt x="245" y="795"/>
                    <a:pt x="245" y="794"/>
                    <a:pt x="245" y="794"/>
                  </a:cubicBezTo>
                  <a:cubicBezTo>
                    <a:pt x="11" y="612"/>
                    <a:pt x="0" y="263"/>
                    <a:pt x="0" y="195"/>
                  </a:cubicBezTo>
                  <a:cubicBezTo>
                    <a:pt x="0" y="193"/>
                    <a:pt x="0" y="193"/>
                    <a:pt x="0" y="193"/>
                  </a:cubicBezTo>
                  <a:cubicBezTo>
                    <a:pt x="350" y="0"/>
                    <a:pt x="350" y="0"/>
                    <a:pt x="350" y="0"/>
                  </a:cubicBezTo>
                  <a:cubicBezTo>
                    <a:pt x="699" y="193"/>
                    <a:pt x="699" y="193"/>
                    <a:pt x="699" y="193"/>
                  </a:cubicBezTo>
                  <a:cubicBezTo>
                    <a:pt x="699" y="195"/>
                    <a:pt x="699" y="195"/>
                    <a:pt x="699" y="195"/>
                  </a:cubicBezTo>
                  <a:cubicBezTo>
                    <a:pt x="699" y="263"/>
                    <a:pt x="689" y="612"/>
                    <a:pt x="455" y="794"/>
                  </a:cubicBezTo>
                  <a:cubicBezTo>
                    <a:pt x="454" y="794"/>
                    <a:pt x="454" y="794"/>
                    <a:pt x="453" y="795"/>
                  </a:cubicBezTo>
                  <a:cubicBezTo>
                    <a:pt x="422" y="823"/>
                    <a:pt x="388" y="849"/>
                    <a:pt x="351" y="871"/>
                  </a:cubicBezTo>
                  <a:lnTo>
                    <a:pt x="350" y="872"/>
                  </a:lnTo>
                  <a:close/>
                  <a:moveTo>
                    <a:pt x="6" y="196"/>
                  </a:moveTo>
                  <a:cubicBezTo>
                    <a:pt x="6" y="268"/>
                    <a:pt x="18" y="611"/>
                    <a:pt x="248" y="789"/>
                  </a:cubicBezTo>
                  <a:cubicBezTo>
                    <a:pt x="249" y="790"/>
                    <a:pt x="249" y="790"/>
                    <a:pt x="250" y="791"/>
                  </a:cubicBezTo>
                  <a:cubicBezTo>
                    <a:pt x="280" y="819"/>
                    <a:pt x="314" y="844"/>
                    <a:pt x="350" y="866"/>
                  </a:cubicBezTo>
                  <a:cubicBezTo>
                    <a:pt x="385" y="844"/>
                    <a:pt x="419" y="819"/>
                    <a:pt x="450" y="791"/>
                  </a:cubicBezTo>
                  <a:cubicBezTo>
                    <a:pt x="450" y="790"/>
                    <a:pt x="451" y="790"/>
                    <a:pt x="451" y="789"/>
                  </a:cubicBezTo>
                  <a:cubicBezTo>
                    <a:pt x="681" y="611"/>
                    <a:pt x="694" y="268"/>
                    <a:pt x="694" y="196"/>
                  </a:cubicBezTo>
                  <a:cubicBezTo>
                    <a:pt x="350" y="6"/>
                    <a:pt x="350" y="6"/>
                    <a:pt x="350" y="6"/>
                  </a:cubicBezTo>
                  <a:lnTo>
                    <a:pt x="6" y="196"/>
                  </a:ln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11" name="Freeform 261"/>
            <p:cNvSpPr>
              <a:spLocks noEditPoints="1"/>
            </p:cNvSpPr>
            <p:nvPr/>
          </p:nvSpPr>
          <p:spPr bwMode="auto">
            <a:xfrm>
              <a:off x="9016847" y="5798543"/>
              <a:ext cx="595202" cy="850212"/>
            </a:xfrm>
            <a:custGeom>
              <a:avLst/>
              <a:gdLst>
                <a:gd name="T0" fmla="*/ 580 w 580"/>
                <a:gd name="T1" fmla="*/ 831 h 831"/>
                <a:gd name="T2" fmla="*/ 0 w 580"/>
                <a:gd name="T3" fmla="*/ 831 h 831"/>
                <a:gd name="T4" fmla="*/ 0 w 580"/>
                <a:gd name="T5" fmla="*/ 611 h 831"/>
                <a:gd name="T6" fmla="*/ 61 w 580"/>
                <a:gd name="T7" fmla="*/ 611 h 831"/>
                <a:gd name="T8" fmla="*/ 61 w 580"/>
                <a:gd name="T9" fmla="*/ 220 h 831"/>
                <a:gd name="T10" fmla="*/ 0 w 580"/>
                <a:gd name="T11" fmla="*/ 220 h 831"/>
                <a:gd name="T12" fmla="*/ 0 w 580"/>
                <a:gd name="T13" fmla="*/ 0 h 831"/>
                <a:gd name="T14" fmla="*/ 367 w 580"/>
                <a:gd name="T15" fmla="*/ 0 h 831"/>
                <a:gd name="T16" fmla="*/ 367 w 580"/>
                <a:gd name="T17" fmla="*/ 220 h 831"/>
                <a:gd name="T18" fmla="*/ 289 w 580"/>
                <a:gd name="T19" fmla="*/ 220 h 831"/>
                <a:gd name="T20" fmla="*/ 289 w 580"/>
                <a:gd name="T21" fmla="*/ 611 h 831"/>
                <a:gd name="T22" fmla="*/ 360 w 580"/>
                <a:gd name="T23" fmla="*/ 611 h 831"/>
                <a:gd name="T24" fmla="*/ 360 w 580"/>
                <a:gd name="T25" fmla="*/ 516 h 831"/>
                <a:gd name="T26" fmla="*/ 580 w 580"/>
                <a:gd name="T27" fmla="*/ 516 h 831"/>
                <a:gd name="T28" fmla="*/ 580 w 580"/>
                <a:gd name="T29" fmla="*/ 831 h 831"/>
                <a:gd name="T30" fmla="*/ 568 w 580"/>
                <a:gd name="T31" fmla="*/ 817 h 831"/>
                <a:gd name="T32" fmla="*/ 568 w 580"/>
                <a:gd name="T33" fmla="*/ 528 h 831"/>
                <a:gd name="T34" fmla="*/ 372 w 580"/>
                <a:gd name="T35" fmla="*/ 528 h 831"/>
                <a:gd name="T36" fmla="*/ 372 w 580"/>
                <a:gd name="T37" fmla="*/ 623 h 831"/>
                <a:gd name="T38" fmla="*/ 277 w 580"/>
                <a:gd name="T39" fmla="*/ 623 h 831"/>
                <a:gd name="T40" fmla="*/ 277 w 580"/>
                <a:gd name="T41" fmla="*/ 208 h 831"/>
                <a:gd name="T42" fmla="*/ 357 w 580"/>
                <a:gd name="T43" fmla="*/ 208 h 831"/>
                <a:gd name="T44" fmla="*/ 357 w 580"/>
                <a:gd name="T45" fmla="*/ 14 h 831"/>
                <a:gd name="T46" fmla="*/ 12 w 580"/>
                <a:gd name="T47" fmla="*/ 14 h 831"/>
                <a:gd name="T48" fmla="*/ 12 w 580"/>
                <a:gd name="T49" fmla="*/ 208 h 831"/>
                <a:gd name="T50" fmla="*/ 75 w 580"/>
                <a:gd name="T51" fmla="*/ 208 h 831"/>
                <a:gd name="T52" fmla="*/ 75 w 580"/>
                <a:gd name="T53" fmla="*/ 623 h 831"/>
                <a:gd name="T54" fmla="*/ 12 w 580"/>
                <a:gd name="T55" fmla="*/ 623 h 831"/>
                <a:gd name="T56" fmla="*/ 12 w 580"/>
                <a:gd name="T57" fmla="*/ 817 h 831"/>
                <a:gd name="T58" fmla="*/ 568 w 580"/>
                <a:gd name="T59" fmla="*/ 817 h 831"/>
                <a:gd name="T60" fmla="*/ 530 w 580"/>
                <a:gd name="T61" fmla="*/ 779 h 831"/>
                <a:gd name="T62" fmla="*/ 52 w 580"/>
                <a:gd name="T63" fmla="*/ 779 h 831"/>
                <a:gd name="T64" fmla="*/ 52 w 580"/>
                <a:gd name="T65" fmla="*/ 663 h 831"/>
                <a:gd name="T66" fmla="*/ 113 w 580"/>
                <a:gd name="T67" fmla="*/ 663 h 831"/>
                <a:gd name="T68" fmla="*/ 113 w 580"/>
                <a:gd name="T69" fmla="*/ 168 h 831"/>
                <a:gd name="T70" fmla="*/ 52 w 580"/>
                <a:gd name="T71" fmla="*/ 168 h 831"/>
                <a:gd name="T72" fmla="*/ 52 w 580"/>
                <a:gd name="T73" fmla="*/ 52 h 831"/>
                <a:gd name="T74" fmla="*/ 317 w 580"/>
                <a:gd name="T75" fmla="*/ 52 h 831"/>
                <a:gd name="T76" fmla="*/ 317 w 580"/>
                <a:gd name="T77" fmla="*/ 168 h 831"/>
                <a:gd name="T78" fmla="*/ 237 w 580"/>
                <a:gd name="T79" fmla="*/ 168 h 831"/>
                <a:gd name="T80" fmla="*/ 237 w 580"/>
                <a:gd name="T81" fmla="*/ 663 h 831"/>
                <a:gd name="T82" fmla="*/ 410 w 580"/>
                <a:gd name="T83" fmla="*/ 663 h 831"/>
                <a:gd name="T84" fmla="*/ 410 w 580"/>
                <a:gd name="T85" fmla="*/ 566 h 831"/>
                <a:gd name="T86" fmla="*/ 530 w 580"/>
                <a:gd name="T87" fmla="*/ 566 h 831"/>
                <a:gd name="T88" fmla="*/ 530 w 580"/>
                <a:gd name="T89" fmla="*/ 779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80" h="831">
                  <a:moveTo>
                    <a:pt x="580" y="831"/>
                  </a:moveTo>
                  <a:lnTo>
                    <a:pt x="0" y="831"/>
                  </a:lnTo>
                  <a:lnTo>
                    <a:pt x="0" y="611"/>
                  </a:lnTo>
                  <a:lnTo>
                    <a:pt x="61" y="611"/>
                  </a:lnTo>
                  <a:lnTo>
                    <a:pt x="61" y="220"/>
                  </a:lnTo>
                  <a:lnTo>
                    <a:pt x="0" y="220"/>
                  </a:lnTo>
                  <a:lnTo>
                    <a:pt x="0" y="0"/>
                  </a:lnTo>
                  <a:lnTo>
                    <a:pt x="367" y="0"/>
                  </a:lnTo>
                  <a:lnTo>
                    <a:pt x="367" y="220"/>
                  </a:lnTo>
                  <a:lnTo>
                    <a:pt x="289" y="220"/>
                  </a:lnTo>
                  <a:lnTo>
                    <a:pt x="289" y="611"/>
                  </a:lnTo>
                  <a:lnTo>
                    <a:pt x="360" y="611"/>
                  </a:lnTo>
                  <a:lnTo>
                    <a:pt x="360" y="516"/>
                  </a:lnTo>
                  <a:lnTo>
                    <a:pt x="580" y="516"/>
                  </a:lnTo>
                  <a:lnTo>
                    <a:pt x="580" y="831"/>
                  </a:lnTo>
                  <a:close/>
                  <a:moveTo>
                    <a:pt x="568" y="817"/>
                  </a:moveTo>
                  <a:lnTo>
                    <a:pt x="568" y="528"/>
                  </a:lnTo>
                  <a:lnTo>
                    <a:pt x="372" y="528"/>
                  </a:lnTo>
                  <a:lnTo>
                    <a:pt x="372" y="623"/>
                  </a:lnTo>
                  <a:lnTo>
                    <a:pt x="277" y="623"/>
                  </a:lnTo>
                  <a:lnTo>
                    <a:pt x="277" y="208"/>
                  </a:lnTo>
                  <a:lnTo>
                    <a:pt x="357" y="208"/>
                  </a:lnTo>
                  <a:lnTo>
                    <a:pt x="357" y="14"/>
                  </a:lnTo>
                  <a:lnTo>
                    <a:pt x="12" y="14"/>
                  </a:lnTo>
                  <a:lnTo>
                    <a:pt x="12" y="208"/>
                  </a:lnTo>
                  <a:lnTo>
                    <a:pt x="75" y="208"/>
                  </a:lnTo>
                  <a:lnTo>
                    <a:pt x="75" y="623"/>
                  </a:lnTo>
                  <a:lnTo>
                    <a:pt x="12" y="623"/>
                  </a:lnTo>
                  <a:lnTo>
                    <a:pt x="12" y="817"/>
                  </a:lnTo>
                  <a:lnTo>
                    <a:pt x="568" y="817"/>
                  </a:lnTo>
                  <a:close/>
                  <a:moveTo>
                    <a:pt x="530" y="779"/>
                  </a:moveTo>
                  <a:lnTo>
                    <a:pt x="52" y="779"/>
                  </a:lnTo>
                  <a:lnTo>
                    <a:pt x="52" y="663"/>
                  </a:lnTo>
                  <a:lnTo>
                    <a:pt x="113" y="663"/>
                  </a:lnTo>
                  <a:lnTo>
                    <a:pt x="113" y="168"/>
                  </a:lnTo>
                  <a:lnTo>
                    <a:pt x="52" y="168"/>
                  </a:lnTo>
                  <a:lnTo>
                    <a:pt x="52" y="52"/>
                  </a:lnTo>
                  <a:lnTo>
                    <a:pt x="317" y="52"/>
                  </a:lnTo>
                  <a:lnTo>
                    <a:pt x="317" y="168"/>
                  </a:lnTo>
                  <a:lnTo>
                    <a:pt x="237" y="168"/>
                  </a:lnTo>
                  <a:lnTo>
                    <a:pt x="237" y="663"/>
                  </a:lnTo>
                  <a:lnTo>
                    <a:pt x="410" y="663"/>
                  </a:lnTo>
                  <a:lnTo>
                    <a:pt x="410" y="566"/>
                  </a:lnTo>
                  <a:lnTo>
                    <a:pt x="530" y="566"/>
                  </a:lnTo>
                  <a:lnTo>
                    <a:pt x="530" y="779"/>
                  </a:lnTo>
                  <a:close/>
                </a:path>
              </a:pathLst>
            </a:custGeom>
            <a:solidFill>
              <a:schemeClr val="accent2"/>
            </a:solidFill>
            <a:ln>
              <a:solidFill>
                <a:schemeClr val="accent1"/>
              </a:solidFill>
            </a:ln>
          </p:spPr>
          <p:txBody>
            <a:bodyPr/>
            <a:lstStyle/>
            <a:p>
              <a:pPr fontAlgn="auto">
                <a:spcBef>
                  <a:spcPts val="0"/>
                </a:spcBef>
                <a:spcAft>
                  <a:spcPts val="0"/>
                </a:spcAft>
                <a:defRPr/>
              </a:pPr>
              <a:endParaRPr lang="zh-CN" altLang="en-US">
                <a:latin typeface="+mn-lt"/>
                <a:ea typeface="+mn-ea"/>
              </a:endParaRPr>
            </a:p>
          </p:txBody>
        </p:sp>
      </p:gr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2" name="日期占位符 2"/>
          <p:cNvSpPr>
            <a:spLocks noGrp="1"/>
          </p:cNvSpPr>
          <p:nvPr>
            <p:ph type="dt" sz="half" idx="10"/>
          </p:nvPr>
        </p:nvSpPr>
        <p:spPr/>
        <p:txBody>
          <a:bodyPr/>
          <a:lstStyle>
            <a:lvl1pPr>
              <a:defRPr/>
            </a:lvl1pPr>
          </a:lstStyle>
          <a:p>
            <a:pPr>
              <a:defRPr/>
            </a:pPr>
            <a:fld id="{950FA2E2-848D-4B81-9C8D-0FCB29735EB9}" type="datetimeFigureOut">
              <a:rPr lang="zh-CN" altLang="en-US"/>
            </a:fld>
            <a:endParaRPr lang="zh-CN" altLang="en-US"/>
          </a:p>
        </p:txBody>
      </p:sp>
      <p:sp>
        <p:nvSpPr>
          <p:cNvPr id="13" name="页脚占位符 3"/>
          <p:cNvSpPr>
            <a:spLocks noGrp="1"/>
          </p:cNvSpPr>
          <p:nvPr>
            <p:ph type="ftr" sz="quarter" idx="11"/>
          </p:nvPr>
        </p:nvSpPr>
        <p:spPr/>
        <p:txBody>
          <a:bodyPr/>
          <a:lstStyle>
            <a:lvl1pPr>
              <a:defRPr/>
            </a:lvl1pPr>
          </a:lstStyle>
          <a:p>
            <a:pPr>
              <a:defRPr/>
            </a:pPr>
            <a:endParaRPr lang="zh-CN" altLang="en-US"/>
          </a:p>
        </p:txBody>
      </p:sp>
      <p:sp>
        <p:nvSpPr>
          <p:cNvPr id="14"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pPr>
              <a:defRPr/>
            </a:pPr>
            <a:r>
              <a:rPr lang="en-US" altLang="zh-CN"/>
              <a:t>P</a:t>
            </a:r>
            <a:fld id="{03C8AF01-C57A-4D67-82C1-1F2F44AFCB8F}"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7D2F167-420C-40B1-9CFE-8EFA578391C4}"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E491E42-D657-49D1-8EB6-0CACAB33E671}"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使用说明">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defRPr/>
            </a:pPr>
            <a:endParaRPr lang="zh-CN" altLang="en-US">
              <a:latin typeface="+mn-lt"/>
              <a:ea typeface="+mn-ea"/>
            </a:endParaRPr>
          </a:p>
        </p:txBody>
      </p:sp>
      <p:sp>
        <p:nvSpPr>
          <p:cNvPr id="4" name="文本框 6"/>
          <p:cNvSpPr txBox="1"/>
          <p:nvPr userDrawn="1"/>
        </p:nvSpPr>
        <p:spPr>
          <a:xfrm>
            <a:off x="1303338" y="858838"/>
            <a:ext cx="2373312" cy="307975"/>
          </a:xfrm>
          <a:prstGeom prst="rect">
            <a:avLst/>
          </a:prstGeom>
          <a:noFill/>
        </p:spPr>
        <p:txBody>
          <a:bodyPr>
            <a:spAutoFit/>
          </a:bodyPr>
          <a:lstStyle/>
          <a:p>
            <a:pPr fontAlgn="auto">
              <a:spcBef>
                <a:spcPts val="0"/>
              </a:spcBef>
              <a:spcAft>
                <a:spcPts val="0"/>
              </a:spcAft>
              <a:defRPr/>
            </a:pPr>
            <a:r>
              <a:rPr lang="en-US" altLang="zh-CN"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rPr>
              <a:t>MORESHI POWERPOINT</a:t>
            </a:r>
            <a:endParaRPr lang="zh-CN" altLang="en-US" sz="1400" dirty="0">
              <a:solidFill>
                <a:schemeClr val="tx1">
                  <a:lumMod val="40000"/>
                  <a:lumOff val="60000"/>
                </a:scheme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5" name="日期占位符 2"/>
          <p:cNvSpPr>
            <a:spLocks noGrp="1"/>
          </p:cNvSpPr>
          <p:nvPr>
            <p:ph type="dt" sz="half" idx="10"/>
          </p:nvPr>
        </p:nvSpPr>
        <p:spPr/>
        <p:txBody>
          <a:bodyPr/>
          <a:lstStyle>
            <a:lvl1pPr>
              <a:defRPr/>
            </a:lvl1pPr>
          </a:lstStyle>
          <a:p>
            <a:pPr>
              <a:defRPr/>
            </a:pPr>
            <a:fld id="{796BF63C-51F9-41A7-B835-5C127B811F06}" type="datetimeFigureOut">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pPr>
              <a:defRPr/>
            </a:pPr>
            <a:r>
              <a:rPr lang="en-US" altLang="zh-CN"/>
              <a:t>P</a:t>
            </a:r>
            <a:fld id="{A74AA12F-CC77-4A44-80F4-8E0AE8590DDB}"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使用说明">
    <p:spTree>
      <p:nvGrpSpPr>
        <p:cNvPr id="1" name=""/>
        <p:cNvGrpSpPr/>
        <p:nvPr/>
      </p:nvGrpSpPr>
      <p:grpSpPr>
        <a:xfrm>
          <a:off x="0" y="0"/>
          <a:ext cx="0" cy="0"/>
          <a:chOff x="0" y="0"/>
          <a:chExt cx="0" cy="0"/>
        </a:xfrm>
      </p:grpSpPr>
      <p:sp>
        <p:nvSpPr>
          <p:cNvPr id="3" name="Freeform 5"/>
          <p:cNvSpPr>
            <a:spLocks noEditPoints="1"/>
          </p:cNvSpPr>
          <p:nvPr userDrawn="1"/>
        </p:nvSpPr>
        <p:spPr bwMode="auto">
          <a:xfrm>
            <a:off x="508000" y="396875"/>
            <a:ext cx="765175" cy="684213"/>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a:lstStyle/>
          <a:p>
            <a:pPr fontAlgn="auto">
              <a:spcBef>
                <a:spcPts val="0"/>
              </a:spcBef>
              <a:spcAft>
                <a:spcPts val="0"/>
              </a:spcAft>
            </a:pPr>
            <a:endParaRPr lang="zh-CN" altLang="en-US" sz="1800">
              <a:solidFill>
                <a:schemeClr val="tx1"/>
              </a:solidFill>
              <a:latin typeface="+mn-lt"/>
              <a:ea typeface="+mn-ea"/>
            </a:endParaRPr>
          </a:p>
        </p:txBody>
      </p:sp>
      <p:sp>
        <p:nvSpPr>
          <p:cNvPr id="2" name="标题 1"/>
          <p:cNvSpPr>
            <a:spLocks noGrp="1"/>
          </p:cNvSpPr>
          <p:nvPr>
            <p:ph type="title"/>
          </p:nvPr>
        </p:nvSpPr>
        <p:spPr>
          <a:xfrm>
            <a:off x="1302657" y="337014"/>
            <a:ext cx="5258480" cy="682623"/>
          </a:xfrm>
        </p:spPr>
        <p:txBody>
          <a:bodyPr>
            <a:norm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5" name="日期占位符 2"/>
          <p:cNvSpPr>
            <a:spLocks noGrp="1"/>
          </p:cNvSpPr>
          <p:nvPr>
            <p:ph type="dt" sz="half" idx="10"/>
          </p:nvPr>
        </p:nvSpPr>
        <p:spPr/>
        <p:txBody>
          <a:bodyPr/>
          <a:lstStyle>
            <a:lvl1pPr>
              <a:defRPr/>
            </a:lvl1pPr>
          </a:lstStyle>
          <a:p>
            <a:fld id="{796BF63C-51F9-41A7-B835-5C127B811F06}" type="datetimeFigureOut">
              <a:rPr lang="zh-CN" altLang="en-US"/>
            </a:fld>
            <a:endParaRPr lang="zh-CN" altLang="en-US"/>
          </a:p>
        </p:txBody>
      </p:sp>
      <p:sp>
        <p:nvSpPr>
          <p:cNvPr id="6" name="页脚占位符 3"/>
          <p:cNvSpPr>
            <a:spLocks noGrp="1"/>
          </p:cNvSpPr>
          <p:nvPr>
            <p:ph type="ftr" sz="quarter" idx="11"/>
          </p:nvPr>
        </p:nvSpPr>
        <p:spPr/>
        <p:txBody>
          <a:bodyPr/>
          <a:lstStyle>
            <a:lvl1pPr>
              <a:defRPr/>
            </a:lvl1pPr>
          </a:lstStyle>
          <a:p>
            <a:endParaRPr lang="zh-CN" altLang="en-US"/>
          </a:p>
        </p:txBody>
      </p:sp>
      <p:sp>
        <p:nvSpPr>
          <p:cNvPr id="7" name="灯片编号占位符 4"/>
          <p:cNvSpPr>
            <a:spLocks noGrp="1"/>
          </p:cNvSpPr>
          <p:nvPr>
            <p:ph type="sldNum" sz="quarter" idx="12"/>
          </p:nvPr>
        </p:nvSpPr>
        <p:spPr/>
        <p:txBody>
          <a:bodyPr/>
          <a:lstStyle>
            <a:lvl1pPr>
              <a:defRPr dirty="0" smtClean="0">
                <a:solidFill>
                  <a:schemeClr val="tx1">
                    <a:lumMod val="60000"/>
                    <a:lumOff val="40000"/>
                  </a:schemeClr>
                </a:solidFill>
                <a:latin typeface="+mn-lt"/>
              </a:defRPr>
            </a:lvl1pPr>
          </a:lstStyle>
          <a:p>
            <a:r>
              <a:rPr lang="en-US" altLang="zh-CN"/>
              <a:t>P</a:t>
            </a:r>
            <a:fld id="{A74AA12F-CC77-4A44-80F4-8E0AE8590DDB}"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FD180D33-4E58-4D2F-84BC-5CF513AC2BEB}"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B8A7D465-D1CD-4779-B5D1-C12FDD1BE23A}"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mc:AlternateContent xmlns:mc="http://schemas.openxmlformats.org/markup-compatibility/2006">
    <mc:Choice xmlns:p14="http://schemas.microsoft.com/office/powerpoint/2010/main" Requires="p14">
      <p:transition spd="slow" p14:dur="1000"/>
    </mc:Choice>
    <mc:Fallback>
      <p:transition spd="slow"/>
    </mc:Fallback>
  </mc:AlternateConten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fld id="{FD180D33-4E58-4D2F-84BC-5CF513AC2BEB}"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fld id="{B8A7D465-D1CD-4779-B5D1-C12FDD1BE23A}"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Lst>
  <mc:AlternateContent xmlns:mc="http://schemas.openxmlformats.org/markup-compatibility/2006">
    <mc:Choice xmlns:p14="http://schemas.microsoft.com/office/powerpoint/2010/main" Requires="p14">
      <p:transition spd="slow" p14:dur="1000"/>
    </mc:Choice>
    <mc:Fallback>
      <p:transition spd="slow"/>
    </mc:Fallback>
  </mc:AlternateConten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2" Type="http://schemas.openxmlformats.org/officeDocument/2006/relationships/notesSlide" Target="../notesSlides/notesSlide2.xml"/><Relationship Id="rId11" Type="http://schemas.openxmlformats.org/officeDocument/2006/relationships/slideLayout" Target="../slideLayouts/slideLayout10.xml"/><Relationship Id="rId10" Type="http://schemas.openxmlformats.org/officeDocument/2006/relationships/tags" Target="../tags/tag13.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2" Type="http://schemas.openxmlformats.org/officeDocument/2006/relationships/notesSlide" Target="../notesSlides/notesSlide5.xml"/><Relationship Id="rId11" Type="http://schemas.openxmlformats.org/officeDocument/2006/relationships/slideLayout" Target="../slideLayouts/slideLayout10.xml"/><Relationship Id="rId10" Type="http://schemas.openxmlformats.org/officeDocument/2006/relationships/tags" Target="../tags/tag25.xml"/><Relationship Id="rId1" Type="http://schemas.openxmlformats.org/officeDocument/2006/relationships/tags" Target="../tags/tag1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13.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2" Type="http://schemas.openxmlformats.org/officeDocument/2006/relationships/notesSlide" Target="../notesSlides/notesSlide13.xml"/><Relationship Id="rId11" Type="http://schemas.openxmlformats.org/officeDocument/2006/relationships/slideLayout" Target="../slideLayouts/slideLayout10.xml"/><Relationship Id="rId10" Type="http://schemas.openxmlformats.org/officeDocument/2006/relationships/tags" Target="../tags/tag42.xml"/><Relationship Id="rId1" Type="http://schemas.openxmlformats.org/officeDocument/2006/relationships/tags" Target="../tags/tag3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2" Type="http://schemas.openxmlformats.org/officeDocument/2006/relationships/notesSlide" Target="../notesSlides/notesSlide15.xml"/><Relationship Id="rId11" Type="http://schemas.openxmlformats.org/officeDocument/2006/relationships/slideLayout" Target="../slideLayouts/slideLayout10.xml"/><Relationship Id="rId10" Type="http://schemas.openxmlformats.org/officeDocument/2006/relationships/tags" Target="../tags/tag53.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tags" Target="../tags/tag54.xml"/></Relationships>
</file>

<file path=ppt/slides/_rels/slide17.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2" Type="http://schemas.openxmlformats.org/officeDocument/2006/relationships/notesSlide" Target="../notesSlides/notesSlide17.xml"/><Relationship Id="rId11" Type="http://schemas.openxmlformats.org/officeDocument/2006/relationships/slideLayout" Target="../slideLayouts/slideLayout10.xml"/><Relationship Id="rId10" Type="http://schemas.openxmlformats.org/officeDocument/2006/relationships/tags" Target="../tags/tag64.xml"/><Relationship Id="rId1" Type="http://schemas.openxmlformats.org/officeDocument/2006/relationships/tags" Target="../tags/tag55.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0.xml"/><Relationship Id="rId2" Type="http://schemas.openxmlformats.org/officeDocument/2006/relationships/tags" Target="../tags/tag65.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0.xml"/><Relationship Id="rId2" Type="http://schemas.openxmlformats.org/officeDocument/2006/relationships/tags" Target="../tags/tag67.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6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0.xml"/><Relationship Id="rId2" Type="http://schemas.openxmlformats.org/officeDocument/2006/relationships/tags" Target="../tags/tag70.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7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7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73.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0.xml"/><Relationship Id="rId2" Type="http://schemas.openxmlformats.org/officeDocument/2006/relationships/tags" Target="../tags/tag74.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75.xml"/></Relationships>
</file>

<file path=ppt/slides/_rels/slide29.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2" Type="http://schemas.openxmlformats.org/officeDocument/2006/relationships/notesSlide" Target="../notesSlides/notesSlide29.xml"/><Relationship Id="rId11" Type="http://schemas.openxmlformats.org/officeDocument/2006/relationships/slideLayout" Target="../slideLayouts/slideLayout10.xml"/><Relationship Id="rId10" Type="http://schemas.openxmlformats.org/officeDocument/2006/relationships/tags" Target="../tags/tag85.xml"/><Relationship Id="rId1" Type="http://schemas.openxmlformats.org/officeDocument/2006/relationships/tags" Target="../tags/tag76.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0.xml"/><Relationship Id="rId2" Type="http://schemas.openxmlformats.org/officeDocument/2006/relationships/tags" Target="../tags/tag86.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87.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0.xml"/><Relationship Id="rId3" Type="http://schemas.openxmlformats.org/officeDocument/2006/relationships/tags" Target="../tags/tag88.xml"/><Relationship Id="rId2" Type="http://schemas.openxmlformats.org/officeDocument/2006/relationships/image" Target="../media/image9.png"/><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0.xml"/><Relationship Id="rId3" Type="http://schemas.openxmlformats.org/officeDocument/2006/relationships/tags" Target="../tags/tag89.xml"/><Relationship Id="rId2" Type="http://schemas.openxmlformats.org/officeDocument/2006/relationships/image" Target="../media/image11.png"/><Relationship Id="rId1" Type="http://schemas.openxmlformats.org/officeDocument/2006/relationships/image" Target="../media/image10.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0.xml"/><Relationship Id="rId2" Type="http://schemas.openxmlformats.org/officeDocument/2006/relationships/tags" Target="../tags/tag90.xml"/><Relationship Id="rId1"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矩形 44"/>
          <p:cNvSpPr/>
          <p:nvPr/>
        </p:nvSpPr>
        <p:spPr>
          <a:xfrm>
            <a:off x="0" y="1625600"/>
            <a:ext cx="12192000" cy="32083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 name="Freeform 5"/>
          <p:cNvSpPr>
            <a:spLocks noEditPoints="1"/>
          </p:cNvSpPr>
          <p:nvPr/>
        </p:nvSpPr>
        <p:spPr bwMode="auto">
          <a:xfrm>
            <a:off x="8599488" y="5440363"/>
            <a:ext cx="1114425" cy="996950"/>
          </a:xfrm>
          <a:custGeom>
            <a:avLst/>
            <a:gdLst>
              <a:gd name="T0" fmla="*/ 844682 w 528"/>
              <a:gd name="T1" fmla="*/ 619489 h 471"/>
              <a:gd name="T2" fmla="*/ 908033 w 528"/>
              <a:gd name="T3" fmla="*/ 589889 h 471"/>
              <a:gd name="T4" fmla="*/ 908033 w 528"/>
              <a:gd name="T5" fmla="*/ 587775 h 471"/>
              <a:gd name="T6" fmla="*/ 908033 w 528"/>
              <a:gd name="T7" fmla="*/ 431317 h 471"/>
              <a:gd name="T8" fmla="*/ 846793 w 528"/>
              <a:gd name="T9" fmla="*/ 460917 h 471"/>
              <a:gd name="T10" fmla="*/ 844682 w 528"/>
              <a:gd name="T11" fmla="*/ 619489 h 471"/>
              <a:gd name="T12" fmla="*/ 190053 w 528"/>
              <a:gd name="T13" fmla="*/ 431317 h 471"/>
              <a:gd name="T14" fmla="*/ 190053 w 528"/>
              <a:gd name="T15" fmla="*/ 589889 h 471"/>
              <a:gd name="T16" fmla="*/ 523703 w 528"/>
              <a:gd name="T17" fmla="*/ 748461 h 471"/>
              <a:gd name="T18" fmla="*/ 578607 w 528"/>
              <a:gd name="T19" fmla="*/ 748461 h 471"/>
              <a:gd name="T20" fmla="*/ 783442 w 528"/>
              <a:gd name="T21" fmla="*/ 649089 h 471"/>
              <a:gd name="T22" fmla="*/ 783442 w 528"/>
              <a:gd name="T23" fmla="*/ 490517 h 471"/>
              <a:gd name="T24" fmla="*/ 549043 w 528"/>
              <a:gd name="T25" fmla="*/ 604689 h 471"/>
              <a:gd name="T26" fmla="*/ 190053 w 528"/>
              <a:gd name="T27" fmla="*/ 431317 h 471"/>
              <a:gd name="T28" fmla="*/ 832011 w 528"/>
              <a:gd name="T29" fmla="*/ 416517 h 471"/>
              <a:gd name="T30" fmla="*/ 825676 w 528"/>
              <a:gd name="T31" fmla="*/ 414402 h 471"/>
              <a:gd name="T32" fmla="*/ 606059 w 528"/>
              <a:gd name="T33" fmla="*/ 293887 h 471"/>
              <a:gd name="T34" fmla="*/ 608171 w 528"/>
              <a:gd name="T35" fmla="*/ 279087 h 471"/>
              <a:gd name="T36" fmla="*/ 557490 w 528"/>
              <a:gd name="T37" fmla="*/ 228344 h 471"/>
              <a:gd name="T38" fmla="*/ 506809 w 528"/>
              <a:gd name="T39" fmla="*/ 279087 h 471"/>
              <a:gd name="T40" fmla="*/ 557490 w 528"/>
              <a:gd name="T41" fmla="*/ 329830 h 471"/>
              <a:gd name="T42" fmla="*/ 593389 w 528"/>
              <a:gd name="T43" fmla="*/ 317145 h 471"/>
              <a:gd name="T44" fmla="*/ 808783 w 528"/>
              <a:gd name="T45" fmla="*/ 437660 h 471"/>
              <a:gd name="T46" fmla="*/ 832011 w 528"/>
              <a:gd name="T47" fmla="*/ 416517 h 471"/>
              <a:gd name="T48" fmla="*/ 1114980 w 528"/>
              <a:gd name="T49" fmla="*/ 279087 h 471"/>
              <a:gd name="T50" fmla="*/ 549043 w 528"/>
              <a:gd name="T51" fmla="*/ 0 h 471"/>
              <a:gd name="T52" fmla="*/ 0 w 528"/>
              <a:gd name="T53" fmla="*/ 266401 h 471"/>
              <a:gd name="T54" fmla="*/ 0 w 528"/>
              <a:gd name="T55" fmla="*/ 289659 h 471"/>
              <a:gd name="T56" fmla="*/ 549043 w 528"/>
              <a:gd name="T57" fmla="*/ 556060 h 471"/>
              <a:gd name="T58" fmla="*/ 783442 w 528"/>
              <a:gd name="T59" fmla="*/ 441888 h 471"/>
              <a:gd name="T60" fmla="*/ 783442 w 528"/>
              <a:gd name="T61" fmla="*/ 433431 h 471"/>
              <a:gd name="T62" fmla="*/ 593389 w 528"/>
              <a:gd name="T63" fmla="*/ 334059 h 471"/>
              <a:gd name="T64" fmla="*/ 557490 w 528"/>
              <a:gd name="T65" fmla="*/ 344630 h 471"/>
              <a:gd name="T66" fmla="*/ 492027 w 528"/>
              <a:gd name="T67" fmla="*/ 279087 h 471"/>
              <a:gd name="T68" fmla="*/ 557490 w 528"/>
              <a:gd name="T69" fmla="*/ 211430 h 471"/>
              <a:gd name="T70" fmla="*/ 622953 w 528"/>
              <a:gd name="T71" fmla="*/ 279087 h 471"/>
              <a:gd name="T72" fmla="*/ 622953 w 528"/>
              <a:gd name="T73" fmla="*/ 285430 h 471"/>
              <a:gd name="T74" fmla="*/ 846793 w 528"/>
              <a:gd name="T75" fmla="*/ 410174 h 471"/>
              <a:gd name="T76" fmla="*/ 1114980 w 528"/>
              <a:gd name="T77" fmla="*/ 279087 h 471"/>
              <a:gd name="T78" fmla="*/ 832011 w 528"/>
              <a:gd name="T79" fmla="*/ 416517 h 471"/>
              <a:gd name="T80" fmla="*/ 834123 w 528"/>
              <a:gd name="T81" fmla="*/ 619489 h 471"/>
              <a:gd name="T82" fmla="*/ 853128 w 528"/>
              <a:gd name="T83" fmla="*/ 649089 h 471"/>
              <a:gd name="T84" fmla="*/ 836235 w 528"/>
              <a:gd name="T85" fmla="*/ 676575 h 471"/>
              <a:gd name="T86" fmla="*/ 851017 w 528"/>
              <a:gd name="T87" fmla="*/ 676575 h 471"/>
              <a:gd name="T88" fmla="*/ 878469 w 528"/>
              <a:gd name="T89" fmla="*/ 995834 h 471"/>
              <a:gd name="T90" fmla="*/ 768660 w 528"/>
              <a:gd name="T91" fmla="*/ 995834 h 471"/>
              <a:gd name="T92" fmla="*/ 796113 w 528"/>
              <a:gd name="T93" fmla="*/ 676575 h 471"/>
              <a:gd name="T94" fmla="*/ 810894 w 528"/>
              <a:gd name="T95" fmla="*/ 676575 h 471"/>
              <a:gd name="T96" fmla="*/ 794001 w 528"/>
              <a:gd name="T97" fmla="*/ 649089 h 471"/>
              <a:gd name="T98" fmla="*/ 810894 w 528"/>
              <a:gd name="T99" fmla="*/ 619489 h 471"/>
              <a:gd name="T100" fmla="*/ 808783 w 528"/>
              <a:gd name="T101" fmla="*/ 437660 h 471"/>
              <a:gd name="T102" fmla="*/ 832011 w 528"/>
              <a:gd name="T103" fmla="*/ 416517 h 47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28"/>
              <a:gd name="T157" fmla="*/ 0 h 471"/>
              <a:gd name="T158" fmla="*/ 528 w 528"/>
              <a:gd name="T159" fmla="*/ 471 h 47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solidFill>
          <a:ln w="9525">
            <a:noFill/>
            <a:round/>
          </a:ln>
        </p:spPr>
        <p:txBody>
          <a:bodyPr/>
          <a:lstStyle/>
          <a:p>
            <a:endParaRPr lang="zh-CN" altLang="en-US"/>
          </a:p>
        </p:txBody>
      </p:sp>
      <p:sp>
        <p:nvSpPr>
          <p:cNvPr id="35" name="文本框 34"/>
          <p:cNvSpPr txBox="1">
            <a:spLocks noChangeArrowheads="1"/>
          </p:cNvSpPr>
          <p:nvPr/>
        </p:nvSpPr>
        <p:spPr bwMode="auto">
          <a:xfrm>
            <a:off x="0" y="2061845"/>
            <a:ext cx="12192635" cy="983615"/>
          </a:xfrm>
          <a:prstGeom prst="rect">
            <a:avLst/>
          </a:prstGeom>
          <a:noFill/>
          <a:ln w="9525">
            <a:noFill/>
            <a:miter lim="800000"/>
          </a:ln>
        </p:spPr>
        <p:txBody>
          <a:bodyPr wrap="square">
            <a:spAutoFit/>
          </a:bodyPr>
          <a:lstStyle/>
          <a:p>
            <a:pPr algn="ctr"/>
            <a:r>
              <a:rPr lang="en-US" altLang="zh-CN" sz="2900" b="1" dirty="0">
                <a:solidFill>
                  <a:schemeClr val="bg1"/>
                </a:solidFill>
                <a:latin typeface="微软雅黑" panose="020B0503020204020204" pitchFamily="34" charset="-122"/>
                <a:ea typeface="微软雅黑" panose="020B0503020204020204" pitchFamily="34" charset="-122"/>
              </a:rPr>
              <a:t>Efficient Forwarding and Data Acquisition in NDN-Based MANET</a:t>
            </a:r>
            <a:endParaRPr lang="en-US" altLang="zh-CN" sz="2900" b="1" dirty="0">
              <a:solidFill>
                <a:schemeClr val="bg1"/>
              </a:solidFill>
              <a:latin typeface="微软雅黑" panose="020B0503020204020204" pitchFamily="34" charset="-122"/>
              <a:ea typeface="微软雅黑" panose="020B0503020204020204" pitchFamily="34" charset="-122"/>
            </a:endParaRPr>
          </a:p>
        </p:txBody>
      </p:sp>
      <p:pic>
        <p:nvPicPr>
          <p:cNvPr id="46" name="图片 45"/>
          <p:cNvPicPr>
            <a:picLocks noChangeAspect="1"/>
          </p:cNvPicPr>
          <p:nvPr/>
        </p:nvPicPr>
        <p:blipFill>
          <a:blip r:embed="rId1"/>
          <a:srcRect/>
          <a:stretch>
            <a:fillRect/>
          </a:stretch>
        </p:blipFill>
        <p:spPr bwMode="auto">
          <a:xfrm>
            <a:off x="550863" y="476250"/>
            <a:ext cx="2325687" cy="658813"/>
          </a:xfrm>
          <a:prstGeom prst="rect">
            <a:avLst/>
          </a:prstGeom>
          <a:noFill/>
          <a:ln w="9525">
            <a:noFill/>
            <a:miter lim="800000"/>
            <a:headEnd/>
            <a:tailEnd/>
          </a:ln>
        </p:spPr>
      </p:pic>
      <p:sp>
        <p:nvSpPr>
          <p:cNvPr id="47" name="文本框 46"/>
          <p:cNvSpPr txBox="1"/>
          <p:nvPr/>
        </p:nvSpPr>
        <p:spPr>
          <a:xfrm>
            <a:off x="4300538" y="4043272"/>
            <a:ext cx="3711575" cy="398780"/>
          </a:xfrm>
          <a:prstGeom prst="rect">
            <a:avLst/>
          </a:prstGeom>
          <a:noFill/>
        </p:spPr>
        <p:txBody>
          <a:bodyPr>
            <a:spAutoFit/>
          </a:bodyPr>
          <a:lstStyle/>
          <a:p>
            <a:pPr algn="ctr" fontAlgn="auto">
              <a:spcBef>
                <a:spcPts val="0"/>
              </a:spcBef>
              <a:spcAft>
                <a:spcPts val="0"/>
              </a:spcAft>
              <a:defRPr/>
            </a:pPr>
            <a:r>
              <a:rPr lang="en-US" altLang="zh-CN" sz="2000" dirty="0">
                <a:solidFill>
                  <a:schemeClr val="bg1"/>
                </a:solidFill>
                <a:latin typeface="微软雅黑" panose="020B0503020204020204" pitchFamily="34" charset="-122"/>
                <a:ea typeface="微软雅黑" panose="020B0503020204020204" pitchFamily="34" charset="-122"/>
                <a:sym typeface="+mn-ea"/>
              </a:rPr>
              <a:t>2025.10.28 </a:t>
            </a:r>
            <a:r>
              <a:rPr lang="zh-CN" altLang="en-US" sz="2000" dirty="0">
                <a:solidFill>
                  <a:schemeClr val="bg1"/>
                </a:solidFill>
                <a:latin typeface="微软雅黑" panose="020B0503020204020204" pitchFamily="34" charset="-122"/>
                <a:ea typeface="微软雅黑" panose="020B0503020204020204" pitchFamily="34" charset="-122"/>
                <a:sym typeface="+mn-ea"/>
              </a:rPr>
              <a:t>姜欣悦</a:t>
            </a:r>
            <a:endParaRPr lang="zh-CN" altLang="en-US" sz="2000" dirty="0">
              <a:solidFill>
                <a:schemeClr val="bg1"/>
              </a:solidFill>
              <a:latin typeface="微软雅黑" panose="020B0503020204020204" pitchFamily="34" charset="-122"/>
              <a:ea typeface="微软雅黑" panose="020B0503020204020204" pitchFamily="34" charset="-122"/>
              <a:sym typeface="+mn-ea"/>
            </a:endParaRPr>
          </a:p>
        </p:txBody>
      </p:sp>
      <p:cxnSp>
        <p:nvCxnSpPr>
          <p:cNvPr id="5" name="直接连接符 4"/>
          <p:cNvCxnSpPr/>
          <p:nvPr/>
        </p:nvCxnSpPr>
        <p:spPr>
          <a:xfrm>
            <a:off x="1928813" y="4243297"/>
            <a:ext cx="26289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等腰三角形 11"/>
          <p:cNvSpPr/>
          <p:nvPr/>
        </p:nvSpPr>
        <p:spPr>
          <a:xfrm flipV="1">
            <a:off x="8977313" y="4821238"/>
            <a:ext cx="358775" cy="2063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53" name="直接连接符 52"/>
          <p:cNvCxnSpPr/>
          <p:nvPr/>
        </p:nvCxnSpPr>
        <p:spPr>
          <a:xfrm>
            <a:off x="7729538" y="4243297"/>
            <a:ext cx="254317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文本框 1"/>
          <p:cNvSpPr txBox="1">
            <a:spLocks noChangeArrowheads="1"/>
          </p:cNvSpPr>
          <p:nvPr/>
        </p:nvSpPr>
        <p:spPr bwMode="auto">
          <a:xfrm>
            <a:off x="104775" y="3208655"/>
            <a:ext cx="12192635" cy="1612900"/>
          </a:xfrm>
          <a:prstGeom prst="rect">
            <a:avLst/>
          </a:prstGeom>
          <a:noFill/>
          <a:ln w="9525">
            <a:noFill/>
            <a:miter lim="800000"/>
          </a:ln>
        </p:spPr>
        <p:txBody>
          <a:bodyPr wrap="square">
            <a:noAutofit/>
          </a:bodyPr>
          <a:p>
            <a:pPr algn="ctr"/>
            <a:r>
              <a:rPr lang="zh-CN" altLang="en-US" sz="2900" b="1" dirty="0">
                <a:solidFill>
                  <a:schemeClr val="bg1"/>
                </a:solidFill>
                <a:latin typeface="微软雅黑" panose="020B0503020204020204" pitchFamily="34" charset="-122"/>
                <a:ea typeface="微软雅黑" panose="020B0503020204020204" pitchFamily="34" charset="-122"/>
              </a:rPr>
              <a:t>基于</a:t>
            </a:r>
            <a:r>
              <a:rPr lang="en-US" altLang="zh-CN" sz="2900" b="1" dirty="0">
                <a:solidFill>
                  <a:schemeClr val="bg1"/>
                </a:solidFill>
                <a:latin typeface="微软雅黑" panose="020B0503020204020204" pitchFamily="34" charset="-122"/>
                <a:ea typeface="微软雅黑" panose="020B0503020204020204" pitchFamily="34" charset="-122"/>
              </a:rPr>
              <a:t>NDN</a:t>
            </a:r>
            <a:r>
              <a:rPr lang="zh-CN" altLang="en-US" sz="2900" b="1" dirty="0">
                <a:solidFill>
                  <a:schemeClr val="bg1"/>
                </a:solidFill>
                <a:latin typeface="微软雅黑" panose="020B0503020204020204" pitchFamily="34" charset="-122"/>
                <a:ea typeface="微软雅黑" panose="020B0503020204020204" pitchFamily="34" charset="-122"/>
              </a:rPr>
              <a:t>的移动自组网中的高效转发和数据获取</a:t>
            </a:r>
            <a:endParaRPr lang="zh-CN" altLang="en-US" sz="29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5143500" y="5103495"/>
            <a:ext cx="6917690" cy="337185"/>
          </a:xfrm>
          <a:prstGeom prst="rect">
            <a:avLst/>
          </a:prstGeom>
        </p:spPr>
        <p:txBody>
          <a:bodyPr wrap="square">
            <a:spAutoFit/>
          </a:bodyPr>
          <a:p>
            <a:pPr marL="0" indent="0" latinLnBrk="1">
              <a:spcBef>
                <a:spcPct val="0"/>
              </a:spcBef>
              <a:spcAft>
                <a:spcPct val="0"/>
              </a:spcAft>
            </a:pPr>
            <a:r>
              <a:rPr lang="en-US" altLang="zh-CN" sz="1600" b="0" i="0">
                <a:solidFill>
                  <a:srgbClr val="222226"/>
                </a:solidFill>
                <a:latin typeface="PingFang SC"/>
                <a:ea typeface="PingFang SC"/>
              </a:rPr>
              <a:t>IEEE TRANSACTIONS ON MOBILE COMPUTING 2022 </a:t>
            </a:r>
            <a:r>
              <a:rPr lang="zh-CN" altLang="en-US" sz="1600" b="0" i="0">
                <a:solidFill>
                  <a:srgbClr val="222226"/>
                </a:solidFill>
                <a:latin typeface="PingFang SC"/>
              </a:rPr>
              <a:t>（</a:t>
            </a:r>
            <a:r>
              <a:rPr lang="en-US" altLang="zh-CN" sz="1600" b="0" i="0">
                <a:solidFill>
                  <a:srgbClr val="222226"/>
                </a:solidFill>
                <a:latin typeface="PingFang SC"/>
              </a:rPr>
              <a:t>CCF A</a:t>
            </a:r>
            <a:r>
              <a:rPr lang="zh-CN" altLang="en-US" sz="1600" b="0" i="0">
                <a:solidFill>
                  <a:srgbClr val="222226"/>
                </a:solidFill>
                <a:latin typeface="PingFang SC"/>
              </a:rPr>
              <a:t>）</a:t>
            </a:r>
            <a:endParaRPr lang="zh-CN" altLang="en-US" sz="1600" b="0" i="0">
              <a:solidFill>
                <a:srgbClr val="222226"/>
              </a:solidFill>
              <a:latin typeface="PingFang SC"/>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035937" y="1228383"/>
            <a:ext cx="482600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800" b="1" spc="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摘要</a:t>
            </a:r>
            <a:endParaRPr lang="zh-CN" altLang="en-US" sz="2800" b="1" spc="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2"/>
            </p:custDataLst>
          </p:nvPr>
        </p:nvSpPr>
        <p:spPr>
          <a:xfrm>
            <a:off x="4035937" y="2071663"/>
            <a:ext cx="4826000" cy="529590"/>
          </a:xfrm>
          <a:prstGeom prst="rect">
            <a:avLst/>
          </a:prstGeom>
          <a:noFill/>
        </p:spPr>
        <p:txBody>
          <a:bodyPr wrap="square" rtlCol="0" anchor="ctr" anchorCtr="0">
            <a:noAutofit/>
          </a:bodyPr>
          <a:lstStyle/>
          <a:p>
            <a:pPr>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研究</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背景</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custDataLst>
              <p:tags r:id="rId3"/>
            </p:custDataLst>
          </p:nvPr>
        </p:nvSpPr>
        <p:spPr>
          <a:xfrm>
            <a:off x="4036060" y="2914650"/>
            <a:ext cx="776859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问题与</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挑战</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4"/>
            </p:custDataLst>
          </p:nvPr>
        </p:nvSpPr>
        <p:spPr>
          <a:xfrm>
            <a:off x="1079491" y="2095491"/>
            <a:ext cx="2286018" cy="2286018"/>
          </a:xfrm>
          <a:prstGeom prst="rect">
            <a:avLst/>
          </a:prstGeom>
          <a:noFill/>
          <a:ln w="1587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6" name="矩形 15"/>
          <p:cNvSpPr/>
          <p:nvPr>
            <p:custDataLst>
              <p:tags r:id="rId5"/>
            </p:custDataLst>
          </p:nvPr>
        </p:nvSpPr>
        <p:spPr>
          <a:xfrm>
            <a:off x="952491" y="1968491"/>
            <a:ext cx="2286018" cy="2286018"/>
          </a:xfrm>
          <a:prstGeom prst="rect">
            <a:avLst/>
          </a:prstGeom>
          <a:noFill/>
          <a:ln w="3492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8" name="文本框 17"/>
          <p:cNvSpPr txBox="1"/>
          <p:nvPr>
            <p:custDataLst>
              <p:tags r:id="rId6"/>
            </p:custDataLst>
          </p:nvPr>
        </p:nvSpPr>
        <p:spPr>
          <a:xfrm>
            <a:off x="1502370" y="2250733"/>
            <a:ext cx="1107996" cy="1753235"/>
          </a:xfrm>
          <a:prstGeom prst="rect">
            <a:avLst/>
          </a:prstGeom>
          <a:noFill/>
        </p:spPr>
        <p:txBody>
          <a:bodyPr vert="eaVert" wrap="square" rtlCol="0" anchor="ctr" anchorCtr="0">
            <a:normAutofit/>
          </a:bodyPr>
          <a:lstStyle/>
          <a:p>
            <a:pPr marL="0" indent="0" algn="dist">
              <a:lnSpc>
                <a:spcPct val="100000"/>
              </a:lnSpc>
              <a:spcBef>
                <a:spcPts val="0"/>
              </a:spcBef>
              <a:spcAft>
                <a:spcPts val="0"/>
              </a:spcAft>
              <a:buSzPct val="100000"/>
              <a:buNone/>
            </a:pPr>
            <a:r>
              <a:rPr lang="zh-CN" altLang="en-US" sz="6000" spc="200" dirty="0">
                <a:solidFill>
                  <a:srgbClr val="8F000B"/>
                </a:solidFill>
                <a:latin typeface="Arial" panose="020B0604020202020204" pitchFamily="34" charset="0"/>
                <a:ea typeface="汉仪旗黑-85S" panose="00020600040101010101" pitchFamily="18" charset="-122"/>
              </a:rPr>
              <a:t>目录</a:t>
            </a:r>
            <a:endParaRPr lang="zh-CN" altLang="en-US" sz="6000" spc="200" dirty="0">
              <a:solidFill>
                <a:srgbClr val="8F000B"/>
              </a:solidFill>
              <a:latin typeface="Arial" panose="020B0604020202020204" pitchFamily="34" charset="0"/>
              <a:ea typeface="汉仪旗黑-85S" panose="00020600040101010101" pitchFamily="18" charset="-122"/>
            </a:endParaRPr>
          </a:p>
        </p:txBody>
      </p:sp>
      <p:sp>
        <p:nvSpPr>
          <p:cNvPr id="2" name="文本框 1"/>
          <p:cNvSpPr txBox="1"/>
          <p:nvPr>
            <p:custDataLst>
              <p:tags r:id="rId7"/>
            </p:custDataLst>
          </p:nvPr>
        </p:nvSpPr>
        <p:spPr>
          <a:xfrm>
            <a:off x="4035937" y="375822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动机与</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创新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8"/>
            </p:custDataLst>
          </p:nvPr>
        </p:nvSpPr>
        <p:spPr>
          <a:xfrm>
            <a:off x="4035937" y="528603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实验</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评估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custDataLst>
              <p:tags r:id="rId9"/>
            </p:custDataLst>
          </p:nvPr>
        </p:nvSpPr>
        <p:spPr>
          <a:xfrm>
            <a:off x="4035937" y="4522128"/>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设计</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方案</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摘要</a:t>
            </a:r>
            <a:endParaRPr lang="zh-CN" altLang="en-US"/>
          </a:p>
        </p:txBody>
      </p:sp>
      <p:sp>
        <p:nvSpPr>
          <p:cNvPr id="7" name="文本框 6"/>
          <p:cNvSpPr txBox="1"/>
          <p:nvPr/>
        </p:nvSpPr>
        <p:spPr>
          <a:xfrm>
            <a:off x="528955" y="1399540"/>
            <a:ext cx="10915015" cy="1017270"/>
          </a:xfrm>
          <a:prstGeom prst="rect">
            <a:avLst/>
          </a:prstGeom>
          <a:noFill/>
        </p:spPr>
        <p:txBody>
          <a:bodyPr wrap="square" rtlCol="0" anchor="t">
            <a:noAutofit/>
          </a:bodyPr>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命名数据网络（</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）的优点可能有助于提高移动的自组织网络（</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）的数据采集效率，但</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的固有特性以及与</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的体系结构差异使得在</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中部署</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具有挑战性：</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lnSpc>
                <a:spcPct val="130000"/>
              </a:lnSpc>
              <a:buFont typeface="Arial" panose="020B0604020202020204" pitchFamily="34" charset="0"/>
              <a:buChar char="•"/>
            </a:pP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30000"/>
              </a:lnSpc>
              <a:buFont typeface="Arial" panose="020B0604020202020204" pitchFamily="34" charset="0"/>
              <a:buChar char="•"/>
            </a:pP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8955" y="1021715"/>
            <a:ext cx="4156710" cy="368300"/>
          </a:xfrm>
          <a:prstGeom prst="rect">
            <a:avLst/>
          </a:prstGeom>
          <a:noFill/>
        </p:spPr>
        <p:txBody>
          <a:bodyPr wrap="square" rtlCol="0">
            <a:spAutoFit/>
          </a:bodyPr>
          <a:p>
            <a:r>
              <a:rPr lang="zh-CN" altLang="en-US" sz="1800" b="1">
                <a:latin typeface="微软雅黑" panose="020B0503020204020204" pitchFamily="34" charset="-122"/>
                <a:ea typeface="微软雅黑" panose="020B0503020204020204" pitchFamily="34" charset="-122"/>
              </a:rPr>
              <a:t>背景与痛点</a:t>
            </a:r>
            <a:endParaRPr lang="zh-CN" altLang="en-US" sz="1800" b="1">
              <a:latin typeface="微软雅黑" panose="020B0503020204020204" pitchFamily="34" charset="-122"/>
              <a:ea typeface="微软雅黑" panose="020B0503020204020204" pitchFamily="34" charset="-122"/>
            </a:endParaRPr>
          </a:p>
        </p:txBody>
      </p:sp>
      <p:sp>
        <p:nvSpPr>
          <p:cNvPr id="9" name="文本框 8"/>
          <p:cNvSpPr txBox="1"/>
          <p:nvPr/>
        </p:nvSpPr>
        <p:spPr>
          <a:xfrm>
            <a:off x="579120" y="2356485"/>
            <a:ext cx="3349625" cy="1170305"/>
          </a:xfrm>
          <a:prstGeom prst="rect">
            <a:avLst/>
          </a:prstGeom>
          <a:noFill/>
        </p:spPr>
        <p:txBody>
          <a:bodyPr wrap="square" rtlCol="0" anchor="t">
            <a:spAutoFit/>
          </a:bodyPr>
          <a:p>
            <a:pPr marL="285750" lvl="0" indent="-285750" algn="l">
              <a:lnSpc>
                <a:spcPct val="130000"/>
              </a:lnSpc>
              <a:buFont typeface="Arial" panose="020B0604020202020204" pitchFamily="34" charset="0"/>
              <a:buChar cha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中路由器是静态的，服务器通常作为提供者，因此转发信息库（</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）相对稳定。</a:t>
            </a: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5530850" y="2351405"/>
            <a:ext cx="5913120" cy="1807210"/>
          </a:xfrm>
          <a:prstGeom prst="rect">
            <a:avLst/>
          </a:prstGeom>
          <a:noFill/>
        </p:spPr>
        <p:txBody>
          <a:bodyPr wrap="square" rtlCol="0" anchor="t">
            <a:spAutoFit/>
          </a:bodyPr>
          <a:p>
            <a:pPr marL="285750" lvl="0" indent="-285750" algn="l">
              <a:lnSpc>
                <a:spcPct val="130000"/>
              </a:lnSpc>
              <a:buFont typeface="Arial" panose="020B0604020202020204" pitchFamily="34" charset="0"/>
              <a:buChar char="•"/>
            </a:pPr>
            <a:r>
              <a:rPr lang="en-US" altLang="zh-CN"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中移动的节点承担数据路由器和提供者，</a:t>
            </a:r>
            <a:r>
              <a:rPr lang="en-US" altLang="zh-CN"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FIB </a:t>
            </a:r>
            <a:r>
              <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在移动自组网中极不稳定</a:t>
            </a:r>
            <a:r>
              <a:rPr lang="en-US" altLang="zh-CN"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lnSpc>
                <a:spcPct val="50000"/>
              </a:lnSpc>
              <a:buFont typeface="Arial" panose="020B0604020202020204" pitchFamily="34" charset="0"/>
              <a:buChar char="•"/>
            </a:pPr>
            <a:endParaRPr lang="en-US" altLang="zh-CN"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lnSpc>
                <a:spcPct val="130000"/>
              </a:lnSpc>
              <a:buFont typeface="Arial" panose="020B0604020202020204" pitchFamily="34" charset="0"/>
              <a:buChar char="•"/>
            </a:pPr>
            <a:r>
              <a:rPr lang="en-US" altLang="zh-CN"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频繁更新易引发广播风暴</a:t>
            </a:r>
            <a:r>
              <a:rPr lang="en-US" altLang="zh-CN"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表项陈旧，导致取数失败。</a:t>
            </a: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lnSpc>
                <a:spcPct val="50000"/>
              </a:lnSpc>
              <a:buFont typeface="Arial" panose="020B0604020202020204" pitchFamily="34" charset="0"/>
              <a:buChar char="•"/>
            </a:pP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lnSpc>
                <a:spcPct val="130000"/>
              </a:lnSpc>
              <a:buFont typeface="Arial" panose="020B0604020202020204" pitchFamily="34" charset="0"/>
              <a:buChar char="•"/>
            </a:pP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7" name="组合 16"/>
          <p:cNvGrpSpPr/>
          <p:nvPr/>
        </p:nvGrpSpPr>
        <p:grpSpPr>
          <a:xfrm>
            <a:off x="4269105" y="2505075"/>
            <a:ext cx="1087120" cy="1036320"/>
            <a:chOff x="5259" y="4912"/>
            <a:chExt cx="1712" cy="1632"/>
          </a:xfrm>
        </p:grpSpPr>
        <p:sp>
          <p:nvSpPr>
            <p:cNvPr id="13" name="右箭头 12"/>
            <p:cNvSpPr/>
            <p:nvPr/>
          </p:nvSpPr>
          <p:spPr>
            <a:xfrm>
              <a:off x="5259" y="5258"/>
              <a:ext cx="1713" cy="941"/>
            </a:xfrm>
            <a:prstGeom prst="rightArrow">
              <a:avLst>
                <a:gd name="adj1" fmla="val 36025"/>
                <a:gd name="adj2"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乘号 13"/>
            <p:cNvSpPr/>
            <p:nvPr/>
          </p:nvSpPr>
          <p:spPr>
            <a:xfrm>
              <a:off x="5259" y="4912"/>
              <a:ext cx="1346" cy="1633"/>
            </a:xfrm>
            <a:prstGeom prst="mathMultiply">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9" name="文本框 18"/>
          <p:cNvSpPr txBox="1"/>
          <p:nvPr/>
        </p:nvSpPr>
        <p:spPr>
          <a:xfrm>
            <a:off x="5530850" y="3934460"/>
            <a:ext cx="5913755" cy="810260"/>
          </a:xfrm>
          <a:prstGeom prst="rect">
            <a:avLst/>
          </a:prstGeom>
          <a:noFill/>
        </p:spPr>
        <p:txBody>
          <a:bodyPr wrap="square" rtlCol="0" anchor="t">
            <a:spAutoFit/>
          </a:bodyPr>
          <a:p>
            <a:pPr marL="285750" lvl="0" indent="-285750" algn="l">
              <a:lnSpc>
                <a:spcPct val="130000"/>
              </a:lnSpc>
              <a:buFont typeface="Arial" panose="020B0604020202020204" pitchFamily="34" charset="0"/>
              <a:buChar char="•"/>
            </a:pPr>
            <a:r>
              <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反向路径由大量移动节点组成，极易断裂；消费者移动也会打断返回路径。</a:t>
            </a: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文本框 19"/>
          <p:cNvSpPr txBox="1"/>
          <p:nvPr/>
        </p:nvSpPr>
        <p:spPr>
          <a:xfrm>
            <a:off x="579120" y="3927475"/>
            <a:ext cx="3349625" cy="810260"/>
          </a:xfrm>
          <a:prstGeom prst="rect">
            <a:avLst/>
          </a:prstGeom>
          <a:noFill/>
        </p:spPr>
        <p:txBody>
          <a:bodyPr wrap="square" rtlCol="0" anchor="t">
            <a:spAutoFit/>
          </a:bodyPr>
          <a:p>
            <a:pPr marL="285750" lvl="0" indent="-285750" algn="l">
              <a:lnSpc>
                <a:spcPct val="130000"/>
              </a:lnSpc>
              <a:buFont typeface="Arial" panose="020B0604020202020204" pitchFamily="34" charset="0"/>
              <a:buChar cha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中的反向路径由静态数据路由器组成，相对稳定</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1" name="组合 20"/>
          <p:cNvGrpSpPr/>
          <p:nvPr/>
        </p:nvGrpSpPr>
        <p:grpSpPr>
          <a:xfrm>
            <a:off x="4269105" y="3821430"/>
            <a:ext cx="1087120" cy="1036320"/>
            <a:chOff x="5259" y="4912"/>
            <a:chExt cx="1712" cy="1632"/>
          </a:xfrm>
        </p:grpSpPr>
        <p:sp>
          <p:nvSpPr>
            <p:cNvPr id="22" name="右箭头 21"/>
            <p:cNvSpPr/>
            <p:nvPr/>
          </p:nvSpPr>
          <p:spPr>
            <a:xfrm>
              <a:off x="5259" y="5258"/>
              <a:ext cx="1713" cy="941"/>
            </a:xfrm>
            <a:prstGeom prst="rightArrow">
              <a:avLst>
                <a:gd name="adj1" fmla="val 36025"/>
                <a:gd name="adj2"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乘号 22"/>
            <p:cNvSpPr/>
            <p:nvPr/>
          </p:nvSpPr>
          <p:spPr>
            <a:xfrm>
              <a:off x="5259" y="4912"/>
              <a:ext cx="1346" cy="1633"/>
            </a:xfrm>
            <a:prstGeom prst="mathMultiply">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7" name="文本框 26"/>
          <p:cNvSpPr txBox="1"/>
          <p:nvPr/>
        </p:nvSpPr>
        <p:spPr>
          <a:xfrm>
            <a:off x="902970" y="4949190"/>
            <a:ext cx="10599420" cy="450850"/>
          </a:xfrm>
          <a:prstGeom prst="rect">
            <a:avLst/>
          </a:prstGeom>
          <a:noFill/>
        </p:spPr>
        <p:txBody>
          <a:bodyPr wrap="square" rtlCol="0" anchor="t">
            <a:spAutoFit/>
          </a:bodyPr>
          <a:p>
            <a:pPr marL="0" lvl="0" indent="0" algn="l">
              <a:lnSpc>
                <a:spcPct val="130000"/>
              </a:lnSpc>
              <a:buNone/>
            </a:pP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EFDA</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的移动自组网数据采集方案，提高数据采集成功率和降低数据采集成本。</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1" name="文本框 30"/>
          <p:cNvSpPr txBox="1"/>
          <p:nvPr/>
        </p:nvSpPr>
        <p:spPr>
          <a:xfrm>
            <a:off x="645160" y="5523865"/>
            <a:ext cx="2545080" cy="810260"/>
          </a:xfrm>
          <a:prstGeom prst="rect">
            <a:avLst/>
          </a:prstGeom>
          <a:noFill/>
        </p:spPr>
        <p:txBody>
          <a:bodyPr wrap="square" rtlCol="0" anchor="t">
            <a:spAutoFit/>
          </a:bodyPr>
          <a:p>
            <a:pPr marL="285750" lvl="0" indent="-285750" algn="l">
              <a:lnSpc>
                <a:spcPct val="130000"/>
              </a:lnSpc>
              <a:buFont typeface="Arial" panose="020B0604020202020204" pitchFamily="34" charset="0"/>
              <a:buChar char="•"/>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移动的节点无需</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就能完成数据的获取</a:t>
            </a:r>
            <a:endParaRPr lang="zh-CN" altLang="en-US" sz="1800" b="1">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文本框 31"/>
          <p:cNvSpPr txBox="1"/>
          <p:nvPr/>
        </p:nvSpPr>
        <p:spPr>
          <a:xfrm>
            <a:off x="3423920" y="5523865"/>
            <a:ext cx="2985770" cy="810260"/>
          </a:xfrm>
          <a:prstGeom prst="rect">
            <a:avLst/>
          </a:prstGeom>
          <a:noFill/>
        </p:spPr>
        <p:txBody>
          <a:bodyPr wrap="square" rtlCol="0" anchor="t">
            <a:spAutoFit/>
          </a:bodyPr>
          <a:p>
            <a:pPr marL="285750" lvl="0" indent="-285750" algn="l">
              <a:lnSpc>
                <a:spcPct val="130000"/>
              </a:lnSpc>
              <a:buFont typeface="Arial" panose="020B0604020202020204" pitchFamily="34" charset="0"/>
              <a:buChar char="•"/>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多个消费者通过一个数据采集过程获取数据</a:t>
            </a:r>
            <a:endParaRPr lang="zh-CN" altLang="en-US" sz="1800" b="1">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文本框 33"/>
          <p:cNvSpPr txBox="1"/>
          <p:nvPr/>
        </p:nvSpPr>
        <p:spPr>
          <a:xfrm>
            <a:off x="6643370" y="5523865"/>
            <a:ext cx="3491865" cy="810260"/>
          </a:xfrm>
          <a:prstGeom prst="rect">
            <a:avLst/>
          </a:prstGeom>
          <a:noFill/>
        </p:spPr>
        <p:txBody>
          <a:bodyPr wrap="square" rtlCol="0" anchor="t">
            <a:spAutoFit/>
          </a:bodyPr>
          <a:p>
            <a:pPr marL="285750" lvl="0" indent="-285750" algn="l">
              <a:lnSpc>
                <a:spcPct val="130000"/>
              </a:lnSpc>
              <a:buFont typeface="Arial" panose="020B0604020202020204" pitchFamily="34" charset="0"/>
              <a:buChar char="•"/>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支持移动性，保证反向路径的连续性和数据的成功接收</a:t>
            </a:r>
            <a:endParaRPr lang="zh-CN" altLang="en-US" sz="1800" b="1">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摘要</a:t>
            </a:r>
            <a:endParaRPr lang="zh-CN" altLang="en-US"/>
          </a:p>
        </p:txBody>
      </p:sp>
      <p:sp>
        <p:nvSpPr>
          <p:cNvPr id="8" name="文本框 7"/>
          <p:cNvSpPr txBox="1"/>
          <p:nvPr/>
        </p:nvSpPr>
        <p:spPr>
          <a:xfrm>
            <a:off x="528955" y="1021715"/>
            <a:ext cx="4156710" cy="368300"/>
          </a:xfrm>
          <a:prstGeom prst="rect">
            <a:avLst/>
          </a:prstGeom>
          <a:noFill/>
        </p:spPr>
        <p:txBody>
          <a:bodyPr wrap="square" rtlCol="0">
            <a:spAutoFit/>
          </a:bodyPr>
          <a:p>
            <a:r>
              <a:rPr lang="zh-CN" altLang="en-US" sz="1800" b="1">
                <a:latin typeface="微软雅黑" panose="020B0503020204020204" pitchFamily="34" charset="-122"/>
                <a:ea typeface="微软雅黑" panose="020B0503020204020204" pitchFamily="34" charset="-122"/>
              </a:rPr>
              <a:t>核心</a:t>
            </a:r>
            <a:r>
              <a:rPr lang="zh-CN" altLang="en-US" sz="1800" b="1">
                <a:latin typeface="微软雅黑" panose="020B0503020204020204" pitchFamily="34" charset="-122"/>
                <a:ea typeface="微软雅黑" panose="020B0503020204020204" pitchFamily="34" charset="-122"/>
              </a:rPr>
              <a:t>思想</a:t>
            </a:r>
            <a:endParaRPr lang="zh-CN" altLang="en-US" sz="1800" b="1">
              <a:latin typeface="微软雅黑" panose="020B0503020204020204" pitchFamily="34" charset="-122"/>
              <a:ea typeface="微软雅黑" panose="020B0503020204020204" pitchFamily="34" charset="-122"/>
            </a:endParaRPr>
          </a:p>
        </p:txBody>
      </p:sp>
      <p:sp>
        <p:nvSpPr>
          <p:cNvPr id="7" name="文本框 6"/>
          <p:cNvSpPr txBox="1"/>
          <p:nvPr/>
        </p:nvSpPr>
        <p:spPr>
          <a:xfrm>
            <a:off x="528955" y="1390015"/>
            <a:ext cx="10703560" cy="1017270"/>
          </a:xfrm>
          <a:prstGeom prst="rect">
            <a:avLst/>
          </a:prstGeom>
          <a:noFill/>
        </p:spPr>
        <p:txBody>
          <a:bodyPr wrap="square" rtlCol="0" anchor="t">
            <a:noAutofit/>
          </a:bodyPr>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不需要让每一个混乱的移动节点都成为一个</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路由器，而是在混乱、不稳定的物理网络之上，构建一个动态、轻量级且相对稳定的</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骨干覆盖网络（</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Backbone Overlay Network</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该研究的核心洞察在于实现了两大范式转换：</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在网络架构上，从扁平化的</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全员参与</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模式演进为分层化的</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精英治理</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模型。</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在此模型中，网络节点的角色被异构化。网络中仅由少数选举出的骨干节点负责核心转发，此举极大降低了全网的状态维护开销并从根本上抑制了广播风暴。</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在转发机制上，从</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强依赖</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的传统范式转变为</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无</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的轻量级策略。</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骨干节点之间的数据请求转发，摒弃了依赖预存</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条目进行查找的传统模式。。骨干节点基于数据名称的地理位置与链路稳定性等实时信息动态选择最优下一跳，从而在高度不确定的移动环境中实现了鲁棒的定向投递。</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lnSpc>
                <a:spcPct val="130000"/>
              </a:lnSpc>
              <a:buFont typeface="Arial" panose="020B0604020202020204" pitchFamily="34" charset="0"/>
              <a:buChar char="•"/>
            </a:pP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30000"/>
              </a:lnSpc>
              <a:buFont typeface="Arial" panose="020B0604020202020204" pitchFamily="34" charset="0"/>
              <a:buChar char="•"/>
            </a:pP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035937" y="1228383"/>
            <a:ext cx="482600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摘要</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2"/>
            </p:custDataLst>
          </p:nvPr>
        </p:nvSpPr>
        <p:spPr>
          <a:xfrm>
            <a:off x="4035937" y="2071663"/>
            <a:ext cx="4826000" cy="529590"/>
          </a:xfrm>
          <a:prstGeom prst="rect">
            <a:avLst/>
          </a:prstGeom>
          <a:noFill/>
        </p:spPr>
        <p:txBody>
          <a:bodyPr wrap="square" rtlCol="0" anchor="ctr" anchorCtr="0">
            <a:noAutofit/>
          </a:bodyPr>
          <a:lstStyle/>
          <a:p>
            <a:pPr>
              <a:lnSpc>
                <a:spcPct val="120000"/>
              </a:lnSpc>
              <a:spcBef>
                <a:spcPts val="0"/>
              </a:spcBef>
              <a:spcAft>
                <a:spcPts val="0"/>
              </a:spcAft>
              <a:buSzPct val="100000"/>
            </a:pPr>
            <a:r>
              <a:rPr lang="zh-CN" altLang="en-US" sz="2800" b="1" spc="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rPr>
              <a:t>2. 研究背景</a:t>
            </a:r>
            <a:endParaRPr lang="zh-CN" altLang="en-US" sz="2800" b="1" spc="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custDataLst>
              <p:tags r:id="rId3"/>
            </p:custDataLst>
          </p:nvPr>
        </p:nvSpPr>
        <p:spPr>
          <a:xfrm>
            <a:off x="4036060" y="2914650"/>
            <a:ext cx="776859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问题与</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挑战</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4"/>
            </p:custDataLst>
          </p:nvPr>
        </p:nvSpPr>
        <p:spPr>
          <a:xfrm>
            <a:off x="1079491" y="2095491"/>
            <a:ext cx="2286018" cy="2286018"/>
          </a:xfrm>
          <a:prstGeom prst="rect">
            <a:avLst/>
          </a:prstGeom>
          <a:noFill/>
          <a:ln w="1587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6" name="矩形 15"/>
          <p:cNvSpPr/>
          <p:nvPr>
            <p:custDataLst>
              <p:tags r:id="rId5"/>
            </p:custDataLst>
          </p:nvPr>
        </p:nvSpPr>
        <p:spPr>
          <a:xfrm>
            <a:off x="952491" y="1968491"/>
            <a:ext cx="2286018" cy="2286018"/>
          </a:xfrm>
          <a:prstGeom prst="rect">
            <a:avLst/>
          </a:prstGeom>
          <a:noFill/>
          <a:ln w="3492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8" name="文本框 17"/>
          <p:cNvSpPr txBox="1"/>
          <p:nvPr>
            <p:custDataLst>
              <p:tags r:id="rId6"/>
            </p:custDataLst>
          </p:nvPr>
        </p:nvSpPr>
        <p:spPr>
          <a:xfrm>
            <a:off x="1502370" y="2250733"/>
            <a:ext cx="1107996" cy="1753235"/>
          </a:xfrm>
          <a:prstGeom prst="rect">
            <a:avLst/>
          </a:prstGeom>
          <a:noFill/>
        </p:spPr>
        <p:txBody>
          <a:bodyPr vert="eaVert" wrap="square" rtlCol="0" anchor="ctr" anchorCtr="0">
            <a:normAutofit/>
          </a:bodyPr>
          <a:lstStyle/>
          <a:p>
            <a:pPr marL="0" indent="0" algn="dist">
              <a:lnSpc>
                <a:spcPct val="100000"/>
              </a:lnSpc>
              <a:spcBef>
                <a:spcPts val="0"/>
              </a:spcBef>
              <a:spcAft>
                <a:spcPts val="0"/>
              </a:spcAft>
              <a:buSzPct val="100000"/>
              <a:buNone/>
            </a:pPr>
            <a:r>
              <a:rPr lang="zh-CN" altLang="en-US" sz="6000" spc="200" dirty="0">
                <a:solidFill>
                  <a:srgbClr val="8F000B"/>
                </a:solidFill>
                <a:latin typeface="Arial" panose="020B0604020202020204" pitchFamily="34" charset="0"/>
                <a:ea typeface="汉仪旗黑-85S" panose="00020600040101010101" pitchFamily="18" charset="-122"/>
              </a:rPr>
              <a:t>目录</a:t>
            </a:r>
            <a:endParaRPr lang="zh-CN" altLang="en-US" sz="6000" spc="200" dirty="0">
              <a:solidFill>
                <a:srgbClr val="8F000B"/>
              </a:solidFill>
              <a:latin typeface="Arial" panose="020B0604020202020204" pitchFamily="34" charset="0"/>
              <a:ea typeface="汉仪旗黑-85S" panose="00020600040101010101" pitchFamily="18" charset="-122"/>
            </a:endParaRPr>
          </a:p>
        </p:txBody>
      </p:sp>
      <p:sp>
        <p:nvSpPr>
          <p:cNvPr id="2" name="文本框 1"/>
          <p:cNvSpPr txBox="1"/>
          <p:nvPr>
            <p:custDataLst>
              <p:tags r:id="rId7"/>
            </p:custDataLst>
          </p:nvPr>
        </p:nvSpPr>
        <p:spPr>
          <a:xfrm>
            <a:off x="4035937" y="375822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动机与</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创新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8"/>
            </p:custDataLst>
          </p:nvPr>
        </p:nvSpPr>
        <p:spPr>
          <a:xfrm>
            <a:off x="4035937" y="528603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实验</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评估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custDataLst>
              <p:tags r:id="rId9"/>
            </p:custDataLst>
          </p:nvPr>
        </p:nvSpPr>
        <p:spPr>
          <a:xfrm>
            <a:off x="4035937" y="4522128"/>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设计</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方案</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研究</a:t>
            </a:r>
            <a:r>
              <a:rPr lang="zh-CN" altLang="en-US"/>
              <a:t>背景</a:t>
            </a:r>
            <a:endParaRPr lang="zh-CN" altLang="en-US"/>
          </a:p>
        </p:txBody>
      </p:sp>
      <p:sp>
        <p:nvSpPr>
          <p:cNvPr id="8" name="文本框 7"/>
          <p:cNvSpPr txBox="1"/>
          <p:nvPr/>
        </p:nvSpPr>
        <p:spPr>
          <a:xfrm>
            <a:off x="528955" y="1097915"/>
            <a:ext cx="4156710" cy="368300"/>
          </a:xfrm>
          <a:prstGeom prst="rect">
            <a:avLst/>
          </a:prstGeom>
          <a:noFill/>
        </p:spPr>
        <p:txBody>
          <a:bodyPr wrap="square" rtlCol="0">
            <a:spAutoFit/>
          </a:bodyPr>
          <a:p>
            <a:r>
              <a:rPr lang="zh-CN" altLang="en-US" sz="1800" b="1">
                <a:latin typeface="微软雅黑" panose="020B0503020204020204" pitchFamily="34" charset="-122"/>
                <a:ea typeface="微软雅黑" panose="020B0503020204020204" pitchFamily="34" charset="-122"/>
              </a:rPr>
              <a:t>关键术语</a:t>
            </a:r>
            <a:endParaRPr lang="zh-CN" altLang="en-US" sz="1800" b="1">
              <a:latin typeface="微软雅黑" panose="020B0503020204020204" pitchFamily="34" charset="-122"/>
              <a:ea typeface="微软雅黑" panose="020B0503020204020204" pitchFamily="34" charset="-122"/>
            </a:endParaRPr>
          </a:p>
        </p:txBody>
      </p:sp>
      <p:sp>
        <p:nvSpPr>
          <p:cNvPr id="7" name="文本框 6"/>
          <p:cNvSpPr txBox="1"/>
          <p:nvPr/>
        </p:nvSpPr>
        <p:spPr>
          <a:xfrm>
            <a:off x="617855" y="1466215"/>
            <a:ext cx="10703560" cy="1017270"/>
          </a:xfrm>
          <a:prstGeom prst="rect">
            <a:avLst/>
          </a:prstGeom>
          <a:noFill/>
        </p:spPr>
        <p:txBody>
          <a:bodyPr wrap="square" rtlCol="0" anchor="t">
            <a:noAutofit/>
          </a:bodyPr>
          <a:p>
            <a:pPr algn="l">
              <a:lnSpc>
                <a:spcPct val="15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一、 移动自组织网络 (MANET - Mobile Ad hoc Network)</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MANET是一种无需依赖任何预设的固定基础设施（如基站或路由器）的无线网络范式。</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核心定义：</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 由一组具备无线通信能力的移动节点构成，节点间通过自组织、自配置的方式建立网络连接。</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节点角色：</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 网络中的每个节点均扮演双重角色——既是数据请求与接收的终端，又是为其他节点转发数据的路由器。</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关键特性</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高度动态性： 节点可任意移动，导致网络拓扑结构快速且不可预测地变化。</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去中心化： 无中心控制节点，网络的构建、维护和管理由所有节点分布式地协同完成。</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多跳通信： 通信范围受限的节点需依赖中间节点进行多跳中继，以完成端到端的数据传输。</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典型应用： 应急救援、车载通信、战场环境、物联网（IoT）等基础设施缺失或不可靠的场景</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endParaRPr lang="zh-CN" altLang="en-US" sz="180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研究</a:t>
            </a:r>
            <a:r>
              <a:rPr lang="zh-CN" altLang="en-US"/>
              <a:t>背景</a:t>
            </a:r>
            <a:endParaRPr lang="zh-CN" altLang="en-US"/>
          </a:p>
        </p:txBody>
      </p:sp>
      <p:sp>
        <p:nvSpPr>
          <p:cNvPr id="8" name="文本框 7"/>
          <p:cNvSpPr txBox="1"/>
          <p:nvPr/>
        </p:nvSpPr>
        <p:spPr>
          <a:xfrm>
            <a:off x="528955" y="1033145"/>
            <a:ext cx="4156710" cy="368300"/>
          </a:xfrm>
          <a:prstGeom prst="rect">
            <a:avLst/>
          </a:prstGeom>
          <a:noFill/>
        </p:spPr>
        <p:txBody>
          <a:bodyPr wrap="square" rtlCol="0">
            <a:spAutoFit/>
          </a:bodyPr>
          <a:p>
            <a:r>
              <a:rPr lang="zh-CN" altLang="en-US" sz="1800" b="1">
                <a:latin typeface="微软雅黑" panose="020B0503020204020204" pitchFamily="34" charset="-122"/>
                <a:ea typeface="微软雅黑" panose="020B0503020204020204" pitchFamily="34" charset="-122"/>
              </a:rPr>
              <a:t>关键术语</a:t>
            </a:r>
            <a:endParaRPr lang="zh-CN" altLang="en-US" sz="1800" b="1">
              <a:latin typeface="微软雅黑" panose="020B0503020204020204" pitchFamily="34" charset="-122"/>
              <a:ea typeface="微软雅黑" panose="020B0503020204020204" pitchFamily="34" charset="-122"/>
            </a:endParaRPr>
          </a:p>
        </p:txBody>
      </p:sp>
      <p:sp>
        <p:nvSpPr>
          <p:cNvPr id="7" name="文本框 6"/>
          <p:cNvSpPr txBox="1"/>
          <p:nvPr/>
        </p:nvSpPr>
        <p:spPr>
          <a:xfrm>
            <a:off x="617855" y="1344295"/>
            <a:ext cx="10703560" cy="1017270"/>
          </a:xfrm>
          <a:prstGeom prst="rect">
            <a:avLst/>
          </a:prstGeom>
          <a:noFill/>
        </p:spPr>
        <p:txBody>
          <a:bodyPr wrap="square" rtlCol="0" anchor="t">
            <a:noAutofit/>
          </a:bodyPr>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命名数据网络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(NDN - Named Data Networking)</a:t>
            </a:r>
            <a:endPar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是一种以内容为中心的未来互联网体系结构，旨在从根本上改变通信模式，从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获取地址</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转向</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获取数据</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核心定义：</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通信由消费者驱动，通过对具名内容（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Named Data</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）发出请求来获取信息，而非向特定</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IP</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地址的主机请求。</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通信模型：</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拉取</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模型（</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Pull-based</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），由两种核心报文构成：</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兴趣包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(Interest Packet)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消费者广播对特定命名数据（如</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/news/sports.avi</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）的请求。</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Packet)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任何持有该数据的节点（源服务器或中间缓存节点）均可应答，数据包沿兴趣包来向路径的反向路径返回。</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关键特性：</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网络内缓存：</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路由器可对流经的数据包进行缓存，以快速响应后续的相同请求。</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请求聚合：</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对同一数据的多个兴趣包可在路由器处合并，避免冗余请求，实现高效多播。</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原生安全性：</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数据包自带签名，实现了数据与来源的分离，保证了数据自身的真实性和完整性。</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研究</a:t>
            </a:r>
            <a:r>
              <a:rPr lang="zh-CN" altLang="en-US"/>
              <a:t>背景</a:t>
            </a:r>
            <a:endParaRPr lang="zh-CN" altLang="en-US"/>
          </a:p>
        </p:txBody>
      </p:sp>
      <p:sp>
        <p:nvSpPr>
          <p:cNvPr id="8" name="文本框 7"/>
          <p:cNvSpPr txBox="1"/>
          <p:nvPr/>
        </p:nvSpPr>
        <p:spPr>
          <a:xfrm>
            <a:off x="528955" y="1033145"/>
            <a:ext cx="4156710"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NDN</a:t>
            </a:r>
            <a:r>
              <a:rPr lang="zh-CN" altLang="en-US" sz="1800" b="1">
                <a:latin typeface="微软雅黑" panose="020B0503020204020204" pitchFamily="34" charset="-122"/>
                <a:ea typeface="微软雅黑" panose="020B0503020204020204" pitchFamily="34" charset="-122"/>
              </a:rPr>
              <a:t>组件</a:t>
            </a:r>
            <a:endParaRPr lang="zh-CN" altLang="en-US" sz="1800" b="1">
              <a:latin typeface="微软雅黑" panose="020B0503020204020204" pitchFamily="34" charset="-122"/>
              <a:ea typeface="微软雅黑" panose="020B0503020204020204" pitchFamily="34" charset="-122"/>
            </a:endParaRPr>
          </a:p>
        </p:txBody>
      </p:sp>
      <p:sp>
        <p:nvSpPr>
          <p:cNvPr id="7" name="文本框 6"/>
          <p:cNvSpPr txBox="1"/>
          <p:nvPr/>
        </p:nvSpPr>
        <p:spPr>
          <a:xfrm>
            <a:off x="617855" y="1344295"/>
            <a:ext cx="10703560" cy="1017270"/>
          </a:xfrm>
          <a:prstGeom prst="rect">
            <a:avLst/>
          </a:prstGeom>
          <a:noFill/>
        </p:spPr>
        <p:txBody>
          <a:bodyPr wrap="square" rtlCol="0" anchor="t">
            <a:noAutofit/>
          </a:bodyPr>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参与方：</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(Consumer):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数据的请求方。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生产者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(Producer):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数据的原始提供方。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路由器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(Router):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负责转发报文、缓存数据并维护网络状态。</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核心报文：</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兴趣包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(Interest):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携带消费者想要的数据的名字。</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携带</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数据名称</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内容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签名</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路由器内部件：</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内容存储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(CS - Content Store): </a:t>
            </a:r>
            <a:r>
              <a:rPr lang=""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一个本地临时缓存，存储了最近经过路由器的数据包。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待定兴趣表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(PIT - Pending Interest Table):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记录了哪些兴趣包正在等待数据响应，以及它们是从哪个接口进来的。</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转发信息表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(FIB - Forwarding Information Base): </a:t>
            </a:r>
            <a:r>
              <a:rPr lang=""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类似于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IP</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路由表，但它存储的是名字前缀到接口的映射，告诉路由器如何转发兴趣包。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研究</a:t>
            </a:r>
            <a:r>
              <a:rPr lang="zh-CN" altLang="en-US"/>
              <a:t>背景</a:t>
            </a:r>
            <a:endParaRPr lang="zh-CN" altLang="en-US"/>
          </a:p>
        </p:txBody>
      </p:sp>
      <p:sp>
        <p:nvSpPr>
          <p:cNvPr id="8" name="文本框 7"/>
          <p:cNvSpPr txBox="1"/>
          <p:nvPr/>
        </p:nvSpPr>
        <p:spPr>
          <a:xfrm>
            <a:off x="528955" y="1101725"/>
            <a:ext cx="4156710"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NDN</a:t>
            </a:r>
            <a:r>
              <a:rPr lang="zh-CN" altLang="en-US" sz="1800" b="1">
                <a:latin typeface="微软雅黑" panose="020B0503020204020204" pitchFamily="34" charset="-122"/>
                <a:ea typeface="微软雅黑" panose="020B0503020204020204" pitchFamily="34" charset="-122"/>
              </a:rPr>
              <a:t>工作</a:t>
            </a:r>
            <a:r>
              <a:rPr lang="zh-CN" altLang="en-US" sz="1800" b="1">
                <a:latin typeface="微软雅黑" panose="020B0503020204020204" pitchFamily="34" charset="-122"/>
                <a:ea typeface="微软雅黑" panose="020B0503020204020204" pitchFamily="34" charset="-122"/>
              </a:rPr>
              <a:t>原理</a:t>
            </a:r>
            <a:endParaRPr lang="zh-CN" altLang="en-US" sz="1800" b="1">
              <a:latin typeface="微软雅黑" panose="020B0503020204020204" pitchFamily="34" charset="-122"/>
              <a:ea typeface="微软雅黑" panose="020B0503020204020204" pitchFamily="34" charset="-122"/>
            </a:endParaRPr>
          </a:p>
        </p:txBody>
      </p:sp>
      <p:sp>
        <p:nvSpPr>
          <p:cNvPr id="7" name="文本框 6"/>
          <p:cNvSpPr txBox="1"/>
          <p:nvPr/>
        </p:nvSpPr>
        <p:spPr>
          <a:xfrm>
            <a:off x="617855" y="1339850"/>
            <a:ext cx="10608945" cy="1017270"/>
          </a:xfrm>
          <a:prstGeom prst="rect">
            <a:avLst/>
          </a:prstGeom>
          <a:noFill/>
        </p:spPr>
        <p:txBody>
          <a:bodyPr wrap="square" rtlCol="0" anchor="t">
            <a:noAutofit/>
          </a:bodyPr>
          <a:p>
            <a:pPr algn="l">
              <a:lnSpc>
                <a:spcPct val="170000"/>
              </a:lnSpc>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阶段一：</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兴趣包的转发</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发起请求：</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消费者构建并发送一个包含唯一数据名称的兴趣包（例如</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/com/google/logo.png</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路由器转发逻辑：</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每个收到兴趣包的路由器，会采用一种状态化转发策略，依次检查：</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缓存命中</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(CS):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若内容存储中已有匹配数据，则直接返回数据包，请求完成。</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请求聚合</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(PIT):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若待定兴趣表中已有相同请求</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名称，则仅记录新来源</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接口并丢弃此兴趣包，避免网络冗余。</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按需转发</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(FIB):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若为全新请求</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名称，则创建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条目（为返回路径留下</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路标</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），并查询转发信息表将兴趣包发往下一跳。</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抵达源头：</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兴趣包通过上述机制被逐跳转发，最终抵达生产者或存有数据的缓存节点。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研究</a:t>
            </a:r>
            <a:r>
              <a:rPr lang="zh-CN" altLang="en-US"/>
              <a:t>背景</a:t>
            </a:r>
            <a:endParaRPr lang="zh-CN" altLang="en-US"/>
          </a:p>
        </p:txBody>
      </p:sp>
      <p:sp>
        <p:nvSpPr>
          <p:cNvPr id="8" name="文本框 7"/>
          <p:cNvSpPr txBox="1"/>
          <p:nvPr/>
        </p:nvSpPr>
        <p:spPr>
          <a:xfrm>
            <a:off x="528955" y="1101725"/>
            <a:ext cx="4156710"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NDN</a:t>
            </a:r>
            <a:r>
              <a:rPr lang="zh-CN" altLang="en-US" sz="1800" b="1">
                <a:latin typeface="微软雅黑" panose="020B0503020204020204" pitchFamily="34" charset="-122"/>
                <a:ea typeface="微软雅黑" panose="020B0503020204020204" pitchFamily="34" charset="-122"/>
              </a:rPr>
              <a:t>工作</a:t>
            </a:r>
            <a:r>
              <a:rPr lang="zh-CN" altLang="en-US" sz="1800" b="1">
                <a:latin typeface="微软雅黑" panose="020B0503020204020204" pitchFamily="34" charset="-122"/>
                <a:ea typeface="微软雅黑" panose="020B0503020204020204" pitchFamily="34" charset="-122"/>
              </a:rPr>
              <a:t>原理</a:t>
            </a:r>
            <a:endParaRPr lang="zh-CN" altLang="en-US" sz="1800" b="1">
              <a:latin typeface="微软雅黑" panose="020B0503020204020204" pitchFamily="34" charset="-122"/>
              <a:ea typeface="微软雅黑" panose="020B0503020204020204" pitchFamily="34" charset="-122"/>
            </a:endParaRPr>
          </a:p>
        </p:txBody>
      </p:sp>
      <p:sp>
        <p:nvSpPr>
          <p:cNvPr id="7" name="文本框 6"/>
          <p:cNvSpPr txBox="1"/>
          <p:nvPr/>
        </p:nvSpPr>
        <p:spPr>
          <a:xfrm>
            <a:off x="617855" y="1279525"/>
            <a:ext cx="10608945" cy="1017270"/>
          </a:xfrm>
          <a:prstGeom prst="rect">
            <a:avLst/>
          </a:prstGeom>
          <a:noFill/>
        </p:spPr>
        <p:txBody>
          <a:bodyPr wrap="square" rtlCol="0" anchor="t">
            <a:noAutofit/>
          </a:bodyPr>
          <a:p>
            <a:pPr algn="l">
              <a:lnSpc>
                <a:spcPct val="180000"/>
              </a:lnSpc>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阶段二：</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数据包的返回</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生成数据</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生产者（或缓存节点）用请求的数据内容、名称和自身的签名封装成一个数据包。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沿原路返回</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数据包无需路由，它严格沿着兴趣包在沿途路由器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中建立的反向路径返回。</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逐级缓存与分发</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返回路径上的每个路由器收到数据包后，会：</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根据</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条目，将数据包转发给所有请求过该数据的下游节点。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缓存：</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CS</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中缓存该数据包</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副本，以备后续请求。</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清理：</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删除已满足的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完成交付</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数据包最终抵达一个或多个最初的消费者，完成一次完整的数据获取流程。</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研究</a:t>
            </a:r>
            <a:r>
              <a:rPr lang="zh-CN" altLang="en-US"/>
              <a:t>背景</a:t>
            </a:r>
            <a:endParaRPr lang="zh-CN" altLang="en-US"/>
          </a:p>
        </p:txBody>
      </p:sp>
      <p:sp>
        <p:nvSpPr>
          <p:cNvPr id="8" name="文本框 7"/>
          <p:cNvSpPr txBox="1"/>
          <p:nvPr/>
        </p:nvSpPr>
        <p:spPr>
          <a:xfrm>
            <a:off x="528955" y="1101725"/>
            <a:ext cx="4156710"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NDN</a:t>
            </a:r>
            <a:r>
              <a:rPr lang="zh-CN" altLang="en-US" sz="1800" b="1">
                <a:latin typeface="微软雅黑" panose="020B0503020204020204" pitchFamily="34" charset="-122"/>
                <a:ea typeface="微软雅黑" panose="020B0503020204020204" pitchFamily="34" charset="-122"/>
              </a:rPr>
              <a:t>工作</a:t>
            </a:r>
            <a:r>
              <a:rPr lang="zh-CN" altLang="en-US" sz="1800" b="1">
                <a:latin typeface="微软雅黑" panose="020B0503020204020204" pitchFamily="34" charset="-122"/>
                <a:ea typeface="微软雅黑" panose="020B0503020204020204" pitchFamily="34" charset="-122"/>
              </a:rPr>
              <a:t>原理</a:t>
            </a:r>
            <a:endParaRPr lang="zh-CN" altLang="en-US" sz="1800" b="1">
              <a:latin typeface="微软雅黑" panose="020B0503020204020204" pitchFamily="34" charset="-122"/>
              <a:ea typeface="微软雅黑" panose="020B0503020204020204" pitchFamily="34" charset="-122"/>
            </a:endParaRPr>
          </a:p>
        </p:txBody>
      </p:sp>
      <p:sp>
        <p:nvSpPr>
          <p:cNvPr id="7" name="文本框 6"/>
          <p:cNvSpPr txBox="1"/>
          <p:nvPr/>
        </p:nvSpPr>
        <p:spPr>
          <a:xfrm>
            <a:off x="617855" y="1279525"/>
            <a:ext cx="10608945" cy="1017270"/>
          </a:xfrm>
          <a:prstGeom prst="rect">
            <a:avLst/>
          </a:prstGeom>
          <a:noFill/>
        </p:spPr>
        <p:txBody>
          <a:bodyPr wrap="square" rtlCol="0" anchor="t">
            <a:noAutofit/>
          </a:bodyPr>
          <a:p>
            <a:pPr algn="l">
              <a:lnSpc>
                <a:spcPct val="180000"/>
              </a:lnSpc>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阶段二：</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数据包的返回</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生成数据</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生产者（或缓存节点）用请求的数据内容、名称和自身的签名封装成一个数据包。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沿原路返回</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数据包无需路由，它严格沿着兴趣包在沿途路由器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中建立的反向路径返回。</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逐级缓存与分发</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返回路径上的每个路由器收到数据包后，会：</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根据</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条目，将数据包转发给所有请求过该数据的下游节点。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缓存：</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CS</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中缓存该数据包</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副本，以备后续请求。</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清理：</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删除已满足的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完成交付</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数据包最终抵达一个或多个最初的消费者，完成一次完整的数据获取流程。</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研究</a:t>
            </a:r>
            <a:r>
              <a:rPr lang="zh-CN" altLang="en-US"/>
              <a:t>背景</a:t>
            </a:r>
            <a:endParaRPr lang="zh-CN" altLang="en-US"/>
          </a:p>
        </p:txBody>
      </p:sp>
      <p:sp>
        <p:nvSpPr>
          <p:cNvPr id="7" name="文本框 6"/>
          <p:cNvSpPr txBox="1"/>
          <p:nvPr/>
        </p:nvSpPr>
        <p:spPr>
          <a:xfrm>
            <a:off x="617855" y="1097915"/>
            <a:ext cx="10608945" cy="1017270"/>
          </a:xfrm>
          <a:prstGeom prst="rect">
            <a:avLst/>
          </a:prstGeom>
          <a:noFill/>
        </p:spPr>
        <p:txBody>
          <a:bodyPr wrap="square" rtlCol="0" anchor="t">
            <a:noAutofit/>
          </a:bodyPr>
          <a:p>
            <a:pPr algn="l">
              <a:lnSpc>
                <a:spcPct val="18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传统的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TCP/IP</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协议簇在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环境中面临着根本性的挑战。</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IP</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网络依赖于稳定且唯一的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IP</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地址进行寻址和路由。在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高度流动的拓扑环境中，维持全局一致且实时更新的路由信息变得异常困难，导致频繁的路由中断、高昂的信令开销和低效的数据传输，这构成了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通信效率的瓶颈。</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的需求具有</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高度理论契合：</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位置无关性：</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消费者仅需关心数据本身的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名称</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，而无需追踪数据提供者的实时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位置</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，这从根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本上解耦了数据与节点的物理位置，完美适应了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中节点位置不确定的特性。</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网络内生缓存：</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NDN</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路由器能够缓存流经的数据包，使得后续对相同数据的请求可以由邻近的缓存节点快速响应，这在连接不稳定、时常割裂的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环境中，能有效提升数据可用性并降低延迟。</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高效多播支持：</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通过待定兴趣表（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）的请求聚合机制，对同一数据的多个请求可在网络内部自动合并，避免了冗余数据传输，实现了高效的内容分发。</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035937" y="1228383"/>
            <a:ext cx="482600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摘要</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2"/>
            </p:custDataLst>
          </p:nvPr>
        </p:nvSpPr>
        <p:spPr>
          <a:xfrm>
            <a:off x="4035937" y="2071663"/>
            <a:ext cx="4826000" cy="529590"/>
          </a:xfrm>
          <a:prstGeom prst="rect">
            <a:avLst/>
          </a:prstGeom>
          <a:noFill/>
        </p:spPr>
        <p:txBody>
          <a:bodyPr wrap="square" rtlCol="0" anchor="ctr" anchorCtr="0">
            <a:noAutofit/>
          </a:bodyPr>
          <a:lstStyle/>
          <a:p>
            <a:pPr>
              <a:lnSpc>
                <a:spcPct val="120000"/>
              </a:lnSpc>
              <a:spcBef>
                <a:spcPts val="0"/>
              </a:spcBef>
              <a:spcAft>
                <a:spcPts val="0"/>
              </a:spcAft>
              <a:buSzPct val="100000"/>
            </a:pP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2. 研究背景</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custDataLst>
              <p:tags r:id="rId3"/>
            </p:custDataLst>
          </p:nvPr>
        </p:nvSpPr>
        <p:spPr>
          <a:xfrm>
            <a:off x="4036060" y="2914650"/>
            <a:ext cx="776859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问题与挑战</a:t>
            </a:r>
            <a:endPar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4"/>
            </p:custDataLst>
          </p:nvPr>
        </p:nvSpPr>
        <p:spPr>
          <a:xfrm>
            <a:off x="1079491" y="2095491"/>
            <a:ext cx="2286018" cy="2286018"/>
          </a:xfrm>
          <a:prstGeom prst="rect">
            <a:avLst/>
          </a:prstGeom>
          <a:noFill/>
          <a:ln w="1587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6" name="矩形 15"/>
          <p:cNvSpPr/>
          <p:nvPr>
            <p:custDataLst>
              <p:tags r:id="rId5"/>
            </p:custDataLst>
          </p:nvPr>
        </p:nvSpPr>
        <p:spPr>
          <a:xfrm>
            <a:off x="952491" y="1968491"/>
            <a:ext cx="2286018" cy="2286018"/>
          </a:xfrm>
          <a:prstGeom prst="rect">
            <a:avLst/>
          </a:prstGeom>
          <a:noFill/>
          <a:ln w="3492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8" name="文本框 17"/>
          <p:cNvSpPr txBox="1"/>
          <p:nvPr>
            <p:custDataLst>
              <p:tags r:id="rId6"/>
            </p:custDataLst>
          </p:nvPr>
        </p:nvSpPr>
        <p:spPr>
          <a:xfrm>
            <a:off x="1502370" y="2250733"/>
            <a:ext cx="1107996" cy="1753235"/>
          </a:xfrm>
          <a:prstGeom prst="rect">
            <a:avLst/>
          </a:prstGeom>
          <a:noFill/>
        </p:spPr>
        <p:txBody>
          <a:bodyPr vert="eaVert" wrap="square" rtlCol="0" anchor="ctr" anchorCtr="0">
            <a:normAutofit/>
          </a:bodyPr>
          <a:lstStyle/>
          <a:p>
            <a:pPr marL="0" indent="0" algn="dist">
              <a:lnSpc>
                <a:spcPct val="100000"/>
              </a:lnSpc>
              <a:spcBef>
                <a:spcPts val="0"/>
              </a:spcBef>
              <a:spcAft>
                <a:spcPts val="0"/>
              </a:spcAft>
              <a:buSzPct val="100000"/>
              <a:buNone/>
            </a:pPr>
            <a:r>
              <a:rPr lang="zh-CN" altLang="en-US" sz="6000" spc="200" dirty="0">
                <a:solidFill>
                  <a:srgbClr val="8F000B"/>
                </a:solidFill>
                <a:latin typeface="Arial" panose="020B0604020202020204" pitchFamily="34" charset="0"/>
                <a:ea typeface="汉仪旗黑-85S" panose="00020600040101010101" pitchFamily="18" charset="-122"/>
              </a:rPr>
              <a:t>目录</a:t>
            </a:r>
            <a:endParaRPr lang="zh-CN" altLang="en-US" sz="6000" spc="200" dirty="0">
              <a:solidFill>
                <a:srgbClr val="8F000B"/>
              </a:solidFill>
              <a:latin typeface="Arial" panose="020B0604020202020204" pitchFamily="34" charset="0"/>
              <a:ea typeface="汉仪旗黑-85S" panose="00020600040101010101" pitchFamily="18" charset="-122"/>
            </a:endParaRPr>
          </a:p>
        </p:txBody>
      </p:sp>
      <p:sp>
        <p:nvSpPr>
          <p:cNvPr id="2" name="文本框 1"/>
          <p:cNvSpPr txBox="1"/>
          <p:nvPr>
            <p:custDataLst>
              <p:tags r:id="rId7"/>
            </p:custDataLst>
          </p:nvPr>
        </p:nvSpPr>
        <p:spPr>
          <a:xfrm>
            <a:off x="4035937" y="375822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动机与</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创新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8"/>
            </p:custDataLst>
          </p:nvPr>
        </p:nvSpPr>
        <p:spPr>
          <a:xfrm>
            <a:off x="4035937" y="528603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实验</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评估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custDataLst>
              <p:tags r:id="rId9"/>
            </p:custDataLst>
          </p:nvPr>
        </p:nvSpPr>
        <p:spPr>
          <a:xfrm>
            <a:off x="4035937" y="4522128"/>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设计</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方案</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问题与</a:t>
            </a:r>
            <a:r>
              <a:rPr lang="zh-CN" altLang="en-US"/>
              <a:t>挑战</a:t>
            </a:r>
            <a:endParaRPr lang="zh-CN" altLang="en-US"/>
          </a:p>
        </p:txBody>
      </p:sp>
      <p:sp>
        <p:nvSpPr>
          <p:cNvPr id="7" name="文本框 6"/>
          <p:cNvSpPr txBox="1"/>
          <p:nvPr/>
        </p:nvSpPr>
        <p:spPr>
          <a:xfrm>
            <a:off x="617855" y="1097915"/>
            <a:ext cx="10301605" cy="1017270"/>
          </a:xfrm>
          <a:prstGeom prst="rect">
            <a:avLst/>
          </a:prstGeom>
          <a:noFill/>
        </p:spPr>
        <p:txBody>
          <a:bodyPr wrap="square" rtlCol="0" anchor="t">
            <a:noAutofit/>
          </a:bodyPr>
          <a:p>
            <a:pPr algn="l">
              <a:lnSpc>
                <a:spcPct val="18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尽管理论上协同优势显著，但将经典的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架构直接部署于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时，两者核心特性的冲突暴露无遗，构成了当前研究的核心技术挑战：</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转发信息表（</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）的稳定性冲突：</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的兴趣包转发依赖于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表。该机制假定网络拓扑相对稳定。但在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中，节点的持续移动导致</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条目频繁失效（</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Stale FIBs</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），为了维持其准确性而进行的频繁更新又会引发广播风暴，最终导致兴趣包转发失败。</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数据返回路径的脆弱性冲突：</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依赖兴趣包在沿途</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中创建的状态信息来构建一条反向数据返回路径。在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中，这条由多个移动节点构成的路径极其脆弱，任何中间节点的移动都可能导致链路中断，进而使整条返回路径失效，造成数据获取失败。</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035937" y="1228383"/>
            <a:ext cx="482600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摘要</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2"/>
            </p:custDataLst>
          </p:nvPr>
        </p:nvSpPr>
        <p:spPr>
          <a:xfrm>
            <a:off x="4035937" y="2071663"/>
            <a:ext cx="4826000" cy="529590"/>
          </a:xfrm>
          <a:prstGeom prst="rect">
            <a:avLst/>
          </a:prstGeom>
          <a:noFill/>
        </p:spPr>
        <p:txBody>
          <a:bodyPr wrap="square" rtlCol="0" anchor="ctr" anchorCtr="0">
            <a:noAutofit/>
          </a:bodyPr>
          <a:lstStyle/>
          <a:p>
            <a:pPr>
              <a:lnSpc>
                <a:spcPct val="120000"/>
              </a:lnSpc>
              <a:spcBef>
                <a:spcPts val="0"/>
              </a:spcBef>
              <a:spcAft>
                <a:spcPts val="0"/>
              </a:spcAft>
              <a:buSzPct val="100000"/>
            </a:pP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2. 研究背景</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custDataLst>
              <p:tags r:id="rId3"/>
            </p:custDataLst>
          </p:nvPr>
        </p:nvSpPr>
        <p:spPr>
          <a:xfrm>
            <a:off x="4036060" y="2914650"/>
            <a:ext cx="776859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问题与挑战</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4"/>
            </p:custDataLst>
          </p:nvPr>
        </p:nvSpPr>
        <p:spPr>
          <a:xfrm>
            <a:off x="1079491" y="2095491"/>
            <a:ext cx="2286018" cy="2286018"/>
          </a:xfrm>
          <a:prstGeom prst="rect">
            <a:avLst/>
          </a:prstGeom>
          <a:noFill/>
          <a:ln w="1587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6" name="矩形 15"/>
          <p:cNvSpPr/>
          <p:nvPr>
            <p:custDataLst>
              <p:tags r:id="rId5"/>
            </p:custDataLst>
          </p:nvPr>
        </p:nvSpPr>
        <p:spPr>
          <a:xfrm>
            <a:off x="952491" y="1968491"/>
            <a:ext cx="2286018" cy="2286018"/>
          </a:xfrm>
          <a:prstGeom prst="rect">
            <a:avLst/>
          </a:prstGeom>
          <a:noFill/>
          <a:ln w="3492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8" name="文本框 17"/>
          <p:cNvSpPr txBox="1"/>
          <p:nvPr>
            <p:custDataLst>
              <p:tags r:id="rId6"/>
            </p:custDataLst>
          </p:nvPr>
        </p:nvSpPr>
        <p:spPr>
          <a:xfrm>
            <a:off x="1502370" y="2250733"/>
            <a:ext cx="1107996" cy="1753235"/>
          </a:xfrm>
          <a:prstGeom prst="rect">
            <a:avLst/>
          </a:prstGeom>
          <a:noFill/>
        </p:spPr>
        <p:txBody>
          <a:bodyPr vert="eaVert" wrap="square" rtlCol="0" anchor="ctr" anchorCtr="0">
            <a:normAutofit/>
          </a:bodyPr>
          <a:lstStyle/>
          <a:p>
            <a:pPr marL="0" indent="0" algn="dist">
              <a:lnSpc>
                <a:spcPct val="100000"/>
              </a:lnSpc>
              <a:spcBef>
                <a:spcPts val="0"/>
              </a:spcBef>
              <a:spcAft>
                <a:spcPts val="0"/>
              </a:spcAft>
              <a:buSzPct val="100000"/>
              <a:buNone/>
            </a:pPr>
            <a:r>
              <a:rPr lang="zh-CN" altLang="en-US" sz="6000" spc="200" dirty="0">
                <a:solidFill>
                  <a:srgbClr val="8F000B"/>
                </a:solidFill>
                <a:latin typeface="Arial" panose="020B0604020202020204" pitchFamily="34" charset="0"/>
                <a:ea typeface="汉仪旗黑-85S" panose="00020600040101010101" pitchFamily="18" charset="-122"/>
              </a:rPr>
              <a:t>目录</a:t>
            </a:r>
            <a:endParaRPr lang="zh-CN" altLang="en-US" sz="6000" spc="200" dirty="0">
              <a:solidFill>
                <a:srgbClr val="8F000B"/>
              </a:solidFill>
              <a:latin typeface="Arial" panose="020B0604020202020204" pitchFamily="34" charset="0"/>
              <a:ea typeface="汉仪旗黑-85S" panose="00020600040101010101" pitchFamily="18" charset="-122"/>
            </a:endParaRPr>
          </a:p>
        </p:txBody>
      </p:sp>
      <p:sp>
        <p:nvSpPr>
          <p:cNvPr id="2" name="文本框 1"/>
          <p:cNvSpPr txBox="1"/>
          <p:nvPr>
            <p:custDataLst>
              <p:tags r:id="rId7"/>
            </p:custDataLst>
          </p:nvPr>
        </p:nvSpPr>
        <p:spPr>
          <a:xfrm>
            <a:off x="4035937" y="375822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动机与创新</a:t>
            </a:r>
            <a:endPar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8"/>
            </p:custDataLst>
          </p:nvPr>
        </p:nvSpPr>
        <p:spPr>
          <a:xfrm>
            <a:off x="4035937" y="528603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实验</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评估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custDataLst>
              <p:tags r:id="rId9"/>
            </p:custDataLst>
          </p:nvPr>
        </p:nvSpPr>
        <p:spPr>
          <a:xfrm>
            <a:off x="4035937" y="4522128"/>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设计</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方案</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动机与创</a:t>
            </a:r>
            <a:r>
              <a:rPr lang="zh-CN" altLang="en-US"/>
              <a:t>新</a:t>
            </a:r>
            <a:endParaRPr lang="zh-CN" altLang="en-US"/>
          </a:p>
        </p:txBody>
      </p:sp>
      <p:sp>
        <p:nvSpPr>
          <p:cNvPr id="7" name="文本框 6"/>
          <p:cNvSpPr txBox="1"/>
          <p:nvPr/>
        </p:nvSpPr>
        <p:spPr>
          <a:xfrm>
            <a:off x="617855" y="924560"/>
            <a:ext cx="10301605" cy="1017270"/>
          </a:xfrm>
          <a:prstGeom prst="rect">
            <a:avLst/>
          </a:prstGeom>
          <a:noFill/>
        </p:spPr>
        <p:txBody>
          <a:bodyPr wrap="square" rtlCol="0" anchor="t">
            <a:noAutofit/>
          </a:bodyPr>
          <a:p>
            <a:pPr algn="l">
              <a:lnSpc>
                <a:spcPct val="18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摒弃传统方案对全局、高频</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（转发信息表）更新的强依赖，</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而是通过动态构建一个由骨干节点组成的覆盖网络，将复杂的全网路由问题简化为骨干节点间的定向、机会主义转发问题。</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动态骨干网络架构：</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构建一个相对稳定、稀疏的核心转发覆盖网络。该网络由一小组通过分布式选举机制产生的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Backbones</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）构成，仅让这些少数具备优势数据服务能力的节点承担核心转发职责。</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无</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的定向单播转发</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骨干节点间的兴趣包转发摒弃了对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FIB</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的依赖，采用一种基于实时信息的轻量级</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单播（</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Unicast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策略。转发决策的依据是数据名称中内嵌的地理位置信息与节点间的链路稳定性预测，在每一跳动态地、贪婪地选择通往目标区域的最优下一跳。</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8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请求聚合驱动的数据共享：</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强化了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NDN</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原生的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（待定兴趣表）机制，在骨干节点层面实现了高效的请求聚合与数据共享。当一个骨干节点收到对其已在处理的数据的重复兴趣请求时，它不会再次转发，而是将新请求者加入等待列表。</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035937" y="1228383"/>
            <a:ext cx="482600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摘要</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2"/>
            </p:custDataLst>
          </p:nvPr>
        </p:nvSpPr>
        <p:spPr>
          <a:xfrm>
            <a:off x="4035937" y="2071663"/>
            <a:ext cx="4826000" cy="529590"/>
          </a:xfrm>
          <a:prstGeom prst="rect">
            <a:avLst/>
          </a:prstGeom>
          <a:noFill/>
        </p:spPr>
        <p:txBody>
          <a:bodyPr wrap="square" rtlCol="0" anchor="ctr" anchorCtr="0">
            <a:noAutofit/>
          </a:bodyPr>
          <a:lstStyle/>
          <a:p>
            <a:pPr>
              <a:lnSpc>
                <a:spcPct val="120000"/>
              </a:lnSpc>
              <a:spcBef>
                <a:spcPts val="0"/>
              </a:spcBef>
              <a:spcAft>
                <a:spcPts val="0"/>
              </a:spcAft>
              <a:buSzPct val="100000"/>
            </a:pP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2. 研究背景</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custDataLst>
              <p:tags r:id="rId3"/>
            </p:custDataLst>
          </p:nvPr>
        </p:nvSpPr>
        <p:spPr>
          <a:xfrm>
            <a:off x="4036060" y="2914650"/>
            <a:ext cx="776859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问题与挑战</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4"/>
            </p:custDataLst>
          </p:nvPr>
        </p:nvSpPr>
        <p:spPr>
          <a:xfrm>
            <a:off x="1079491" y="2095491"/>
            <a:ext cx="2286018" cy="2286018"/>
          </a:xfrm>
          <a:prstGeom prst="rect">
            <a:avLst/>
          </a:prstGeom>
          <a:noFill/>
          <a:ln w="1587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6" name="矩形 15"/>
          <p:cNvSpPr/>
          <p:nvPr>
            <p:custDataLst>
              <p:tags r:id="rId5"/>
            </p:custDataLst>
          </p:nvPr>
        </p:nvSpPr>
        <p:spPr>
          <a:xfrm>
            <a:off x="952491" y="1968491"/>
            <a:ext cx="2286018" cy="2286018"/>
          </a:xfrm>
          <a:prstGeom prst="rect">
            <a:avLst/>
          </a:prstGeom>
          <a:noFill/>
          <a:ln w="3492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8" name="文本框 17"/>
          <p:cNvSpPr txBox="1"/>
          <p:nvPr>
            <p:custDataLst>
              <p:tags r:id="rId6"/>
            </p:custDataLst>
          </p:nvPr>
        </p:nvSpPr>
        <p:spPr>
          <a:xfrm>
            <a:off x="1502370" y="2250733"/>
            <a:ext cx="1107996" cy="1753235"/>
          </a:xfrm>
          <a:prstGeom prst="rect">
            <a:avLst/>
          </a:prstGeom>
          <a:noFill/>
        </p:spPr>
        <p:txBody>
          <a:bodyPr vert="eaVert" wrap="square" rtlCol="0" anchor="ctr" anchorCtr="0">
            <a:normAutofit/>
          </a:bodyPr>
          <a:lstStyle/>
          <a:p>
            <a:pPr marL="0" indent="0" algn="dist">
              <a:lnSpc>
                <a:spcPct val="100000"/>
              </a:lnSpc>
              <a:spcBef>
                <a:spcPts val="0"/>
              </a:spcBef>
              <a:spcAft>
                <a:spcPts val="0"/>
              </a:spcAft>
              <a:buSzPct val="100000"/>
              <a:buNone/>
            </a:pPr>
            <a:r>
              <a:rPr lang="zh-CN" altLang="en-US" sz="6000" spc="200" dirty="0">
                <a:solidFill>
                  <a:srgbClr val="8F000B"/>
                </a:solidFill>
                <a:latin typeface="Arial" panose="020B0604020202020204" pitchFamily="34" charset="0"/>
                <a:ea typeface="汉仪旗黑-85S" panose="00020600040101010101" pitchFamily="18" charset="-122"/>
              </a:rPr>
              <a:t>目录</a:t>
            </a:r>
            <a:endParaRPr lang="zh-CN" altLang="en-US" sz="6000" spc="200" dirty="0">
              <a:solidFill>
                <a:srgbClr val="8F000B"/>
              </a:solidFill>
              <a:latin typeface="Arial" panose="020B0604020202020204" pitchFamily="34" charset="0"/>
              <a:ea typeface="汉仪旗黑-85S" panose="00020600040101010101" pitchFamily="18" charset="-122"/>
            </a:endParaRPr>
          </a:p>
        </p:txBody>
      </p:sp>
      <p:sp>
        <p:nvSpPr>
          <p:cNvPr id="2" name="文本框 1"/>
          <p:cNvSpPr txBox="1"/>
          <p:nvPr>
            <p:custDataLst>
              <p:tags r:id="rId7"/>
            </p:custDataLst>
          </p:nvPr>
        </p:nvSpPr>
        <p:spPr>
          <a:xfrm>
            <a:off x="4035937" y="375822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动机与创新</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8"/>
            </p:custDataLst>
          </p:nvPr>
        </p:nvSpPr>
        <p:spPr>
          <a:xfrm>
            <a:off x="4035937" y="528603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实验</a:t>
            </a:r>
            <a:r>
              <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rPr>
              <a:t>评估</a:t>
            </a:r>
            <a:endParaRPr lang="zh-CN" altLang="en-US" sz="2800" b="1" spc="200" dirty="0">
              <a:solidFill>
                <a:schemeClr val="bg1">
                  <a:lumMod val="8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custDataLst>
              <p:tags r:id="rId9"/>
            </p:custDataLst>
          </p:nvPr>
        </p:nvSpPr>
        <p:spPr>
          <a:xfrm>
            <a:off x="4035937" y="4522128"/>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设计方案</a:t>
            </a:r>
            <a:endPar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386715" y="1531620"/>
            <a:ext cx="8366760" cy="1017270"/>
          </a:xfrm>
          <a:prstGeom prst="rect">
            <a:avLst/>
          </a:prstGeom>
          <a:noFill/>
        </p:spPr>
        <p:txBody>
          <a:bodyPr wrap="square" rtlCol="0" anchor="t">
            <a:noAutofit/>
          </a:bodyPr>
          <a:p>
            <a:pPr algn="l">
              <a:lnSpc>
                <a:spcPct val="140000"/>
              </a:lnSpc>
            </a:pPr>
            <a:r>
              <a:rPr lang="en-US" altLang="zh-CN"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体系架构：分层化的</a:t>
            </a:r>
            <a:r>
              <a:rPr lang="en-US" altLang="zh-CN"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a:t>
            </a:r>
            <a:r>
              <a:rPr lang="en-US" altLang="zh-CN"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主机</a:t>
            </a:r>
            <a:r>
              <a:rPr lang="en-US" altLang="zh-CN"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模型</a:t>
            </a:r>
            <a:endPar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网络中的节点被动态划分为两类：</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骨干节点</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负责核心数据请求的转发，构成一个相对稳定的覆盖网络。</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普通主机</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主要作为数据的消费者和生产者，其数据请求通过挂靠到最近的骨干节点发起。</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骨干节点选举机制</a:t>
            </a:r>
            <a:endPar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节点周期性地与邻居交换其可提供的数据名称集合（</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Name Set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选举规则：</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将自己的名称集合</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NS</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与其每一个邻居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的名称集合</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NS</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进行比较。</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如果对于所有邻居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，都满足条件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NS</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 NS</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，则</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自我选举成为一个</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骨干节点。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9033510" y="1431290"/>
            <a:ext cx="2607310" cy="3995420"/>
          </a:xfrm>
          <a:prstGeom prst="rect">
            <a:avLst/>
          </a:prstGeom>
        </p:spPr>
      </p:pic>
      <p:sp>
        <p:nvSpPr>
          <p:cNvPr id="8" name="文本框 7"/>
          <p:cNvSpPr txBox="1"/>
          <p:nvPr/>
        </p:nvSpPr>
        <p:spPr>
          <a:xfrm>
            <a:off x="528955" y="1101725"/>
            <a:ext cx="4156710"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方案设计：分层架构与核心组件</a:t>
            </a:r>
            <a:endParaRPr lang="zh-CN" altLang="en-US" sz="1800" b="1">
              <a:latin typeface="微软雅黑" panose="020B0503020204020204" pitchFamily="34" charset="-122"/>
              <a:ea typeface="微软雅黑"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386715" y="1363980"/>
            <a:ext cx="11554460" cy="1017270"/>
          </a:xfrm>
          <a:prstGeom prst="rect">
            <a:avLst/>
          </a:prstGeom>
          <a:noFill/>
        </p:spPr>
        <p:txBody>
          <a:bodyPr wrap="square" rtlCol="0" anchor="t">
            <a:noAutofit/>
          </a:bodyPr>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当一个消费者节点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想要获取名为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的数据</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时，它会从以下三种情况中选择一种来发起请求。</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60000"/>
              </a:lnSpc>
            </a:pP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核心报文类型：</a:t>
            </a:r>
            <a:endPar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30000"/>
              </a:lnSpc>
              <a:buFont typeface="Arial" panose="020B0604020202020204" pitchFamily="34" charset="0"/>
              <a:buChar char="•"/>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HInt (Hint Interest): </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近场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兴趣包，用于向已知的邻居提供者或数据源区域直接请求数据。</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30000"/>
              </a:lnSpc>
              <a:buFont typeface="Arial" panose="020B0604020202020204" pitchFamily="34" charset="0"/>
              <a:buChar char="•"/>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BInt (Backbone Interest): </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兴趣包，用于通过骨干网络进行</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远场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数据探索。</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60000"/>
              </a:lnSpc>
            </a:pP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消费者的决策流程</a:t>
            </a:r>
            <a:r>
              <a:rPr lang="en-US" altLang="zh-CN"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Case 1: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数据提供者就在附近？</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的邻居中恰好有</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的提供者，或者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自身已处于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名称所定义的地理数据区域内。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HInt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a:t>
            </a:r>
            <a:endPar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Case 2: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我是普通主机，数据在远方？</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不满足</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Case 1</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，且</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是一个普通主机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(Host)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报文给骨干网络。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Case 3: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我是骨干节点，数据在远方？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不满足</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Case 1</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，且</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本身就是一个骨干节点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(Backbone)</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a:t>
            </a:r>
            <a:endPar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8955" y="1101725"/>
            <a:ext cx="4156710"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方案设计：消费者发起数据请求</a:t>
            </a:r>
            <a:endParaRPr lang="zh-CN" altLang="en-US" sz="1800" b="1">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528955" y="1348105"/>
            <a:ext cx="7250430" cy="1017270"/>
          </a:xfrm>
          <a:prstGeom prst="rect">
            <a:avLst/>
          </a:prstGeom>
          <a:noFill/>
        </p:spPr>
        <p:txBody>
          <a:bodyPr wrap="square" rtlCol="0" anchor="t">
            <a:noAutofit/>
          </a:bodyPr>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 HInt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触发条件</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通过邻居发现协议，得知某个邻居节点可以直接提供数据</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数据名称</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中包含了地理坐标</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(x</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y</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，而</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当前位置就在以该坐标为圆心、传输半径为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数据区域</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构建一个</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HInt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报文，并将其广播或单播给目标邻居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区域。</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 HInt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处理</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当一个中间节点、收到</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HInt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报文时：</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如果该节点能提供</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直接用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报文回复。</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如果该节点不能提供，但其坐标恰好是</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(xi, yi)</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（生产者）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它会按需生成</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，然后用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报文回复。</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8955" y="1101725"/>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a:t>
            </a:r>
            <a:r>
              <a:rPr lang="en-US" altLang="zh-CN" sz="1800" b="1">
                <a:latin typeface="微软雅黑" panose="020B0503020204020204" pitchFamily="34" charset="-122"/>
                <a:ea typeface="微软雅黑" panose="020B0503020204020204" pitchFamily="34" charset="-122"/>
              </a:rPr>
              <a:t>Case 1: "</a:t>
            </a:r>
            <a:r>
              <a:rPr lang="zh-CN" altLang="en-US" sz="1800" b="1">
                <a:latin typeface="微软雅黑" panose="020B0503020204020204" pitchFamily="34" charset="-122"/>
                <a:ea typeface="微软雅黑" panose="020B0503020204020204" pitchFamily="34" charset="-122"/>
              </a:rPr>
              <a:t>近场</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数据获取</a:t>
            </a:r>
            <a:r>
              <a:rPr lang="en-US" altLang="zh-CN" sz="1800" b="1">
                <a:latin typeface="微软雅黑" panose="020B0503020204020204" pitchFamily="34" charset="-122"/>
                <a:ea typeface="微软雅黑" panose="020B0503020204020204" pitchFamily="34" charset="-122"/>
              </a:rPr>
              <a:t> (HInt)</a:t>
            </a:r>
            <a:endParaRPr lang="en-US" altLang="zh-CN" sz="1800" b="1">
              <a:latin typeface="微软雅黑" panose="020B0503020204020204" pitchFamily="34" charset="-122"/>
              <a:ea typeface="微软雅黑" panose="020B0503020204020204" pitchFamily="34" charset="-122"/>
            </a:endParaRPr>
          </a:p>
        </p:txBody>
      </p:sp>
      <p:sp>
        <p:nvSpPr>
          <p:cNvPr id="3" name="矩形 2"/>
          <p:cNvSpPr/>
          <p:nvPr/>
        </p:nvSpPr>
        <p:spPr>
          <a:xfrm>
            <a:off x="7934960" y="1672590"/>
            <a:ext cx="3862070" cy="4861560"/>
          </a:xfrm>
          <a:prstGeom prst="rect">
            <a:avLst/>
          </a:prstGeom>
          <a:noFill/>
          <a:ln>
            <a:solidFill>
              <a:schemeClr val="bg1">
                <a:lumMod val="75000"/>
              </a:schemeClr>
            </a:solidFill>
          </a:ln>
          <a:extLst>
            <a:ext uri="{909E8E84-426E-40DD-AFC4-6F175D3DCCD1}">
              <a14:hiddenFill xmlns:a14="http://schemas.microsoft.com/office/drawing/2010/main">
                <a:solidFill>
                  <a:srgbClr val="D9D9D9"/>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nvSpPr>
        <p:spPr>
          <a:xfrm>
            <a:off x="7934960" y="1846580"/>
            <a:ext cx="3789045" cy="3404870"/>
          </a:xfrm>
          <a:prstGeom prst="rect">
            <a:avLst/>
          </a:prstGeom>
          <a:noFill/>
        </p:spPr>
        <p:txBody>
          <a:bodyPr wrap="square" rtlCol="0">
            <a:noAutofit/>
          </a:bodyPr>
          <a:p>
            <a:pPr>
              <a:lnSpc>
                <a:spcPct val="120000"/>
              </a:lnSpc>
            </a:pPr>
            <a:r>
              <a:rPr lang="zh-CN" altLang="en-US"/>
              <a:t>节点如何判定自身处于</a:t>
            </a:r>
            <a:r>
              <a:rPr lang="en-US" altLang="zh-CN"/>
              <a:t>“</a:t>
            </a:r>
            <a:r>
              <a:rPr lang="zh-CN" altLang="en-US"/>
              <a:t>数据区域</a:t>
            </a:r>
            <a:r>
              <a:rPr lang="en-US" altLang="zh-CN"/>
              <a:t>”</a:t>
            </a:r>
            <a:r>
              <a:rPr lang="zh-CN" altLang="en-US"/>
              <a:t>内？</a:t>
            </a:r>
            <a:endParaRPr lang="zh-CN" altLang="en-US"/>
          </a:p>
          <a:p>
            <a:pPr>
              <a:lnSpc>
                <a:spcPct val="120000"/>
              </a:lnSpc>
            </a:pPr>
            <a:endParaRPr lang="en-US" altLang="zh-CN"/>
          </a:p>
          <a:p>
            <a:pPr>
              <a:lnSpc>
                <a:spcPct val="120000"/>
              </a:lnSpc>
            </a:pPr>
            <a:r>
              <a:rPr lang="en-US" altLang="zh-CN"/>
              <a:t>1.NDN</a:t>
            </a:r>
            <a:r>
              <a:rPr lang="zh-CN" altLang="en-US"/>
              <a:t>名称</a:t>
            </a:r>
            <a:r>
              <a:rPr lang="zh-CN" altLang="en-US"/>
              <a:t>扩展：</a:t>
            </a:r>
            <a:endParaRPr lang="zh-CN" altLang="en-US"/>
          </a:p>
          <a:p>
            <a:pPr>
              <a:lnSpc>
                <a:spcPct val="120000"/>
              </a:lnSpc>
            </a:pPr>
            <a:endParaRPr lang="zh-CN" altLang="en-US"/>
          </a:p>
          <a:p>
            <a:pPr>
              <a:lnSpc>
                <a:spcPct val="120000"/>
              </a:lnSpc>
            </a:pPr>
            <a:endParaRPr lang="zh-CN" altLang="en-US"/>
          </a:p>
          <a:p>
            <a:pPr>
              <a:lnSpc>
                <a:spcPct val="120000"/>
              </a:lnSpc>
            </a:pPr>
            <a:r>
              <a:rPr lang="en-US" altLang="zh-CN"/>
              <a:t>2.</a:t>
            </a:r>
            <a:r>
              <a:rPr lang="zh-CN" altLang="en-US"/>
              <a:t>节点具有自定位能力，每个</a:t>
            </a:r>
            <a:r>
              <a:rPr lang="en-US" altLang="zh-CN"/>
              <a:t>MN</a:t>
            </a:r>
            <a:r>
              <a:rPr lang="en-US" altLang="zh-CN" baseline="-25000"/>
              <a:t>i</a:t>
            </a:r>
            <a:r>
              <a:rPr lang="zh-CN" altLang="en-US"/>
              <a:t>节点能实时获取自己当前的地理坐标</a:t>
            </a:r>
            <a:r>
              <a:rPr lang="en-US" altLang="zh-CN"/>
              <a:t> (xm, ym)</a:t>
            </a:r>
            <a:r>
              <a:rPr lang="zh-CN" altLang="en-US"/>
              <a:t>。</a:t>
            </a:r>
            <a:endParaRPr lang="zh-CN" altLang="en-US"/>
          </a:p>
          <a:p>
            <a:pPr>
              <a:lnSpc>
                <a:spcPct val="120000"/>
              </a:lnSpc>
            </a:pPr>
            <a:endParaRPr lang="zh-CN" altLang="en-US"/>
          </a:p>
          <a:p>
            <a:pPr>
              <a:lnSpc>
                <a:spcPct val="120000"/>
              </a:lnSpc>
            </a:pPr>
            <a:r>
              <a:rPr lang="en-US" altLang="zh-CN"/>
              <a:t>3.</a:t>
            </a:r>
            <a:r>
              <a:rPr lang="zh-CN" altLang="en-US"/>
              <a:t>从待请求的数据名称</a:t>
            </a:r>
            <a:r>
              <a:rPr lang="en-US" altLang="zh-CN"/>
              <a:t> NAi </a:t>
            </a:r>
            <a:r>
              <a:rPr lang="zh-CN" altLang="en-US"/>
              <a:t>中解析出目标坐标</a:t>
            </a:r>
            <a:r>
              <a:rPr lang="en-US" altLang="zh-CN"/>
              <a:t> (xi, yi)</a:t>
            </a:r>
            <a:r>
              <a:rPr lang="zh-CN" altLang="en-US"/>
              <a:t>；获取自身当前的坐标</a:t>
            </a:r>
            <a:r>
              <a:rPr lang="en-US" altLang="zh-CN"/>
              <a:t> (xm, ym)</a:t>
            </a:r>
            <a:r>
              <a:rPr lang="zh-CN" altLang="en-US"/>
              <a:t>；计算距离</a:t>
            </a:r>
            <a:r>
              <a:rPr lang="en-US" altLang="zh-CN"/>
              <a:t>d</a:t>
            </a:r>
            <a:r>
              <a:rPr lang="zh-CN" altLang="en-US"/>
              <a:t>与公知参数</a:t>
            </a:r>
            <a:r>
              <a:rPr lang="en-US" altLang="zh-CN"/>
              <a:t>r</a:t>
            </a:r>
            <a:r>
              <a:rPr lang="zh-CN" altLang="en-US"/>
              <a:t>比较。</a:t>
            </a:r>
            <a:endParaRPr lang="zh-CN" altLang="en-US"/>
          </a:p>
        </p:txBody>
      </p:sp>
      <p:pic>
        <p:nvPicPr>
          <p:cNvPr id="6" name="图片 5"/>
          <p:cNvPicPr>
            <a:picLocks noChangeAspect="1"/>
          </p:cNvPicPr>
          <p:nvPr/>
        </p:nvPicPr>
        <p:blipFill>
          <a:blip r:embed="rId1"/>
          <a:stretch>
            <a:fillRect/>
          </a:stretch>
        </p:blipFill>
        <p:spPr>
          <a:xfrm>
            <a:off x="7994015" y="3004820"/>
            <a:ext cx="3710940" cy="42418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528955" y="1619250"/>
            <a:ext cx="10784205" cy="1017270"/>
          </a:xfrm>
          <a:prstGeom prst="rect">
            <a:avLst/>
          </a:prstGeom>
          <a:noFill/>
        </p:spPr>
        <p:txBody>
          <a:bodyPr wrap="square" rtlCol="0" anchor="t">
            <a:noAutofit/>
          </a:bodyPr>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当数据源位置未知或较远时，请求必须通过骨干网络进行探索。</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主机发起</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BInt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有邻居是骨干节点：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报文单播发送给最近的邻居骨干节点，由其代为转发。</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没有任何邻居是骨干节点：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会</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自我提升</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为一个临时的骨干节点，以启动转发流程。</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骨干节点转发</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BInt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下一跳选择策略</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核心机制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优先选择骨干邻居：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检查邻居中是否有比自己更接近数据目标坐标</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(xi, yi)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其他骨干节点。如果有，则将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转发给它。</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选择最稳定链路</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如果没有更优的骨干邻居，则在所有朝向目标坐标的邻居中（不限于骨干），计算与每一个邻居的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链路持续时间</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(Link Duration Time)</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，选择该值最大的邻居作为下一跳。</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8955" y="1101725"/>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a:t>
            </a:r>
            <a:r>
              <a:rPr lang="en-US" altLang="zh-CN" sz="1800" b="1">
                <a:latin typeface="微软雅黑" panose="020B0503020204020204" pitchFamily="34" charset="-122"/>
                <a:ea typeface="微软雅黑" panose="020B0503020204020204" pitchFamily="34" charset="-122"/>
              </a:rPr>
              <a:t>Case 2 &amp; 3: "</a:t>
            </a:r>
            <a:r>
              <a:rPr lang="zh-CN" altLang="en-US" sz="1800" b="1">
                <a:latin typeface="微软雅黑" panose="020B0503020204020204" pitchFamily="34" charset="-122"/>
                <a:ea typeface="微软雅黑" panose="020B0503020204020204" pitchFamily="34" charset="-122"/>
              </a:rPr>
              <a:t>远场</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数据获取</a:t>
            </a:r>
            <a:r>
              <a:rPr lang="en-US" altLang="zh-CN" sz="1800" b="1">
                <a:latin typeface="微软雅黑" panose="020B0503020204020204" pitchFamily="34" charset="-122"/>
                <a:ea typeface="微软雅黑" panose="020B0503020204020204" pitchFamily="34" charset="-122"/>
              </a:rPr>
              <a:t> (BInt)</a:t>
            </a:r>
            <a:endParaRPr lang="en-US" altLang="zh-CN" sz="1800" b="1">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528955" y="1473835"/>
            <a:ext cx="10784205" cy="1017270"/>
          </a:xfrm>
          <a:prstGeom prst="rect">
            <a:avLst/>
          </a:prstGeom>
          <a:noFill/>
        </p:spPr>
        <p:txBody>
          <a:bodyPr wrap="square" rtlCol="0" anchor="t">
            <a:noAutofit/>
          </a:bodyPr>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当一个中间节点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j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收到来自上游的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报文时：</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角色检查与提升：</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j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是一个普通主机，它会立即自我提升为骨干节点。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请求聚合</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(PIT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检查</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j</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检查其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PIT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待定兴趣表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中是否已有对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NA</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的记录。</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如果没有：</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创建一个新的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条目，记录下兴趣来源。</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50000"/>
              </a:lnSpc>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如果有：</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说明这是重复请求，直接丢弃该</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BInt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即可，请求已被聚合。</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转发决策</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同消费者逻辑</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在创建了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MNj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会重复发起</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兴趣包的决策流程：</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检查数据是否已在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近场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邻居有或已在数据区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-&gt;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HInt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如果仍在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远场</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-&gt;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遵循</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case2</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中的下一跳选择策略，继续转发</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8955" y="1101725"/>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方案设计：中间节点处理</a:t>
            </a:r>
            <a:r>
              <a:rPr lang="en-US" altLang="zh-CN" sz="1800" b="1">
                <a:latin typeface="微软雅黑" panose="020B0503020204020204" pitchFamily="34" charset="-122"/>
                <a:ea typeface="微软雅黑" panose="020B0503020204020204" pitchFamily="34" charset="-122"/>
              </a:rPr>
              <a:t>BInt</a:t>
            </a:r>
            <a:r>
              <a:rPr lang="zh-CN" altLang="en-US" sz="1800" b="1">
                <a:latin typeface="微软雅黑" panose="020B0503020204020204" pitchFamily="34" charset="-122"/>
                <a:ea typeface="微软雅黑" panose="020B0503020204020204" pitchFamily="34" charset="-122"/>
              </a:rPr>
              <a:t>请求</a:t>
            </a:r>
            <a:endParaRPr lang="zh-CN" altLang="en-US" sz="1800" b="1">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528955" y="1473835"/>
            <a:ext cx="10784205" cy="1017270"/>
          </a:xfrm>
          <a:prstGeom prst="rect">
            <a:avLst/>
          </a:prstGeom>
          <a:noFill/>
        </p:spPr>
        <p:txBody>
          <a:bodyPr wrap="square" rtlCol="0" anchor="t">
            <a:noAutofit/>
          </a:bodyPr>
          <a:p>
            <a:pPr algn="l">
              <a:lnSpc>
                <a:spcPct val="13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MANET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中，随机选择下一跳可能导致数据返回时该节点已移出范围，造成路径中断。</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解决方案：</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引入</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链路持续时间</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(L</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ij</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作为下一跳选择的关键指标，优先选择连接更持久、更可靠的邻居。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计算方法</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输入参数：</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公式：</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本节点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的信息：坐标</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(x</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y</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，速度</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v</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，移动方向角</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θ</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邻居节点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MNj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的信息：坐标</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(x</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j</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y</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j</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，速度</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v</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j</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，移动方向角</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θ</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j</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节点通信半径。</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当需要从多个候选邻居中选择一个进行转发时，节点会</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计算与每个候选者的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L</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ij</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值，并选择</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L</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ij</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最大</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的那个节点</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3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作为下一跳。</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8955" y="1101725"/>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方案设计：基于链路持续时间的下一跳选择</a:t>
            </a:r>
            <a:endParaRPr lang="zh-CN" altLang="en-US" sz="1800" b="1">
              <a:latin typeface="微软雅黑" panose="020B0503020204020204" pitchFamily="34" charset="-122"/>
              <a:ea typeface="微软雅黑" panose="020B0503020204020204" pitchFamily="34" charset="-122"/>
            </a:endParaRPr>
          </a:p>
        </p:txBody>
      </p:sp>
      <p:pic>
        <p:nvPicPr>
          <p:cNvPr id="5" name="图片 5"/>
          <p:cNvPicPr>
            <a:picLocks noChangeAspect="1"/>
          </p:cNvPicPr>
          <p:nvPr/>
        </p:nvPicPr>
        <p:blipFill>
          <a:blip r:embed="rId1"/>
          <a:stretch>
            <a:fillRect/>
          </a:stretch>
        </p:blipFill>
        <p:spPr>
          <a:xfrm>
            <a:off x="6937375" y="3429000"/>
            <a:ext cx="4957445" cy="2216785"/>
          </a:xfrm>
          <a:prstGeom prst="rect">
            <a:avLst/>
          </a:prstGeom>
          <a:noFill/>
          <a:ln>
            <a:noFill/>
          </a:ln>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528955" y="1473835"/>
            <a:ext cx="10784205" cy="1017270"/>
          </a:xfrm>
          <a:prstGeom prst="rect">
            <a:avLst/>
          </a:prstGeom>
          <a:noFill/>
        </p:spPr>
        <p:txBody>
          <a:bodyPr wrap="square" rtlCol="0" anchor="t">
            <a:noAutofit/>
          </a:bodyPr>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数据返回路径：</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无需路由，它严格沿着兴趣包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 / HInt)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在沿途节点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中留下的条目，逐跳反向传播。</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中间骨干节点处理</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Data :</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当一个中间骨干节点收到</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报文时：</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缓存数据</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报文存入自己的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内容存储</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(CS)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成为提供者</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该节点从此也成为此数据的提供者，可以响应后续请求。</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转发数据</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根据其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表项，将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报文转发给所有请求过该数据的下游接口。</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清理</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 :</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删除已满足的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条目。</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原始消费者接收</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Data:</a:t>
            </a:r>
            <a:endPar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最终收到</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Data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报文时：</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）停止计时器，缓存数据，成为提供者。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）检查自身</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PIT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查看是否有其他本地节点也通过它请求了此数据。如果有，则将数据转发给它们，实现本地范围的数据共享。</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8955" y="1101725"/>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方案设计：数据包返回与分发</a:t>
            </a:r>
            <a:endParaRPr lang="zh-CN" altLang="en-US" sz="1800" b="1">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7" name="文本框 6"/>
          <p:cNvSpPr txBox="1"/>
          <p:nvPr/>
        </p:nvSpPr>
        <p:spPr>
          <a:xfrm>
            <a:off x="625475" y="1540510"/>
            <a:ext cx="10052050" cy="1017270"/>
          </a:xfrm>
          <a:prstGeom prst="rect">
            <a:avLst/>
          </a:prstGeom>
          <a:noFill/>
        </p:spPr>
        <p:txBody>
          <a:bodyPr wrap="square" rtlCol="0" anchor="t">
            <a:noAutofit/>
          </a:bodyPr>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面临的挑战：</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消费者移动</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发出请求后，在等待数据返回期间移动，导致其与上游节点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的连接断开。</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lnSpc>
                <a:spcPct val="140000"/>
              </a:lnSpc>
              <a:buFont typeface="Arial" panose="020B0604020202020204" pitchFamily="34" charset="0"/>
              <a:buChar char="•"/>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中间节点移动</a:t>
            </a: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数据返回路径上的某个中间骨干节点移动，导致路径中断。</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解决方案：</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当节点</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（消费者</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or</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中间节点）检测到其用于接收</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转发数据的上游链路中断</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时，发起用于路径修复请求的</a:t>
            </a:r>
            <a:r>
              <a:rPr lang="en-US" altLang="zh-CN" sz="1800" b="1">
                <a:latin typeface="微软雅黑" panose="020B0503020204020204" pitchFamily="34" charset="-122"/>
                <a:ea typeface="微软雅黑" panose="020B0503020204020204" pitchFamily="34" charset="-122"/>
                <a:cs typeface="微软雅黑" panose="020B0503020204020204" pitchFamily="34" charset="-122"/>
                <a:sym typeface="+mn-ea"/>
              </a:rPr>
              <a:t>HO (Handover) </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报文</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动作：</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MN</a:t>
            </a:r>
            <a:r>
              <a:rPr lang="en-US" altLang="zh-CN" sz="18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立即向其新的邻居发送一个</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HO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HO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报文的转发逻辑与</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BInt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报文完全相同：优先选择更靠近目标的骨干，否则选择链路最稳定的邻居。</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40000"/>
              </a:lnSpc>
            </a:pP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目的：</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利用与数据请求相同的可靠转发机制，将</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修复请求</a:t>
            </a:r>
            <a:r>
              <a:rPr lang="en-US" alt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送回原始的数据返回路径上。</a:t>
            </a:r>
            <a:endParaRPr lang="zh-CN" altLang="en-US"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529590" y="1035050"/>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方案设计：鲁棒性设计：移动性支持方案</a:t>
            </a:r>
            <a:endParaRPr lang="zh-CN" altLang="en-US" sz="1800" b="1">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8" name="文本框 7"/>
          <p:cNvSpPr txBox="1"/>
          <p:nvPr/>
        </p:nvSpPr>
        <p:spPr>
          <a:xfrm>
            <a:off x="529590" y="1035050"/>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a:t>
            </a:r>
            <a:r>
              <a:rPr lang="en-US" altLang="zh-CN" sz="1800" b="1">
                <a:latin typeface="微软雅黑" panose="020B0503020204020204" pitchFamily="34" charset="-122"/>
                <a:ea typeface="微软雅黑" panose="020B0503020204020204" pitchFamily="34" charset="-122"/>
              </a:rPr>
              <a:t>HO</a:t>
            </a:r>
            <a:r>
              <a:rPr lang="zh-CN" altLang="en-US" sz="1800" b="1">
                <a:latin typeface="微软雅黑" panose="020B0503020204020204" pitchFamily="34" charset="-122"/>
                <a:ea typeface="微软雅黑" panose="020B0503020204020204" pitchFamily="34" charset="-122"/>
              </a:rPr>
              <a:t>报文的处理与路径重建</a:t>
            </a:r>
            <a:endParaRPr lang="zh-CN" altLang="en-US" sz="1800" b="1">
              <a:latin typeface="微软雅黑" panose="020B0503020204020204" pitchFamily="34" charset="-122"/>
              <a:ea typeface="微软雅黑" panose="020B0503020204020204" pitchFamily="34" charset="-122"/>
            </a:endParaRPr>
          </a:p>
        </p:txBody>
      </p:sp>
      <p:sp>
        <p:nvSpPr>
          <p:cNvPr id="5" name="文本框 4"/>
          <p:cNvSpPr txBox="1"/>
          <p:nvPr/>
        </p:nvSpPr>
        <p:spPr>
          <a:xfrm>
            <a:off x="529590" y="1499235"/>
            <a:ext cx="10326370" cy="3404870"/>
          </a:xfrm>
          <a:prstGeom prst="rect">
            <a:avLst/>
          </a:prstGeom>
          <a:noFill/>
        </p:spPr>
        <p:txBody>
          <a:bodyPr wrap="square" rtlCol="0">
            <a:noAutofit/>
          </a:bodyPr>
          <a:p>
            <a:pPr>
              <a:lnSpc>
                <a:spcPct val="140000"/>
              </a:lnSpc>
            </a:pPr>
            <a:r>
              <a:rPr lang="zh-CN" altLang="en-US"/>
              <a:t>当一个中间节点</a:t>
            </a:r>
            <a:r>
              <a:rPr lang="en-US" altLang="zh-CN"/>
              <a:t> MNj </a:t>
            </a:r>
            <a:r>
              <a:rPr lang="zh-CN" altLang="en-US"/>
              <a:t>收到</a:t>
            </a:r>
            <a:r>
              <a:rPr lang="en-US" altLang="zh-CN"/>
              <a:t> HO </a:t>
            </a:r>
            <a:r>
              <a:rPr lang="zh-CN" altLang="en-US"/>
              <a:t>报文时</a:t>
            </a:r>
            <a:r>
              <a:rPr lang="zh-CN" altLang="en-US"/>
              <a:t>：</a:t>
            </a:r>
            <a:endParaRPr lang="en-US" altLang="zh-CN"/>
          </a:p>
          <a:p>
            <a:pPr marL="0" indent="0">
              <a:lnSpc>
                <a:spcPct val="140000"/>
              </a:lnSpc>
              <a:buFont typeface="Arial" panose="020B0604020202020204" pitchFamily="34" charset="0"/>
              <a:buNone/>
            </a:pPr>
            <a:r>
              <a:rPr lang="en-US" altLang="zh-CN"/>
              <a:t>MNj </a:t>
            </a:r>
            <a:r>
              <a:rPr lang="zh-CN" altLang="en-US"/>
              <a:t>检查自己的</a:t>
            </a:r>
            <a:r>
              <a:rPr lang="en-US" altLang="zh-CN"/>
              <a:t>PIT</a:t>
            </a:r>
            <a:r>
              <a:rPr lang="zh-CN" altLang="en-US"/>
              <a:t>中，是否</a:t>
            </a:r>
            <a:r>
              <a:rPr lang="en-US" altLang="zh-CN"/>
              <a:t> </a:t>
            </a:r>
            <a:r>
              <a:rPr lang="zh-CN" altLang="en-US"/>
              <a:t>存在</a:t>
            </a:r>
            <a:r>
              <a:rPr lang="en-US" altLang="zh-CN"/>
              <a:t> </a:t>
            </a:r>
            <a:r>
              <a:rPr lang="zh-CN" altLang="en-US"/>
              <a:t>针对原始数据</a:t>
            </a:r>
            <a:r>
              <a:rPr lang="en-US" altLang="zh-CN"/>
              <a:t> NAi </a:t>
            </a:r>
            <a:r>
              <a:rPr lang="zh-CN" altLang="en-US"/>
              <a:t>的条目。</a:t>
            </a:r>
            <a:endParaRPr lang="zh-CN" altLang="en-US"/>
          </a:p>
          <a:p>
            <a:pPr marL="0" indent="0">
              <a:lnSpc>
                <a:spcPct val="140000"/>
              </a:lnSpc>
              <a:buFont typeface="Arial" panose="020B0604020202020204" pitchFamily="34" charset="0"/>
              <a:buNone/>
            </a:pPr>
            <a:r>
              <a:rPr lang="zh-CN" altLang="en-US" b="1"/>
              <a:t>情况一：</a:t>
            </a:r>
            <a:r>
              <a:rPr lang="en-US" altLang="zh-CN" b="1"/>
              <a:t>PIT</a:t>
            </a:r>
            <a:r>
              <a:rPr lang="zh-CN" altLang="en-US" b="1"/>
              <a:t>中存在条目</a:t>
            </a:r>
            <a:endParaRPr lang="zh-CN" altLang="en-US" b="1"/>
          </a:p>
          <a:p>
            <a:pPr marL="285750" indent="-285750">
              <a:lnSpc>
                <a:spcPct val="140000"/>
              </a:lnSpc>
              <a:buFont typeface="Arial" panose="020B0604020202020204" pitchFamily="34" charset="0"/>
              <a:buChar char="•"/>
            </a:pPr>
            <a:r>
              <a:rPr lang="zh-CN" altLang="en-US"/>
              <a:t>这表明</a:t>
            </a:r>
            <a:r>
              <a:rPr lang="en-US" altLang="zh-CN"/>
              <a:t> MNj </a:t>
            </a:r>
            <a:r>
              <a:rPr lang="zh-CN" altLang="en-US"/>
              <a:t>本身就是原始数据返回路径上的一员</a:t>
            </a:r>
            <a:endParaRPr lang="zh-CN" altLang="en-US"/>
          </a:p>
          <a:p>
            <a:pPr marL="285750" indent="-285750">
              <a:lnSpc>
                <a:spcPct val="140000"/>
              </a:lnSpc>
              <a:buFont typeface="Arial" panose="020B0604020202020204" pitchFamily="34" charset="0"/>
              <a:buChar char="•"/>
            </a:pPr>
            <a:r>
              <a:rPr lang="zh-CN" altLang="en-US"/>
              <a:t>路径修复过程在此终止。</a:t>
            </a:r>
            <a:endParaRPr lang="zh-CN" altLang="en-US"/>
          </a:p>
          <a:p>
            <a:pPr marL="285750" indent="-285750">
              <a:lnSpc>
                <a:spcPct val="140000"/>
              </a:lnSpc>
              <a:buFont typeface="Arial" panose="020B0604020202020204" pitchFamily="34" charset="0"/>
              <a:buChar char="•"/>
            </a:pPr>
            <a:r>
              <a:rPr lang="zh-CN" altLang="en-US"/>
              <a:t>数据流将从此节点</a:t>
            </a:r>
            <a:r>
              <a:rPr lang="en-US" altLang="zh-CN"/>
              <a:t> MNj </a:t>
            </a:r>
            <a:r>
              <a:rPr lang="zh-CN" altLang="en-US"/>
              <a:t>建立一条新的分支，流向发起</a:t>
            </a:r>
            <a:r>
              <a:rPr lang="en-US" altLang="zh-CN"/>
              <a:t>HO</a:t>
            </a:r>
            <a:r>
              <a:rPr lang="zh-CN" altLang="en-US"/>
              <a:t>的节点，最终到达移动的消费者。</a:t>
            </a:r>
            <a:endParaRPr lang="zh-CN" altLang="en-US"/>
          </a:p>
          <a:p>
            <a:pPr marL="285750" indent="-285750">
              <a:lnSpc>
                <a:spcPct val="140000"/>
              </a:lnSpc>
              <a:buFont typeface="Arial" panose="020B0604020202020204" pitchFamily="34" charset="0"/>
              <a:buChar char="•"/>
            </a:pPr>
            <a:endParaRPr lang="zh-CN" altLang="en-US"/>
          </a:p>
          <a:p>
            <a:pPr marL="0" indent="0">
              <a:lnSpc>
                <a:spcPct val="140000"/>
              </a:lnSpc>
              <a:buFont typeface="Arial" panose="020B0604020202020204" pitchFamily="34" charset="0"/>
              <a:buNone/>
            </a:pPr>
            <a:r>
              <a:rPr lang="zh-CN" altLang="en-US" b="1"/>
              <a:t>情况二：</a:t>
            </a:r>
            <a:r>
              <a:rPr lang="en-US" altLang="zh-CN" b="1"/>
              <a:t>PIT</a:t>
            </a:r>
            <a:r>
              <a:rPr lang="zh-CN" altLang="en-US" b="1"/>
              <a:t>中不存在条目</a:t>
            </a:r>
            <a:r>
              <a:rPr lang="en-US" altLang="zh-CN" b="1"/>
              <a:t> (</a:t>
            </a:r>
            <a:r>
              <a:rPr lang="zh-CN" altLang="en-US" b="1"/>
              <a:t>继续寻找路径</a:t>
            </a:r>
            <a:r>
              <a:rPr lang="en-US" altLang="zh-CN" b="1"/>
              <a:t>)</a:t>
            </a:r>
            <a:endParaRPr lang="en-US" altLang="zh-CN" b="1"/>
          </a:p>
          <a:p>
            <a:pPr marL="285750" indent="-285750">
              <a:lnSpc>
                <a:spcPct val="140000"/>
              </a:lnSpc>
              <a:buFont typeface="Arial" panose="020B0604020202020204" pitchFamily="34" charset="0"/>
              <a:buChar char="•"/>
            </a:pPr>
            <a:r>
              <a:rPr lang="zh-CN" altLang="en-US"/>
              <a:t>这表明</a:t>
            </a:r>
            <a:r>
              <a:rPr lang="en-US" altLang="zh-CN"/>
              <a:t> MNj </a:t>
            </a:r>
            <a:r>
              <a:rPr lang="zh-CN" altLang="en-US"/>
              <a:t>不在原始路径上。</a:t>
            </a:r>
            <a:endParaRPr lang="zh-CN" altLang="en-US"/>
          </a:p>
          <a:p>
            <a:pPr marL="285750" indent="-285750">
              <a:lnSpc>
                <a:spcPct val="140000"/>
              </a:lnSpc>
              <a:buFont typeface="Arial" panose="020B0604020202020204" pitchFamily="34" charset="0"/>
              <a:buChar char="•"/>
            </a:pPr>
            <a:r>
              <a:rPr lang="zh-CN" altLang="en-US"/>
              <a:t>它会为这个</a:t>
            </a:r>
            <a:r>
              <a:rPr lang="en-US" altLang="zh-CN"/>
              <a:t> HO </a:t>
            </a:r>
            <a:r>
              <a:rPr lang="zh-CN" altLang="en-US"/>
              <a:t>请求创建一个新的</a:t>
            </a:r>
            <a:r>
              <a:rPr lang="en-US" altLang="zh-CN"/>
              <a:t>PIT</a:t>
            </a:r>
            <a:r>
              <a:rPr lang="zh-CN" altLang="en-US"/>
              <a:t>条目（防止修复风暴）。</a:t>
            </a:r>
            <a:endParaRPr lang="zh-CN" altLang="en-US"/>
          </a:p>
          <a:p>
            <a:pPr marL="285750" indent="-285750">
              <a:lnSpc>
                <a:spcPct val="140000"/>
              </a:lnSpc>
              <a:buFont typeface="Arial" panose="020B0604020202020204" pitchFamily="34" charset="0"/>
              <a:buChar char="•"/>
            </a:pPr>
            <a:r>
              <a:rPr lang="zh-CN" altLang="en-US"/>
              <a:t>它会像转发</a:t>
            </a:r>
            <a:r>
              <a:rPr lang="en-US" altLang="zh-CN"/>
              <a:t> BInt </a:t>
            </a:r>
            <a:r>
              <a:rPr lang="zh-CN" altLang="en-US"/>
              <a:t>一样，继续将</a:t>
            </a:r>
            <a:r>
              <a:rPr lang="en-US" altLang="zh-CN"/>
              <a:t> HO </a:t>
            </a:r>
            <a:r>
              <a:rPr lang="zh-CN" altLang="en-US"/>
              <a:t>报文转发给它的最优下一跳。</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8" name="文本框 7"/>
          <p:cNvSpPr txBox="1"/>
          <p:nvPr/>
        </p:nvSpPr>
        <p:spPr>
          <a:xfrm>
            <a:off x="529590" y="1035050"/>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方案设计：鲁棒性设计：移动性支持方案</a:t>
            </a:r>
            <a:endParaRPr lang="zh-CN" altLang="en-US" sz="1800" b="1">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rcRect r="28001"/>
          <a:stretch>
            <a:fillRect/>
          </a:stretch>
        </p:blipFill>
        <p:spPr>
          <a:xfrm>
            <a:off x="7574280" y="2151380"/>
            <a:ext cx="3980815" cy="2882900"/>
          </a:xfrm>
          <a:prstGeom prst="rect">
            <a:avLst/>
          </a:prstGeom>
        </p:spPr>
      </p:pic>
      <p:sp>
        <p:nvSpPr>
          <p:cNvPr id="5" name="文本框 4"/>
          <p:cNvSpPr txBox="1"/>
          <p:nvPr/>
        </p:nvSpPr>
        <p:spPr>
          <a:xfrm>
            <a:off x="529590" y="1499235"/>
            <a:ext cx="6679565" cy="3404870"/>
          </a:xfrm>
          <a:prstGeom prst="rect">
            <a:avLst/>
          </a:prstGeom>
          <a:noFill/>
        </p:spPr>
        <p:txBody>
          <a:bodyPr wrap="square" rtlCol="0">
            <a:noAutofit/>
          </a:bodyPr>
          <a:p>
            <a:pPr>
              <a:lnSpc>
                <a:spcPct val="120000"/>
              </a:lnSpc>
            </a:pPr>
            <a:r>
              <a:rPr lang="zh-CN"/>
              <a:t>（</a:t>
            </a:r>
            <a:r>
              <a:rPr lang="en-US" altLang="zh-CN"/>
              <a:t>a)-&gt;(b)</a:t>
            </a:r>
            <a:r>
              <a:rPr lang="zh-CN" altLang="en-US"/>
              <a:t>：</a:t>
            </a:r>
            <a:endParaRPr lang="en-US" altLang="zh-CN"/>
          </a:p>
          <a:p>
            <a:pPr marL="285750" indent="-285750">
              <a:lnSpc>
                <a:spcPct val="120000"/>
              </a:lnSpc>
              <a:buFont typeface="Arial" panose="020B0604020202020204" pitchFamily="34" charset="0"/>
              <a:buChar char="•"/>
            </a:pPr>
            <a:r>
              <a:rPr lang="zh-CN" altLang="en-US">
                <a:sym typeface="+mn-ea"/>
              </a:rPr>
              <a:t>消费者</a:t>
            </a:r>
            <a:r>
              <a:rPr lang="en-US" altLang="zh-CN">
                <a:sym typeface="+mn-ea"/>
              </a:rPr>
              <a:t> C1 </a:t>
            </a:r>
            <a:r>
              <a:rPr lang="zh-CN" altLang="en-US">
                <a:sym typeface="+mn-ea"/>
              </a:rPr>
              <a:t>发生了移动。</a:t>
            </a:r>
            <a:endParaRPr lang="zh-CN" altLang="en-US"/>
          </a:p>
          <a:p>
            <a:pPr marL="285750" indent="-285750">
              <a:lnSpc>
                <a:spcPct val="120000"/>
              </a:lnSpc>
              <a:buFont typeface="Arial" panose="020B0604020202020204" pitchFamily="34" charset="0"/>
              <a:buChar char="•"/>
            </a:pPr>
            <a:r>
              <a:rPr lang="en-US" altLang="zh-CN">
                <a:sym typeface="+mn-ea"/>
              </a:rPr>
              <a:t>C1 </a:t>
            </a:r>
            <a:r>
              <a:rPr lang="zh-CN" altLang="en-US">
                <a:sym typeface="+mn-ea"/>
              </a:rPr>
              <a:t>与其上游节点</a:t>
            </a:r>
            <a:r>
              <a:rPr lang="en-US" altLang="zh-CN">
                <a:sym typeface="+mn-ea"/>
              </a:rPr>
              <a:t> MN1 </a:t>
            </a:r>
            <a:r>
              <a:rPr lang="zh-CN" altLang="en-US">
                <a:sym typeface="+mn-ea"/>
              </a:rPr>
              <a:t>之间的链路中断。</a:t>
            </a:r>
            <a:endParaRPr lang="zh-CN" altLang="en-US"/>
          </a:p>
          <a:p>
            <a:pPr marL="285750" indent="-285750">
              <a:lnSpc>
                <a:spcPct val="120000"/>
              </a:lnSpc>
              <a:buFont typeface="Arial" panose="020B0604020202020204" pitchFamily="34" charset="0"/>
              <a:buChar char="•"/>
            </a:pPr>
            <a:r>
              <a:rPr lang="en-US" altLang="zh-CN">
                <a:sym typeface="+mn-ea"/>
              </a:rPr>
              <a:t>C1 </a:t>
            </a:r>
            <a:r>
              <a:rPr lang="zh-CN" altLang="en-US">
                <a:sym typeface="+mn-ea"/>
              </a:rPr>
              <a:t>进入了新节点</a:t>
            </a:r>
            <a:r>
              <a:rPr lang="en-US" altLang="zh-CN">
                <a:sym typeface="+mn-ea"/>
              </a:rPr>
              <a:t> MN3 </a:t>
            </a:r>
            <a:r>
              <a:rPr lang="zh-CN" altLang="en-US">
                <a:sym typeface="+mn-ea"/>
              </a:rPr>
              <a:t>的通信范围，与</a:t>
            </a:r>
            <a:r>
              <a:rPr lang="en-US" altLang="zh-CN">
                <a:sym typeface="+mn-ea"/>
              </a:rPr>
              <a:t> MN3 </a:t>
            </a:r>
            <a:r>
              <a:rPr lang="zh-CN" altLang="en-US">
                <a:sym typeface="+mn-ea"/>
              </a:rPr>
              <a:t>建立了新的链路。</a:t>
            </a:r>
            <a:endParaRPr lang="zh-CN" altLang="en-US"/>
          </a:p>
          <a:p>
            <a:pPr marL="285750" indent="-285750">
              <a:lnSpc>
                <a:spcPct val="120000"/>
              </a:lnSpc>
              <a:buFont typeface="Arial" panose="020B0604020202020204" pitchFamily="34" charset="0"/>
              <a:buChar char="•"/>
            </a:pPr>
            <a:r>
              <a:rPr lang="en-US" altLang="zh-CN">
                <a:sym typeface="+mn-ea"/>
              </a:rPr>
              <a:t>C1 </a:t>
            </a:r>
            <a:r>
              <a:rPr lang="zh-CN" altLang="en-US">
                <a:sym typeface="+mn-ea"/>
              </a:rPr>
              <a:t>为了</a:t>
            </a:r>
            <a:r>
              <a:rPr lang="en-US" altLang="zh-CN">
                <a:sym typeface="+mn-ea"/>
              </a:rPr>
              <a:t>“</a:t>
            </a:r>
            <a:r>
              <a:rPr lang="zh-CN" altLang="en-US">
                <a:sym typeface="+mn-ea"/>
              </a:rPr>
              <a:t>重新连接</a:t>
            </a:r>
            <a:r>
              <a:rPr lang="en-US" altLang="zh-CN">
                <a:sym typeface="+mn-ea"/>
              </a:rPr>
              <a:t>”</a:t>
            </a:r>
            <a:r>
              <a:rPr lang="zh-CN" altLang="en-US">
                <a:sym typeface="+mn-ea"/>
              </a:rPr>
              <a:t>回数据路径，构建了一个</a:t>
            </a:r>
            <a:r>
              <a:rPr lang="en-US" altLang="zh-CN">
                <a:sym typeface="+mn-ea"/>
              </a:rPr>
              <a:t>HO</a:t>
            </a:r>
            <a:r>
              <a:rPr lang="zh-CN" altLang="en-US">
                <a:sym typeface="+mn-ea"/>
              </a:rPr>
              <a:t>报文，并将其发送给它的新邻居</a:t>
            </a:r>
            <a:r>
              <a:rPr lang="en-US" altLang="zh-CN">
                <a:sym typeface="+mn-ea"/>
              </a:rPr>
              <a:t> MN3</a:t>
            </a:r>
            <a:endParaRPr lang="zh-CN" altLang="en-US" dirty="0"/>
          </a:p>
          <a:p>
            <a:pPr marL="285750" indent="-285750">
              <a:lnSpc>
                <a:spcPct val="120000"/>
              </a:lnSpc>
              <a:buFont typeface="Arial" panose="020B0604020202020204" pitchFamily="34" charset="0"/>
              <a:buChar char="•"/>
            </a:pPr>
            <a:r>
              <a:rPr lang="en-US" altLang="zh-CN"/>
              <a:t>MN3 </a:t>
            </a:r>
            <a:r>
              <a:rPr lang="zh-CN" altLang="en-US"/>
              <a:t>收到来自</a:t>
            </a:r>
            <a:r>
              <a:rPr lang="en-US" altLang="zh-CN"/>
              <a:t> C1 </a:t>
            </a:r>
            <a:r>
              <a:rPr lang="zh-CN" altLang="en-US"/>
              <a:t>的</a:t>
            </a:r>
            <a:r>
              <a:rPr lang="en-US" altLang="zh-CN"/>
              <a:t> HO </a:t>
            </a:r>
            <a:r>
              <a:rPr lang="zh-CN" altLang="en-US"/>
              <a:t>报文。</a:t>
            </a:r>
            <a:endParaRPr lang="zh-CN" altLang="en-US"/>
          </a:p>
          <a:p>
            <a:pPr marL="285750" indent="-285750">
              <a:lnSpc>
                <a:spcPct val="120000"/>
              </a:lnSpc>
              <a:buFont typeface="Arial" panose="020B0604020202020204" pitchFamily="34" charset="0"/>
              <a:buChar char="•"/>
            </a:pPr>
            <a:r>
              <a:rPr lang="zh-CN" altLang="en-US"/>
              <a:t>如果接收</a:t>
            </a:r>
            <a:r>
              <a:rPr lang="en-US" altLang="zh-CN"/>
              <a:t>HO</a:t>
            </a:r>
            <a:r>
              <a:rPr lang="zh-CN" altLang="en-US"/>
              <a:t>的节点是普通主机，它需要先自我提升为骨干节点</a:t>
            </a:r>
            <a:r>
              <a:rPr lang="en-US" altLang="zh-CN"/>
              <a:t> </a:t>
            </a:r>
            <a:r>
              <a:rPr lang="zh-CN" altLang="en-US"/>
              <a:t>。</a:t>
            </a:r>
            <a:endParaRPr lang="zh-CN" altLang="en-US"/>
          </a:p>
          <a:p>
            <a:pPr marL="285750" indent="-285750">
              <a:lnSpc>
                <a:spcPct val="120000"/>
              </a:lnSpc>
              <a:buFont typeface="Arial" panose="020B0604020202020204" pitchFamily="34" charset="0"/>
              <a:buChar char="•"/>
            </a:pPr>
            <a:r>
              <a:rPr lang="zh-CN" altLang="en-US"/>
              <a:t>然后，</a:t>
            </a:r>
            <a:r>
              <a:rPr lang="en-US" altLang="zh-CN"/>
              <a:t>MN3 </a:t>
            </a:r>
            <a:r>
              <a:rPr lang="zh-CN" altLang="en-US"/>
              <a:t>在其</a:t>
            </a:r>
            <a:r>
              <a:rPr lang="en-US" altLang="zh-CN"/>
              <a:t>PIT</a:t>
            </a:r>
            <a:r>
              <a:rPr lang="zh-CN" altLang="en-US"/>
              <a:t>表中为这个</a:t>
            </a:r>
            <a:r>
              <a:rPr lang="en-US" altLang="zh-CN"/>
              <a:t> HO </a:t>
            </a:r>
            <a:r>
              <a:rPr lang="zh-CN" altLang="en-US"/>
              <a:t>请求创建一个新的条目，记录该修复请求来自</a:t>
            </a:r>
            <a:r>
              <a:rPr lang="en-US" altLang="zh-CN"/>
              <a:t> C1</a:t>
            </a:r>
            <a:r>
              <a:rPr lang="zh-CN" altLang="en-US"/>
              <a:t>。</a:t>
            </a:r>
            <a:endParaRPr lang="zh-CN" altLang="en-US"/>
          </a:p>
          <a:p>
            <a:pPr marL="285750" indent="-285750">
              <a:lnSpc>
                <a:spcPct val="120000"/>
              </a:lnSpc>
              <a:buFont typeface="Arial" panose="020B0604020202020204" pitchFamily="34" charset="0"/>
              <a:buChar char="•"/>
            </a:pPr>
            <a:r>
              <a:rPr lang="en-US" altLang="zh-CN"/>
              <a:t>MN3 </a:t>
            </a:r>
            <a:r>
              <a:rPr lang="zh-CN" altLang="en-US"/>
              <a:t>现在会像转发</a:t>
            </a:r>
            <a:r>
              <a:rPr lang="en-US" altLang="zh-CN"/>
              <a:t> BInt </a:t>
            </a:r>
            <a:r>
              <a:rPr lang="zh-CN" altLang="en-US"/>
              <a:t>一样，根据目标数据名称中的地理位置等信息，将这个</a:t>
            </a:r>
            <a:r>
              <a:rPr lang="en-US" altLang="zh-CN"/>
              <a:t>HO</a:t>
            </a:r>
            <a:r>
              <a:rPr lang="zh-CN" altLang="en-US"/>
              <a:t>报文转发出去，目标是</a:t>
            </a:r>
            <a:r>
              <a:rPr lang="en-US" altLang="zh-CN"/>
              <a:t>“</a:t>
            </a:r>
            <a:r>
              <a:rPr lang="zh-CN" altLang="en-US"/>
              <a:t>找到</a:t>
            </a:r>
            <a:r>
              <a:rPr lang="en-US" altLang="zh-CN"/>
              <a:t>”</a:t>
            </a:r>
            <a:r>
              <a:rPr lang="zh-CN" altLang="en-US"/>
              <a:t>原始路径上的任何一个节点。在这个例子中，它会把</a:t>
            </a:r>
            <a:r>
              <a:rPr lang="en-US" altLang="zh-CN"/>
              <a:t>HO</a:t>
            </a:r>
            <a:r>
              <a:rPr lang="zh-CN" altLang="en-US"/>
              <a:t>转发给</a:t>
            </a:r>
            <a:r>
              <a:rPr lang="en-US" altLang="zh-CN"/>
              <a:t>MN1</a:t>
            </a:r>
            <a:r>
              <a:rPr lang="zh-CN" altLang="en-US"/>
              <a:t>。</a:t>
            </a: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设计</a:t>
            </a:r>
            <a:r>
              <a:rPr lang="zh-CN" altLang="en-US"/>
              <a:t>方案</a:t>
            </a:r>
            <a:endParaRPr lang="zh-CN" altLang="en-US"/>
          </a:p>
        </p:txBody>
      </p:sp>
      <p:sp>
        <p:nvSpPr>
          <p:cNvPr id="8" name="文本框 7"/>
          <p:cNvSpPr txBox="1"/>
          <p:nvPr/>
        </p:nvSpPr>
        <p:spPr>
          <a:xfrm>
            <a:off x="529590" y="1035050"/>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EFDA</a:t>
            </a:r>
            <a:r>
              <a:rPr lang="zh-CN" altLang="en-US" sz="1800" b="1">
                <a:latin typeface="微软雅黑" panose="020B0503020204020204" pitchFamily="34" charset="-122"/>
                <a:ea typeface="微软雅黑" panose="020B0503020204020204" pitchFamily="34" charset="-122"/>
              </a:rPr>
              <a:t>方案设计：</a:t>
            </a:r>
            <a:r>
              <a:rPr lang="zh-CN" altLang="en-US" sz="1800" b="1">
                <a:latin typeface="微软雅黑" panose="020B0503020204020204" pitchFamily="34" charset="-122"/>
                <a:ea typeface="微软雅黑" panose="020B0503020204020204" pitchFamily="34" charset="-122"/>
              </a:rPr>
              <a:t>总结</a:t>
            </a:r>
            <a:endParaRPr lang="zh-CN" altLang="en-US" sz="1800" b="1">
              <a:latin typeface="微软雅黑" panose="020B0503020204020204" pitchFamily="34" charset="-122"/>
              <a:ea typeface="微软雅黑" panose="020B0503020204020204" pitchFamily="34" charset="-122"/>
            </a:endParaRPr>
          </a:p>
        </p:txBody>
      </p:sp>
      <p:sp>
        <p:nvSpPr>
          <p:cNvPr id="5" name="文本框 4"/>
          <p:cNvSpPr txBox="1"/>
          <p:nvPr/>
        </p:nvSpPr>
        <p:spPr>
          <a:xfrm>
            <a:off x="529590" y="1403350"/>
            <a:ext cx="4912995" cy="3404870"/>
          </a:xfrm>
          <a:prstGeom prst="rect">
            <a:avLst/>
          </a:prstGeom>
          <a:noFill/>
        </p:spPr>
        <p:txBody>
          <a:bodyPr wrap="square" rtlCol="0">
            <a:noAutofit/>
          </a:bodyPr>
          <a:p>
            <a:pPr>
              <a:lnSpc>
                <a:spcPct val="140000"/>
              </a:lnSpc>
            </a:pPr>
            <a:r>
              <a:rPr lang="en-US" altLang="zh-CN" b="1"/>
              <a:t>1. </a:t>
            </a:r>
            <a:r>
              <a:rPr lang="zh-CN" altLang="en-US" b="1"/>
              <a:t>静态</a:t>
            </a:r>
            <a:r>
              <a:rPr lang="en-US" altLang="zh-CN" b="1"/>
              <a:t>/</a:t>
            </a:r>
            <a:r>
              <a:rPr lang="zh-CN" altLang="en-US" b="1"/>
              <a:t>准备阶段：</a:t>
            </a:r>
            <a:endParaRPr lang="zh-CN" altLang="en-US" b="1"/>
          </a:p>
          <a:p>
            <a:pPr>
              <a:lnSpc>
                <a:spcPct val="140000"/>
              </a:lnSpc>
            </a:pPr>
            <a:r>
              <a:rPr lang="zh-CN" altLang="en-US"/>
              <a:t>节点间交换</a:t>
            </a:r>
            <a:r>
              <a:rPr lang="en-US" altLang="zh-CN"/>
              <a:t>Name Set -&gt; </a:t>
            </a:r>
            <a:r>
              <a:rPr lang="zh-CN" altLang="en-US"/>
              <a:t>动态选举出骨干节点</a:t>
            </a:r>
            <a:r>
              <a:rPr lang="en-US" altLang="zh-CN"/>
              <a:t> </a:t>
            </a:r>
            <a:endParaRPr lang="en-US" altLang="zh-CN"/>
          </a:p>
          <a:p>
            <a:pPr>
              <a:lnSpc>
                <a:spcPct val="140000"/>
              </a:lnSpc>
            </a:pPr>
            <a:r>
              <a:rPr lang="en-US" altLang="zh-CN"/>
              <a:t>-&gt; </a:t>
            </a:r>
            <a:r>
              <a:rPr lang="zh-CN" altLang="en-US"/>
              <a:t>形成覆盖网络。</a:t>
            </a:r>
            <a:endParaRPr lang="zh-CN" altLang="en-US"/>
          </a:p>
          <a:p>
            <a:pPr>
              <a:lnSpc>
                <a:spcPct val="140000"/>
              </a:lnSpc>
            </a:pPr>
            <a:r>
              <a:rPr lang="en-US" altLang="zh-CN" b="1"/>
              <a:t>2. </a:t>
            </a:r>
            <a:r>
              <a:rPr lang="zh-CN" altLang="en-US" b="1"/>
              <a:t>数据请求阶段</a:t>
            </a:r>
            <a:r>
              <a:rPr lang="en-US" altLang="zh-CN" b="1"/>
              <a:t> (Interest Flow):</a:t>
            </a:r>
            <a:endParaRPr lang="en-US" altLang="zh-CN" b="1"/>
          </a:p>
          <a:p>
            <a:pPr>
              <a:lnSpc>
                <a:spcPct val="140000"/>
              </a:lnSpc>
            </a:pPr>
            <a:r>
              <a:rPr lang="zh-CN" altLang="en-US"/>
              <a:t>消费者</a:t>
            </a:r>
            <a:r>
              <a:rPr lang="en-US" altLang="zh-CN"/>
              <a:t> </a:t>
            </a:r>
            <a:r>
              <a:rPr lang="zh-CN" altLang="en-US"/>
              <a:t>发起请求。</a:t>
            </a:r>
            <a:endParaRPr lang="zh-CN" altLang="en-US"/>
          </a:p>
          <a:p>
            <a:pPr marL="285750" indent="-285750">
              <a:lnSpc>
                <a:spcPct val="140000"/>
              </a:lnSpc>
              <a:buFont typeface="Arial" panose="020B0604020202020204" pitchFamily="34" charset="0"/>
              <a:buChar char="•"/>
            </a:pPr>
            <a:r>
              <a:rPr lang="zh-CN" altLang="en-US"/>
              <a:t>近场</a:t>
            </a:r>
            <a:r>
              <a:rPr lang="en-US" altLang="zh-CN"/>
              <a:t> -&gt; </a:t>
            </a:r>
            <a:r>
              <a:rPr lang="zh-CN" altLang="en-US"/>
              <a:t>发送</a:t>
            </a:r>
            <a:r>
              <a:rPr lang="en-US" altLang="zh-CN"/>
              <a:t> HInt -&gt; </a:t>
            </a:r>
            <a:r>
              <a:rPr lang="zh-CN" altLang="en-US"/>
              <a:t>生产者</a:t>
            </a:r>
            <a:r>
              <a:rPr lang="zh-CN" altLang="en-US"/>
              <a:t>直接响应。</a:t>
            </a:r>
            <a:endParaRPr lang="zh-CN" altLang="en-US"/>
          </a:p>
          <a:p>
            <a:pPr marL="285750" indent="-285750">
              <a:lnSpc>
                <a:spcPct val="140000"/>
              </a:lnSpc>
              <a:buFont typeface="Arial" panose="020B0604020202020204" pitchFamily="34" charset="0"/>
              <a:buChar char="•"/>
            </a:pPr>
            <a:r>
              <a:rPr lang="zh-CN" altLang="en-US"/>
              <a:t>远场</a:t>
            </a:r>
            <a:r>
              <a:rPr lang="en-US" altLang="zh-CN"/>
              <a:t> -&gt; </a:t>
            </a:r>
            <a:r>
              <a:rPr lang="zh-CN" altLang="en-US"/>
              <a:t>发送</a:t>
            </a:r>
            <a:r>
              <a:rPr lang="en-US" altLang="zh-CN"/>
              <a:t> BInt -&gt; </a:t>
            </a:r>
            <a:r>
              <a:rPr lang="zh-CN" altLang="en-US"/>
              <a:t>骨干网络</a:t>
            </a:r>
            <a:endParaRPr lang="zh-CN" altLang="en-US"/>
          </a:p>
          <a:p>
            <a:pPr indent="457200">
              <a:lnSpc>
                <a:spcPct val="140000"/>
              </a:lnSpc>
            </a:pPr>
            <a:r>
              <a:rPr lang="zh-CN" altLang="en-US"/>
              <a:t>逐跳定向单播</a:t>
            </a:r>
            <a:r>
              <a:rPr lang="en-US" altLang="zh-CN"/>
              <a:t> (</a:t>
            </a:r>
            <a:r>
              <a:rPr lang="zh-CN" altLang="en-US"/>
              <a:t>基于地理位置</a:t>
            </a:r>
            <a:r>
              <a:rPr lang="en-US" altLang="zh-CN"/>
              <a:t>+</a:t>
            </a:r>
            <a:r>
              <a:rPr lang="zh-CN" altLang="en-US"/>
              <a:t>链路稳定性</a:t>
            </a:r>
            <a:r>
              <a:rPr lang="en-US" altLang="zh-CN"/>
              <a:t>)</a:t>
            </a:r>
            <a:endParaRPr lang="en-US" altLang="zh-CN"/>
          </a:p>
          <a:p>
            <a:pPr indent="457200">
              <a:lnSpc>
                <a:spcPct val="140000"/>
              </a:lnSpc>
            </a:pPr>
            <a:r>
              <a:rPr lang="zh-CN" altLang="en-US"/>
              <a:t>中间节点进行请求聚合</a:t>
            </a:r>
            <a:r>
              <a:rPr lang="en-US" altLang="zh-CN"/>
              <a:t> (PIT)</a:t>
            </a:r>
            <a:endParaRPr lang="en-US" altLang="zh-CN"/>
          </a:p>
          <a:p>
            <a:pPr>
              <a:lnSpc>
                <a:spcPct val="140000"/>
              </a:lnSpc>
            </a:pPr>
            <a:r>
              <a:rPr lang="zh-CN" altLang="en-US"/>
              <a:t>最终</a:t>
            </a:r>
            <a:r>
              <a:rPr lang="en-US" altLang="zh-CN"/>
              <a:t> HInt </a:t>
            </a:r>
            <a:r>
              <a:rPr lang="zh-CN" altLang="en-US"/>
              <a:t>抵达数据区域</a:t>
            </a:r>
            <a:r>
              <a:rPr lang="en-US" altLang="zh-CN"/>
              <a:t> -&gt; </a:t>
            </a:r>
            <a:r>
              <a:rPr lang="zh-CN" altLang="en-US"/>
              <a:t>生产者响应。</a:t>
            </a:r>
            <a:endParaRPr lang="zh-CN" altLang="en-US"/>
          </a:p>
          <a:p>
            <a:pPr>
              <a:lnSpc>
                <a:spcPct val="120000"/>
              </a:lnSpc>
            </a:pPr>
            <a:endParaRPr lang="zh-CN" altLang="en-US"/>
          </a:p>
        </p:txBody>
      </p:sp>
      <p:sp>
        <p:nvSpPr>
          <p:cNvPr id="3" name="文本框 2"/>
          <p:cNvSpPr txBox="1"/>
          <p:nvPr/>
        </p:nvSpPr>
        <p:spPr>
          <a:xfrm>
            <a:off x="5982970" y="1640840"/>
            <a:ext cx="5107305" cy="3576955"/>
          </a:xfrm>
          <a:prstGeom prst="rect">
            <a:avLst/>
          </a:prstGeom>
          <a:noFill/>
        </p:spPr>
        <p:txBody>
          <a:bodyPr wrap="square" rtlCol="0" anchor="t">
            <a:spAutoFit/>
          </a:bodyPr>
          <a:p>
            <a:pPr>
              <a:lnSpc>
                <a:spcPct val="140000"/>
              </a:lnSpc>
            </a:pPr>
            <a:r>
              <a:rPr lang="en-US" altLang="zh-CN" b="1">
                <a:sym typeface="+mn-ea"/>
              </a:rPr>
              <a:t>3. </a:t>
            </a:r>
            <a:r>
              <a:rPr lang="zh-CN" altLang="en-US" b="1">
                <a:sym typeface="+mn-ea"/>
              </a:rPr>
              <a:t>数据返回阶段</a:t>
            </a:r>
            <a:r>
              <a:rPr lang="en-US" altLang="zh-CN" b="1">
                <a:sym typeface="+mn-ea"/>
              </a:rPr>
              <a:t> :</a:t>
            </a:r>
            <a:endParaRPr lang="en-US" altLang="zh-CN" b="1"/>
          </a:p>
          <a:p>
            <a:pPr marL="285750" indent="-285750">
              <a:lnSpc>
                <a:spcPct val="140000"/>
              </a:lnSpc>
              <a:buFont typeface="Arial" panose="020B0604020202020204" pitchFamily="34" charset="0"/>
              <a:buChar char="•"/>
            </a:pPr>
            <a:r>
              <a:rPr lang="zh-CN" altLang="en-US">
                <a:sym typeface="+mn-ea"/>
              </a:rPr>
              <a:t>数据包沿</a:t>
            </a:r>
            <a:r>
              <a:rPr lang="en-US" altLang="zh-CN">
                <a:sym typeface="+mn-ea"/>
              </a:rPr>
              <a:t> PIT </a:t>
            </a:r>
            <a:r>
              <a:rPr lang="zh-CN" altLang="en-US">
                <a:sym typeface="+mn-ea"/>
              </a:rPr>
              <a:t>构成的反向路径返回。</a:t>
            </a:r>
            <a:endParaRPr lang="zh-CN" altLang="en-US"/>
          </a:p>
          <a:p>
            <a:pPr marL="285750" indent="-285750">
              <a:lnSpc>
                <a:spcPct val="140000"/>
              </a:lnSpc>
              <a:buFont typeface="Arial" panose="020B0604020202020204" pitchFamily="34" charset="0"/>
              <a:buChar char="•"/>
            </a:pPr>
            <a:r>
              <a:rPr lang="zh-CN" altLang="en-US">
                <a:sym typeface="+mn-ea"/>
              </a:rPr>
              <a:t>中间骨干节点缓存</a:t>
            </a:r>
            <a:r>
              <a:rPr lang="en-US" altLang="zh-CN">
                <a:sym typeface="+mn-ea"/>
              </a:rPr>
              <a:t>(CS)</a:t>
            </a:r>
            <a:r>
              <a:rPr lang="zh-CN" altLang="en-US">
                <a:sym typeface="+mn-ea"/>
              </a:rPr>
              <a:t>、转发并成为新提供者。</a:t>
            </a:r>
            <a:endParaRPr lang="zh-CN" altLang="en-US"/>
          </a:p>
          <a:p>
            <a:pPr>
              <a:lnSpc>
                <a:spcPct val="140000"/>
              </a:lnSpc>
            </a:pPr>
            <a:r>
              <a:rPr lang="en-US" altLang="zh-CN" b="1">
                <a:sym typeface="+mn-ea"/>
              </a:rPr>
              <a:t>4. </a:t>
            </a:r>
            <a:r>
              <a:rPr lang="zh-CN" altLang="en-US" b="1">
                <a:sym typeface="+mn-ea"/>
              </a:rPr>
              <a:t>异常处理</a:t>
            </a:r>
            <a:r>
              <a:rPr lang="en-US" altLang="zh-CN" b="1">
                <a:sym typeface="+mn-ea"/>
              </a:rPr>
              <a:t> :</a:t>
            </a:r>
            <a:endParaRPr lang="en-US" altLang="zh-CN" b="1"/>
          </a:p>
          <a:p>
            <a:pPr marL="285750" indent="-285750">
              <a:lnSpc>
                <a:spcPct val="140000"/>
              </a:lnSpc>
              <a:buFont typeface="Arial" panose="020B0604020202020204" pitchFamily="34" charset="0"/>
              <a:buChar char="•"/>
            </a:pPr>
            <a:r>
              <a:rPr lang="zh-CN" altLang="en-US">
                <a:sym typeface="+mn-ea"/>
              </a:rPr>
              <a:t>链路中断</a:t>
            </a:r>
            <a:r>
              <a:rPr lang="en-US" altLang="zh-CN">
                <a:sym typeface="+mn-ea"/>
              </a:rPr>
              <a:t> -&gt; </a:t>
            </a:r>
            <a:r>
              <a:rPr lang="zh-CN" altLang="en-US">
                <a:sym typeface="+mn-ea"/>
              </a:rPr>
              <a:t>发起</a:t>
            </a:r>
            <a:r>
              <a:rPr lang="en-US" altLang="zh-CN">
                <a:sym typeface="+mn-ea"/>
              </a:rPr>
              <a:t> HO </a:t>
            </a:r>
            <a:r>
              <a:rPr lang="zh-CN" altLang="en-US">
                <a:sym typeface="+mn-ea"/>
              </a:rPr>
              <a:t>报文。</a:t>
            </a:r>
            <a:endParaRPr lang="zh-CN" altLang="en-US"/>
          </a:p>
          <a:p>
            <a:pPr marL="285750" indent="-285750">
              <a:lnSpc>
                <a:spcPct val="140000"/>
              </a:lnSpc>
              <a:buFont typeface="Arial" panose="020B0604020202020204" pitchFamily="34" charset="0"/>
              <a:buChar char="•"/>
            </a:pPr>
            <a:r>
              <a:rPr lang="en-US" altLang="zh-CN">
                <a:sym typeface="+mn-ea"/>
              </a:rPr>
              <a:t>HO </a:t>
            </a:r>
            <a:r>
              <a:rPr lang="zh-CN" altLang="en-US">
                <a:sym typeface="+mn-ea"/>
              </a:rPr>
              <a:t>报文沿可靠路径寻找原始返回路径。</a:t>
            </a:r>
            <a:endParaRPr lang="zh-CN" altLang="en-US"/>
          </a:p>
          <a:p>
            <a:pPr marL="285750" indent="-285750">
              <a:lnSpc>
                <a:spcPct val="140000"/>
              </a:lnSpc>
              <a:buFont typeface="Arial" panose="020B0604020202020204" pitchFamily="34" charset="0"/>
              <a:buChar char="•"/>
            </a:pPr>
            <a:r>
              <a:rPr lang="zh-CN" altLang="en-US">
                <a:sym typeface="+mn-ea"/>
              </a:rPr>
              <a:t>在原始路径上的节点</a:t>
            </a:r>
            <a:r>
              <a:rPr lang="en-US" altLang="zh-CN">
                <a:sym typeface="+mn-ea"/>
              </a:rPr>
              <a:t> “</a:t>
            </a:r>
            <a:r>
              <a:rPr lang="zh-CN" altLang="en-US">
                <a:sym typeface="+mn-ea"/>
              </a:rPr>
              <a:t>钩住</a:t>
            </a:r>
            <a:r>
              <a:rPr lang="en-US" altLang="zh-CN">
                <a:sym typeface="+mn-ea"/>
              </a:rPr>
              <a:t>” HO </a:t>
            </a:r>
            <a:r>
              <a:rPr lang="zh-CN" altLang="en-US">
                <a:sym typeface="+mn-ea"/>
              </a:rPr>
              <a:t>请求</a:t>
            </a:r>
            <a:r>
              <a:rPr lang="en-US" altLang="zh-CN">
                <a:sym typeface="+mn-ea"/>
              </a:rPr>
              <a:t> -&gt; </a:t>
            </a:r>
            <a:r>
              <a:rPr lang="zh-CN" altLang="en-US">
                <a:sym typeface="+mn-ea"/>
              </a:rPr>
              <a:t>重建数据通路。</a:t>
            </a:r>
            <a:endParaRPr lang="zh-CN" altLang="en-US"/>
          </a:p>
          <a:p>
            <a:pPr>
              <a:lnSpc>
                <a:spcPct val="140000"/>
              </a:lnSpc>
            </a:pPr>
            <a:endParaRPr lang="zh-CN" altLang="en-US">
              <a:sym typeface="+mn-ea"/>
            </a:endParaRPr>
          </a:p>
        </p:txBody>
      </p:sp>
      <p:sp>
        <p:nvSpPr>
          <p:cNvPr id="6" name="文本框 5"/>
          <p:cNvSpPr txBox="1"/>
          <p:nvPr/>
        </p:nvSpPr>
        <p:spPr>
          <a:xfrm>
            <a:off x="529590" y="5547360"/>
            <a:ext cx="10781030" cy="865505"/>
          </a:xfrm>
          <a:prstGeom prst="rect">
            <a:avLst/>
          </a:prstGeom>
          <a:noFill/>
        </p:spPr>
        <p:txBody>
          <a:bodyPr wrap="square" rtlCol="0" anchor="t">
            <a:spAutoFit/>
          </a:bodyPr>
          <a:p>
            <a:pPr>
              <a:lnSpc>
                <a:spcPct val="140000"/>
              </a:lnSpc>
            </a:pPr>
            <a:r>
              <a:rPr lang="zh-CN" altLang="en-US" b="1">
                <a:sym typeface="+mn-ea"/>
              </a:rPr>
              <a:t>总结：</a:t>
            </a:r>
            <a:r>
              <a:rPr lang="en-US" altLang="zh-CN" b="1">
                <a:sym typeface="+mn-ea"/>
              </a:rPr>
              <a:t>EFDA</a:t>
            </a:r>
            <a:r>
              <a:rPr lang="zh-CN" altLang="en-US" b="1">
                <a:sym typeface="+mn-ea"/>
              </a:rPr>
              <a:t>通过</a:t>
            </a:r>
            <a:r>
              <a:rPr lang="en-US" altLang="zh-CN" b="1">
                <a:sym typeface="+mn-ea"/>
              </a:rPr>
              <a:t>“</a:t>
            </a:r>
            <a:r>
              <a:rPr lang="zh-CN" altLang="en-US" b="1">
                <a:sym typeface="+mn-ea"/>
              </a:rPr>
              <a:t>骨干选举</a:t>
            </a:r>
            <a:r>
              <a:rPr lang="en-US" altLang="zh-CN" b="1">
                <a:sym typeface="+mn-ea"/>
              </a:rPr>
              <a:t>”</a:t>
            </a:r>
            <a:r>
              <a:rPr lang="zh-CN" altLang="en-US" b="1">
                <a:sym typeface="+mn-ea"/>
              </a:rPr>
              <a:t>、</a:t>
            </a:r>
            <a:r>
              <a:rPr lang="en-US" altLang="zh-CN" b="1">
                <a:sym typeface="+mn-ea"/>
              </a:rPr>
              <a:t>“</a:t>
            </a:r>
            <a:r>
              <a:rPr lang="zh-CN" altLang="en-US" b="1">
                <a:sym typeface="+mn-ea"/>
              </a:rPr>
              <a:t>定向单播</a:t>
            </a:r>
            <a:r>
              <a:rPr lang="en-US" altLang="zh-CN" b="1">
                <a:sym typeface="+mn-ea"/>
              </a:rPr>
              <a:t>”</a:t>
            </a:r>
            <a:r>
              <a:rPr lang="zh-CN" altLang="en-US" b="1">
                <a:sym typeface="+mn-ea"/>
              </a:rPr>
              <a:t>、</a:t>
            </a:r>
            <a:r>
              <a:rPr lang="en-US" altLang="zh-CN" b="1">
                <a:sym typeface="+mn-ea"/>
              </a:rPr>
              <a:t>“</a:t>
            </a:r>
            <a:r>
              <a:rPr lang="zh-CN" altLang="en-US" b="1">
                <a:sym typeface="+mn-ea"/>
              </a:rPr>
              <a:t>链路稳定选择</a:t>
            </a:r>
            <a:r>
              <a:rPr lang="en-US" altLang="zh-CN" b="1">
                <a:sym typeface="+mn-ea"/>
              </a:rPr>
              <a:t>”</a:t>
            </a:r>
            <a:r>
              <a:rPr lang="zh-CN" altLang="en-US" b="1">
                <a:sym typeface="+mn-ea"/>
              </a:rPr>
              <a:t>和</a:t>
            </a:r>
            <a:r>
              <a:rPr lang="en-US" altLang="zh-CN" b="1">
                <a:sym typeface="+mn-ea"/>
              </a:rPr>
              <a:t>“</a:t>
            </a:r>
            <a:r>
              <a:rPr lang="zh-CN" altLang="en-US" b="1">
                <a:sym typeface="+mn-ea"/>
              </a:rPr>
              <a:t>主动路径修复</a:t>
            </a:r>
            <a:r>
              <a:rPr lang="en-US" altLang="zh-CN" b="1">
                <a:sym typeface="+mn-ea"/>
              </a:rPr>
              <a:t>”</a:t>
            </a:r>
            <a:r>
              <a:rPr lang="zh-CN" altLang="en-US" b="1">
                <a:sym typeface="+mn-ea"/>
              </a:rPr>
              <a:t>四大核心设计，构建了一个在高度动态</a:t>
            </a:r>
            <a:r>
              <a:rPr lang="en-US" altLang="zh-CN" b="1">
                <a:sym typeface="+mn-ea"/>
              </a:rPr>
              <a:t>MANET</a:t>
            </a:r>
            <a:r>
              <a:rPr lang="zh-CN" altLang="en-US" b="1">
                <a:sym typeface="+mn-ea"/>
              </a:rPr>
              <a:t>环境中，既高效又鲁棒的命名数据获取方案。</a:t>
            </a:r>
            <a:endParaRPr lang="zh-CN" altLang="en-US" b="1">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035937" y="1228383"/>
            <a:ext cx="482600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rPr>
              <a:t>摘要</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2"/>
            </p:custDataLst>
          </p:nvPr>
        </p:nvSpPr>
        <p:spPr>
          <a:xfrm>
            <a:off x="4035937" y="2071663"/>
            <a:ext cx="4826000" cy="529590"/>
          </a:xfrm>
          <a:prstGeom prst="rect">
            <a:avLst/>
          </a:prstGeom>
          <a:noFill/>
        </p:spPr>
        <p:txBody>
          <a:bodyPr wrap="square" rtlCol="0" anchor="ctr" anchorCtr="0">
            <a:noAutofit/>
          </a:bodyPr>
          <a:lstStyle/>
          <a:p>
            <a:pPr>
              <a:lnSpc>
                <a:spcPct val="120000"/>
              </a:lnSpc>
              <a:spcBef>
                <a:spcPts val="0"/>
              </a:spcBef>
              <a:spcAft>
                <a:spcPts val="0"/>
              </a:spcAft>
              <a:buSzPct val="100000"/>
            </a:pP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2. 研究背景</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custDataLst>
              <p:tags r:id="rId3"/>
            </p:custDataLst>
          </p:nvPr>
        </p:nvSpPr>
        <p:spPr>
          <a:xfrm>
            <a:off x="4036060" y="2914650"/>
            <a:ext cx="7768590" cy="529590"/>
          </a:xfrm>
          <a:prstGeom prst="rect">
            <a:avLst/>
          </a:prstGeom>
          <a:noFill/>
        </p:spPr>
        <p:txBody>
          <a:bodyPr wrap="square" rtlCol="0" anchor="ctr" anchorCtr="0">
            <a:noAutofit/>
          </a:bodyPr>
          <a:lstStyle/>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问题与挑战</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4"/>
            </p:custDataLst>
          </p:nvPr>
        </p:nvSpPr>
        <p:spPr>
          <a:xfrm>
            <a:off x="1079491" y="2095491"/>
            <a:ext cx="2286018" cy="2286018"/>
          </a:xfrm>
          <a:prstGeom prst="rect">
            <a:avLst/>
          </a:prstGeom>
          <a:noFill/>
          <a:ln w="1587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6" name="矩形 15"/>
          <p:cNvSpPr/>
          <p:nvPr>
            <p:custDataLst>
              <p:tags r:id="rId5"/>
            </p:custDataLst>
          </p:nvPr>
        </p:nvSpPr>
        <p:spPr>
          <a:xfrm>
            <a:off x="952491" y="1968491"/>
            <a:ext cx="2286018" cy="2286018"/>
          </a:xfrm>
          <a:prstGeom prst="rect">
            <a:avLst/>
          </a:prstGeom>
          <a:noFill/>
          <a:ln w="34925">
            <a:solidFill>
              <a:srgbClr val="33333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latin typeface="Arial" panose="020B0604020202020204" pitchFamily="34" charset="0"/>
              <a:ea typeface="微软雅黑" panose="020B0503020204020204" pitchFamily="34" charset="-122"/>
            </a:endParaRPr>
          </a:p>
        </p:txBody>
      </p:sp>
      <p:sp>
        <p:nvSpPr>
          <p:cNvPr id="18" name="文本框 17"/>
          <p:cNvSpPr txBox="1"/>
          <p:nvPr>
            <p:custDataLst>
              <p:tags r:id="rId6"/>
            </p:custDataLst>
          </p:nvPr>
        </p:nvSpPr>
        <p:spPr>
          <a:xfrm>
            <a:off x="1502370" y="2250733"/>
            <a:ext cx="1107996" cy="1753235"/>
          </a:xfrm>
          <a:prstGeom prst="rect">
            <a:avLst/>
          </a:prstGeom>
          <a:noFill/>
        </p:spPr>
        <p:txBody>
          <a:bodyPr vert="eaVert" wrap="square" rtlCol="0" anchor="ctr" anchorCtr="0">
            <a:normAutofit/>
          </a:bodyPr>
          <a:lstStyle/>
          <a:p>
            <a:pPr marL="0" indent="0" algn="dist">
              <a:lnSpc>
                <a:spcPct val="100000"/>
              </a:lnSpc>
              <a:spcBef>
                <a:spcPts val="0"/>
              </a:spcBef>
              <a:spcAft>
                <a:spcPts val="0"/>
              </a:spcAft>
              <a:buSzPct val="100000"/>
              <a:buNone/>
            </a:pPr>
            <a:r>
              <a:rPr lang="zh-CN" altLang="en-US" sz="6000" spc="200" dirty="0">
                <a:solidFill>
                  <a:srgbClr val="8F000B"/>
                </a:solidFill>
                <a:latin typeface="Arial" panose="020B0604020202020204" pitchFamily="34" charset="0"/>
                <a:ea typeface="汉仪旗黑-85S" panose="00020600040101010101" pitchFamily="18" charset="-122"/>
              </a:rPr>
              <a:t>目录</a:t>
            </a:r>
            <a:endParaRPr lang="zh-CN" altLang="en-US" sz="6000" spc="200" dirty="0">
              <a:solidFill>
                <a:srgbClr val="8F000B"/>
              </a:solidFill>
              <a:latin typeface="Arial" panose="020B0604020202020204" pitchFamily="34" charset="0"/>
              <a:ea typeface="汉仪旗黑-85S" panose="00020600040101010101" pitchFamily="18" charset="-122"/>
            </a:endParaRPr>
          </a:p>
        </p:txBody>
      </p:sp>
      <p:sp>
        <p:nvSpPr>
          <p:cNvPr id="2" name="文本框 1"/>
          <p:cNvSpPr txBox="1"/>
          <p:nvPr>
            <p:custDataLst>
              <p:tags r:id="rId7"/>
            </p:custDataLst>
          </p:nvPr>
        </p:nvSpPr>
        <p:spPr>
          <a:xfrm>
            <a:off x="4035937" y="375822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动机与创新</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8"/>
            </p:custDataLst>
          </p:nvPr>
        </p:nvSpPr>
        <p:spPr>
          <a:xfrm>
            <a:off x="4035937" y="5286033"/>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rPr>
              <a:t>实验评估</a:t>
            </a:r>
            <a:endParaRPr lang="zh-CN" altLang="en-US" sz="2800" b="1" spc="200" dirty="0">
              <a:solidFill>
                <a:srgbClr val="8F000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custDataLst>
              <p:tags r:id="rId9"/>
            </p:custDataLst>
          </p:nvPr>
        </p:nvSpPr>
        <p:spPr>
          <a:xfrm>
            <a:off x="4035937" y="4522128"/>
            <a:ext cx="4826000" cy="529590"/>
          </a:xfrm>
          <a:prstGeom prst="rect">
            <a:avLst/>
          </a:prstGeom>
          <a:noFill/>
        </p:spPr>
        <p:txBody>
          <a:bodyPr wrap="square" rtlCol="0" anchor="ctr" anchorCtr="0">
            <a:noAutofit/>
          </a:bodyPr>
          <a:p>
            <a:pPr lvl="0">
              <a:lnSpc>
                <a:spcPct val="120000"/>
              </a:lnSpc>
              <a:spcBef>
                <a:spcPts val="0"/>
              </a:spcBef>
              <a:spcAft>
                <a:spcPts val="0"/>
              </a:spcAft>
              <a:buSzPct val="100000"/>
            </a:pPr>
            <a:r>
              <a:rPr lang="en-US" altLang="zh-CN"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rPr>
              <a:t>设计方案</a:t>
            </a:r>
            <a:endParaRPr lang="zh-CN" altLang="en-US" sz="2800" b="1" spc="200" dirty="0">
              <a:solidFill>
                <a:srgbClr val="D9D9D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实验</a:t>
            </a:r>
            <a:r>
              <a:rPr lang="zh-CN" altLang="en-US"/>
              <a:t>评估</a:t>
            </a:r>
            <a:endParaRPr lang="zh-CN" altLang="en-US"/>
          </a:p>
        </p:txBody>
      </p:sp>
      <p:sp>
        <p:nvSpPr>
          <p:cNvPr id="8" name="文本框 7"/>
          <p:cNvSpPr txBox="1"/>
          <p:nvPr/>
        </p:nvSpPr>
        <p:spPr>
          <a:xfrm>
            <a:off x="529590" y="1035050"/>
            <a:ext cx="6843395" cy="368300"/>
          </a:xfrm>
          <a:prstGeom prst="rect">
            <a:avLst/>
          </a:prstGeom>
          <a:noFill/>
        </p:spPr>
        <p:txBody>
          <a:bodyPr wrap="square" rtlCol="0">
            <a:spAutoFit/>
          </a:bodyPr>
          <a:p>
            <a:r>
              <a:rPr lang="en-US" altLang="zh-CN" sz="1800" b="1">
                <a:latin typeface="微软雅黑" panose="020B0503020204020204" pitchFamily="34" charset="-122"/>
                <a:ea typeface="微软雅黑" panose="020B0503020204020204" pitchFamily="34" charset="-122"/>
              </a:rPr>
              <a:t>1. </a:t>
            </a:r>
            <a:r>
              <a:rPr lang="zh-CN" altLang="en-US" sz="1800" b="1">
                <a:latin typeface="微软雅黑" panose="020B0503020204020204" pitchFamily="34" charset="-122"/>
                <a:ea typeface="微软雅黑" panose="020B0503020204020204" pitchFamily="34" charset="-122"/>
              </a:rPr>
              <a:t>仿真环境与参数</a:t>
            </a:r>
            <a:endParaRPr lang="zh-CN" altLang="en-US" sz="1800" b="1">
              <a:latin typeface="微软雅黑" panose="020B0503020204020204" pitchFamily="34" charset="-122"/>
              <a:ea typeface="微软雅黑" panose="020B0503020204020204" pitchFamily="34" charset="-122"/>
            </a:endParaRPr>
          </a:p>
        </p:txBody>
      </p:sp>
      <p:sp>
        <p:nvSpPr>
          <p:cNvPr id="5" name="文本框 4"/>
          <p:cNvSpPr txBox="1"/>
          <p:nvPr/>
        </p:nvSpPr>
        <p:spPr>
          <a:xfrm>
            <a:off x="529590" y="1403350"/>
            <a:ext cx="5789295" cy="2886075"/>
          </a:xfrm>
          <a:prstGeom prst="rect">
            <a:avLst/>
          </a:prstGeom>
          <a:noFill/>
        </p:spPr>
        <p:txBody>
          <a:bodyPr wrap="square" rtlCol="0">
            <a:noAutofit/>
          </a:bodyPr>
          <a:p>
            <a:pPr>
              <a:lnSpc>
                <a:spcPct val="140000"/>
              </a:lnSpc>
            </a:pPr>
            <a:r>
              <a:rPr lang="zh-CN" altLang="en-US"/>
              <a:t>仿真平台：</a:t>
            </a:r>
            <a:r>
              <a:rPr lang="en-US" altLang="zh-CN"/>
              <a:t> NS-3 (Network Simulator 3)</a:t>
            </a:r>
            <a:r>
              <a:rPr lang="zh-CN" altLang="en-US"/>
              <a:t>，一个业界与学术界广泛使用的高精度、离散事件网络模拟器。</a:t>
            </a:r>
            <a:endParaRPr lang="zh-CN" altLang="en-US"/>
          </a:p>
          <a:p>
            <a:pPr>
              <a:lnSpc>
                <a:spcPct val="140000"/>
              </a:lnSpc>
            </a:pPr>
            <a:r>
              <a:rPr lang="zh-CN" altLang="en-US"/>
              <a:t>核心参数</a:t>
            </a:r>
            <a:r>
              <a:rPr lang="en-US" altLang="zh-CN"/>
              <a:t> (</a:t>
            </a:r>
            <a:r>
              <a:rPr lang="zh-CN" altLang="en-US"/>
              <a:t>源自</a:t>
            </a:r>
            <a:r>
              <a:rPr lang="en-US" altLang="zh-CN"/>
              <a:t>Table 2)</a:t>
            </a:r>
            <a:r>
              <a:rPr lang="zh-CN" altLang="en-US"/>
              <a:t>：</a:t>
            </a:r>
            <a:endParaRPr lang="zh-CN" altLang="en-US"/>
          </a:p>
          <a:p>
            <a:pPr>
              <a:lnSpc>
                <a:spcPct val="140000"/>
              </a:lnSpc>
            </a:pPr>
            <a:r>
              <a:rPr lang="zh-CN" altLang="en-US"/>
              <a:t>仿真区域：</a:t>
            </a:r>
            <a:r>
              <a:rPr lang="en-US" altLang="zh-CN"/>
              <a:t> 1 km x 1 km</a:t>
            </a:r>
            <a:r>
              <a:rPr lang="zh-CN" altLang="en-US"/>
              <a:t>，一个典型的城市街区尺度。</a:t>
            </a:r>
            <a:endParaRPr lang="zh-CN" altLang="en-US"/>
          </a:p>
          <a:p>
            <a:pPr>
              <a:lnSpc>
                <a:spcPct val="140000"/>
              </a:lnSpc>
            </a:pPr>
            <a:r>
              <a:rPr lang="zh-CN" altLang="en-US"/>
              <a:t>节点总数：</a:t>
            </a:r>
            <a:r>
              <a:rPr lang="en-US" altLang="zh-CN"/>
              <a:t> 200</a:t>
            </a:r>
            <a:r>
              <a:rPr lang="zh-CN" altLang="en-US"/>
              <a:t>个，模拟一个中等密度的网络。</a:t>
            </a:r>
            <a:endParaRPr lang="zh-CN" altLang="en-US"/>
          </a:p>
          <a:p>
            <a:pPr>
              <a:lnSpc>
                <a:spcPct val="140000"/>
              </a:lnSpc>
            </a:pPr>
            <a:r>
              <a:rPr lang="zh-CN" altLang="en-US"/>
              <a:t>移动模型：</a:t>
            </a:r>
            <a:r>
              <a:rPr lang="en-US" altLang="zh-CN"/>
              <a:t> </a:t>
            </a:r>
            <a:r>
              <a:rPr lang="zh-CN" altLang="en-US"/>
              <a:t>随机路径点模型</a:t>
            </a:r>
            <a:r>
              <a:rPr lang="en-US" altLang="zh-CN"/>
              <a:t> (Random Waypoint)</a:t>
            </a:r>
            <a:r>
              <a:rPr lang="zh-CN" altLang="en-US"/>
              <a:t>，这是</a:t>
            </a:r>
            <a:r>
              <a:rPr lang="en-US" altLang="zh-CN"/>
              <a:t>MANET</a:t>
            </a:r>
            <a:r>
              <a:rPr lang="zh-CN" altLang="en-US"/>
              <a:t>研究中最常用、最经典的移动模型。</a:t>
            </a:r>
            <a:endParaRPr lang="zh-CN" altLang="en-US"/>
          </a:p>
          <a:p>
            <a:pPr>
              <a:lnSpc>
                <a:spcPct val="140000"/>
              </a:lnSpc>
            </a:pPr>
            <a:r>
              <a:rPr lang="zh-CN" altLang="en-US"/>
              <a:t>移动速度：</a:t>
            </a:r>
            <a:r>
              <a:rPr lang="en-US" altLang="zh-CN"/>
              <a:t> 4-7 km/h</a:t>
            </a:r>
            <a:r>
              <a:rPr lang="zh-CN" altLang="en-US"/>
              <a:t>，模拟步行人群的慢速移动场景，契合了智能手机、便携传感器等应用。</a:t>
            </a:r>
            <a:endParaRPr lang="zh-CN" altLang="en-US"/>
          </a:p>
          <a:p>
            <a:pPr>
              <a:lnSpc>
                <a:spcPct val="140000"/>
              </a:lnSpc>
            </a:pPr>
            <a:r>
              <a:rPr lang="zh-CN" altLang="en-US"/>
              <a:t>通信协议：</a:t>
            </a:r>
            <a:r>
              <a:rPr lang="en-US" altLang="zh-CN"/>
              <a:t> IEEE 802.11 (Wi-Fi)</a:t>
            </a:r>
            <a:r>
              <a:rPr lang="zh-CN" altLang="en-US"/>
              <a:t>，模拟现实中的无线局域网通信。</a:t>
            </a:r>
            <a:endParaRPr lang="zh-CN" altLang="en-US"/>
          </a:p>
          <a:p>
            <a:pPr>
              <a:lnSpc>
                <a:spcPct val="140000"/>
              </a:lnSpc>
            </a:pPr>
            <a:r>
              <a:rPr lang="zh-CN" altLang="en-US"/>
              <a:t>仿真时长：</a:t>
            </a:r>
            <a:r>
              <a:rPr lang="en-US" altLang="zh-CN"/>
              <a:t> 2000</a:t>
            </a:r>
            <a:r>
              <a:rPr lang="zh-CN" altLang="en-US"/>
              <a:t>秒，保证网络拓扑充分变化，结果具有统计意义。</a:t>
            </a:r>
            <a:endParaRPr lang="zh-CN" altLang="en-US"/>
          </a:p>
        </p:txBody>
      </p:sp>
      <p:pic>
        <p:nvPicPr>
          <p:cNvPr id="2" name="图片 1"/>
          <p:cNvPicPr>
            <a:picLocks noChangeAspect="1"/>
          </p:cNvPicPr>
          <p:nvPr/>
        </p:nvPicPr>
        <p:blipFill>
          <a:blip r:embed="rId1"/>
          <a:stretch>
            <a:fillRect/>
          </a:stretch>
        </p:blipFill>
        <p:spPr>
          <a:xfrm>
            <a:off x="6748780" y="2175510"/>
            <a:ext cx="5064760" cy="3101975"/>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实验</a:t>
            </a:r>
            <a:r>
              <a:rPr lang="zh-CN" altLang="en-US"/>
              <a:t>评估</a:t>
            </a:r>
            <a:endParaRPr lang="zh-CN" altLang="en-US"/>
          </a:p>
        </p:txBody>
      </p:sp>
      <p:sp>
        <p:nvSpPr>
          <p:cNvPr id="5" name="文本框 4"/>
          <p:cNvSpPr txBox="1"/>
          <p:nvPr/>
        </p:nvSpPr>
        <p:spPr>
          <a:xfrm>
            <a:off x="615950" y="1184275"/>
            <a:ext cx="10628630" cy="2886075"/>
          </a:xfrm>
          <a:prstGeom prst="rect">
            <a:avLst/>
          </a:prstGeom>
          <a:noFill/>
        </p:spPr>
        <p:txBody>
          <a:bodyPr wrap="square" rtlCol="0">
            <a:noAutofit/>
          </a:bodyPr>
          <a:p>
            <a:pPr>
              <a:lnSpc>
                <a:spcPct val="160000"/>
              </a:lnSpc>
            </a:pPr>
            <a:r>
              <a:rPr lang="en-US" altLang="zh-CN" b="1">
                <a:latin typeface="微软雅黑" panose="020B0503020204020204" pitchFamily="34" charset="-122"/>
                <a:ea typeface="微软雅黑" panose="020B0503020204020204" pitchFamily="34" charset="-122"/>
                <a:sym typeface="+mn-ea"/>
              </a:rPr>
              <a:t>2. </a:t>
            </a:r>
            <a:r>
              <a:rPr lang="zh-CN" altLang="en-US" b="1">
                <a:latin typeface="微软雅黑" panose="020B0503020204020204" pitchFamily="34" charset="-122"/>
                <a:ea typeface="微软雅黑" panose="020B0503020204020204" pitchFamily="34" charset="-122"/>
                <a:sym typeface="+mn-ea"/>
              </a:rPr>
              <a:t>对比方案</a:t>
            </a:r>
            <a:endParaRPr lang="zh-CN" altLang="en-US" b="1">
              <a:latin typeface="微软雅黑" panose="020B0503020204020204" pitchFamily="34" charset="-122"/>
              <a:ea typeface="微软雅黑" panose="020B0503020204020204" pitchFamily="34" charset="-122"/>
            </a:endParaRPr>
          </a:p>
          <a:p>
            <a:pPr>
              <a:lnSpc>
                <a:spcPct val="160000"/>
              </a:lnSpc>
            </a:pPr>
            <a:r>
              <a:rPr lang="en-US" altLang="zh-CN"/>
              <a:t>LOMCF: </a:t>
            </a:r>
            <a:r>
              <a:rPr lang="zh-CN" altLang="en-US"/>
              <a:t>一种先进的、基于</a:t>
            </a:r>
            <a:r>
              <a:rPr lang="en-US" altLang="zh-CN"/>
              <a:t>NDN</a:t>
            </a:r>
            <a:r>
              <a:rPr lang="zh-CN" altLang="en-US"/>
              <a:t>的</a:t>
            </a:r>
            <a:r>
              <a:rPr lang="en-US" altLang="zh-CN"/>
              <a:t>MANET</a:t>
            </a:r>
            <a:r>
              <a:rPr lang="zh-CN" altLang="en-US"/>
              <a:t>转发与缓存方案。</a:t>
            </a:r>
            <a:endParaRPr lang="zh-CN" altLang="en-US"/>
          </a:p>
          <a:p>
            <a:pPr>
              <a:lnSpc>
                <a:spcPct val="160000"/>
              </a:lnSpc>
            </a:pPr>
            <a:r>
              <a:rPr lang="zh-CN" altLang="en-US" sz="1800" b="1">
                <a:latin typeface="微软雅黑" panose="020B0503020204020204" pitchFamily="34" charset="-122"/>
                <a:ea typeface="微软雅黑" panose="020B0503020204020204" pitchFamily="34" charset="-122"/>
              </a:rPr>
              <a:t>3. 实验</a:t>
            </a:r>
            <a:r>
              <a:rPr lang="zh-CN" altLang="en-US" sz="1800" b="1">
                <a:latin typeface="微软雅黑" panose="020B0503020204020204" pitchFamily="34" charset="-122"/>
                <a:ea typeface="微软雅黑" panose="020B0503020204020204" pitchFamily="34" charset="-122"/>
              </a:rPr>
              <a:t>步骤</a:t>
            </a:r>
            <a:endParaRPr lang="zh-CN" altLang="en-US" sz="1800" b="1">
              <a:latin typeface="微软雅黑" panose="020B0503020204020204" pitchFamily="34" charset="-122"/>
              <a:ea typeface="微软雅黑" panose="020B0503020204020204" pitchFamily="34" charset="-122"/>
            </a:endParaRPr>
          </a:p>
          <a:p>
            <a:pPr marL="285750" indent="-285750">
              <a:lnSpc>
                <a:spcPct val="160000"/>
              </a:lnSpc>
              <a:buFont typeface="Arial" panose="020B0604020202020204" pitchFamily="34" charset="0"/>
              <a:buChar char="•"/>
            </a:pPr>
            <a:r>
              <a:rPr lang="zh-CN" altLang="en-US" sz="1800"/>
              <a:t>第一阶段: 节点正常发起数据请求并获取数据。</a:t>
            </a:r>
            <a:endParaRPr lang="zh-CN" altLang="en-US" sz="1800"/>
          </a:p>
          <a:p>
            <a:pPr marL="285750" indent="-285750">
              <a:lnSpc>
                <a:spcPct val="160000"/>
              </a:lnSpc>
              <a:buFont typeface="Arial" panose="020B0604020202020204" pitchFamily="34" charset="0"/>
              <a:buChar char="•"/>
            </a:pPr>
            <a:r>
              <a:rPr lang="zh-CN" altLang="en-US" sz="1800"/>
              <a:t>第二阶段 : 当第一阶段中因节点移动导致链路中断时，启动移动性支持算法进行路径修复，修复成功后继续完成数据获取。</a:t>
            </a:r>
            <a:endParaRPr lang="zh-CN" altLang="en-US" sz="1800"/>
          </a:p>
          <a:p>
            <a:pPr>
              <a:lnSpc>
                <a:spcPct val="160000"/>
              </a:lnSpc>
            </a:pPr>
            <a:r>
              <a:rPr lang="en-US" altLang="zh-CN" sz="1800" b="1">
                <a:latin typeface="微软雅黑" panose="020B0503020204020204" pitchFamily="34" charset="-122"/>
                <a:ea typeface="微软雅黑" panose="020B0503020204020204" pitchFamily="34" charset="-122"/>
              </a:rPr>
              <a:t>4. </a:t>
            </a:r>
            <a:r>
              <a:rPr lang="zh-CN" altLang="en-US" sz="1800" b="1">
                <a:latin typeface="微软雅黑" panose="020B0503020204020204" pitchFamily="34" charset="-122"/>
                <a:ea typeface="微软雅黑" panose="020B0503020204020204" pitchFamily="34" charset="-122"/>
              </a:rPr>
              <a:t>核心评估指标</a:t>
            </a:r>
            <a:endParaRPr lang="zh-CN" altLang="en-US" sz="1800" b="1">
              <a:latin typeface="微软雅黑" panose="020B0503020204020204" pitchFamily="34" charset="-122"/>
              <a:ea typeface="微软雅黑" panose="020B0503020204020204" pitchFamily="34" charset="-122"/>
            </a:endParaRPr>
          </a:p>
          <a:p>
            <a:pPr marL="285750" indent="-285750">
              <a:lnSpc>
                <a:spcPct val="160000"/>
              </a:lnSpc>
              <a:buFont typeface="Arial" panose="020B0604020202020204" pitchFamily="34" charset="0"/>
              <a:buChar char="•"/>
            </a:pPr>
            <a:r>
              <a:rPr lang="zh-CN" altLang="en-US" sz="1800"/>
              <a:t>数据获取成本 (Cost): 完成一次数据获取所需的总传输次数。</a:t>
            </a:r>
            <a:endParaRPr lang="zh-CN" altLang="en-US" sz="1800"/>
          </a:p>
          <a:p>
            <a:pPr marL="285750" indent="-285750">
              <a:lnSpc>
                <a:spcPct val="160000"/>
              </a:lnSpc>
              <a:buFont typeface="Arial" panose="020B0604020202020204" pitchFamily="34" charset="0"/>
              <a:buChar char="•"/>
            </a:pPr>
            <a:r>
              <a:rPr lang="zh-CN" altLang="en-US" sz="1800"/>
              <a:t>数据获取延迟 (Delay): 从发送兴趣包到收到数据包的总时间。</a:t>
            </a:r>
            <a:endParaRPr lang="zh-CN" altLang="en-US" sz="1800"/>
          </a:p>
          <a:p>
            <a:pPr marL="285750" indent="-285750">
              <a:lnSpc>
                <a:spcPct val="160000"/>
              </a:lnSpc>
              <a:buFont typeface="Arial" panose="020B0604020202020204" pitchFamily="34" charset="0"/>
              <a:buChar char="•"/>
            </a:pPr>
            <a:r>
              <a:rPr lang="zh-CN" altLang="en-US" sz="1800"/>
              <a:t>数据获取成功率 (Success Rate): 成功收到数据的请求数占总请求数的比例。</a:t>
            </a:r>
            <a:endParaRPr lang="zh-CN" altLang="en-US" sz="1800"/>
          </a:p>
          <a:p>
            <a:pPr marL="285750" indent="-285750">
              <a:lnSpc>
                <a:spcPct val="160000"/>
              </a:lnSpc>
              <a:buFont typeface="Arial" panose="020B0604020202020204" pitchFamily="34" charset="0"/>
              <a:buChar char="•"/>
            </a:pPr>
            <a:r>
              <a:rPr lang="zh-CN" altLang="en-US" sz="1800"/>
              <a:t>能量消耗 (Energy Consumption): 完成一次数据获取所消耗的总能量。</a:t>
            </a:r>
            <a:endParaRPr lang="zh-CN" altLang="en-US" sz="1800"/>
          </a:p>
          <a:p>
            <a:pPr>
              <a:lnSpc>
                <a:spcPct val="140000"/>
              </a:lnSpc>
            </a:pPr>
            <a:endParaRPr lang="zh-CN" altLang="en-US" sz="1800" b="1">
              <a:latin typeface="微软雅黑" panose="020B0503020204020204" pitchFamily="34" charset="-122"/>
              <a:ea typeface="微软雅黑" panose="020B0503020204020204" pitchFamily="34" charset="-122"/>
            </a:endParaRPr>
          </a:p>
          <a:p>
            <a:pPr>
              <a:lnSpc>
                <a:spcPct val="140000"/>
              </a:lnSpc>
            </a:pPr>
            <a:endParaRPr lang="zh-CN" altLang="en-US" sz="1800" b="1">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实验</a:t>
            </a:r>
            <a:r>
              <a:rPr lang="zh-CN" altLang="en-US"/>
              <a:t>评估</a:t>
            </a:r>
            <a:endParaRPr lang="zh-CN" altLang="en-US"/>
          </a:p>
        </p:txBody>
      </p:sp>
      <p:sp>
        <p:nvSpPr>
          <p:cNvPr id="5" name="文本框 4"/>
          <p:cNvSpPr txBox="1"/>
          <p:nvPr/>
        </p:nvSpPr>
        <p:spPr>
          <a:xfrm>
            <a:off x="824865" y="4260215"/>
            <a:ext cx="6240145" cy="1328420"/>
          </a:xfrm>
          <a:prstGeom prst="rect">
            <a:avLst/>
          </a:prstGeom>
          <a:noFill/>
        </p:spPr>
        <p:txBody>
          <a:bodyPr wrap="square" rtlCol="0">
            <a:noAutofit/>
          </a:bodyPr>
          <a:p>
            <a:pPr>
              <a:lnSpc>
                <a:spcPct val="130000"/>
              </a:lnSpc>
            </a:pPr>
            <a:r>
              <a:rPr lang="en-US" altLang="zh-CN" sz="1800" b="1">
                <a:latin typeface="宋体" panose="02010600030101010101" pitchFamily="2" charset="-122"/>
                <a:cs typeface="宋体" panose="02010600030101010101" pitchFamily="2" charset="-122"/>
              </a:rPr>
              <a:t>1. </a:t>
            </a:r>
            <a:r>
              <a:rPr lang="zh-CN" altLang="en-US" sz="1800" b="1">
                <a:latin typeface="宋体" panose="02010600030101010101" pitchFamily="2" charset="-122"/>
                <a:cs typeface="宋体" panose="02010600030101010101" pitchFamily="2" charset="-122"/>
              </a:rPr>
              <a:t>成本与延迟分析：</a:t>
            </a:r>
            <a:endParaRPr lang="zh-CN" altLang="en-US" sz="1800" b="1">
              <a:latin typeface="宋体" panose="02010600030101010101" pitchFamily="2" charset="-122"/>
              <a:cs typeface="宋体" panose="02010600030101010101" pitchFamily="2" charset="-122"/>
            </a:endParaRPr>
          </a:p>
          <a:p>
            <a:pPr>
              <a:lnSpc>
                <a:spcPct val="130000"/>
              </a:lnSpc>
            </a:pPr>
            <a:r>
              <a:rPr lang="en-US" altLang="zh-CN" sz="1800">
                <a:latin typeface="宋体" panose="02010600030101010101" pitchFamily="2" charset="-122"/>
                <a:cs typeface="宋体" panose="02010600030101010101" pitchFamily="2" charset="-122"/>
              </a:rPr>
              <a:t>EFDA: </a:t>
            </a:r>
            <a:r>
              <a:rPr lang="zh-CN" altLang="en-US" sz="1800">
                <a:latin typeface="宋体" panose="02010600030101010101" pitchFamily="2" charset="-122"/>
                <a:cs typeface="宋体" panose="02010600030101010101" pitchFamily="2" charset="-122"/>
              </a:rPr>
              <a:t>随着消费者数量</a:t>
            </a:r>
            <a:r>
              <a:rPr lang="en-US" altLang="zh-CN" sz="1800">
                <a:latin typeface="宋体" panose="02010600030101010101" pitchFamily="2" charset="-122"/>
                <a:cs typeface="宋体" panose="02010600030101010101" pitchFamily="2" charset="-122"/>
              </a:rPr>
              <a:t> (nc) </a:t>
            </a:r>
            <a:r>
              <a:rPr lang="zh-CN" altLang="en-US" sz="1800">
                <a:latin typeface="宋体" panose="02010600030101010101" pitchFamily="2" charset="-122"/>
                <a:cs typeface="宋体" panose="02010600030101010101" pitchFamily="2" charset="-122"/>
              </a:rPr>
              <a:t>从</a:t>
            </a:r>
            <a:r>
              <a:rPr lang="en-US" altLang="zh-CN" sz="1800">
                <a:latin typeface="宋体" panose="02010600030101010101" pitchFamily="2" charset="-122"/>
                <a:cs typeface="宋体" panose="02010600030101010101" pitchFamily="2" charset="-122"/>
              </a:rPr>
              <a:t>4</a:t>
            </a:r>
            <a:r>
              <a:rPr lang="zh-CN" altLang="en-US" sz="1800">
                <a:latin typeface="宋体" panose="02010600030101010101" pitchFamily="2" charset="-122"/>
                <a:cs typeface="宋体" panose="02010600030101010101" pitchFamily="2" charset="-122"/>
              </a:rPr>
              <a:t>增加到</a:t>
            </a:r>
            <a:r>
              <a:rPr lang="en-US" altLang="zh-CN" sz="1800">
                <a:latin typeface="宋体" panose="02010600030101010101" pitchFamily="2" charset="-122"/>
                <a:cs typeface="宋体" panose="02010600030101010101" pitchFamily="2" charset="-122"/>
              </a:rPr>
              <a:t>10</a:t>
            </a:r>
            <a:r>
              <a:rPr lang="zh-CN" altLang="en-US" sz="1800">
                <a:latin typeface="宋体" panose="02010600030101010101" pitchFamily="2" charset="-122"/>
                <a:cs typeface="宋体" panose="02010600030101010101" pitchFamily="2" charset="-122"/>
              </a:rPr>
              <a:t>，其平均数据获取成本和延迟显著下降。</a:t>
            </a:r>
            <a:endParaRPr lang="zh-CN" altLang="en-US" sz="1800">
              <a:latin typeface="宋体" panose="02010600030101010101" pitchFamily="2" charset="-122"/>
              <a:cs typeface="宋体" panose="02010600030101010101" pitchFamily="2" charset="-122"/>
            </a:endParaRPr>
          </a:p>
          <a:p>
            <a:pPr>
              <a:lnSpc>
                <a:spcPct val="130000"/>
              </a:lnSpc>
            </a:pPr>
            <a:r>
              <a:rPr lang="en-US" altLang="zh-CN" sz="1800">
                <a:latin typeface="宋体" panose="02010600030101010101" pitchFamily="2" charset="-122"/>
                <a:cs typeface="宋体" panose="02010600030101010101" pitchFamily="2" charset="-122"/>
              </a:rPr>
              <a:t>LOMCF: </a:t>
            </a:r>
            <a:r>
              <a:rPr lang="zh-CN" altLang="en-US" sz="1800">
                <a:latin typeface="宋体" panose="02010600030101010101" pitchFamily="2" charset="-122"/>
                <a:cs typeface="宋体" panose="02010600030101010101" pitchFamily="2" charset="-122"/>
              </a:rPr>
              <a:t>成本和延迟始终处于高位，且基本不随消费者数量变化。</a:t>
            </a:r>
            <a:endParaRPr lang="zh-CN" altLang="en-US" sz="1800">
              <a:latin typeface="宋体" panose="02010600030101010101" pitchFamily="2" charset="-122"/>
              <a:cs typeface="宋体" panose="02010600030101010101" pitchFamily="2" charset="-122"/>
            </a:endParaRPr>
          </a:p>
          <a:p>
            <a:pPr>
              <a:lnSpc>
                <a:spcPct val="130000"/>
              </a:lnSpc>
            </a:pPr>
            <a:endParaRPr lang="zh-CN" altLang="en-US" sz="1800">
              <a:latin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rcRect r="3171"/>
          <a:stretch>
            <a:fillRect/>
          </a:stretch>
        </p:blipFill>
        <p:spPr>
          <a:xfrm>
            <a:off x="587375" y="1574165"/>
            <a:ext cx="6333490" cy="2628265"/>
          </a:xfrm>
          <a:prstGeom prst="rect">
            <a:avLst/>
          </a:prstGeom>
        </p:spPr>
      </p:pic>
      <p:sp>
        <p:nvSpPr>
          <p:cNvPr id="3" name="文本框 2"/>
          <p:cNvSpPr txBox="1"/>
          <p:nvPr/>
        </p:nvSpPr>
        <p:spPr>
          <a:xfrm>
            <a:off x="449580" y="982345"/>
            <a:ext cx="10001885" cy="534035"/>
          </a:xfrm>
          <a:prstGeom prst="rect">
            <a:avLst/>
          </a:prstGeom>
          <a:noFill/>
        </p:spPr>
        <p:txBody>
          <a:bodyPr wrap="square" rtlCol="0" anchor="t">
            <a:spAutoFit/>
          </a:bodyPr>
          <a:p>
            <a:pPr>
              <a:lnSpc>
                <a:spcPct val="160000"/>
              </a:lnSpc>
            </a:pPr>
            <a:r>
              <a:rPr lang="zh-CN" altLang="en-US" b="1">
                <a:latin typeface="微软雅黑" panose="020B0503020204020204" pitchFamily="34" charset="-122"/>
                <a:ea typeface="微软雅黑" panose="020B0503020204020204" pitchFamily="34" charset="-122"/>
                <a:sym typeface="+mn-ea"/>
              </a:rPr>
              <a:t>实验一：消费者数量</a:t>
            </a:r>
            <a:r>
              <a:rPr lang="en-US" altLang="zh-CN" b="1">
                <a:latin typeface="微软雅黑" panose="020B0503020204020204" pitchFamily="34" charset="-122"/>
                <a:ea typeface="微软雅黑" panose="020B0503020204020204" pitchFamily="34" charset="-122"/>
                <a:sym typeface="+mn-ea"/>
              </a:rPr>
              <a:t> (nc) </a:t>
            </a:r>
            <a:r>
              <a:rPr lang="zh-CN" altLang="en-US" b="1">
                <a:latin typeface="微软雅黑" panose="020B0503020204020204" pitchFamily="34" charset="-122"/>
                <a:ea typeface="微软雅黑" panose="020B0503020204020204" pitchFamily="34" charset="-122"/>
                <a:sym typeface="+mn-ea"/>
              </a:rPr>
              <a:t>的影响：当请求同一数据的消费者增多时</a:t>
            </a:r>
            <a:endParaRPr lang="zh-CN" altLang="en-US" b="1">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7383145" y="1572260"/>
            <a:ext cx="3386455" cy="2631440"/>
          </a:xfrm>
          <a:prstGeom prst="rect">
            <a:avLst/>
          </a:prstGeom>
        </p:spPr>
      </p:pic>
      <p:sp>
        <p:nvSpPr>
          <p:cNvPr id="8" name="文本框 7"/>
          <p:cNvSpPr txBox="1"/>
          <p:nvPr/>
        </p:nvSpPr>
        <p:spPr>
          <a:xfrm>
            <a:off x="7383145" y="4260215"/>
            <a:ext cx="4715510" cy="1170305"/>
          </a:xfrm>
          <a:prstGeom prst="rect">
            <a:avLst/>
          </a:prstGeom>
        </p:spPr>
        <p:txBody>
          <a:bodyPr wrap="square">
            <a:spAutoFit/>
          </a:bodyPr>
          <a:p>
            <a:pPr marL="0" algn="l">
              <a:lnSpc>
                <a:spcPct val="130000"/>
              </a:lnSpc>
              <a:buClrTx/>
              <a:buSzTx/>
              <a:buFontTx/>
            </a:pPr>
            <a:r>
              <a:rPr lang="zh-CN" altLang="en-US" sz="1800" b="1" i="0">
                <a:latin typeface="宋体" panose="02010600030101010101" pitchFamily="2" charset="-122"/>
                <a:cs typeface="宋体" panose="02010600030101010101" pitchFamily="2" charset="-122"/>
              </a:rPr>
              <a:t>2. 能量消耗分析：</a:t>
            </a:r>
            <a:endParaRPr lang="zh-CN" altLang="en-US" sz="1800" b="1" i="0">
              <a:latin typeface="宋体" panose="02010600030101010101" pitchFamily="2" charset="-122"/>
              <a:cs typeface="宋体" panose="02010600030101010101" pitchFamily="2" charset="-122"/>
            </a:endParaRPr>
          </a:p>
          <a:p>
            <a:pPr marL="0" lvl="1" algn="l">
              <a:lnSpc>
                <a:spcPct val="130000"/>
              </a:lnSpc>
              <a:buClrTx/>
              <a:buSzTx/>
              <a:buFontTx/>
            </a:pPr>
            <a:r>
              <a:rPr lang="zh-CN" altLang="en-US" sz="1800" b="0" i="0">
                <a:latin typeface="宋体" panose="02010600030101010101" pitchFamily="2" charset="-122"/>
                <a:cs typeface="宋体" panose="02010600030101010101" pitchFamily="2" charset="-122"/>
              </a:rPr>
              <a:t>EFDA: 平均能耗随 nc 增加而降低。</a:t>
            </a:r>
            <a:endParaRPr lang="zh-CN" altLang="en-US" sz="1800" b="0" i="0">
              <a:latin typeface="宋体" panose="02010600030101010101" pitchFamily="2" charset="-122"/>
              <a:cs typeface="宋体" panose="02010600030101010101" pitchFamily="2" charset="-122"/>
            </a:endParaRPr>
          </a:p>
          <a:p>
            <a:pPr marL="0" lvl="1" algn="l">
              <a:lnSpc>
                <a:spcPct val="130000"/>
              </a:lnSpc>
              <a:buClrTx/>
              <a:buSzTx/>
              <a:buFontTx/>
            </a:pPr>
            <a:r>
              <a:rPr lang="zh-CN" altLang="en-US" sz="1800" b="0" i="0">
                <a:latin typeface="宋体" panose="02010600030101010101" pitchFamily="2" charset="-122"/>
                <a:cs typeface="宋体" panose="02010600030101010101" pitchFamily="2" charset="-122"/>
              </a:rPr>
              <a:t>LOMCF: 能耗保持高位且稳定。</a:t>
            </a:r>
            <a:endParaRPr lang="zh-CN" altLang="en-US" sz="1800" b="0" i="0">
              <a:latin typeface="宋体" panose="02010600030101010101" pitchFamily="2" charset="-122"/>
              <a:cs typeface="宋体" panose="02010600030101010101" pitchFamily="2"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实验</a:t>
            </a:r>
            <a:r>
              <a:rPr lang="zh-CN" altLang="en-US"/>
              <a:t>评估</a:t>
            </a:r>
            <a:endParaRPr lang="zh-CN" altLang="en-US"/>
          </a:p>
        </p:txBody>
      </p:sp>
      <p:sp>
        <p:nvSpPr>
          <p:cNvPr id="5" name="文本框 4"/>
          <p:cNvSpPr txBox="1"/>
          <p:nvPr/>
        </p:nvSpPr>
        <p:spPr>
          <a:xfrm>
            <a:off x="824865" y="4260215"/>
            <a:ext cx="6240145" cy="1328420"/>
          </a:xfrm>
          <a:prstGeom prst="rect">
            <a:avLst/>
          </a:prstGeom>
          <a:noFill/>
        </p:spPr>
        <p:txBody>
          <a:bodyPr wrap="square" rtlCol="0">
            <a:noAutofit/>
          </a:bodyPr>
          <a:p>
            <a:pPr>
              <a:lnSpc>
                <a:spcPct val="130000"/>
              </a:lnSpc>
            </a:pPr>
            <a:r>
              <a:rPr lang="en-US" altLang="zh-CN" sz="1800" b="1">
                <a:latin typeface="宋体" panose="02010600030101010101" pitchFamily="2" charset="-122"/>
                <a:cs typeface="宋体" panose="02010600030101010101" pitchFamily="2" charset="-122"/>
              </a:rPr>
              <a:t>1. </a:t>
            </a:r>
            <a:r>
              <a:rPr lang="zh-CN" altLang="en-US" sz="1800" b="1">
                <a:latin typeface="宋体" panose="02010600030101010101" pitchFamily="2" charset="-122"/>
                <a:cs typeface="宋体" panose="02010600030101010101" pitchFamily="2" charset="-122"/>
              </a:rPr>
              <a:t>成本与延迟分析：</a:t>
            </a:r>
            <a:endParaRPr lang="zh-CN" altLang="en-US" sz="1800" b="1">
              <a:latin typeface="宋体" panose="02010600030101010101" pitchFamily="2" charset="-122"/>
              <a:cs typeface="宋体" panose="02010600030101010101" pitchFamily="2" charset="-122"/>
            </a:endParaRPr>
          </a:p>
          <a:p>
            <a:pPr>
              <a:lnSpc>
                <a:spcPct val="130000"/>
              </a:lnSpc>
            </a:pPr>
            <a:r>
              <a:rPr lang="en-US" altLang="zh-CN" sz="1800">
                <a:latin typeface="宋体" panose="02010600030101010101" pitchFamily="2" charset="-122"/>
                <a:cs typeface="宋体" panose="02010600030101010101" pitchFamily="2" charset="-122"/>
              </a:rPr>
              <a:t>EFDA &amp; LOMCF: </a:t>
            </a:r>
            <a:r>
              <a:rPr lang="zh-CN" altLang="en-US" sz="1800">
                <a:latin typeface="宋体" panose="02010600030101010101" pitchFamily="2" charset="-122"/>
                <a:cs typeface="宋体" panose="02010600030101010101" pitchFamily="2" charset="-122"/>
              </a:rPr>
              <a:t>随着数据源数量</a:t>
            </a:r>
            <a:r>
              <a:rPr lang="en-US" altLang="zh-CN" sz="1800">
                <a:latin typeface="宋体" panose="02010600030101010101" pitchFamily="2" charset="-122"/>
                <a:cs typeface="宋体" panose="02010600030101010101" pitchFamily="2" charset="-122"/>
              </a:rPr>
              <a:t> (np) </a:t>
            </a:r>
            <a:r>
              <a:rPr lang="zh-CN" altLang="en-US" sz="1800">
                <a:latin typeface="宋体" panose="02010600030101010101" pitchFamily="2" charset="-122"/>
                <a:cs typeface="宋体" panose="02010600030101010101" pitchFamily="2" charset="-122"/>
              </a:rPr>
              <a:t>的增加，两种方案的成本和延迟都呈现下降趋势。</a:t>
            </a:r>
            <a:endParaRPr lang="zh-CN" altLang="en-US" sz="1800">
              <a:latin typeface="宋体" panose="02010600030101010101" pitchFamily="2" charset="-122"/>
              <a:cs typeface="宋体" panose="02010600030101010101" pitchFamily="2" charset="-122"/>
            </a:endParaRPr>
          </a:p>
          <a:p>
            <a:pPr>
              <a:lnSpc>
                <a:spcPct val="130000"/>
              </a:lnSpc>
            </a:pPr>
            <a:r>
              <a:rPr lang="zh-CN" altLang="en-US" sz="1800">
                <a:latin typeface="宋体" panose="02010600030101010101" pitchFamily="2" charset="-122"/>
                <a:cs typeface="宋体" panose="02010600030101010101" pitchFamily="2" charset="-122"/>
              </a:rPr>
              <a:t>性能对比：</a:t>
            </a:r>
            <a:r>
              <a:rPr lang="en-US" altLang="zh-CN" sz="1800">
                <a:latin typeface="宋体" panose="02010600030101010101" pitchFamily="2" charset="-122"/>
                <a:cs typeface="宋体" panose="02010600030101010101" pitchFamily="2" charset="-122"/>
              </a:rPr>
              <a:t> </a:t>
            </a:r>
            <a:r>
              <a:rPr lang="zh-CN" altLang="en-US" sz="1800">
                <a:latin typeface="宋体" panose="02010600030101010101" pitchFamily="2" charset="-122"/>
                <a:cs typeface="宋体" panose="02010600030101010101" pitchFamily="2" charset="-122"/>
              </a:rPr>
              <a:t>在所有</a:t>
            </a:r>
            <a:r>
              <a:rPr lang="en-US" altLang="zh-CN" sz="1800">
                <a:latin typeface="宋体" panose="02010600030101010101" pitchFamily="2" charset="-122"/>
                <a:cs typeface="宋体" panose="02010600030101010101" pitchFamily="2" charset="-122"/>
              </a:rPr>
              <a:t> np </a:t>
            </a:r>
            <a:r>
              <a:rPr lang="zh-CN" altLang="en-US" sz="1800">
                <a:latin typeface="宋体" panose="02010600030101010101" pitchFamily="2" charset="-122"/>
                <a:cs typeface="宋体" panose="02010600030101010101" pitchFamily="2" charset="-122"/>
              </a:rPr>
              <a:t>配置下，</a:t>
            </a:r>
            <a:r>
              <a:rPr lang="en-US" altLang="zh-CN" sz="1800">
                <a:latin typeface="宋体" panose="02010600030101010101" pitchFamily="2" charset="-122"/>
                <a:cs typeface="宋体" panose="02010600030101010101" pitchFamily="2" charset="-122"/>
              </a:rPr>
              <a:t>EFDA</a:t>
            </a:r>
            <a:r>
              <a:rPr lang="zh-CN" altLang="en-US" sz="1800">
                <a:latin typeface="宋体" panose="02010600030101010101" pitchFamily="2" charset="-122"/>
                <a:cs typeface="宋体" panose="02010600030101010101" pitchFamily="2" charset="-122"/>
              </a:rPr>
              <a:t>的成本和延迟始终显著低于</a:t>
            </a:r>
            <a:r>
              <a:rPr lang="en-US" altLang="zh-CN" sz="1800">
                <a:latin typeface="宋体" panose="02010600030101010101" pitchFamily="2" charset="-122"/>
                <a:cs typeface="宋体" panose="02010600030101010101" pitchFamily="2" charset="-122"/>
              </a:rPr>
              <a:t>LOMCF</a:t>
            </a:r>
            <a:r>
              <a:rPr lang="zh-CN" altLang="en-US" sz="1800">
                <a:latin typeface="宋体" panose="02010600030101010101" pitchFamily="2" charset="-122"/>
                <a:cs typeface="宋体" panose="02010600030101010101" pitchFamily="2" charset="-122"/>
              </a:rPr>
              <a:t>。</a:t>
            </a:r>
            <a:endParaRPr lang="zh-CN" altLang="en-US" sz="1800">
              <a:latin typeface="宋体" panose="02010600030101010101" pitchFamily="2" charset="-122"/>
              <a:cs typeface="宋体" panose="02010600030101010101" pitchFamily="2" charset="-122"/>
            </a:endParaRPr>
          </a:p>
        </p:txBody>
      </p:sp>
      <p:sp>
        <p:nvSpPr>
          <p:cNvPr id="3" name="文本框 2"/>
          <p:cNvSpPr txBox="1"/>
          <p:nvPr/>
        </p:nvSpPr>
        <p:spPr>
          <a:xfrm>
            <a:off x="449580" y="982345"/>
            <a:ext cx="10001885" cy="534035"/>
          </a:xfrm>
          <a:prstGeom prst="rect">
            <a:avLst/>
          </a:prstGeom>
          <a:noFill/>
        </p:spPr>
        <p:txBody>
          <a:bodyPr wrap="square" rtlCol="0" anchor="t">
            <a:spAutoFit/>
          </a:bodyPr>
          <a:p>
            <a:pPr>
              <a:lnSpc>
                <a:spcPct val="160000"/>
              </a:lnSpc>
            </a:pPr>
            <a:r>
              <a:rPr lang="zh-CN" altLang="en-US" b="1">
                <a:latin typeface="微软雅黑" panose="020B0503020204020204" pitchFamily="34" charset="-122"/>
                <a:ea typeface="微软雅黑" panose="020B0503020204020204" pitchFamily="34" charset="-122"/>
                <a:sym typeface="+mn-ea"/>
              </a:rPr>
              <a:t>实验二：数据源数量</a:t>
            </a:r>
            <a:r>
              <a:rPr lang="en-US" altLang="zh-CN" b="1">
                <a:latin typeface="微软雅黑" panose="020B0503020204020204" pitchFamily="34" charset="-122"/>
                <a:ea typeface="微软雅黑" panose="020B0503020204020204" pitchFamily="34" charset="-122"/>
                <a:sym typeface="+mn-ea"/>
              </a:rPr>
              <a:t> (np) </a:t>
            </a:r>
            <a:r>
              <a:rPr lang="zh-CN" altLang="en-US" b="1">
                <a:latin typeface="微软雅黑" panose="020B0503020204020204" pitchFamily="34" charset="-122"/>
                <a:ea typeface="微软雅黑" panose="020B0503020204020204" pitchFamily="34" charset="-122"/>
                <a:sym typeface="+mn-ea"/>
              </a:rPr>
              <a:t>的影响：当网络中可提供数据的节点增多时</a:t>
            </a:r>
            <a:endParaRPr lang="zh-CN" altLang="en-US" b="1">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83145" y="4260215"/>
            <a:ext cx="4715510" cy="1170305"/>
          </a:xfrm>
          <a:prstGeom prst="rect">
            <a:avLst/>
          </a:prstGeom>
        </p:spPr>
        <p:txBody>
          <a:bodyPr wrap="square">
            <a:spAutoFit/>
          </a:bodyPr>
          <a:p>
            <a:pPr marL="0" algn="l">
              <a:lnSpc>
                <a:spcPct val="130000"/>
              </a:lnSpc>
              <a:buClrTx/>
              <a:buSzTx/>
              <a:buFontTx/>
            </a:pPr>
            <a:r>
              <a:rPr lang="zh-CN" altLang="en-US" sz="1800" b="1" i="0">
                <a:latin typeface="宋体" panose="02010600030101010101" pitchFamily="2" charset="-122"/>
                <a:cs typeface="宋体" panose="02010600030101010101" pitchFamily="2" charset="-122"/>
              </a:rPr>
              <a:t>2. 能量消耗分析：</a:t>
            </a:r>
            <a:endParaRPr lang="zh-CN" altLang="en-US" sz="1800" b="1" i="0">
              <a:latin typeface="宋体" panose="02010600030101010101" pitchFamily="2" charset="-122"/>
              <a:cs typeface="宋体" panose="02010600030101010101" pitchFamily="2" charset="-122"/>
            </a:endParaRPr>
          </a:p>
          <a:p>
            <a:pPr marL="0" lvl="1" algn="l">
              <a:lnSpc>
                <a:spcPct val="130000"/>
              </a:lnSpc>
              <a:buClrTx/>
              <a:buSzTx/>
              <a:buFontTx/>
            </a:pPr>
            <a:r>
              <a:rPr lang="zh-CN" altLang="en-US" sz="1800" b="0" i="0">
                <a:latin typeface="宋体" panose="02010600030101010101" pitchFamily="2" charset="-122"/>
                <a:cs typeface="宋体" panose="02010600030101010101" pitchFamily="2" charset="-122"/>
              </a:rPr>
              <a:t>两种方案的能耗都随</a:t>
            </a:r>
            <a:r>
              <a:rPr lang="en-US" altLang="zh-CN" sz="1800" b="0" i="0">
                <a:latin typeface="宋体" panose="02010600030101010101" pitchFamily="2" charset="-122"/>
                <a:cs typeface="宋体" panose="02010600030101010101" pitchFamily="2" charset="-122"/>
              </a:rPr>
              <a:t> np </a:t>
            </a:r>
            <a:r>
              <a:rPr lang="zh-CN" altLang="en-US" sz="1800" b="0" i="0">
                <a:latin typeface="宋体" panose="02010600030101010101" pitchFamily="2" charset="-122"/>
                <a:cs typeface="宋体" panose="02010600030101010101" pitchFamily="2" charset="-122"/>
              </a:rPr>
              <a:t>增加而降低。</a:t>
            </a:r>
            <a:endParaRPr lang="zh-CN" altLang="en-US" sz="1800" b="0" i="0">
              <a:latin typeface="宋体" panose="02010600030101010101" pitchFamily="2" charset="-122"/>
              <a:cs typeface="宋体" panose="02010600030101010101" pitchFamily="2" charset="-122"/>
            </a:endParaRPr>
          </a:p>
          <a:p>
            <a:pPr marL="0" lvl="1" algn="l">
              <a:lnSpc>
                <a:spcPct val="130000"/>
              </a:lnSpc>
              <a:buClrTx/>
              <a:buSzTx/>
              <a:buFontTx/>
            </a:pPr>
            <a:r>
              <a:rPr lang="en-US" altLang="zh-CN" sz="1800" b="0" i="0">
                <a:latin typeface="宋体" panose="02010600030101010101" pitchFamily="2" charset="-122"/>
                <a:cs typeface="宋体" panose="02010600030101010101" pitchFamily="2" charset="-122"/>
              </a:rPr>
              <a:t>EFDA</a:t>
            </a:r>
            <a:r>
              <a:rPr lang="zh-CN" altLang="en-US" sz="1800" b="0" i="0">
                <a:latin typeface="宋体" panose="02010600030101010101" pitchFamily="2" charset="-122"/>
                <a:cs typeface="宋体" panose="02010600030101010101" pitchFamily="2" charset="-122"/>
              </a:rPr>
              <a:t>的能耗始终远低于</a:t>
            </a:r>
            <a:r>
              <a:rPr lang="en-US" altLang="zh-CN" sz="1800" b="0" i="0">
                <a:latin typeface="宋体" panose="02010600030101010101" pitchFamily="2" charset="-122"/>
                <a:cs typeface="宋体" panose="02010600030101010101" pitchFamily="2" charset="-122"/>
              </a:rPr>
              <a:t>LOMCF</a:t>
            </a:r>
            <a:r>
              <a:rPr lang="zh-CN" altLang="en-US" sz="1800" b="0" i="0">
                <a:latin typeface="宋体" panose="02010600030101010101" pitchFamily="2" charset="-122"/>
                <a:cs typeface="宋体" panose="02010600030101010101" pitchFamily="2" charset="-122"/>
              </a:rPr>
              <a:t>。</a:t>
            </a:r>
            <a:endParaRPr lang="zh-CN" altLang="en-US" sz="1800" b="0" i="0">
              <a:latin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1"/>
          <a:stretch>
            <a:fillRect/>
          </a:stretch>
        </p:blipFill>
        <p:spPr>
          <a:xfrm>
            <a:off x="671195" y="1654810"/>
            <a:ext cx="6393815" cy="2605405"/>
          </a:xfrm>
          <a:prstGeom prst="rect">
            <a:avLst/>
          </a:prstGeom>
        </p:spPr>
      </p:pic>
      <p:pic>
        <p:nvPicPr>
          <p:cNvPr id="9" name="图片 8"/>
          <p:cNvPicPr>
            <a:picLocks noChangeAspect="1"/>
          </p:cNvPicPr>
          <p:nvPr/>
        </p:nvPicPr>
        <p:blipFill>
          <a:blip r:embed="rId2"/>
          <a:stretch>
            <a:fillRect/>
          </a:stretch>
        </p:blipFill>
        <p:spPr>
          <a:xfrm>
            <a:off x="6997700" y="1654810"/>
            <a:ext cx="4486910" cy="2605405"/>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31562" y="415119"/>
            <a:ext cx="5258480" cy="682623"/>
          </a:xfrm>
        </p:spPr>
        <p:txBody>
          <a:bodyPr/>
          <a:p>
            <a:r>
              <a:rPr lang="zh-CN" altLang="en-US"/>
              <a:t>实验</a:t>
            </a:r>
            <a:r>
              <a:rPr lang="zh-CN" altLang="en-US"/>
              <a:t>评估</a:t>
            </a:r>
            <a:endParaRPr lang="zh-CN" altLang="en-US"/>
          </a:p>
        </p:txBody>
      </p:sp>
      <p:sp>
        <p:nvSpPr>
          <p:cNvPr id="5" name="文本框 4"/>
          <p:cNvSpPr txBox="1"/>
          <p:nvPr/>
        </p:nvSpPr>
        <p:spPr>
          <a:xfrm>
            <a:off x="699770" y="1787525"/>
            <a:ext cx="5807710" cy="1328420"/>
          </a:xfrm>
          <a:prstGeom prst="rect">
            <a:avLst/>
          </a:prstGeom>
          <a:noFill/>
        </p:spPr>
        <p:txBody>
          <a:bodyPr wrap="square" rtlCol="0">
            <a:noAutofit/>
          </a:bodyPr>
          <a:p>
            <a:pPr>
              <a:lnSpc>
                <a:spcPct val="160000"/>
              </a:lnSpc>
            </a:pPr>
            <a:r>
              <a:rPr lang="en-US" altLang="zh-CN" sz="1800" b="1">
                <a:latin typeface="宋体" panose="02010600030101010101" pitchFamily="2" charset="-122"/>
                <a:cs typeface="宋体" panose="02010600030101010101" pitchFamily="2" charset="-122"/>
              </a:rPr>
              <a:t>1. </a:t>
            </a:r>
            <a:r>
              <a:rPr lang="zh-CN" altLang="en-US" sz="1800" b="1">
                <a:latin typeface="宋体" panose="02010600030101010101" pitchFamily="2" charset="-122"/>
                <a:cs typeface="宋体" panose="02010600030101010101" pitchFamily="2" charset="-122"/>
              </a:rPr>
              <a:t>数据获取成功率分析</a:t>
            </a:r>
            <a:r>
              <a:rPr lang="zh-CN" altLang="en-US" sz="1800" b="1">
                <a:latin typeface="宋体" panose="02010600030101010101" pitchFamily="2" charset="-122"/>
                <a:cs typeface="宋体" panose="02010600030101010101" pitchFamily="2" charset="-122"/>
              </a:rPr>
              <a:t>：</a:t>
            </a:r>
            <a:endParaRPr lang="zh-CN" altLang="en-US" sz="1800" b="1">
              <a:latin typeface="宋体" panose="02010600030101010101" pitchFamily="2" charset="-122"/>
              <a:cs typeface="宋体" panose="02010600030101010101" pitchFamily="2" charset="-122"/>
            </a:endParaRPr>
          </a:p>
          <a:p>
            <a:pPr>
              <a:lnSpc>
                <a:spcPct val="160000"/>
              </a:lnSpc>
            </a:pPr>
            <a:r>
              <a:rPr lang="zh-CN" altLang="en-US" sz="1800">
                <a:latin typeface="宋体" panose="02010600030101010101" pitchFamily="2" charset="-122"/>
                <a:cs typeface="宋体" panose="02010600030101010101" pitchFamily="2" charset="-122"/>
              </a:rPr>
              <a:t>共同趋势：</a:t>
            </a:r>
            <a:r>
              <a:rPr lang="en-US" altLang="zh-CN" sz="1800">
                <a:latin typeface="宋体" panose="02010600030101010101" pitchFamily="2" charset="-122"/>
                <a:cs typeface="宋体" panose="02010600030101010101" pitchFamily="2" charset="-122"/>
              </a:rPr>
              <a:t> </a:t>
            </a:r>
            <a:r>
              <a:rPr lang="zh-CN" altLang="en-US" sz="1800">
                <a:latin typeface="宋体" panose="02010600030101010101" pitchFamily="2" charset="-122"/>
                <a:cs typeface="宋体" panose="02010600030101010101" pitchFamily="2" charset="-122"/>
              </a:rPr>
              <a:t>随着节点移动速度</a:t>
            </a:r>
            <a:r>
              <a:rPr lang="en-US" altLang="zh-CN" sz="1800">
                <a:latin typeface="宋体" panose="02010600030101010101" pitchFamily="2" charset="-122"/>
                <a:cs typeface="宋体" panose="02010600030101010101" pitchFamily="2" charset="-122"/>
              </a:rPr>
              <a:t> (v) </a:t>
            </a:r>
            <a:r>
              <a:rPr lang="zh-CN" altLang="en-US" sz="1800">
                <a:latin typeface="宋体" panose="02010600030101010101" pitchFamily="2" charset="-122"/>
                <a:cs typeface="宋体" panose="02010600030101010101" pitchFamily="2" charset="-122"/>
              </a:rPr>
              <a:t>的增加，两种方案的成功率都下降。这是符合预期的，因为更快的移动速度意味着更频繁的链路中断。</a:t>
            </a:r>
            <a:endParaRPr lang="zh-CN" altLang="en-US" sz="1800">
              <a:latin typeface="宋体" panose="02010600030101010101" pitchFamily="2" charset="-122"/>
              <a:cs typeface="宋体" panose="02010600030101010101" pitchFamily="2" charset="-122"/>
            </a:endParaRPr>
          </a:p>
          <a:p>
            <a:pPr>
              <a:lnSpc>
                <a:spcPct val="160000"/>
              </a:lnSpc>
            </a:pPr>
            <a:r>
              <a:rPr lang="zh-CN" altLang="en-US" sz="1800">
                <a:latin typeface="宋体" panose="02010600030101010101" pitchFamily="2" charset="-122"/>
                <a:cs typeface="宋体" panose="02010600030101010101" pitchFamily="2" charset="-122"/>
              </a:rPr>
              <a:t>对比：</a:t>
            </a:r>
            <a:r>
              <a:rPr lang="en-US" altLang="zh-CN" sz="1800">
                <a:latin typeface="宋体" panose="02010600030101010101" pitchFamily="2" charset="-122"/>
                <a:cs typeface="宋体" panose="02010600030101010101" pitchFamily="2" charset="-122"/>
              </a:rPr>
              <a:t> </a:t>
            </a:r>
            <a:r>
              <a:rPr lang="zh-CN" altLang="en-US" sz="1800">
                <a:latin typeface="宋体" panose="02010600030101010101" pitchFamily="2" charset="-122"/>
                <a:cs typeface="宋体" panose="02010600030101010101" pitchFamily="2" charset="-122"/>
              </a:rPr>
              <a:t>在所有速度下，</a:t>
            </a:r>
            <a:r>
              <a:rPr lang="en-US" altLang="zh-CN" sz="1800">
                <a:latin typeface="宋体" panose="02010600030101010101" pitchFamily="2" charset="-122"/>
                <a:cs typeface="宋体" panose="02010600030101010101" pitchFamily="2" charset="-122"/>
              </a:rPr>
              <a:t>EFDA</a:t>
            </a:r>
            <a:r>
              <a:rPr lang="zh-CN" altLang="en-US" sz="1800">
                <a:latin typeface="宋体" panose="02010600030101010101" pitchFamily="2" charset="-122"/>
                <a:cs typeface="宋体" panose="02010600030101010101" pitchFamily="2" charset="-122"/>
              </a:rPr>
              <a:t>的数据获取成功率始终显著高于</a:t>
            </a:r>
            <a:r>
              <a:rPr lang="en-US" altLang="zh-CN" sz="1800">
                <a:latin typeface="宋体" panose="02010600030101010101" pitchFamily="2" charset="-122"/>
                <a:cs typeface="宋体" panose="02010600030101010101" pitchFamily="2" charset="-122"/>
              </a:rPr>
              <a:t>LOMCF</a:t>
            </a:r>
            <a:r>
              <a:rPr lang="zh-CN" altLang="en-US" sz="1800">
                <a:latin typeface="宋体" panose="02010600030101010101" pitchFamily="2" charset="-122"/>
                <a:cs typeface="宋体" panose="02010600030101010101" pitchFamily="2" charset="-122"/>
              </a:rPr>
              <a:t>。</a:t>
            </a:r>
            <a:endParaRPr lang="zh-CN" altLang="en-US" sz="1800">
              <a:latin typeface="宋体" panose="02010600030101010101" pitchFamily="2" charset="-122"/>
              <a:cs typeface="宋体" panose="02010600030101010101" pitchFamily="2" charset="-122"/>
            </a:endParaRPr>
          </a:p>
        </p:txBody>
      </p:sp>
      <p:sp>
        <p:nvSpPr>
          <p:cNvPr id="3" name="文本框 2"/>
          <p:cNvSpPr txBox="1"/>
          <p:nvPr/>
        </p:nvSpPr>
        <p:spPr>
          <a:xfrm>
            <a:off x="449580" y="982345"/>
            <a:ext cx="10001885" cy="534035"/>
          </a:xfrm>
          <a:prstGeom prst="rect">
            <a:avLst/>
          </a:prstGeom>
          <a:noFill/>
        </p:spPr>
        <p:txBody>
          <a:bodyPr wrap="square" rtlCol="0" anchor="t">
            <a:spAutoFit/>
          </a:bodyPr>
          <a:p>
            <a:pPr>
              <a:lnSpc>
                <a:spcPct val="160000"/>
              </a:lnSpc>
            </a:pPr>
            <a:r>
              <a:rPr lang="zh-CN" altLang="en-US" b="1">
                <a:latin typeface="微软雅黑" panose="020B0503020204020204" pitchFamily="34" charset="-122"/>
                <a:ea typeface="微软雅黑" panose="020B0503020204020204" pitchFamily="34" charset="-122"/>
                <a:sym typeface="+mn-ea"/>
              </a:rPr>
              <a:t>实验三：节点移动速度</a:t>
            </a:r>
            <a:r>
              <a:rPr lang="en-US" altLang="zh-CN" b="1">
                <a:latin typeface="微软雅黑" panose="020B0503020204020204" pitchFamily="34" charset="-122"/>
                <a:ea typeface="微软雅黑" panose="020B0503020204020204" pitchFamily="34" charset="-122"/>
                <a:sym typeface="+mn-ea"/>
              </a:rPr>
              <a:t> (v) </a:t>
            </a:r>
            <a:r>
              <a:rPr lang="zh-CN" altLang="en-US" b="1">
                <a:latin typeface="微软雅黑" panose="020B0503020204020204" pitchFamily="34" charset="-122"/>
                <a:ea typeface="微软雅黑" panose="020B0503020204020204" pitchFamily="34" charset="-122"/>
                <a:sym typeface="+mn-ea"/>
              </a:rPr>
              <a:t>的影响：网络拓扑不稳定的情况下</a:t>
            </a:r>
            <a:endParaRPr lang="zh-CN" altLang="en-US" b="1">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6930390" y="1787525"/>
            <a:ext cx="3876675" cy="2872740"/>
          </a:xfrm>
          <a:prstGeom prst="rect">
            <a:avLst/>
          </a:prstGeom>
        </p:spPr>
      </p:pic>
      <p:sp>
        <p:nvSpPr>
          <p:cNvPr id="7" name="矩形 6"/>
          <p:cNvSpPr/>
          <p:nvPr/>
        </p:nvSpPr>
        <p:spPr>
          <a:xfrm>
            <a:off x="10472420" y="1964690"/>
            <a:ext cx="663575" cy="2107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矩形 44"/>
          <p:cNvSpPr/>
          <p:nvPr/>
        </p:nvSpPr>
        <p:spPr>
          <a:xfrm>
            <a:off x="0" y="1612900"/>
            <a:ext cx="12192000" cy="32083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3" name="Freeform 5"/>
          <p:cNvSpPr>
            <a:spLocks noEditPoints="1"/>
          </p:cNvSpPr>
          <p:nvPr/>
        </p:nvSpPr>
        <p:spPr bwMode="auto">
          <a:xfrm>
            <a:off x="8599488" y="5440363"/>
            <a:ext cx="1114425" cy="996950"/>
          </a:xfrm>
          <a:custGeom>
            <a:avLst/>
            <a:gdLst>
              <a:gd name="T0" fmla="*/ 844682 w 528"/>
              <a:gd name="T1" fmla="*/ 619489 h 471"/>
              <a:gd name="T2" fmla="*/ 908033 w 528"/>
              <a:gd name="T3" fmla="*/ 589889 h 471"/>
              <a:gd name="T4" fmla="*/ 908033 w 528"/>
              <a:gd name="T5" fmla="*/ 587775 h 471"/>
              <a:gd name="T6" fmla="*/ 908033 w 528"/>
              <a:gd name="T7" fmla="*/ 431317 h 471"/>
              <a:gd name="T8" fmla="*/ 846793 w 528"/>
              <a:gd name="T9" fmla="*/ 460917 h 471"/>
              <a:gd name="T10" fmla="*/ 844682 w 528"/>
              <a:gd name="T11" fmla="*/ 619489 h 471"/>
              <a:gd name="T12" fmla="*/ 190053 w 528"/>
              <a:gd name="T13" fmla="*/ 431317 h 471"/>
              <a:gd name="T14" fmla="*/ 190053 w 528"/>
              <a:gd name="T15" fmla="*/ 589889 h 471"/>
              <a:gd name="T16" fmla="*/ 523703 w 528"/>
              <a:gd name="T17" fmla="*/ 748461 h 471"/>
              <a:gd name="T18" fmla="*/ 578607 w 528"/>
              <a:gd name="T19" fmla="*/ 748461 h 471"/>
              <a:gd name="T20" fmla="*/ 783442 w 528"/>
              <a:gd name="T21" fmla="*/ 649089 h 471"/>
              <a:gd name="T22" fmla="*/ 783442 w 528"/>
              <a:gd name="T23" fmla="*/ 490517 h 471"/>
              <a:gd name="T24" fmla="*/ 549043 w 528"/>
              <a:gd name="T25" fmla="*/ 604689 h 471"/>
              <a:gd name="T26" fmla="*/ 190053 w 528"/>
              <a:gd name="T27" fmla="*/ 431317 h 471"/>
              <a:gd name="T28" fmla="*/ 832011 w 528"/>
              <a:gd name="T29" fmla="*/ 416517 h 471"/>
              <a:gd name="T30" fmla="*/ 825676 w 528"/>
              <a:gd name="T31" fmla="*/ 414402 h 471"/>
              <a:gd name="T32" fmla="*/ 606059 w 528"/>
              <a:gd name="T33" fmla="*/ 293887 h 471"/>
              <a:gd name="T34" fmla="*/ 608171 w 528"/>
              <a:gd name="T35" fmla="*/ 279087 h 471"/>
              <a:gd name="T36" fmla="*/ 557490 w 528"/>
              <a:gd name="T37" fmla="*/ 228344 h 471"/>
              <a:gd name="T38" fmla="*/ 506809 w 528"/>
              <a:gd name="T39" fmla="*/ 279087 h 471"/>
              <a:gd name="T40" fmla="*/ 557490 w 528"/>
              <a:gd name="T41" fmla="*/ 329830 h 471"/>
              <a:gd name="T42" fmla="*/ 593389 w 528"/>
              <a:gd name="T43" fmla="*/ 317145 h 471"/>
              <a:gd name="T44" fmla="*/ 808783 w 528"/>
              <a:gd name="T45" fmla="*/ 437660 h 471"/>
              <a:gd name="T46" fmla="*/ 832011 w 528"/>
              <a:gd name="T47" fmla="*/ 416517 h 471"/>
              <a:gd name="T48" fmla="*/ 1114980 w 528"/>
              <a:gd name="T49" fmla="*/ 279087 h 471"/>
              <a:gd name="T50" fmla="*/ 549043 w 528"/>
              <a:gd name="T51" fmla="*/ 0 h 471"/>
              <a:gd name="T52" fmla="*/ 0 w 528"/>
              <a:gd name="T53" fmla="*/ 266401 h 471"/>
              <a:gd name="T54" fmla="*/ 0 w 528"/>
              <a:gd name="T55" fmla="*/ 289659 h 471"/>
              <a:gd name="T56" fmla="*/ 549043 w 528"/>
              <a:gd name="T57" fmla="*/ 556060 h 471"/>
              <a:gd name="T58" fmla="*/ 783442 w 528"/>
              <a:gd name="T59" fmla="*/ 441888 h 471"/>
              <a:gd name="T60" fmla="*/ 783442 w 528"/>
              <a:gd name="T61" fmla="*/ 433431 h 471"/>
              <a:gd name="T62" fmla="*/ 593389 w 528"/>
              <a:gd name="T63" fmla="*/ 334059 h 471"/>
              <a:gd name="T64" fmla="*/ 557490 w 528"/>
              <a:gd name="T65" fmla="*/ 344630 h 471"/>
              <a:gd name="T66" fmla="*/ 492027 w 528"/>
              <a:gd name="T67" fmla="*/ 279087 h 471"/>
              <a:gd name="T68" fmla="*/ 557490 w 528"/>
              <a:gd name="T69" fmla="*/ 211430 h 471"/>
              <a:gd name="T70" fmla="*/ 622953 w 528"/>
              <a:gd name="T71" fmla="*/ 279087 h 471"/>
              <a:gd name="T72" fmla="*/ 622953 w 528"/>
              <a:gd name="T73" fmla="*/ 285430 h 471"/>
              <a:gd name="T74" fmla="*/ 846793 w 528"/>
              <a:gd name="T75" fmla="*/ 410174 h 471"/>
              <a:gd name="T76" fmla="*/ 1114980 w 528"/>
              <a:gd name="T77" fmla="*/ 279087 h 471"/>
              <a:gd name="T78" fmla="*/ 832011 w 528"/>
              <a:gd name="T79" fmla="*/ 416517 h 471"/>
              <a:gd name="T80" fmla="*/ 834123 w 528"/>
              <a:gd name="T81" fmla="*/ 619489 h 471"/>
              <a:gd name="T82" fmla="*/ 853128 w 528"/>
              <a:gd name="T83" fmla="*/ 649089 h 471"/>
              <a:gd name="T84" fmla="*/ 836235 w 528"/>
              <a:gd name="T85" fmla="*/ 676575 h 471"/>
              <a:gd name="T86" fmla="*/ 851017 w 528"/>
              <a:gd name="T87" fmla="*/ 676575 h 471"/>
              <a:gd name="T88" fmla="*/ 878469 w 528"/>
              <a:gd name="T89" fmla="*/ 995834 h 471"/>
              <a:gd name="T90" fmla="*/ 768660 w 528"/>
              <a:gd name="T91" fmla="*/ 995834 h 471"/>
              <a:gd name="T92" fmla="*/ 796113 w 528"/>
              <a:gd name="T93" fmla="*/ 676575 h 471"/>
              <a:gd name="T94" fmla="*/ 810894 w 528"/>
              <a:gd name="T95" fmla="*/ 676575 h 471"/>
              <a:gd name="T96" fmla="*/ 794001 w 528"/>
              <a:gd name="T97" fmla="*/ 649089 h 471"/>
              <a:gd name="T98" fmla="*/ 810894 w 528"/>
              <a:gd name="T99" fmla="*/ 619489 h 471"/>
              <a:gd name="T100" fmla="*/ 808783 w 528"/>
              <a:gd name="T101" fmla="*/ 437660 h 471"/>
              <a:gd name="T102" fmla="*/ 832011 w 528"/>
              <a:gd name="T103" fmla="*/ 416517 h 47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28"/>
              <a:gd name="T157" fmla="*/ 0 h 471"/>
              <a:gd name="T158" fmla="*/ 528 w 528"/>
              <a:gd name="T159" fmla="*/ 471 h 47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2"/>
          </a:solidFill>
          <a:ln w="9525">
            <a:noFill/>
            <a:round/>
          </a:ln>
        </p:spPr>
        <p:txBody>
          <a:bodyPr/>
          <a:lstStyle/>
          <a:p>
            <a:endParaRPr lang="zh-CN" altLang="en-US"/>
          </a:p>
        </p:txBody>
      </p:sp>
      <p:sp>
        <p:nvSpPr>
          <p:cNvPr id="35" name="文本框 34"/>
          <p:cNvSpPr txBox="1">
            <a:spLocks noChangeArrowheads="1"/>
          </p:cNvSpPr>
          <p:nvPr/>
        </p:nvSpPr>
        <p:spPr bwMode="auto">
          <a:xfrm>
            <a:off x="1466510" y="2489746"/>
            <a:ext cx="9258980" cy="1106805"/>
          </a:xfrm>
          <a:prstGeom prst="rect">
            <a:avLst/>
          </a:prstGeom>
          <a:noFill/>
          <a:ln w="9525">
            <a:noFill/>
            <a:miter lim="800000"/>
          </a:ln>
        </p:spPr>
        <p:txBody>
          <a:bodyPr wrap="square">
            <a:spAutoFit/>
          </a:bodyPr>
          <a:lstStyle/>
          <a:p>
            <a:pPr algn="ctr"/>
            <a:r>
              <a:rPr lang="zh-CN" altLang="en-US" sz="6600" dirty="0">
                <a:solidFill>
                  <a:schemeClr val="bg1"/>
                </a:solidFill>
                <a:latin typeface="微软雅黑" panose="020B0503020204020204" pitchFamily="34" charset="-122"/>
                <a:ea typeface="微软雅黑" panose="020B0503020204020204" pitchFamily="34" charset="-122"/>
              </a:rPr>
              <a:t>谢谢观看</a:t>
            </a:r>
            <a:endParaRPr lang="zh-CN" altLang="en-US" sz="6600" dirty="0">
              <a:solidFill>
                <a:schemeClr val="bg1"/>
              </a:solidFill>
              <a:latin typeface="微软雅黑" panose="020B0503020204020204" pitchFamily="34" charset="-122"/>
              <a:ea typeface="微软雅黑" panose="020B0503020204020204" pitchFamily="34" charset="-122"/>
            </a:endParaRPr>
          </a:p>
        </p:txBody>
      </p:sp>
      <p:pic>
        <p:nvPicPr>
          <p:cNvPr id="46" name="图片 45"/>
          <p:cNvPicPr>
            <a:picLocks noChangeAspect="1"/>
          </p:cNvPicPr>
          <p:nvPr/>
        </p:nvPicPr>
        <p:blipFill>
          <a:blip r:embed="rId1"/>
          <a:srcRect/>
          <a:stretch>
            <a:fillRect/>
          </a:stretch>
        </p:blipFill>
        <p:spPr bwMode="auto">
          <a:xfrm>
            <a:off x="550863" y="476250"/>
            <a:ext cx="2325687" cy="658813"/>
          </a:xfrm>
          <a:prstGeom prst="rect">
            <a:avLst/>
          </a:prstGeom>
          <a:noFill/>
          <a:ln w="9525">
            <a:noFill/>
            <a:miter lim="800000"/>
            <a:headEnd/>
            <a:tailEnd/>
          </a:ln>
        </p:spPr>
      </p:pic>
      <p:cxnSp>
        <p:nvCxnSpPr>
          <p:cNvPr id="5" name="直接连接符 4"/>
          <p:cNvCxnSpPr/>
          <p:nvPr/>
        </p:nvCxnSpPr>
        <p:spPr>
          <a:xfrm>
            <a:off x="1928813" y="3943577"/>
            <a:ext cx="26289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等腰三角形 11"/>
          <p:cNvSpPr/>
          <p:nvPr/>
        </p:nvSpPr>
        <p:spPr>
          <a:xfrm flipV="1">
            <a:off x="8977313" y="4821238"/>
            <a:ext cx="358775" cy="2063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53" name="直接连接符 52"/>
          <p:cNvCxnSpPr/>
          <p:nvPr/>
        </p:nvCxnSpPr>
        <p:spPr>
          <a:xfrm>
            <a:off x="7729538" y="3943577"/>
            <a:ext cx="254317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5641144" y="2972093"/>
            <a:ext cx="914400" cy="914400"/>
          </a:xfrm>
          <a:prstGeom prst="rect">
            <a:avLst/>
          </a:prstGeom>
          <a:noFill/>
        </p:spPr>
        <p:txBody>
          <a:bodyPr wrap="square" rtlCol="0">
            <a:spAutoFit/>
          </a:bodyPr>
          <a:lstStyle/>
          <a:p>
            <a:endParaRPr lang="zh-CN" altLang="en-US" dirty="0"/>
          </a:p>
        </p:txBody>
      </p:sp>
      <p:sp>
        <p:nvSpPr>
          <p:cNvPr id="4" name="文本框 3"/>
          <p:cNvSpPr txBox="1"/>
          <p:nvPr/>
        </p:nvSpPr>
        <p:spPr>
          <a:xfrm>
            <a:off x="4557713" y="5655212"/>
            <a:ext cx="184731" cy="369332"/>
          </a:xfrm>
          <a:prstGeom prst="rect">
            <a:avLst/>
          </a:prstGeom>
          <a:noFill/>
        </p:spPr>
        <p:txBody>
          <a:bodyPr wrap="none" rtlCol="0">
            <a:spAutoFit/>
          </a:bodyPr>
          <a:lstStyle/>
          <a:p>
            <a:endParaRPr lang="zh-CN" altLang="en-US" dirty="0"/>
          </a:p>
        </p:txBody>
      </p:sp>
      <p:sp>
        <p:nvSpPr>
          <p:cNvPr id="6" name="文本框 5"/>
          <p:cNvSpPr txBox="1"/>
          <p:nvPr/>
        </p:nvSpPr>
        <p:spPr>
          <a:xfrm>
            <a:off x="5024718" y="3682499"/>
            <a:ext cx="2020570" cy="521970"/>
          </a:xfrm>
          <a:prstGeom prst="rect">
            <a:avLst/>
          </a:prstGeom>
          <a:noFill/>
        </p:spPr>
        <p:txBody>
          <a:bodyPr wrap="none" rtlCol="0">
            <a:spAutoFit/>
          </a:bodyPr>
          <a:lstStyle/>
          <a:p>
            <a:r>
              <a:rPr lang="en-US" altLang="zh-CN" sz="2800" dirty="0">
                <a:solidFill>
                  <a:schemeClr val="bg1"/>
                </a:solidFill>
                <a:latin typeface="微软雅黑" panose="020B0503020204020204" pitchFamily="34" charset="-122"/>
                <a:ea typeface="微软雅黑" panose="020B0503020204020204" pitchFamily="34" charset="-122"/>
              </a:rPr>
              <a:t>2025.10.28</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1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3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1"/>
  <p:tag name="KSO_WM_UNIT_TYPE" val="i"/>
  <p:tag name="KSO_WM_UNIT_INDEX" val="1"/>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2"/>
  <p:tag name="KSO_WM_UNIT_TYPE" val="i"/>
  <p:tag name="KSO_WM_UNIT_INDEX" val="2"/>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目录"/>
  <p:tag name="KSO_WM_TEMPLATE_CATEGORY" val="custom"/>
  <p:tag name="KSO_WM_TEMPLATE_INDEX" val="20205357"/>
  <p:tag name="KSO_WM_UNIT_ID" val="custom20205357_6*a*1"/>
  <p:tag name="KSO_WM_DIAGRAM_GROUP_CODE" val="l1-1"/>
  <p:tag name="KSO_WM_UNIT_TEXT_FILL_FORE_SCHEMECOLOR_INDEX" val="14"/>
  <p:tag name="KSO_WM_UNIT_TEXT_FILL_TYPE" val="1"/>
  <p:tag name="KSO_WM_UNIT_USESOURCEFORMAT_APPLY" val="1"/>
</p:tagLst>
</file>

<file path=ppt/tags/tag1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1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Lst>
</file>

<file path=ppt/tags/tag1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28.9903149606299,&quot;top&quot;:150.57307086614173,&quot;width&quot;:611.7096850393701}"/>
</p:tagLst>
</file>

<file path=ppt/tags/tag13.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14.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15.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16.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1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1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3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1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1"/>
  <p:tag name="KSO_WM_UNIT_TYPE" val="i"/>
  <p:tag name="KSO_WM_UNIT_INDEX" val="1"/>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2"/>
  <p:tag name="KSO_WM_UNIT_TYPE" val="i"/>
  <p:tag name="KSO_WM_UNIT_INDEX" val="2"/>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21.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目录"/>
  <p:tag name="KSO_WM_TEMPLATE_CATEGORY" val="custom"/>
  <p:tag name="KSO_WM_TEMPLATE_INDEX" val="20205357"/>
  <p:tag name="KSO_WM_UNIT_ID" val="custom20205357_6*a*1"/>
  <p:tag name="KSO_WM_DIAGRAM_GROUP_CODE" val="l1-1"/>
  <p:tag name="KSO_WM_UNIT_TEXT_FILL_FORE_SCHEMECOLOR_INDEX" val="14"/>
  <p:tag name="KSO_WM_UNIT_TEXT_FILL_TYPE" val="1"/>
  <p:tag name="KSO_WM_UNIT_USESOURCEFORMAT_APPLY" val="1"/>
</p:tagLst>
</file>

<file path=ppt/tags/tag2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2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Lst>
</file>

<file path=ppt/tags/tag2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28.9903149606299,&quot;top&quot;:150.57307086614173,&quot;width&quot;:611.7096850393701}"/>
</p:tagLst>
</file>

<file path=ppt/tags/tag25.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26.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27.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28.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29.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30.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31.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32.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33.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1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3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3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3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1"/>
  <p:tag name="KSO_WM_UNIT_TYPE" val="i"/>
  <p:tag name="KSO_WM_UNIT_INDEX" val="1"/>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2"/>
  <p:tag name="KSO_WM_UNIT_TYPE" val="i"/>
  <p:tag name="KSO_WM_UNIT_INDEX" val="2"/>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38.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目录"/>
  <p:tag name="KSO_WM_TEMPLATE_CATEGORY" val="custom"/>
  <p:tag name="KSO_WM_TEMPLATE_INDEX" val="20205357"/>
  <p:tag name="KSO_WM_UNIT_ID" val="custom20205357_6*a*1"/>
  <p:tag name="KSO_WM_DIAGRAM_GROUP_CODE" val="l1-1"/>
  <p:tag name="KSO_WM_UNIT_TEXT_FILL_FORE_SCHEMECOLOR_INDEX" val="14"/>
  <p:tag name="KSO_WM_UNIT_TEXT_FILL_TYPE" val="1"/>
  <p:tag name="KSO_WM_UNIT_USESOURCEFORMAT_APPLY" val="1"/>
</p:tagLst>
</file>

<file path=ppt/tags/tag3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4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Lst>
</file>

<file path=ppt/tags/tag4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28.9903149606299,&quot;top&quot;:150.57307086614173,&quot;width&quot;:611.7096850393701}"/>
</p:tagLst>
</file>

<file path=ppt/tags/tag42.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43.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44.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1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4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3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4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1"/>
  <p:tag name="KSO_WM_UNIT_TYPE" val="i"/>
  <p:tag name="KSO_WM_UNIT_INDEX" val="1"/>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2"/>
  <p:tag name="KSO_WM_UNIT_TYPE" val="i"/>
  <p:tag name="KSO_WM_UNIT_INDEX" val="2"/>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49.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目录"/>
  <p:tag name="KSO_WM_TEMPLATE_CATEGORY" val="custom"/>
  <p:tag name="KSO_WM_TEMPLATE_INDEX" val="20205357"/>
  <p:tag name="KSO_WM_UNIT_ID" val="custom20205357_6*a*1"/>
  <p:tag name="KSO_WM_DIAGRAM_GROUP_CODE" val="l1-1"/>
  <p:tag name="KSO_WM_UNIT_TEXT_FILL_FORE_SCHEMECOLOR_INDEX" val="14"/>
  <p:tag name="KSO_WM_UNIT_TEXT_FILL_TYPE" val="1"/>
  <p:tag name="KSO_WM_UNIT_USESOURCEFORMAT_APPLY" val="1"/>
</p:tagLst>
</file>

<file path=ppt/tags/tag5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5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Lst>
</file>

<file path=ppt/tags/tag5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28.9903149606299,&quot;top&quot;:150.57307086614173,&quot;width&quot;:611.7096850393701}"/>
</p:tagLst>
</file>

<file path=ppt/tags/tag53.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54.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55.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1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5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3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5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1"/>
  <p:tag name="KSO_WM_UNIT_TYPE" val="i"/>
  <p:tag name="KSO_WM_UNIT_INDEX" val="1"/>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2"/>
  <p:tag name="KSO_WM_UNIT_TYPE" val="i"/>
  <p:tag name="KSO_WM_UNIT_INDEX" val="2"/>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6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目录"/>
  <p:tag name="KSO_WM_TEMPLATE_CATEGORY" val="custom"/>
  <p:tag name="KSO_WM_TEMPLATE_INDEX" val="20205357"/>
  <p:tag name="KSO_WM_UNIT_ID" val="custom20205357_6*a*1"/>
  <p:tag name="KSO_WM_DIAGRAM_GROUP_CODE" val="l1-1"/>
  <p:tag name="KSO_WM_UNIT_TEXT_FILL_FORE_SCHEMECOLOR_INDEX" val="14"/>
  <p:tag name="KSO_WM_UNIT_TEXT_FILL_TYPE" val="1"/>
  <p:tag name="KSO_WM_UNIT_USESOURCEFORMAT_APPLY" val="1"/>
</p:tagLst>
</file>

<file path=ppt/tags/tag6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6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Lst>
</file>

<file path=ppt/tags/tag6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28.9903149606299,&quot;top&quot;:150.57307086614173,&quot;width&quot;:611.7096850393701}"/>
</p:tagLst>
</file>

<file path=ppt/tags/tag64.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65.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66.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67.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68.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69.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70.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71.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72.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73.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74.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75.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76.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1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7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3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7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1"/>
  <p:tag name="KSO_WM_UNIT_TYPE" val="i"/>
  <p:tag name="KSO_WM_UNIT_INDEX" val="1"/>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57"/>
  <p:tag name="KSO_WM_UNIT_ID" val="custom20205357_6*i*2"/>
  <p:tag name="KSO_WM_UNIT_TYPE" val="i"/>
  <p:tag name="KSO_WM_UNIT_INDEX" val="2"/>
  <p:tag name="KSO_WM_DIAGRAM_GROUP_CODE" val="l1-1"/>
  <p:tag name="KSO_WM_UNIT_LINE_FORE_SCHEMECOLOR_INDEX" val="13"/>
  <p:tag name="KSO_WM_UNIT_LINE_FILL_TYPE" val="2"/>
  <p:tag name="KSO_WM_UNIT_TEXT_FILL_FORE_SCHEMECOLOR_INDEX" val="14"/>
  <p:tag name="KSO_WM_UNIT_TEXT_FILL_TYPE" val="1"/>
  <p:tag name="KSO_WM_UNIT_USESOURCEFORMAT_APPLY" val="1"/>
</p:tagLst>
</file>

<file path=ppt/tags/tag81.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目录"/>
  <p:tag name="KSO_WM_TEMPLATE_CATEGORY" val="custom"/>
  <p:tag name="KSO_WM_TEMPLATE_INDEX" val="20205357"/>
  <p:tag name="KSO_WM_UNIT_ID" val="custom20205357_6*a*1"/>
  <p:tag name="KSO_WM_DIAGRAM_GROUP_CODE" val="l1-1"/>
  <p:tag name="KSO_WM_UNIT_TEXT_FILL_FORE_SCHEMECOLOR_INDEX" val="14"/>
  <p:tag name="KSO_WM_UNIT_TEXT_FILL_TYPE" val="1"/>
  <p:tag name="KSO_WM_UNIT_USESOURCEFORMAT_APPLY" val="1"/>
</p:tagLst>
</file>

<file path=ppt/tags/tag8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17.79031496062987,&quot;top&quot;:96.72307086614174,&quot;width&quot;:611.7096850393701}"/>
</p:tagLst>
</file>

<file path=ppt/tags/tag8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Lst>
</file>

<file path=ppt/tags/tag8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UNIT_PRESET_TEXT" val="单击此处添加标题内容"/>
  <p:tag name="KSO_WM_TEMPLATE_CATEGORY" val="custom"/>
  <p:tag name="KSO_WM_TEMPLATE_INDEX" val="20205357"/>
  <p:tag name="KSO_WM_UNIT_ID" val="custom20205357_6*l_h_f*1_4_1"/>
  <p:tag name="KSO_WM_UNIT_TEXT_SUBTYPE" val="a"/>
  <p:tag name="KSO_WM_UNIT_SUBTYPE" val="a"/>
  <p:tag name="KSO_WM_UNIT_TEXT_FILL_FORE_SCHEMECOLOR_INDEX" val="13"/>
  <p:tag name="KSO_WM_UNIT_TEXT_FILL_TYPE" val="1"/>
  <p:tag name="KSO_WM_UNIT_USESOURCEFORMAT_APPLY" val="1"/>
  <p:tag name="KSO_WM_DIAGRAM_VIRTUALLY_FRAME" val="{&quot;height&quot;:240.9,&quot;left&quot;:328.9903149606299,&quot;top&quot;:150.57307086614173,&quot;width&quot;:611.7096850393701}"/>
</p:tagLst>
</file>

<file path=ppt/tags/tag85.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86.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87.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88.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89.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90.xml><?xml version="1.0" encoding="utf-8"?>
<p:tagLst xmlns:p="http://schemas.openxmlformats.org/presentationml/2006/main">
  <p:tag name="KSO_WM_TEMPLATE_SUBCATEGORY" val="0"/>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SLIDE_LAYOUT" val="a_l"/>
  <p:tag name="KSO_WM_SLIDE_LAYOUT_CNT" val="1_1"/>
  <p:tag name="KSO_WM_TEMPLATE_MASTER_TYPE" val="1"/>
  <p:tag name="KSO_WM_TEMPLATE_COLOR_TYPE" val="1"/>
  <p:tag name="KSO_WM_TEMPLATE_CATEGORY" val="custom"/>
  <p:tag name="KSO_WM_TEMPLATE_INDEX" val="20205357"/>
  <p:tag name="KSO_WM_SLIDE_ID" val="custom20205357_6"/>
</p:tagLst>
</file>

<file path=ppt/tags/tag91.xml><?xml version="1.0" encoding="utf-8"?>
<p:tagLst xmlns:p="http://schemas.openxmlformats.org/presentationml/2006/main">
  <p:tag name="COMMONDATA" val="eyJoZGlkIjoiOWRhMmM1NWQyODA1ZjMzODhiYzdhZWI5MWNjNzM0MTMifQ=="/>
  <p:tag name="KSO_WPP_MARK_KEY" val="1c580c19-9b7a-4e8d-bfe8-271604678ce6"/>
</p:tagLst>
</file>

<file path=ppt/theme/theme1.xml><?xml version="1.0" encoding="utf-8"?>
<a:theme xmlns:a="http://schemas.openxmlformats.org/drawingml/2006/main" name="第一PPT，www.1ppt.com">
  <a:themeElements>
    <a:clrScheme name="北京大学">
      <a:dk1>
        <a:srgbClr val="333333"/>
      </a:dk1>
      <a:lt1>
        <a:srgbClr val="FFFFFF"/>
      </a:lt1>
      <a:dk2>
        <a:srgbClr val="538135"/>
      </a:dk2>
      <a:lt2>
        <a:srgbClr val="538135"/>
      </a:lt2>
      <a:accent1>
        <a:srgbClr val="8F000B"/>
      </a:accent1>
      <a:accent2>
        <a:srgbClr val="700005"/>
      </a:accent2>
      <a:accent3>
        <a:srgbClr val="AC0000"/>
      </a:accent3>
      <a:accent4>
        <a:srgbClr val="538135"/>
      </a:accent4>
      <a:accent5>
        <a:srgbClr val="538135"/>
      </a:accent5>
      <a:accent6>
        <a:srgbClr val="538135"/>
      </a:accent6>
      <a:hlink>
        <a:srgbClr val="538135"/>
      </a:hlink>
      <a:folHlink>
        <a:srgbClr val="538135"/>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北京大学">
      <a:dk1>
        <a:srgbClr val="333333"/>
      </a:dk1>
      <a:lt1>
        <a:srgbClr val="FFFFFF"/>
      </a:lt1>
      <a:dk2>
        <a:srgbClr val="538135"/>
      </a:dk2>
      <a:lt2>
        <a:srgbClr val="538135"/>
      </a:lt2>
      <a:accent1>
        <a:srgbClr val="8F000B"/>
      </a:accent1>
      <a:accent2>
        <a:srgbClr val="700005"/>
      </a:accent2>
      <a:accent3>
        <a:srgbClr val="AC0000"/>
      </a:accent3>
      <a:accent4>
        <a:srgbClr val="538135"/>
      </a:accent4>
      <a:accent5>
        <a:srgbClr val="538135"/>
      </a:accent5>
      <a:accent6>
        <a:srgbClr val="538135"/>
      </a:accent6>
      <a:hlink>
        <a:srgbClr val="538135"/>
      </a:hlink>
      <a:folHlink>
        <a:srgbClr val="538135"/>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9410</Words>
  <Application>WPS 演示</Application>
  <PresentationFormat>宽屏</PresentationFormat>
  <Paragraphs>509</Paragraphs>
  <Slides>35</Slides>
  <Notes>30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35</vt:i4>
      </vt:variant>
    </vt:vector>
  </HeadingPairs>
  <TitlesOfParts>
    <vt:vector size="52" baseType="lpstr">
      <vt:lpstr>Arial</vt:lpstr>
      <vt:lpstr>宋体</vt:lpstr>
      <vt:lpstr>Wingdings</vt:lpstr>
      <vt:lpstr>Calibri Light</vt:lpstr>
      <vt:lpstr>微软雅黑</vt:lpstr>
      <vt:lpstr>华文细黑</vt:lpstr>
      <vt:lpstr>PingFang SC</vt:lpstr>
      <vt:lpstr>Segoe Print</vt:lpstr>
      <vt:lpstr>汉仪旗黑-85S</vt:lpstr>
      <vt:lpstr>黑体</vt:lpstr>
      <vt:lpstr>Calibri</vt:lpstr>
      <vt:lpstr>Arial Unicode MS</vt:lpstr>
      <vt:lpstr>Inter</vt:lpstr>
      <vt:lpstr>Arial</vt:lpstr>
      <vt:lpstr>DM Mono</vt:lpstr>
      <vt:lpstr>第一PPT，www.1ppt.com</vt:lpstr>
      <vt:lpstr>1_第一PPT，www.1ppt.com</vt:lpstr>
      <vt:lpstr>PowerPoint 演示文稿</vt:lpstr>
      <vt:lpstr>PowerPoint 演示文稿</vt:lpstr>
      <vt:lpstr>摘要</vt:lpstr>
      <vt:lpstr>摘要</vt:lpstr>
      <vt:lpstr>PowerPoint 演示文稿</vt:lpstr>
      <vt:lpstr>摘要</vt:lpstr>
      <vt:lpstr>研究背景</vt:lpstr>
      <vt:lpstr>研究背景</vt:lpstr>
      <vt:lpstr>研究背景</vt:lpstr>
      <vt:lpstr>研究背景</vt:lpstr>
      <vt:lpstr>研究背景</vt:lpstr>
      <vt:lpstr>研究背景</vt:lpstr>
      <vt:lpstr>PowerPoint 演示文稿</vt:lpstr>
      <vt:lpstr>研究背景</vt:lpstr>
      <vt:lpstr>PowerPoint 演示文稿</vt:lpstr>
      <vt:lpstr>问题与挑战</vt:lpstr>
      <vt:lpstr>PowerPoint 演示文稿</vt:lpstr>
      <vt:lpstr>动机与创新</vt:lpstr>
      <vt:lpstr>设计方案</vt:lpstr>
      <vt:lpstr>设计方案</vt:lpstr>
      <vt:lpstr>设计方案</vt:lpstr>
      <vt:lpstr>设计方案</vt:lpstr>
      <vt:lpstr>设计方案</vt:lpstr>
      <vt:lpstr>设计方案</vt:lpstr>
      <vt:lpstr>设计方案</vt:lpstr>
      <vt:lpstr>设计方案</vt:lpstr>
      <vt:lpstr>设计方案</vt:lpstr>
      <vt:lpstr>设计方案</vt:lpstr>
      <vt:lpstr>PowerPoint 演示文稿</vt:lpstr>
      <vt:lpstr>设计方案</vt:lpstr>
      <vt:lpstr>实验评估</vt:lpstr>
      <vt:lpstr>实验评估</vt:lpstr>
      <vt:lpstr>实验评估</vt:lpstr>
      <vt:lpstr>实验评估</vt:lpstr>
      <vt:lpstr>PowerPoint 演示文稿</vt:lpstr>
    </vt:vector>
  </TitlesOfParts>
  <Company>第一PPT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Evangeline</cp:lastModifiedBy>
  <cp:revision>1769</cp:revision>
  <dcterms:created xsi:type="dcterms:W3CDTF">2025-06-03T09:59:00Z</dcterms:created>
  <dcterms:modified xsi:type="dcterms:W3CDTF">2025-10-27T06:32:33Z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F2558D7E59CF44F480A246F3CA9C2887_13</vt:lpwstr>
  </property>
</Properties>
</file>